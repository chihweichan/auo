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4" r:id="rId4"/>
  </p:sldMasterIdLst>
  <p:notesMasterIdLst>
    <p:notesMasterId r:id="rId26"/>
  </p:notesMasterIdLst>
  <p:handoutMasterIdLst>
    <p:handoutMasterId r:id="rId27"/>
  </p:handoutMasterIdLst>
  <p:sldIdLst>
    <p:sldId id="2147473491" r:id="rId5"/>
    <p:sldId id="390" r:id="rId6"/>
    <p:sldId id="410" r:id="rId7"/>
    <p:sldId id="399" r:id="rId8"/>
    <p:sldId id="2147473822" r:id="rId9"/>
    <p:sldId id="2147473823" r:id="rId10"/>
    <p:sldId id="2147473826" r:id="rId11"/>
    <p:sldId id="2147473824" r:id="rId12"/>
    <p:sldId id="2147473492" r:id="rId13"/>
    <p:sldId id="506" r:id="rId14"/>
    <p:sldId id="508" r:id="rId15"/>
    <p:sldId id="2147473495" r:id="rId16"/>
    <p:sldId id="396" r:id="rId17"/>
    <p:sldId id="507" r:id="rId18"/>
    <p:sldId id="509" r:id="rId19"/>
    <p:sldId id="388" r:id="rId20"/>
    <p:sldId id="2147473494" r:id="rId21"/>
    <p:sldId id="406" r:id="rId22"/>
    <p:sldId id="377" r:id="rId23"/>
    <p:sldId id="409" r:id="rId24"/>
    <p:sldId id="404" r:id="rId25"/>
  </p:sldIdLst>
  <p:sldSz cx="9144000" cy="5143500" type="screen16x9"/>
  <p:notesSz cx="7104063" cy="10234613"/>
  <p:defaultTextStyle>
    <a:defPPr>
      <a:defRPr lang="en-US"/>
    </a:defPPr>
    <a:lvl1pPr marL="0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Peter JW Chang 張哲瑋" initials="PJC張" lastIdx="6" clrIdx="0"/>
  <p:cmAuthor id="1" name="AUTP Sam" initials="AS" lastIdx="1" clrIdx="1">
    <p:extLst>
      <p:ext uri="{19B8F6BF-5375-455C-9EA6-DF929625EA0E}">
        <p15:presenceInfo xmlns:p15="http://schemas.microsoft.com/office/powerpoint/2012/main" userId="0f5cf928defaffe2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727F5"/>
    <a:srgbClr val="0000FF"/>
    <a:srgbClr val="BCEBAD"/>
    <a:srgbClr val="FFFFFF"/>
    <a:srgbClr val="1EA3FF"/>
    <a:srgbClr val="00B0F0"/>
    <a:srgbClr val="A6A6A6"/>
    <a:srgbClr val="EFFBFD"/>
    <a:srgbClr val="FFE664"/>
    <a:srgbClr val="006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301B821-A1FF-4177-AEE7-76D212191A09}" styleName="中等深淺樣式 1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6E25E649-3F16-4E02-A733-19D2CDBF48F0}" styleName="中等深淺樣式 3 - 輔色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F1AB2-1976-4502-BF36-3FF5EA218861}" styleName="中等深淺樣式 4 - 輔色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69012ECD-51FC-41F1-AA8D-1B2483CD663E}" styleName="淺色樣式 2 - 輔色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D7B26C5-4107-4FEC-AEDC-1716B250A1EF}" styleName="淺色樣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E8034E78-7F5D-4C2E-B375-FC64B27BC917}" styleName="深色樣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25E5076-3810-47DD-B79F-674D7AD40C01}" styleName="深色樣式 1 - 輔色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37CE84F3-28C3-443E-9E96-99CF82512B78}" styleName="深色樣式 1 - 輔色 2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wholeTbl>
    <a:band1H>
      <a:tcStyle>
        <a:tcBdr/>
        <a:fill>
          <a:solidFill>
            <a:schemeClr val="accent2">
              <a:shade val="60000"/>
            </a:schemeClr>
          </a:solidFill>
        </a:fill>
      </a:tcStyle>
    </a:band1H>
    <a:band1V>
      <a:tcStyle>
        <a:tcBdr/>
        <a:fill>
          <a:solidFill>
            <a:schemeClr val="accent2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2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2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2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0660B408-B3CF-4A94-85FC-2B1E0A45F4A2}" styleName="深色樣式 2 - 輔色 1/輔色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樣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3B4B98B0-60AC-42C2-AFA5-B58CD77FA1E5}" styleName="淺色樣式 1 - 輔色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070" autoAdjust="0"/>
    <p:restoredTop sz="94411" autoAdjust="0"/>
  </p:normalViewPr>
  <p:slideViewPr>
    <p:cSldViewPr snapToGrid="0" showGuides="1">
      <p:cViewPr varScale="1">
        <p:scale>
          <a:sx n="146" d="100"/>
          <a:sy n="146" d="100"/>
        </p:scale>
        <p:origin x="126" y="120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277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54" d="100"/>
          <a:sy n="54" d="100"/>
        </p:scale>
        <p:origin x="2564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commentAuthors" Target="comment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handoutMaster" Target="handoutMasters/handoutMaster1.xml"/><Relationship Id="rId30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工作表3!$C$1</c:f>
              <c:strCache>
                <c:ptCount val="1"/>
                <c:pt idx="0">
                  <c:v>片數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工作表3!$A$2:$B$7</c:f>
              <c:strCache>
                <c:ptCount val="6"/>
                <c:pt idx="0">
                  <c:v>5月4日</c:v>
                </c:pt>
                <c:pt idx="1">
                  <c:v>6月12日</c:v>
                </c:pt>
                <c:pt idx="2">
                  <c:v>6月15日</c:v>
                </c:pt>
                <c:pt idx="3">
                  <c:v>6月23日</c:v>
                </c:pt>
                <c:pt idx="4">
                  <c:v>7月1日</c:v>
                </c:pt>
                <c:pt idx="5">
                  <c:v>TBD</c:v>
                </c:pt>
              </c:strCache>
            </c:strRef>
          </c:cat>
          <c:val>
            <c:numRef>
              <c:f>工作表3!$C$2:$C$7</c:f>
              <c:numCache>
                <c:formatCode>General</c:formatCode>
                <c:ptCount val="6"/>
                <c:pt idx="0">
                  <c:v>3</c:v>
                </c:pt>
                <c:pt idx="1">
                  <c:v>13</c:v>
                </c:pt>
                <c:pt idx="2">
                  <c:v>12</c:v>
                </c:pt>
                <c:pt idx="3">
                  <c:v>10</c:v>
                </c:pt>
                <c:pt idx="4">
                  <c:v>32</c:v>
                </c:pt>
                <c:pt idx="5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658-41D2-9CCF-EECE8AC43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304546144"/>
        <c:axId val="-304543968"/>
      </c:barChart>
      <c:lineChart>
        <c:grouping val="standard"/>
        <c:varyColors val="0"/>
        <c:ser>
          <c:idx val="1"/>
          <c:order val="1"/>
          <c:tx>
            <c:strRef>
              <c:f>工作表3!$D$1</c:f>
              <c:strCache>
                <c:ptCount val="1"/>
                <c:pt idx="0">
                  <c:v>成功率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strRef>
              <c:f>工作表3!$A$2:$B$7</c:f>
              <c:strCache>
                <c:ptCount val="6"/>
                <c:pt idx="0">
                  <c:v>5月4日</c:v>
                </c:pt>
                <c:pt idx="1">
                  <c:v>6月12日</c:v>
                </c:pt>
                <c:pt idx="2">
                  <c:v>6月15日</c:v>
                </c:pt>
                <c:pt idx="3">
                  <c:v>6月23日</c:v>
                </c:pt>
                <c:pt idx="4">
                  <c:v>7月1日</c:v>
                </c:pt>
                <c:pt idx="5">
                  <c:v>TBD</c:v>
                </c:pt>
              </c:strCache>
            </c:strRef>
          </c:cat>
          <c:val>
            <c:numRef>
              <c:f>工作表3!$D$2:$D$7</c:f>
              <c:numCache>
                <c:formatCode>0.00%</c:formatCode>
                <c:ptCount val="6"/>
                <c:pt idx="0">
                  <c:v>0</c:v>
                </c:pt>
                <c:pt idx="1">
                  <c:v>0.55555555555555558</c:v>
                </c:pt>
                <c:pt idx="2">
                  <c:v>0.66666666666666663</c:v>
                </c:pt>
                <c:pt idx="3">
                  <c:v>0.5</c:v>
                </c:pt>
                <c:pt idx="4">
                  <c:v>0.875</c:v>
                </c:pt>
                <c:pt idx="5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658-41D2-9CCF-EECE8AC43C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70116176"/>
        <c:axId val="-304541792"/>
      </c:lineChart>
      <c:catAx>
        <c:axId val="-30454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304543968"/>
        <c:crosses val="autoZero"/>
        <c:auto val="0"/>
        <c:lblAlgn val="ctr"/>
        <c:lblOffset val="100"/>
        <c:noMultiLvlLbl val="1"/>
      </c:catAx>
      <c:valAx>
        <c:axId val="-30454396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304546144"/>
        <c:crosses val="autoZero"/>
        <c:crossBetween val="between"/>
      </c:valAx>
      <c:valAx>
        <c:axId val="-304541792"/>
        <c:scaling>
          <c:orientation val="minMax"/>
          <c:max val="1"/>
        </c:scaling>
        <c:delete val="0"/>
        <c:axPos val="r"/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16176"/>
        <c:crosses val="max"/>
        <c:crossBetween val="between"/>
        <c:majorUnit val="0.2"/>
      </c:valAx>
      <c:catAx>
        <c:axId val="-570116176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-304541792"/>
        <c:crosses val="autoZero"/>
        <c:auto val="1"/>
        <c:lblAlgn val="ctr"/>
        <c:lblOffset val="100"/>
        <c:noMultiLvlLbl val="1"/>
      </c:catAx>
      <c:spPr>
        <a:noFill/>
        <a:ln>
          <a:noFill/>
        </a:ln>
        <a:effectLst/>
      </c:spPr>
    </c:plotArea>
    <c:legend>
      <c:legendPos val="l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1000"/>
      </a:pPr>
      <a:endParaRPr lang="zh-TW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TW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7.0319717847769025E-2"/>
          <c:y val="0.17300024606299216"/>
          <c:w val="0.8824543963254593"/>
          <c:h val="0.62671653543307082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工作表1!$B$1</c:f>
              <c:strCache>
                <c:ptCount val="1"/>
                <c:pt idx="0">
                  <c:v>片數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工作表1!$A$2:$A$9</c:f>
              <c:numCache>
                <c:formatCode>m"月"d"日"</c:formatCode>
                <c:ptCount val="7"/>
                <c:pt idx="0">
                  <c:v>46146</c:v>
                </c:pt>
                <c:pt idx="1">
                  <c:v>46188</c:v>
                </c:pt>
                <c:pt idx="2">
                  <c:v>46196</c:v>
                </c:pt>
                <c:pt idx="3">
                  <c:v>46215</c:v>
                </c:pt>
                <c:pt idx="4">
                  <c:v>46229</c:v>
                </c:pt>
                <c:pt idx="5">
                  <c:v>46241</c:v>
                </c:pt>
                <c:pt idx="6">
                  <c:v>46246</c:v>
                </c:pt>
              </c:numCache>
            </c:numRef>
          </c:cat>
          <c:val>
            <c:numRef>
              <c:f>工作表1!$B$2:$B$9</c:f>
              <c:numCache>
                <c:formatCode>General</c:formatCode>
                <c:ptCount val="7"/>
                <c:pt idx="0">
                  <c:v>5</c:v>
                </c:pt>
                <c:pt idx="1">
                  <c:v>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  <c:pt idx="5">
                  <c:v>15</c:v>
                </c:pt>
                <c:pt idx="6">
                  <c:v>25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F3E-4ABE-ADC0-C476C12ED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47"/>
        <c:axId val="-570114544"/>
        <c:axId val="-570104208"/>
      </c:barChart>
      <c:lineChart>
        <c:grouping val="standard"/>
        <c:varyColors val="0"/>
        <c:ser>
          <c:idx val="1"/>
          <c:order val="1"/>
          <c:tx>
            <c:strRef>
              <c:f>工作表1!$C$1</c:f>
              <c:strCache>
                <c:ptCount val="1"/>
                <c:pt idx="0">
                  <c:v>成功率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numFmt formatCode="0.0%" sourceLinked="0"/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0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TW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trendline>
            <c:spPr>
              <a:ln w="19050" cap="rnd">
                <a:solidFill>
                  <a:schemeClr val="accent2"/>
                </a:solidFill>
                <a:prstDash val="sysDot"/>
              </a:ln>
              <a:effectLst/>
            </c:spPr>
            <c:trendlineType val="linear"/>
            <c:dispRSqr val="0"/>
            <c:dispEq val="0"/>
          </c:trendline>
          <c:cat>
            <c:numRef>
              <c:f>工作表1!$A$2:$A$9</c:f>
              <c:numCache>
                <c:formatCode>m"月"d"日"</c:formatCode>
                <c:ptCount val="7"/>
                <c:pt idx="0">
                  <c:v>46146</c:v>
                </c:pt>
                <c:pt idx="1">
                  <c:v>46188</c:v>
                </c:pt>
                <c:pt idx="2">
                  <c:v>46196</c:v>
                </c:pt>
                <c:pt idx="3">
                  <c:v>46215</c:v>
                </c:pt>
                <c:pt idx="4">
                  <c:v>46229</c:v>
                </c:pt>
                <c:pt idx="5">
                  <c:v>46241</c:v>
                </c:pt>
                <c:pt idx="6">
                  <c:v>46246</c:v>
                </c:pt>
              </c:numCache>
            </c:numRef>
          </c:cat>
          <c:val>
            <c:numRef>
              <c:f>工作表1!$C$2:$C$9</c:f>
              <c:numCache>
                <c:formatCode>0.00_ </c:formatCode>
                <c:ptCount val="7"/>
                <c:pt idx="0">
                  <c:v>0</c:v>
                </c:pt>
                <c:pt idx="1">
                  <c:v>0.15</c:v>
                </c:pt>
                <c:pt idx="2">
                  <c:v>0.33329999999999999</c:v>
                </c:pt>
                <c:pt idx="3">
                  <c:v>0.67</c:v>
                </c:pt>
                <c:pt idx="4">
                  <c:v>0.52</c:v>
                </c:pt>
                <c:pt idx="5">
                  <c:v>0.83</c:v>
                </c:pt>
                <c:pt idx="6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F3E-4ABE-ADC0-C476C12EDD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-570109104"/>
        <c:axId val="-570105840"/>
      </c:lineChart>
      <c:catAx>
        <c:axId val="-570114544"/>
        <c:scaling>
          <c:orientation val="minMax"/>
        </c:scaling>
        <c:delete val="0"/>
        <c:axPos val="b"/>
        <c:numFmt formatCode="m&quot;月&quot;d&quot;日&quot;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4208"/>
        <c:crosses val="autoZero"/>
        <c:auto val="0"/>
        <c:lblAlgn val="ctr"/>
        <c:lblOffset val="100"/>
        <c:noMultiLvlLbl val="0"/>
      </c:catAx>
      <c:valAx>
        <c:axId val="-570104208"/>
        <c:scaling>
          <c:orientation val="minMax"/>
          <c:max val="4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14544"/>
        <c:crosses val="autoZero"/>
        <c:crossBetween val="between"/>
      </c:valAx>
      <c:valAx>
        <c:axId val="-570105840"/>
        <c:scaling>
          <c:orientation val="minMax"/>
          <c:max val="1.2"/>
          <c:min val="0"/>
        </c:scaling>
        <c:delete val="0"/>
        <c:axPos val="r"/>
        <c:numFmt formatCode="0.00%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zh-TW"/>
          </a:p>
        </c:txPr>
        <c:crossAx val="-570109104"/>
        <c:crosses val="max"/>
        <c:crossBetween val="between"/>
      </c:valAx>
      <c:dateAx>
        <c:axId val="-570109104"/>
        <c:scaling>
          <c:orientation val="minMax"/>
        </c:scaling>
        <c:delete val="1"/>
        <c:axPos val="b"/>
        <c:numFmt formatCode="m&quot;月&quot;d&quot;日&quot;" sourceLinked="1"/>
        <c:majorTickMark val="out"/>
        <c:minorTickMark val="none"/>
        <c:tickLblPos val="nextTo"/>
        <c:crossAx val="-570105840"/>
        <c:crosses val="autoZero"/>
        <c:auto val="1"/>
        <c:lblOffset val="100"/>
        <c:baseTimeUnit val="days"/>
        <c:majorUnit val="1"/>
        <c:minorUnit val="1"/>
      </c:dateAx>
      <c:spPr>
        <a:noFill/>
        <a:ln>
          <a:noFill/>
        </a:ln>
        <a:effectLst/>
      </c:spPr>
    </c:plotArea>
    <c:legend>
      <c:legendPos val="t"/>
      <c:layout>
        <c:manualLayout>
          <c:xMode val="edge"/>
          <c:yMode val="edge"/>
          <c:x val="5.2525968573413392E-2"/>
          <c:y val="3.0321334520719976E-2"/>
          <c:w val="0.5929034129029066"/>
          <c:h val="8.0351536479907934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TW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zh-TW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32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zh-TW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3D57B270-C74B-471D-B383-1C29E946AC0C}" type="datetimeFigureOut">
              <a:rPr lang="zh-TW" altLang="en-US" smtClean="0"/>
              <a:pPr/>
              <a:t>2026/10/26</a:t>
            </a:fld>
            <a:endParaRPr lang="zh-TW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940249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2" y="0"/>
            <a:ext cx="3078427" cy="513508"/>
          </a:xfrm>
          <a:prstGeom prst="rect">
            <a:avLst/>
          </a:prstGeom>
        </p:spPr>
        <p:txBody>
          <a:bodyPr vert="horz" lIns="99075" tIns="49538" rIns="99075" bIns="49538" rtlCol="0"/>
          <a:lstStyle>
            <a:lvl1pPr algn="r">
              <a:defRPr sz="1300"/>
            </a:lvl1pPr>
          </a:lstStyle>
          <a:p>
            <a:fld id="{2CC20998-D27E-49AD-A846-29433AB49256}" type="datetimeFigureOut">
              <a:rPr lang="en-US" smtClean="0"/>
              <a:pPr/>
              <a:t>10/26/2026</a:t>
            </a:fld>
            <a:endParaRPr 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75" tIns="49538" rIns="99075" bIns="49538" rtlCol="0" anchor="ctr"/>
          <a:lstStyle/>
          <a:p>
            <a:endParaRPr 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9075" tIns="49538" rIns="99075" bIns="49538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l">
              <a:defRPr sz="1300"/>
            </a:lvl1pPr>
          </a:lstStyle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2" y="9721107"/>
            <a:ext cx="3078427" cy="513507"/>
          </a:xfrm>
          <a:prstGeom prst="rect">
            <a:avLst/>
          </a:prstGeom>
        </p:spPr>
        <p:txBody>
          <a:bodyPr vert="horz" lIns="99075" tIns="49538" rIns="99075" bIns="49538" rtlCol="0" anchor="b"/>
          <a:lstStyle>
            <a:lvl1pPr algn="r">
              <a:defRPr sz="1300"/>
            </a:lvl1pPr>
          </a:lstStyle>
          <a:p>
            <a:fld id="{5B49B736-9D47-4B7E-9D53-4FA46E3FC28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3965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1pPr>
    <a:lvl2pPr marL="34289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2pPr>
    <a:lvl3pPr marL="685783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3pPr>
    <a:lvl4pPr marL="1028675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4pPr>
    <a:lvl5pPr marL="1371566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5pPr>
    <a:lvl6pPr marL="1714457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6pPr>
    <a:lvl7pPr marL="2057348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7pPr>
    <a:lvl8pPr marL="2400240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8pPr>
    <a:lvl9pPr marL="2743132" algn="l" defTabSz="685783" rtl="0" eaLnBrk="1" latinLnBrk="0" hangingPunct="1">
      <a:defRPr sz="9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89091A-6847-473B-B823-0353CC1B2DF7}" type="slidenum">
              <a:rPr lang="zh-TW" altLang="en-US" smtClean="0"/>
              <a:pPr>
                <a:defRPr/>
              </a:pPr>
              <a:t>19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208732875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589091A-6847-473B-B823-0353CC1B2DF7}" type="slidenum">
              <a:rPr lang="zh-TW" altLang="en-US" smtClean="0"/>
              <a:pPr>
                <a:defRPr/>
              </a:pPr>
              <a:t>21</a:t>
            </a:fld>
            <a:endParaRPr lang="en-US" altLang="zh-TW"/>
          </a:p>
        </p:txBody>
      </p:sp>
    </p:spTree>
    <p:extLst>
      <p:ext uri="{BB962C8B-B14F-4D97-AF65-F5344CB8AC3E}">
        <p14:creationId xmlns:p14="http://schemas.microsoft.com/office/powerpoint/2010/main" val="33839311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Agenda Page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23912" y="331531"/>
            <a:ext cx="5390549" cy="1073757"/>
          </a:xfrm>
        </p:spPr>
        <p:txBody>
          <a:bodyPr anchor="t">
            <a:normAutofit/>
          </a:bodyPr>
          <a:lstStyle>
            <a:lvl1pPr algn="l"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12" name="文字版面配置區 11">
            <a:extLst>
              <a:ext uri="{FF2B5EF4-FFF2-40B4-BE49-F238E27FC236}">
                <a16:creationId xmlns:a16="http://schemas.microsoft.com/office/drawing/2014/main" id="{F405D2A6-487D-47BF-A577-784535711A2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623913" y="1405289"/>
            <a:ext cx="5390548" cy="273157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altLang="zh-TW" dirty="0"/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marL="171446" marR="0" lvl="0" indent="-171446" algn="l" defTabSz="685783" rtl="0" eaLnBrk="1" fontAlgn="auto" latinLnBrk="0" hangingPunct="1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005087"/>
              </a:buClr>
              <a:buSzPct val="70000"/>
              <a:buFont typeface="Arial" panose="020B0604020202020204" pitchFamily="34" charset="0"/>
              <a:buChar char="•"/>
              <a:tabLst/>
              <a:defRPr/>
            </a:pPr>
            <a:r>
              <a:rPr lang="en-US" altLang="zh-TW" dirty="0"/>
              <a:t>Lorem</a:t>
            </a:r>
            <a:r>
              <a:rPr lang="zh-TW" altLang="en-US" dirty="0"/>
              <a:t> </a:t>
            </a:r>
            <a:r>
              <a:rPr lang="en-US" altLang="zh-TW" dirty="0"/>
              <a:t>ipsum dolor sit </a:t>
            </a:r>
            <a:r>
              <a:rPr lang="en-US" altLang="zh-TW" dirty="0" err="1"/>
              <a:t>amet</a:t>
            </a:r>
            <a:endParaRPr lang="en-US" dirty="0"/>
          </a:p>
          <a:p>
            <a:pPr lvl="0"/>
            <a:endParaRPr lang="en-US" dirty="0"/>
          </a:p>
        </p:txBody>
      </p:sp>
      <p:pic>
        <p:nvPicPr>
          <p:cNvPr id="4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828986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reak Page_1">
    <p:bg>
      <p:bgPr>
        <a:blipFill dpi="0" rotWithShape="1">
          <a:blip r:embed="rId2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5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dirty="0"/>
              <a:t>Break Page Title</a:t>
            </a:r>
            <a:br>
              <a:rPr lang="en-US" dirty="0"/>
            </a:br>
            <a:r>
              <a:rPr lang="en-US" dirty="0"/>
              <a:t>Goes Here</a:t>
            </a:r>
          </a:p>
        </p:txBody>
      </p:sp>
    </p:spTree>
    <p:extLst>
      <p:ext uri="{BB962C8B-B14F-4D97-AF65-F5344CB8AC3E}">
        <p14:creationId xmlns:p14="http://schemas.microsoft.com/office/powerpoint/2010/main" val="33896994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6927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l"/>
            <a:r>
              <a:rPr lang="en-US" sz="5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00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9" name="矩形 8"/>
          <p:cNvSpPr/>
          <p:nvPr userDrawn="1"/>
        </p:nvSpPr>
        <p:spPr>
          <a:xfrm>
            <a:off x="520230" y="4961070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31813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Page with Tti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461421" y="-55084"/>
            <a:ext cx="1759697" cy="1768293"/>
          </a:xfrm>
          <a:prstGeom prst="rect">
            <a:avLst/>
          </a:prstGeom>
        </p:spPr>
      </p:pic>
      <p:sp>
        <p:nvSpPr>
          <p:cNvPr id="7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8" y="331531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</a:t>
            </a:r>
            <a:br>
              <a:rPr lang="en-US" altLang="zh-TW" dirty="0"/>
            </a:br>
            <a:r>
              <a:rPr lang="en-US" altLang="zh-TW" dirty="0"/>
              <a:t>Mabry Pro-Medium + </a:t>
            </a:r>
            <a:r>
              <a:rPr lang="en-US" altLang="zh-TW" dirty="0" err="1"/>
              <a:t>Noto</a:t>
            </a:r>
            <a:r>
              <a:rPr lang="en-US" altLang="zh-TW" dirty="0"/>
              <a:t> Sans TC Medium </a:t>
            </a:r>
            <a:endParaRPr lang="en-US" dirty="0"/>
          </a:p>
        </p:txBody>
      </p:sp>
      <p:sp>
        <p:nvSpPr>
          <p:cNvPr id="8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38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/>
              <a:t>Mabry Pro + Noto Sans TC</a:t>
            </a:r>
          </a:p>
          <a:p>
            <a:pPr lvl="0"/>
            <a:endParaRPr lang="en-US" altLang="zh-TW" dirty="0"/>
          </a:p>
        </p:txBody>
      </p:sp>
      <p:sp>
        <p:nvSpPr>
          <p:cNvPr id="9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49" y="4933093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525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  </a:t>
            </a:r>
            <a:r>
              <a:rPr lang="en-US" sz="525" b="0" i="0" kern="1200" dirty="0">
                <a:solidFill>
                  <a:schemeClr val="tx1">
                    <a:lumMod val="75000"/>
                    <a:lumOff val="25000"/>
                    <a:alpha val="65000"/>
                  </a:schemeClr>
                </a:solidFill>
                <a:effectLst/>
                <a:latin typeface="+mn-lt"/>
                <a:ea typeface="+mn-ea"/>
                <a:cs typeface="+mn-cs"/>
              </a:rPr>
              <a:t>AUO Corporation Proprietary</a:t>
            </a:r>
          </a:p>
        </p:txBody>
      </p:sp>
      <p:sp>
        <p:nvSpPr>
          <p:cNvPr id="10" name="矩形 9"/>
          <p:cNvSpPr/>
          <p:nvPr userDrawn="1"/>
        </p:nvSpPr>
        <p:spPr>
          <a:xfrm>
            <a:off x="520230" y="4961069"/>
            <a:ext cx="62518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r>
              <a:rPr lang="en-US" altLang="zh-TW" sz="900" b="0" i="0" dirty="0">
                <a:solidFill>
                  <a:schemeClr val="bg1">
                    <a:lumMod val="50000"/>
                  </a:schemeClr>
                </a:solidFill>
                <a:effectLst/>
                <a:latin typeface="+mn-lt"/>
              </a:rPr>
              <a:t>©</a:t>
            </a:r>
            <a:endParaRPr lang="zh-TW" altLang="en-US" sz="1400" dirty="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9206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14" name="Freeform 5"/>
          <p:cNvSpPr>
            <a:spLocks noChangeAspect="1" noEditPoints="1"/>
          </p:cNvSpPr>
          <p:nvPr userDrawn="1"/>
        </p:nvSpPr>
        <p:spPr bwMode="auto">
          <a:xfrm>
            <a:off x="8361592" y="4753677"/>
            <a:ext cx="507600" cy="179416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grpSp>
        <p:nvGrpSpPr>
          <p:cNvPr id="12" name="群組 11"/>
          <p:cNvGrpSpPr/>
          <p:nvPr userDrawn="1"/>
        </p:nvGrpSpPr>
        <p:grpSpPr>
          <a:xfrm>
            <a:off x="8587626" y="125361"/>
            <a:ext cx="463063" cy="507103"/>
            <a:chOff x="27590532" y="416132"/>
            <a:chExt cx="1398538" cy="1531545"/>
          </a:xfrm>
        </p:grpSpPr>
        <p:pic>
          <p:nvPicPr>
            <p:cNvPr id="13" name="Picture 9"/>
            <p:cNvPicPr>
              <a:picLocks noChangeAspect="1"/>
            </p:cNvPicPr>
            <p:nvPr userDrawn="1"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9912" t="20762" r="13245" b="34750"/>
            <a:stretch/>
          </p:blipFill>
          <p:spPr>
            <a:xfrm>
              <a:off x="28259776" y="416132"/>
              <a:ext cx="729294" cy="836894"/>
            </a:xfrm>
            <a:prstGeom prst="rect">
              <a:avLst/>
            </a:prstGeom>
          </p:spPr>
        </p:pic>
        <p:pic>
          <p:nvPicPr>
            <p:cNvPr id="15" name="圖片 14"/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590532" y="1533250"/>
              <a:ext cx="494405" cy="414427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7826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Blank P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圖片 6">
            <a:extLst>
              <a:ext uri="{FF2B5EF4-FFF2-40B4-BE49-F238E27FC236}">
                <a16:creationId xmlns:a16="http://schemas.microsoft.com/office/drawing/2014/main" id="{496B6DBE-9812-4B02-815E-036A6491504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61422" y="-586026"/>
            <a:ext cx="2299235" cy="2299235"/>
          </a:xfrm>
          <a:prstGeom prst="rect">
            <a:avLst/>
          </a:prstGeom>
        </p:spPr>
      </p:pic>
      <p:pic>
        <p:nvPicPr>
          <p:cNvPr id="9" name="Picture 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6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2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br>
              <a:rPr lang="en-US" altLang="zh-TW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0"/>
          </p:nvPr>
        </p:nvSpPr>
        <p:spPr>
          <a:xfrm>
            <a:off x="477838" y="1606550"/>
            <a:ext cx="8469312" cy="2971800"/>
          </a:xfrm>
        </p:spPr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8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4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sz="525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  </a:t>
            </a:r>
            <a:r>
              <a:rPr kumimoji="0"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  <a:latin typeface="Mabry Pro"/>
                <a:ea typeface="Noto Sans TC"/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0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 fontAlgn="auto">
              <a:spcBef>
                <a:spcPts val="0"/>
              </a:spcBef>
              <a:spcAft>
                <a:spcPts val="0"/>
              </a:spcAft>
            </a:pPr>
            <a:r>
              <a:rPr kumimoji="0" lang="en-US" altLang="zh-TW" sz="900" dirty="0">
                <a:solidFill>
                  <a:srgbClr val="FFFFFF">
                    <a:lumMod val="50000"/>
                  </a:srgbClr>
                </a:solidFill>
                <a:latin typeface="Mabry Pro"/>
                <a:ea typeface="Noto Sans TC"/>
              </a:rPr>
              <a:t>©</a:t>
            </a:r>
            <a:endParaRPr kumimoji="0" lang="zh-TW" altLang="en-US" sz="1400" dirty="0">
              <a:solidFill>
                <a:srgbClr val="FFFFFF">
                  <a:lumMod val="50000"/>
                </a:srgbClr>
              </a:solidFill>
              <a:latin typeface="Mabry Pro"/>
              <a:ea typeface="Noto Sans TC"/>
            </a:endParaRPr>
          </a:p>
        </p:txBody>
      </p:sp>
    </p:spTree>
    <p:extLst>
      <p:ext uri="{BB962C8B-B14F-4D97-AF65-F5344CB8AC3E}">
        <p14:creationId xmlns:p14="http://schemas.microsoft.com/office/powerpoint/2010/main" val="3544146603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reak Page_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Freeform 12"/>
          <p:cNvSpPr>
            <a:spLocks/>
          </p:cNvSpPr>
          <p:nvPr userDrawn="1"/>
        </p:nvSpPr>
        <p:spPr bwMode="auto">
          <a:xfrm>
            <a:off x="4013199" y="-1577552"/>
            <a:ext cx="5372379" cy="5898053"/>
          </a:xfrm>
          <a:custGeom>
            <a:avLst/>
            <a:gdLst>
              <a:gd name="T0" fmla="*/ 359 w 432"/>
              <a:gd name="T1" fmla="*/ 220 h 474"/>
              <a:gd name="T2" fmla="*/ 389 w 432"/>
              <a:gd name="T3" fmla="*/ 168 h 474"/>
              <a:gd name="T4" fmla="*/ 292 w 432"/>
              <a:gd name="T5" fmla="*/ 0 h 474"/>
              <a:gd name="T6" fmla="*/ 97 w 432"/>
              <a:gd name="T7" fmla="*/ 0 h 474"/>
              <a:gd name="T8" fmla="*/ 0 w 432"/>
              <a:gd name="T9" fmla="*/ 168 h 474"/>
              <a:gd name="T10" fmla="*/ 97 w 432"/>
              <a:gd name="T11" fmla="*/ 337 h 474"/>
              <a:gd name="T12" fmla="*/ 163 w 432"/>
              <a:gd name="T13" fmla="*/ 337 h 474"/>
              <a:gd name="T14" fmla="*/ 163 w 432"/>
              <a:gd name="T15" fmla="*/ 340 h 474"/>
              <a:gd name="T16" fmla="*/ 297 w 432"/>
              <a:gd name="T17" fmla="*/ 474 h 474"/>
              <a:gd name="T18" fmla="*/ 432 w 432"/>
              <a:gd name="T19" fmla="*/ 340 h 474"/>
              <a:gd name="T20" fmla="*/ 359 w 432"/>
              <a:gd name="T21" fmla="*/ 220 h 47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432" h="474">
                <a:moveTo>
                  <a:pt x="359" y="220"/>
                </a:moveTo>
                <a:cubicBezTo>
                  <a:pt x="389" y="168"/>
                  <a:pt x="389" y="168"/>
                  <a:pt x="389" y="168"/>
                </a:cubicBezTo>
                <a:cubicBezTo>
                  <a:pt x="292" y="0"/>
                  <a:pt x="292" y="0"/>
                  <a:pt x="292" y="0"/>
                </a:cubicBezTo>
                <a:cubicBezTo>
                  <a:pt x="97" y="0"/>
                  <a:pt x="97" y="0"/>
                  <a:pt x="97" y="0"/>
                </a:cubicBezTo>
                <a:cubicBezTo>
                  <a:pt x="0" y="168"/>
                  <a:pt x="0" y="168"/>
                  <a:pt x="0" y="168"/>
                </a:cubicBezTo>
                <a:cubicBezTo>
                  <a:pt x="97" y="337"/>
                  <a:pt x="97" y="337"/>
                  <a:pt x="97" y="337"/>
                </a:cubicBezTo>
                <a:cubicBezTo>
                  <a:pt x="163" y="337"/>
                  <a:pt x="163" y="337"/>
                  <a:pt x="163" y="337"/>
                </a:cubicBezTo>
                <a:cubicBezTo>
                  <a:pt x="163" y="338"/>
                  <a:pt x="163" y="339"/>
                  <a:pt x="163" y="340"/>
                </a:cubicBezTo>
                <a:cubicBezTo>
                  <a:pt x="163" y="414"/>
                  <a:pt x="223" y="474"/>
                  <a:pt x="297" y="474"/>
                </a:cubicBezTo>
                <a:cubicBezTo>
                  <a:pt x="372" y="474"/>
                  <a:pt x="432" y="414"/>
                  <a:pt x="432" y="340"/>
                </a:cubicBezTo>
                <a:cubicBezTo>
                  <a:pt x="432" y="288"/>
                  <a:pt x="402" y="243"/>
                  <a:pt x="359" y="22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 dirty="0"/>
          </a:p>
        </p:txBody>
      </p:sp>
      <p:sp>
        <p:nvSpPr>
          <p:cNvPr id="19" name="Footer Placeholder 4"/>
          <p:cNvSpPr>
            <a:spLocks noGrp="1"/>
          </p:cNvSpPr>
          <p:nvPr userDrawn="1">
            <p:ph type="ftr" sz="quarter" idx="3"/>
          </p:nvPr>
        </p:nvSpPr>
        <p:spPr>
          <a:xfrm>
            <a:off x="3205938" y="4893396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en-US" dirty="0"/>
          </a:p>
        </p:txBody>
      </p:sp>
      <p:sp>
        <p:nvSpPr>
          <p:cNvPr id="27" name="標題 1">
            <a:extLst>
              <a:ext uri="{FF2B5EF4-FFF2-40B4-BE49-F238E27FC236}">
                <a16:creationId xmlns:a16="http://schemas.microsoft.com/office/drawing/2014/main" id="{676DD45B-D11F-4BEE-8C43-E841A2A7797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94472" y="940324"/>
            <a:ext cx="6035868" cy="1689755"/>
          </a:xfrm>
        </p:spPr>
        <p:txBody>
          <a:bodyPr anchor="b">
            <a:normAutofit/>
          </a:bodyPr>
          <a:lstStyle>
            <a:lvl1pPr>
              <a:defRPr sz="36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Break Page Title</a:t>
            </a:r>
            <a:br>
              <a:rPr lang="en-US" altLang="zh-TW" dirty="0"/>
            </a:br>
            <a:r>
              <a:rPr lang="en-US" altLang="zh-TW" dirty="0"/>
              <a:t>Mabry Pro-Medium + </a:t>
            </a:r>
            <a:br>
              <a:rPr lang="en-US" altLang="zh-TW" dirty="0"/>
            </a:br>
            <a:r>
              <a:rPr lang="en-US" altLang="zh-TW" dirty="0" err="1"/>
              <a:t>Noto</a:t>
            </a:r>
            <a:r>
              <a:rPr lang="en-US" altLang="zh-TW" dirty="0"/>
              <a:t> Sans TC Medium</a:t>
            </a:r>
            <a:endParaRPr lang="en-US" dirty="0"/>
          </a:p>
        </p:txBody>
      </p:sp>
      <p:sp>
        <p:nvSpPr>
          <p:cNvPr id="7" name="Freeform 5"/>
          <p:cNvSpPr>
            <a:spLocks noChangeAspect="1" noEditPoints="1"/>
          </p:cNvSpPr>
          <p:nvPr userDrawn="1"/>
        </p:nvSpPr>
        <p:spPr bwMode="auto">
          <a:xfrm>
            <a:off x="8026333" y="4560330"/>
            <a:ext cx="842400" cy="297755"/>
          </a:xfrm>
          <a:custGeom>
            <a:avLst/>
            <a:gdLst>
              <a:gd name="T0" fmla="*/ 3206 w 4102"/>
              <a:gd name="T1" fmla="*/ 14 h 1450"/>
              <a:gd name="T2" fmla="*/ 2954 w 4102"/>
              <a:gd name="T3" fmla="*/ 108 h 1450"/>
              <a:gd name="T4" fmla="*/ 2812 w 4102"/>
              <a:gd name="T5" fmla="*/ 228 h 1450"/>
              <a:gd name="T6" fmla="*/ 2736 w 4102"/>
              <a:gd name="T7" fmla="*/ 344 h 1450"/>
              <a:gd name="T8" fmla="*/ 2676 w 4102"/>
              <a:gd name="T9" fmla="*/ 452 h 1450"/>
              <a:gd name="T10" fmla="*/ 2200 w 4102"/>
              <a:gd name="T11" fmla="*/ 816 h 1450"/>
              <a:gd name="T12" fmla="*/ 2178 w 4102"/>
              <a:gd name="T13" fmla="*/ 946 h 1450"/>
              <a:gd name="T14" fmla="*/ 2118 w 4102"/>
              <a:gd name="T15" fmla="*/ 1022 h 1450"/>
              <a:gd name="T16" fmla="*/ 2012 w 4102"/>
              <a:gd name="T17" fmla="*/ 1046 h 1450"/>
              <a:gd name="T18" fmla="*/ 1920 w 4102"/>
              <a:gd name="T19" fmla="*/ 1030 h 1450"/>
              <a:gd name="T20" fmla="*/ 1854 w 4102"/>
              <a:gd name="T21" fmla="*/ 962 h 1450"/>
              <a:gd name="T22" fmla="*/ 1826 w 4102"/>
              <a:gd name="T23" fmla="*/ 846 h 1450"/>
              <a:gd name="T24" fmla="*/ 1354 w 4102"/>
              <a:gd name="T25" fmla="*/ 734 h 1450"/>
              <a:gd name="T26" fmla="*/ 568 w 4102"/>
              <a:gd name="T27" fmla="*/ 52 h 1450"/>
              <a:gd name="T28" fmla="*/ 804 w 4102"/>
              <a:gd name="T29" fmla="*/ 600 h 1450"/>
              <a:gd name="T30" fmla="*/ 1516 w 4102"/>
              <a:gd name="T31" fmla="*/ 1202 h 1450"/>
              <a:gd name="T32" fmla="*/ 1608 w 4102"/>
              <a:gd name="T33" fmla="*/ 1262 h 1450"/>
              <a:gd name="T34" fmla="*/ 1752 w 4102"/>
              <a:gd name="T35" fmla="*/ 1310 h 1450"/>
              <a:gd name="T36" fmla="*/ 2014 w 4102"/>
              <a:gd name="T37" fmla="*/ 1332 h 1450"/>
              <a:gd name="T38" fmla="*/ 2328 w 4102"/>
              <a:gd name="T39" fmla="*/ 1296 h 1450"/>
              <a:gd name="T40" fmla="*/ 2486 w 4102"/>
              <a:gd name="T41" fmla="*/ 1224 h 1450"/>
              <a:gd name="T42" fmla="*/ 2568 w 4102"/>
              <a:gd name="T43" fmla="*/ 1144 h 1450"/>
              <a:gd name="T44" fmla="*/ 2626 w 4102"/>
              <a:gd name="T45" fmla="*/ 1040 h 1450"/>
              <a:gd name="T46" fmla="*/ 2674 w 4102"/>
              <a:gd name="T47" fmla="*/ 912 h 1450"/>
              <a:gd name="T48" fmla="*/ 2726 w 4102"/>
              <a:gd name="T49" fmla="*/ 1062 h 1450"/>
              <a:gd name="T50" fmla="*/ 2806 w 4102"/>
              <a:gd name="T51" fmla="*/ 1186 h 1450"/>
              <a:gd name="T52" fmla="*/ 2908 w 4102"/>
              <a:gd name="T53" fmla="*/ 1282 h 1450"/>
              <a:gd name="T54" fmla="*/ 3030 w 4102"/>
              <a:gd name="T55" fmla="*/ 1354 h 1450"/>
              <a:gd name="T56" fmla="*/ 3314 w 4102"/>
              <a:gd name="T57" fmla="*/ 1420 h 1450"/>
              <a:gd name="T58" fmla="*/ 3484 w 4102"/>
              <a:gd name="T59" fmla="*/ 1416 h 1450"/>
              <a:gd name="T60" fmla="*/ 3654 w 4102"/>
              <a:gd name="T61" fmla="*/ 1382 h 1450"/>
              <a:gd name="T62" fmla="*/ 3806 w 4102"/>
              <a:gd name="T63" fmla="*/ 1312 h 1450"/>
              <a:gd name="T64" fmla="*/ 3932 w 4102"/>
              <a:gd name="T65" fmla="*/ 1206 h 1450"/>
              <a:gd name="T66" fmla="*/ 4028 w 4102"/>
              <a:gd name="T67" fmla="*/ 1064 h 1450"/>
              <a:gd name="T68" fmla="*/ 4086 w 4102"/>
              <a:gd name="T69" fmla="*/ 884 h 1450"/>
              <a:gd name="T70" fmla="*/ 4102 w 4102"/>
              <a:gd name="T71" fmla="*/ 710 h 1450"/>
              <a:gd name="T72" fmla="*/ 4078 w 4102"/>
              <a:gd name="T73" fmla="*/ 498 h 1450"/>
              <a:gd name="T74" fmla="*/ 4012 w 4102"/>
              <a:gd name="T75" fmla="*/ 326 h 1450"/>
              <a:gd name="T76" fmla="*/ 3910 w 4102"/>
              <a:gd name="T77" fmla="*/ 192 h 1450"/>
              <a:gd name="T78" fmla="*/ 3778 w 4102"/>
              <a:gd name="T79" fmla="*/ 94 h 1450"/>
              <a:gd name="T80" fmla="*/ 3622 w 4102"/>
              <a:gd name="T81" fmla="*/ 30 h 1450"/>
              <a:gd name="T82" fmla="*/ 3448 w 4102"/>
              <a:gd name="T83" fmla="*/ 2 h 1450"/>
              <a:gd name="T84" fmla="*/ 3376 w 4102"/>
              <a:gd name="T85" fmla="*/ 1128 h 1450"/>
              <a:gd name="T86" fmla="*/ 3294 w 4102"/>
              <a:gd name="T87" fmla="*/ 1112 h 1450"/>
              <a:gd name="T88" fmla="*/ 3212 w 4102"/>
              <a:gd name="T89" fmla="*/ 1046 h 1450"/>
              <a:gd name="T90" fmla="*/ 3152 w 4102"/>
              <a:gd name="T91" fmla="*/ 892 h 1450"/>
              <a:gd name="T92" fmla="*/ 3136 w 4102"/>
              <a:gd name="T93" fmla="*/ 712 h 1450"/>
              <a:gd name="T94" fmla="*/ 3160 w 4102"/>
              <a:gd name="T95" fmla="*/ 496 h 1450"/>
              <a:gd name="T96" fmla="*/ 3232 w 4102"/>
              <a:gd name="T97" fmla="*/ 352 h 1450"/>
              <a:gd name="T98" fmla="*/ 3310 w 4102"/>
              <a:gd name="T99" fmla="*/ 304 h 1450"/>
              <a:gd name="T100" fmla="*/ 3376 w 4102"/>
              <a:gd name="T101" fmla="*/ 294 h 1450"/>
              <a:gd name="T102" fmla="*/ 3458 w 4102"/>
              <a:gd name="T103" fmla="*/ 310 h 1450"/>
              <a:gd name="T104" fmla="*/ 3540 w 4102"/>
              <a:gd name="T105" fmla="*/ 376 h 1450"/>
              <a:gd name="T106" fmla="*/ 3602 w 4102"/>
              <a:gd name="T107" fmla="*/ 530 h 1450"/>
              <a:gd name="T108" fmla="*/ 3618 w 4102"/>
              <a:gd name="T109" fmla="*/ 710 h 1450"/>
              <a:gd name="T110" fmla="*/ 3602 w 4102"/>
              <a:gd name="T111" fmla="*/ 892 h 1450"/>
              <a:gd name="T112" fmla="*/ 3540 w 4102"/>
              <a:gd name="T113" fmla="*/ 1046 h 1450"/>
              <a:gd name="T114" fmla="*/ 3458 w 4102"/>
              <a:gd name="T115" fmla="*/ 1112 h 1450"/>
              <a:gd name="T116" fmla="*/ 3376 w 4102"/>
              <a:gd name="T117" fmla="*/ 1128 h 14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</a:cxnLst>
            <a:rect l="0" t="0" r="r" b="b"/>
            <a:pathLst>
              <a:path w="4102" h="1450">
                <a:moveTo>
                  <a:pt x="3376" y="0"/>
                </a:moveTo>
                <a:lnTo>
                  <a:pt x="3376" y="0"/>
                </a:lnTo>
                <a:lnTo>
                  <a:pt x="3318" y="0"/>
                </a:lnTo>
                <a:lnTo>
                  <a:pt x="3262" y="6"/>
                </a:lnTo>
                <a:lnTo>
                  <a:pt x="3206" y="14"/>
                </a:lnTo>
                <a:lnTo>
                  <a:pt x="3152" y="26"/>
                </a:lnTo>
                <a:lnTo>
                  <a:pt x="3098" y="42"/>
                </a:lnTo>
                <a:lnTo>
                  <a:pt x="3048" y="60"/>
                </a:lnTo>
                <a:lnTo>
                  <a:pt x="3000" y="82"/>
                </a:lnTo>
                <a:lnTo>
                  <a:pt x="2954" y="108"/>
                </a:lnTo>
                <a:lnTo>
                  <a:pt x="2910" y="138"/>
                </a:lnTo>
                <a:lnTo>
                  <a:pt x="2868" y="172"/>
                </a:lnTo>
                <a:lnTo>
                  <a:pt x="2850" y="190"/>
                </a:lnTo>
                <a:lnTo>
                  <a:pt x="2830" y="210"/>
                </a:lnTo>
                <a:lnTo>
                  <a:pt x="2812" y="228"/>
                </a:lnTo>
                <a:lnTo>
                  <a:pt x="2796" y="250"/>
                </a:lnTo>
                <a:lnTo>
                  <a:pt x="2780" y="272"/>
                </a:lnTo>
                <a:lnTo>
                  <a:pt x="2764" y="294"/>
                </a:lnTo>
                <a:lnTo>
                  <a:pt x="2750" y="318"/>
                </a:lnTo>
                <a:lnTo>
                  <a:pt x="2736" y="344"/>
                </a:lnTo>
                <a:lnTo>
                  <a:pt x="2724" y="368"/>
                </a:lnTo>
                <a:lnTo>
                  <a:pt x="2712" y="396"/>
                </a:lnTo>
                <a:lnTo>
                  <a:pt x="2702" y="424"/>
                </a:lnTo>
                <a:lnTo>
                  <a:pt x="2692" y="452"/>
                </a:lnTo>
                <a:lnTo>
                  <a:pt x="2676" y="452"/>
                </a:lnTo>
                <a:lnTo>
                  <a:pt x="2676" y="52"/>
                </a:lnTo>
                <a:lnTo>
                  <a:pt x="2202" y="52"/>
                </a:lnTo>
                <a:lnTo>
                  <a:pt x="2202" y="784"/>
                </a:lnTo>
                <a:lnTo>
                  <a:pt x="2202" y="784"/>
                </a:lnTo>
                <a:lnTo>
                  <a:pt x="2200" y="816"/>
                </a:lnTo>
                <a:lnTo>
                  <a:pt x="2198" y="846"/>
                </a:lnTo>
                <a:lnTo>
                  <a:pt x="2196" y="874"/>
                </a:lnTo>
                <a:lnTo>
                  <a:pt x="2192" y="900"/>
                </a:lnTo>
                <a:lnTo>
                  <a:pt x="2186" y="924"/>
                </a:lnTo>
                <a:lnTo>
                  <a:pt x="2178" y="946"/>
                </a:lnTo>
                <a:lnTo>
                  <a:pt x="2170" y="966"/>
                </a:lnTo>
                <a:lnTo>
                  <a:pt x="2160" y="982"/>
                </a:lnTo>
                <a:lnTo>
                  <a:pt x="2148" y="998"/>
                </a:lnTo>
                <a:lnTo>
                  <a:pt x="2134" y="1010"/>
                </a:lnTo>
                <a:lnTo>
                  <a:pt x="2118" y="1022"/>
                </a:lnTo>
                <a:lnTo>
                  <a:pt x="2102" y="1030"/>
                </a:lnTo>
                <a:lnTo>
                  <a:pt x="2082" y="1038"/>
                </a:lnTo>
                <a:lnTo>
                  <a:pt x="2060" y="1042"/>
                </a:lnTo>
                <a:lnTo>
                  <a:pt x="2038" y="1046"/>
                </a:lnTo>
                <a:lnTo>
                  <a:pt x="2012" y="1046"/>
                </a:lnTo>
                <a:lnTo>
                  <a:pt x="2012" y="1046"/>
                </a:lnTo>
                <a:lnTo>
                  <a:pt x="1986" y="1046"/>
                </a:lnTo>
                <a:lnTo>
                  <a:pt x="1962" y="1042"/>
                </a:lnTo>
                <a:lnTo>
                  <a:pt x="1940" y="1036"/>
                </a:lnTo>
                <a:lnTo>
                  <a:pt x="1920" y="1030"/>
                </a:lnTo>
                <a:lnTo>
                  <a:pt x="1904" y="1020"/>
                </a:lnTo>
                <a:lnTo>
                  <a:pt x="1888" y="1008"/>
                </a:lnTo>
                <a:lnTo>
                  <a:pt x="1874" y="996"/>
                </a:lnTo>
                <a:lnTo>
                  <a:pt x="1862" y="980"/>
                </a:lnTo>
                <a:lnTo>
                  <a:pt x="1854" y="962"/>
                </a:lnTo>
                <a:lnTo>
                  <a:pt x="1844" y="944"/>
                </a:lnTo>
                <a:lnTo>
                  <a:pt x="1838" y="922"/>
                </a:lnTo>
                <a:lnTo>
                  <a:pt x="1832" y="898"/>
                </a:lnTo>
                <a:lnTo>
                  <a:pt x="1828" y="872"/>
                </a:lnTo>
                <a:lnTo>
                  <a:pt x="1826" y="846"/>
                </a:lnTo>
                <a:lnTo>
                  <a:pt x="1824" y="784"/>
                </a:lnTo>
                <a:lnTo>
                  <a:pt x="1824" y="52"/>
                </a:lnTo>
                <a:lnTo>
                  <a:pt x="1354" y="52"/>
                </a:lnTo>
                <a:lnTo>
                  <a:pt x="1354" y="734"/>
                </a:lnTo>
                <a:lnTo>
                  <a:pt x="1354" y="734"/>
                </a:lnTo>
                <a:lnTo>
                  <a:pt x="1356" y="772"/>
                </a:lnTo>
                <a:lnTo>
                  <a:pt x="1360" y="808"/>
                </a:lnTo>
                <a:lnTo>
                  <a:pt x="1346" y="812"/>
                </a:lnTo>
                <a:lnTo>
                  <a:pt x="1038" y="54"/>
                </a:lnTo>
                <a:lnTo>
                  <a:pt x="568" y="52"/>
                </a:lnTo>
                <a:lnTo>
                  <a:pt x="0" y="1450"/>
                </a:lnTo>
                <a:lnTo>
                  <a:pt x="526" y="1450"/>
                </a:lnTo>
                <a:lnTo>
                  <a:pt x="796" y="600"/>
                </a:lnTo>
                <a:lnTo>
                  <a:pt x="802" y="600"/>
                </a:lnTo>
                <a:lnTo>
                  <a:pt x="804" y="600"/>
                </a:lnTo>
                <a:lnTo>
                  <a:pt x="810" y="600"/>
                </a:lnTo>
                <a:lnTo>
                  <a:pt x="1082" y="1450"/>
                </a:lnTo>
                <a:lnTo>
                  <a:pt x="1606" y="1450"/>
                </a:lnTo>
                <a:lnTo>
                  <a:pt x="1508" y="1206"/>
                </a:lnTo>
                <a:lnTo>
                  <a:pt x="1516" y="1202"/>
                </a:lnTo>
                <a:lnTo>
                  <a:pt x="1516" y="1202"/>
                </a:lnTo>
                <a:lnTo>
                  <a:pt x="1536" y="1218"/>
                </a:lnTo>
                <a:lnTo>
                  <a:pt x="1558" y="1234"/>
                </a:lnTo>
                <a:lnTo>
                  <a:pt x="1582" y="1248"/>
                </a:lnTo>
                <a:lnTo>
                  <a:pt x="1608" y="1262"/>
                </a:lnTo>
                <a:lnTo>
                  <a:pt x="1634" y="1274"/>
                </a:lnTo>
                <a:lnTo>
                  <a:pt x="1662" y="1284"/>
                </a:lnTo>
                <a:lnTo>
                  <a:pt x="1690" y="1294"/>
                </a:lnTo>
                <a:lnTo>
                  <a:pt x="1722" y="1302"/>
                </a:lnTo>
                <a:lnTo>
                  <a:pt x="1752" y="1310"/>
                </a:lnTo>
                <a:lnTo>
                  <a:pt x="1786" y="1316"/>
                </a:lnTo>
                <a:lnTo>
                  <a:pt x="1856" y="1324"/>
                </a:lnTo>
                <a:lnTo>
                  <a:pt x="1932" y="1330"/>
                </a:lnTo>
                <a:lnTo>
                  <a:pt x="2014" y="1332"/>
                </a:lnTo>
                <a:lnTo>
                  <a:pt x="2014" y="1332"/>
                </a:lnTo>
                <a:lnTo>
                  <a:pt x="2086" y="1330"/>
                </a:lnTo>
                <a:lnTo>
                  <a:pt x="2152" y="1326"/>
                </a:lnTo>
                <a:lnTo>
                  <a:pt x="2216" y="1320"/>
                </a:lnTo>
                <a:lnTo>
                  <a:pt x="2274" y="1310"/>
                </a:lnTo>
                <a:lnTo>
                  <a:pt x="2328" y="1296"/>
                </a:lnTo>
                <a:lnTo>
                  <a:pt x="2378" y="1280"/>
                </a:lnTo>
                <a:lnTo>
                  <a:pt x="2424" y="1260"/>
                </a:lnTo>
                <a:lnTo>
                  <a:pt x="2446" y="1248"/>
                </a:lnTo>
                <a:lnTo>
                  <a:pt x="2466" y="1236"/>
                </a:lnTo>
                <a:lnTo>
                  <a:pt x="2486" y="1224"/>
                </a:lnTo>
                <a:lnTo>
                  <a:pt x="2504" y="1210"/>
                </a:lnTo>
                <a:lnTo>
                  <a:pt x="2520" y="1194"/>
                </a:lnTo>
                <a:lnTo>
                  <a:pt x="2538" y="1178"/>
                </a:lnTo>
                <a:lnTo>
                  <a:pt x="2552" y="1162"/>
                </a:lnTo>
                <a:lnTo>
                  <a:pt x="2568" y="1144"/>
                </a:lnTo>
                <a:lnTo>
                  <a:pt x="2580" y="1126"/>
                </a:lnTo>
                <a:lnTo>
                  <a:pt x="2594" y="1106"/>
                </a:lnTo>
                <a:lnTo>
                  <a:pt x="2606" y="1086"/>
                </a:lnTo>
                <a:lnTo>
                  <a:pt x="2616" y="1064"/>
                </a:lnTo>
                <a:lnTo>
                  <a:pt x="2626" y="1040"/>
                </a:lnTo>
                <a:lnTo>
                  <a:pt x="2634" y="1018"/>
                </a:lnTo>
                <a:lnTo>
                  <a:pt x="2650" y="966"/>
                </a:lnTo>
                <a:lnTo>
                  <a:pt x="2662" y="912"/>
                </a:lnTo>
                <a:lnTo>
                  <a:pt x="2674" y="912"/>
                </a:lnTo>
                <a:lnTo>
                  <a:pt x="2674" y="912"/>
                </a:lnTo>
                <a:lnTo>
                  <a:pt x="2682" y="944"/>
                </a:lnTo>
                <a:lnTo>
                  <a:pt x="2692" y="976"/>
                </a:lnTo>
                <a:lnTo>
                  <a:pt x="2702" y="1006"/>
                </a:lnTo>
                <a:lnTo>
                  <a:pt x="2714" y="1034"/>
                </a:lnTo>
                <a:lnTo>
                  <a:pt x="2726" y="1062"/>
                </a:lnTo>
                <a:lnTo>
                  <a:pt x="2740" y="1090"/>
                </a:lnTo>
                <a:lnTo>
                  <a:pt x="2756" y="1116"/>
                </a:lnTo>
                <a:lnTo>
                  <a:pt x="2772" y="1140"/>
                </a:lnTo>
                <a:lnTo>
                  <a:pt x="2788" y="1164"/>
                </a:lnTo>
                <a:lnTo>
                  <a:pt x="2806" y="1186"/>
                </a:lnTo>
                <a:lnTo>
                  <a:pt x="2824" y="1208"/>
                </a:lnTo>
                <a:lnTo>
                  <a:pt x="2844" y="1228"/>
                </a:lnTo>
                <a:lnTo>
                  <a:pt x="2864" y="1248"/>
                </a:lnTo>
                <a:lnTo>
                  <a:pt x="2886" y="1266"/>
                </a:lnTo>
                <a:lnTo>
                  <a:pt x="2908" y="1282"/>
                </a:lnTo>
                <a:lnTo>
                  <a:pt x="2932" y="1300"/>
                </a:lnTo>
                <a:lnTo>
                  <a:pt x="2954" y="1314"/>
                </a:lnTo>
                <a:lnTo>
                  <a:pt x="2978" y="1328"/>
                </a:lnTo>
                <a:lnTo>
                  <a:pt x="3004" y="1342"/>
                </a:lnTo>
                <a:lnTo>
                  <a:pt x="3030" y="1354"/>
                </a:lnTo>
                <a:lnTo>
                  <a:pt x="3082" y="1376"/>
                </a:lnTo>
                <a:lnTo>
                  <a:pt x="3138" y="1392"/>
                </a:lnTo>
                <a:lnTo>
                  <a:pt x="3196" y="1406"/>
                </a:lnTo>
                <a:lnTo>
                  <a:pt x="3254" y="1416"/>
                </a:lnTo>
                <a:lnTo>
                  <a:pt x="3314" y="1420"/>
                </a:lnTo>
                <a:lnTo>
                  <a:pt x="3376" y="1422"/>
                </a:lnTo>
                <a:lnTo>
                  <a:pt x="3376" y="1422"/>
                </a:lnTo>
                <a:lnTo>
                  <a:pt x="3412" y="1422"/>
                </a:lnTo>
                <a:lnTo>
                  <a:pt x="3448" y="1420"/>
                </a:lnTo>
                <a:lnTo>
                  <a:pt x="3484" y="1416"/>
                </a:lnTo>
                <a:lnTo>
                  <a:pt x="3520" y="1412"/>
                </a:lnTo>
                <a:lnTo>
                  <a:pt x="3554" y="1406"/>
                </a:lnTo>
                <a:lnTo>
                  <a:pt x="3588" y="1400"/>
                </a:lnTo>
                <a:lnTo>
                  <a:pt x="3622" y="1390"/>
                </a:lnTo>
                <a:lnTo>
                  <a:pt x="3654" y="1382"/>
                </a:lnTo>
                <a:lnTo>
                  <a:pt x="3686" y="1370"/>
                </a:lnTo>
                <a:lnTo>
                  <a:pt x="3718" y="1358"/>
                </a:lnTo>
                <a:lnTo>
                  <a:pt x="3748" y="1344"/>
                </a:lnTo>
                <a:lnTo>
                  <a:pt x="3778" y="1328"/>
                </a:lnTo>
                <a:lnTo>
                  <a:pt x="3806" y="1312"/>
                </a:lnTo>
                <a:lnTo>
                  <a:pt x="3834" y="1294"/>
                </a:lnTo>
                <a:lnTo>
                  <a:pt x="3860" y="1274"/>
                </a:lnTo>
                <a:lnTo>
                  <a:pt x="3886" y="1252"/>
                </a:lnTo>
                <a:lnTo>
                  <a:pt x="3910" y="1230"/>
                </a:lnTo>
                <a:lnTo>
                  <a:pt x="3932" y="1206"/>
                </a:lnTo>
                <a:lnTo>
                  <a:pt x="3954" y="1180"/>
                </a:lnTo>
                <a:lnTo>
                  <a:pt x="3976" y="1154"/>
                </a:lnTo>
                <a:lnTo>
                  <a:pt x="3994" y="1126"/>
                </a:lnTo>
                <a:lnTo>
                  <a:pt x="4012" y="1096"/>
                </a:lnTo>
                <a:lnTo>
                  <a:pt x="4028" y="1064"/>
                </a:lnTo>
                <a:lnTo>
                  <a:pt x="4044" y="1030"/>
                </a:lnTo>
                <a:lnTo>
                  <a:pt x="4056" y="996"/>
                </a:lnTo>
                <a:lnTo>
                  <a:pt x="4068" y="960"/>
                </a:lnTo>
                <a:lnTo>
                  <a:pt x="4078" y="922"/>
                </a:lnTo>
                <a:lnTo>
                  <a:pt x="4086" y="884"/>
                </a:lnTo>
                <a:lnTo>
                  <a:pt x="4094" y="842"/>
                </a:lnTo>
                <a:lnTo>
                  <a:pt x="4098" y="800"/>
                </a:lnTo>
                <a:lnTo>
                  <a:pt x="4100" y="756"/>
                </a:lnTo>
                <a:lnTo>
                  <a:pt x="4102" y="710"/>
                </a:lnTo>
                <a:lnTo>
                  <a:pt x="4102" y="710"/>
                </a:lnTo>
                <a:lnTo>
                  <a:pt x="4102" y="666"/>
                </a:lnTo>
                <a:lnTo>
                  <a:pt x="4098" y="622"/>
                </a:lnTo>
                <a:lnTo>
                  <a:pt x="4094" y="578"/>
                </a:lnTo>
                <a:lnTo>
                  <a:pt x="4086" y="538"/>
                </a:lnTo>
                <a:lnTo>
                  <a:pt x="4078" y="498"/>
                </a:lnTo>
                <a:lnTo>
                  <a:pt x="4068" y="462"/>
                </a:lnTo>
                <a:lnTo>
                  <a:pt x="4056" y="426"/>
                </a:lnTo>
                <a:lnTo>
                  <a:pt x="4044" y="390"/>
                </a:lnTo>
                <a:lnTo>
                  <a:pt x="4028" y="358"/>
                </a:lnTo>
                <a:lnTo>
                  <a:pt x="4012" y="326"/>
                </a:lnTo>
                <a:lnTo>
                  <a:pt x="3994" y="296"/>
                </a:lnTo>
                <a:lnTo>
                  <a:pt x="3976" y="268"/>
                </a:lnTo>
                <a:lnTo>
                  <a:pt x="3954" y="240"/>
                </a:lnTo>
                <a:lnTo>
                  <a:pt x="3932" y="216"/>
                </a:lnTo>
                <a:lnTo>
                  <a:pt x="3910" y="192"/>
                </a:lnTo>
                <a:lnTo>
                  <a:pt x="3886" y="170"/>
                </a:lnTo>
                <a:lnTo>
                  <a:pt x="3860" y="148"/>
                </a:lnTo>
                <a:lnTo>
                  <a:pt x="3834" y="128"/>
                </a:lnTo>
                <a:lnTo>
                  <a:pt x="3806" y="110"/>
                </a:lnTo>
                <a:lnTo>
                  <a:pt x="3778" y="94"/>
                </a:lnTo>
                <a:lnTo>
                  <a:pt x="3748" y="78"/>
                </a:lnTo>
                <a:lnTo>
                  <a:pt x="3718" y="64"/>
                </a:lnTo>
                <a:lnTo>
                  <a:pt x="3686" y="52"/>
                </a:lnTo>
                <a:lnTo>
                  <a:pt x="3654" y="40"/>
                </a:lnTo>
                <a:lnTo>
                  <a:pt x="3622" y="30"/>
                </a:lnTo>
                <a:lnTo>
                  <a:pt x="3588" y="22"/>
                </a:lnTo>
                <a:lnTo>
                  <a:pt x="3554" y="16"/>
                </a:lnTo>
                <a:lnTo>
                  <a:pt x="3520" y="10"/>
                </a:lnTo>
                <a:lnTo>
                  <a:pt x="3484" y="4"/>
                </a:lnTo>
                <a:lnTo>
                  <a:pt x="3448" y="2"/>
                </a:lnTo>
                <a:lnTo>
                  <a:pt x="3412" y="0"/>
                </a:lnTo>
                <a:lnTo>
                  <a:pt x="3376" y="0"/>
                </a:lnTo>
                <a:lnTo>
                  <a:pt x="3376" y="0"/>
                </a:lnTo>
                <a:close/>
                <a:moveTo>
                  <a:pt x="3376" y="1128"/>
                </a:moveTo>
                <a:lnTo>
                  <a:pt x="3376" y="1128"/>
                </a:lnTo>
                <a:lnTo>
                  <a:pt x="3358" y="1128"/>
                </a:lnTo>
                <a:lnTo>
                  <a:pt x="3340" y="1126"/>
                </a:lnTo>
                <a:lnTo>
                  <a:pt x="3324" y="1122"/>
                </a:lnTo>
                <a:lnTo>
                  <a:pt x="3308" y="1118"/>
                </a:lnTo>
                <a:lnTo>
                  <a:pt x="3294" y="1112"/>
                </a:lnTo>
                <a:lnTo>
                  <a:pt x="3280" y="1106"/>
                </a:lnTo>
                <a:lnTo>
                  <a:pt x="3268" y="1098"/>
                </a:lnTo>
                <a:lnTo>
                  <a:pt x="3254" y="1090"/>
                </a:lnTo>
                <a:lnTo>
                  <a:pt x="3232" y="1070"/>
                </a:lnTo>
                <a:lnTo>
                  <a:pt x="3212" y="1046"/>
                </a:lnTo>
                <a:lnTo>
                  <a:pt x="3196" y="1020"/>
                </a:lnTo>
                <a:lnTo>
                  <a:pt x="3182" y="990"/>
                </a:lnTo>
                <a:lnTo>
                  <a:pt x="3170" y="960"/>
                </a:lnTo>
                <a:lnTo>
                  <a:pt x="3160" y="926"/>
                </a:lnTo>
                <a:lnTo>
                  <a:pt x="3152" y="892"/>
                </a:lnTo>
                <a:lnTo>
                  <a:pt x="3146" y="856"/>
                </a:lnTo>
                <a:lnTo>
                  <a:pt x="3140" y="820"/>
                </a:lnTo>
                <a:lnTo>
                  <a:pt x="3138" y="784"/>
                </a:lnTo>
                <a:lnTo>
                  <a:pt x="3136" y="712"/>
                </a:lnTo>
                <a:lnTo>
                  <a:pt x="3136" y="712"/>
                </a:lnTo>
                <a:lnTo>
                  <a:pt x="3138" y="638"/>
                </a:lnTo>
                <a:lnTo>
                  <a:pt x="3140" y="602"/>
                </a:lnTo>
                <a:lnTo>
                  <a:pt x="3146" y="566"/>
                </a:lnTo>
                <a:lnTo>
                  <a:pt x="3152" y="530"/>
                </a:lnTo>
                <a:lnTo>
                  <a:pt x="3160" y="496"/>
                </a:lnTo>
                <a:lnTo>
                  <a:pt x="3170" y="462"/>
                </a:lnTo>
                <a:lnTo>
                  <a:pt x="3182" y="432"/>
                </a:lnTo>
                <a:lnTo>
                  <a:pt x="3196" y="402"/>
                </a:lnTo>
                <a:lnTo>
                  <a:pt x="3212" y="376"/>
                </a:lnTo>
                <a:lnTo>
                  <a:pt x="3232" y="352"/>
                </a:lnTo>
                <a:lnTo>
                  <a:pt x="3254" y="332"/>
                </a:lnTo>
                <a:lnTo>
                  <a:pt x="3268" y="324"/>
                </a:lnTo>
                <a:lnTo>
                  <a:pt x="3280" y="316"/>
                </a:lnTo>
                <a:lnTo>
                  <a:pt x="3294" y="310"/>
                </a:lnTo>
                <a:lnTo>
                  <a:pt x="3310" y="304"/>
                </a:lnTo>
                <a:lnTo>
                  <a:pt x="3324" y="300"/>
                </a:lnTo>
                <a:lnTo>
                  <a:pt x="3342" y="296"/>
                </a:lnTo>
                <a:lnTo>
                  <a:pt x="3358" y="294"/>
                </a:lnTo>
                <a:lnTo>
                  <a:pt x="3376" y="294"/>
                </a:lnTo>
                <a:lnTo>
                  <a:pt x="3376" y="294"/>
                </a:lnTo>
                <a:lnTo>
                  <a:pt x="3394" y="294"/>
                </a:lnTo>
                <a:lnTo>
                  <a:pt x="3412" y="296"/>
                </a:lnTo>
                <a:lnTo>
                  <a:pt x="3428" y="300"/>
                </a:lnTo>
                <a:lnTo>
                  <a:pt x="3444" y="304"/>
                </a:lnTo>
                <a:lnTo>
                  <a:pt x="3458" y="310"/>
                </a:lnTo>
                <a:lnTo>
                  <a:pt x="3472" y="316"/>
                </a:lnTo>
                <a:lnTo>
                  <a:pt x="3486" y="324"/>
                </a:lnTo>
                <a:lnTo>
                  <a:pt x="3498" y="332"/>
                </a:lnTo>
                <a:lnTo>
                  <a:pt x="3520" y="352"/>
                </a:lnTo>
                <a:lnTo>
                  <a:pt x="3540" y="376"/>
                </a:lnTo>
                <a:lnTo>
                  <a:pt x="3556" y="402"/>
                </a:lnTo>
                <a:lnTo>
                  <a:pt x="3572" y="432"/>
                </a:lnTo>
                <a:lnTo>
                  <a:pt x="3584" y="462"/>
                </a:lnTo>
                <a:lnTo>
                  <a:pt x="3594" y="496"/>
                </a:lnTo>
                <a:lnTo>
                  <a:pt x="3602" y="530"/>
                </a:lnTo>
                <a:lnTo>
                  <a:pt x="3608" y="566"/>
                </a:lnTo>
                <a:lnTo>
                  <a:pt x="3612" y="602"/>
                </a:lnTo>
                <a:lnTo>
                  <a:pt x="3616" y="638"/>
                </a:lnTo>
                <a:lnTo>
                  <a:pt x="3616" y="674"/>
                </a:lnTo>
                <a:lnTo>
                  <a:pt x="3618" y="710"/>
                </a:lnTo>
                <a:lnTo>
                  <a:pt x="3618" y="710"/>
                </a:lnTo>
                <a:lnTo>
                  <a:pt x="3616" y="784"/>
                </a:lnTo>
                <a:lnTo>
                  <a:pt x="3612" y="820"/>
                </a:lnTo>
                <a:lnTo>
                  <a:pt x="3608" y="856"/>
                </a:lnTo>
                <a:lnTo>
                  <a:pt x="3602" y="892"/>
                </a:lnTo>
                <a:lnTo>
                  <a:pt x="3594" y="926"/>
                </a:lnTo>
                <a:lnTo>
                  <a:pt x="3584" y="960"/>
                </a:lnTo>
                <a:lnTo>
                  <a:pt x="3572" y="992"/>
                </a:lnTo>
                <a:lnTo>
                  <a:pt x="3556" y="1020"/>
                </a:lnTo>
                <a:lnTo>
                  <a:pt x="3540" y="1046"/>
                </a:lnTo>
                <a:lnTo>
                  <a:pt x="3520" y="1070"/>
                </a:lnTo>
                <a:lnTo>
                  <a:pt x="3498" y="1090"/>
                </a:lnTo>
                <a:lnTo>
                  <a:pt x="3486" y="1098"/>
                </a:lnTo>
                <a:lnTo>
                  <a:pt x="3472" y="1106"/>
                </a:lnTo>
                <a:lnTo>
                  <a:pt x="3458" y="1112"/>
                </a:lnTo>
                <a:lnTo>
                  <a:pt x="3444" y="1118"/>
                </a:lnTo>
                <a:lnTo>
                  <a:pt x="3428" y="1122"/>
                </a:lnTo>
                <a:lnTo>
                  <a:pt x="3412" y="1126"/>
                </a:lnTo>
                <a:lnTo>
                  <a:pt x="3394" y="1128"/>
                </a:lnTo>
                <a:lnTo>
                  <a:pt x="3376" y="1128"/>
                </a:lnTo>
                <a:lnTo>
                  <a:pt x="3376" y="1128"/>
                </a:lnTo>
                <a:close/>
              </a:path>
            </a:pathLst>
          </a:custGeom>
          <a:solidFill>
            <a:srgbClr val="005087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63480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_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4" name="Picture 6" descr="\\au3fs6\CorpCom\Library\Design\Amelie\2015\20151102_lobbytemplate\20141008_tvppttemplate1920x1080_inside.jpg"/>
          <p:cNvPicPr>
            <a:picLocks noChangeAspect="1" noChangeArrowheads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2"/>
            <a:ext cx="9144000" cy="2203037"/>
          </a:xfrm>
          <a:prstGeom prst="rect">
            <a:avLst/>
          </a:prstGeom>
          <a:noFill/>
        </p:spPr>
      </p:pic>
      <p:sp>
        <p:nvSpPr>
          <p:cNvPr id="8" name="文字方塊 7"/>
          <p:cNvSpPr txBox="1">
            <a:spLocks noChangeArrowheads="1"/>
          </p:cNvSpPr>
          <p:nvPr userDrawn="1"/>
        </p:nvSpPr>
        <p:spPr bwMode="auto">
          <a:xfrm>
            <a:off x="395288" y="4983164"/>
            <a:ext cx="3429000" cy="160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72000" rIns="72000" anchor="b"/>
          <a:lstStyle/>
          <a:p>
            <a:pPr eaLnBrk="1" hangingPunct="1">
              <a:lnSpc>
                <a:spcPct val="80000"/>
              </a:lnSpc>
              <a:defRPr/>
            </a:pP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  <a:cs typeface="Times New Roman" pitchFamily="18" charset="0"/>
                <a:sym typeface="Symbol" pitchFamily="18" charset="2"/>
              </a:rPr>
              <a:t></a:t>
            </a: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2016 AU </a:t>
            </a:r>
            <a:r>
              <a:rPr kumimoji="0" lang="en-US" altLang="zh-TW" sz="500" dirty="0" err="1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Optronics</a:t>
            </a:r>
            <a:r>
              <a:rPr kumimoji="0" lang="en-US" altLang="zh-TW" sz="500" dirty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rPr>
              <a:t> Corporation</a:t>
            </a:r>
            <a:endParaRPr kumimoji="0" lang="zh-TW" altLang="en-US" sz="500" dirty="0">
              <a:solidFill>
                <a:srgbClr val="333333"/>
              </a:solidFill>
              <a:latin typeface="Gill Sans MT" pitchFamily="34" charset="0"/>
              <a:ea typeface="微軟正黑體" pitchFamily="34" charset="-120"/>
            </a:endParaRPr>
          </a:p>
        </p:txBody>
      </p:sp>
      <p:sp>
        <p:nvSpPr>
          <p:cNvPr id="6" name="文字版面配置區 12"/>
          <p:cNvSpPr>
            <a:spLocks noGrp="1"/>
          </p:cNvSpPr>
          <p:nvPr>
            <p:ph type="body" sz="quarter" idx="19"/>
          </p:nvPr>
        </p:nvSpPr>
        <p:spPr>
          <a:xfrm>
            <a:off x="251520" y="195486"/>
            <a:ext cx="7416824" cy="1008112"/>
          </a:xfrm>
        </p:spPr>
        <p:txBody>
          <a:bodyPr>
            <a:normAutofit/>
          </a:bodyPr>
          <a:lstStyle>
            <a:lvl1pPr marL="0" marR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 sz="320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17" name="內容版面配置區 16"/>
          <p:cNvSpPr>
            <a:spLocks noGrp="1"/>
          </p:cNvSpPr>
          <p:nvPr>
            <p:ph sz="quarter" idx="22"/>
          </p:nvPr>
        </p:nvSpPr>
        <p:spPr>
          <a:xfrm>
            <a:off x="467544" y="1221602"/>
            <a:ext cx="7920880" cy="3582397"/>
          </a:xfrm>
        </p:spPr>
        <p:txBody>
          <a:bodyPr/>
          <a:lstStyle>
            <a:lvl1pPr>
              <a:defRPr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  <a:lvl2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2pPr>
            <a:lvl3pPr>
              <a:defRPr baseline="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3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</p:txBody>
      </p:sp>
      <p:sp>
        <p:nvSpPr>
          <p:cNvPr id="13" name="投影片編號版面配置區 3"/>
          <p:cNvSpPr>
            <a:spLocks noGrp="1"/>
          </p:cNvSpPr>
          <p:nvPr>
            <p:ph type="sldNum" sz="quarter" idx="4"/>
          </p:nvPr>
        </p:nvSpPr>
        <p:spPr>
          <a:xfrm>
            <a:off x="0" y="4817394"/>
            <a:ext cx="914400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50">
                <a:solidFill>
                  <a:srgbClr val="333333"/>
                </a:solidFill>
                <a:latin typeface="Gill Sans MT" pitchFamily="34" charset="0"/>
                <a:ea typeface="微軟正黑體" pitchFamily="34" charset="-120"/>
              </a:defRPr>
            </a:lvl1pPr>
          </a:lstStyle>
          <a:p>
            <a:fld id="{AA5B013B-7480-43EE-B457-EA78BB4C658D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334442845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Blank Page with Tti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8716136D-A099-46A3-A097-F57CDBAEF91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461423" y="-586026"/>
            <a:ext cx="2299235" cy="2299235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5F735089-F81E-4CF4-ADF9-44812E60E2E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78149" y="331533"/>
            <a:ext cx="8482972" cy="1064131"/>
          </a:xfrm>
        </p:spPr>
        <p:txBody>
          <a:bodyPr anchor="t">
            <a:normAutofit/>
          </a:bodyPr>
          <a:lstStyle>
            <a:lvl1pPr algn="l">
              <a:defRPr sz="3200">
                <a:solidFill>
                  <a:srgbClr val="005087"/>
                </a:solidFill>
                <a:latin typeface="+mj-lt"/>
              </a:defRPr>
            </a:lvl1pPr>
          </a:lstStyle>
          <a:p>
            <a:r>
              <a:rPr lang="en-US" altLang="zh-TW" dirty="0"/>
              <a:t>Page Title Goes Here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91393" y="4692853"/>
            <a:ext cx="655383" cy="280878"/>
          </a:xfrm>
          <a:prstGeom prst="rect">
            <a:avLst/>
          </a:prstGeom>
        </p:spPr>
      </p:pic>
      <p:sp>
        <p:nvSpPr>
          <p:cNvPr id="9" name="Text Placeholder 4"/>
          <p:cNvSpPr>
            <a:spLocks noGrp="1"/>
          </p:cNvSpPr>
          <p:nvPr>
            <p:ph type="body" sz="quarter" idx="10" hasCustomPrompt="1"/>
          </p:nvPr>
        </p:nvSpPr>
        <p:spPr>
          <a:xfrm>
            <a:off x="477840" y="1626645"/>
            <a:ext cx="8234362" cy="2857500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 altLang="zh-TW" dirty="0"/>
              <a:t>Mabry Pro + Noto Sans TC</a:t>
            </a:r>
          </a:p>
          <a:p>
            <a:pPr lvl="0"/>
            <a:endParaRPr lang="en-US" altLang="zh-TW" dirty="0"/>
          </a:p>
        </p:txBody>
      </p:sp>
      <p:sp>
        <p:nvSpPr>
          <p:cNvPr id="7" name="文字方塊 13">
            <a:extLst>
              <a:ext uri="{FF2B5EF4-FFF2-40B4-BE49-F238E27FC236}">
                <a16:creationId xmlns:a16="http://schemas.microsoft.com/office/drawing/2014/main" id="{100C045E-458C-43C8-A14C-FB9C878D4F9B}"/>
              </a:ext>
            </a:extLst>
          </p:cNvPr>
          <p:cNvSpPr txBox="1"/>
          <p:nvPr userDrawn="1"/>
        </p:nvSpPr>
        <p:spPr>
          <a:xfrm>
            <a:off x="478150" y="4933095"/>
            <a:ext cx="1153376" cy="173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685766"/>
            <a:r>
              <a:rPr lang="en-US" sz="525" dirty="0">
                <a:solidFill>
                  <a:srgbClr val="FFFFFF">
                    <a:lumMod val="50000"/>
                  </a:srgbClr>
                </a:solidFill>
              </a:rPr>
              <a:t>  </a:t>
            </a:r>
            <a:r>
              <a:rPr lang="en-US" sz="525" dirty="0">
                <a:solidFill>
                  <a:srgbClr val="000000">
                    <a:lumMod val="75000"/>
                    <a:lumOff val="25000"/>
                    <a:alpha val="65000"/>
                  </a:srgbClr>
                </a:solidFill>
              </a:rPr>
              <a:t>AUO Corporation Proprietary</a:t>
            </a:r>
          </a:p>
        </p:txBody>
      </p:sp>
      <p:sp>
        <p:nvSpPr>
          <p:cNvPr id="11" name="矩形 10"/>
          <p:cNvSpPr/>
          <p:nvPr userDrawn="1"/>
        </p:nvSpPr>
        <p:spPr>
          <a:xfrm>
            <a:off x="520230" y="4961071"/>
            <a:ext cx="96180" cy="138499"/>
          </a:xfrm>
          <a:prstGeom prst="rect">
            <a:avLst/>
          </a:prstGeom>
        </p:spPr>
        <p:txBody>
          <a:bodyPr wrap="none" lIns="0" tIns="0" rIns="0" bIns="0">
            <a:spAutoFit/>
          </a:bodyPr>
          <a:lstStyle/>
          <a:p>
            <a:pPr defTabSz="685766"/>
            <a:r>
              <a:rPr lang="en-US" altLang="zh-TW" sz="900" dirty="0">
                <a:solidFill>
                  <a:srgbClr val="FFFFFF">
                    <a:lumMod val="50000"/>
                  </a:srgbClr>
                </a:solidFill>
              </a:rPr>
              <a:t>©</a:t>
            </a:r>
            <a:endParaRPr lang="zh-TW" altLang="en-US" sz="1400" dirty="0">
              <a:solidFill>
                <a:srgbClr val="FFFFFF">
                  <a:lumMod val="50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0811321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38" tIns="45719" rIns="91438" bIns="45719" rtlCol="0" anchor="ctr">
            <a:normAutofit/>
          </a:bodyPr>
          <a:lstStyle/>
          <a:p>
            <a:r>
              <a:rPr lang="en-US" altLang="zh-TW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4"/>
            <a:ext cx="20574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YYYY/MM/DD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4"/>
            <a:ext cx="30861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4"/>
            <a:ext cx="2057400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D4F6FD-3A3C-4BEB-A0CF-E776CFFA096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215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7" r:id="rId2"/>
    <p:sldLayoutId id="2147483687" r:id="rId3"/>
    <p:sldLayoutId id="2147483710" r:id="rId4"/>
    <p:sldLayoutId id="2147483711" r:id="rId5"/>
    <p:sldLayoutId id="2147483715" r:id="rId6"/>
    <p:sldLayoutId id="2147483717" r:id="rId7"/>
    <p:sldLayoutId id="2147483719" r:id="rId8"/>
  </p:sldLayoutIdLst>
  <p:hf sldNum="0" hdr="0" ftr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gif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media" Target="../media/media2.mp4"/><Relationship Id="rId7" Type="http://schemas.openxmlformats.org/officeDocument/2006/relationships/image" Target="../media/image20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image" Target="../media/image19.png"/><Relationship Id="rId5" Type="http://schemas.openxmlformats.org/officeDocument/2006/relationships/slideLayout" Target="../slideLayouts/slideLayout7.xml"/><Relationship Id="rId4" Type="http://schemas.openxmlformats.org/officeDocument/2006/relationships/video" Target="../media/media2.mp4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30.png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Relationship Id="rId9" Type="http://schemas.openxmlformats.org/officeDocument/2006/relationships/image" Target="../media/image2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38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7.png"/><Relationship Id="rId5" Type="http://schemas.openxmlformats.org/officeDocument/2006/relationships/image" Target="../media/image36.emf"/><Relationship Id="rId4" Type="http://schemas.openxmlformats.org/officeDocument/2006/relationships/package" Target="../embeddings/Microsoft_Excel_Worksheet2.xlsx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13" Type="http://schemas.microsoft.com/office/2007/relationships/hdphoto" Target="../media/hdphoto6.wdp"/><Relationship Id="rId3" Type="http://schemas.microsoft.com/office/2007/relationships/hdphoto" Target="../media/hdphoto1.wdp"/><Relationship Id="rId7" Type="http://schemas.microsoft.com/office/2007/relationships/hdphoto" Target="../media/hdphoto3.wdp"/><Relationship Id="rId12" Type="http://schemas.openxmlformats.org/officeDocument/2006/relationships/image" Target="../media/image44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1.png"/><Relationship Id="rId11" Type="http://schemas.microsoft.com/office/2007/relationships/hdphoto" Target="../media/hdphoto5.wdp"/><Relationship Id="rId5" Type="http://schemas.microsoft.com/office/2007/relationships/hdphoto" Target="../media/hdphoto2.wdp"/><Relationship Id="rId10" Type="http://schemas.openxmlformats.org/officeDocument/2006/relationships/image" Target="../media/image43.png"/><Relationship Id="rId4" Type="http://schemas.openxmlformats.org/officeDocument/2006/relationships/image" Target="../media/image40.png"/><Relationship Id="rId9" Type="http://schemas.microsoft.com/office/2007/relationships/hdphoto" Target="../media/hdphoto4.wdp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jpeg"/><Relationship Id="rId2" Type="http://schemas.openxmlformats.org/officeDocument/2006/relationships/image" Target="../media/image54.jpe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56.jpe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3E2C3F-4A07-97B8-1FC6-105598705C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F781B57-2D26-9364-48F0-00AF6B6B8D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自動撥片</a:t>
            </a:r>
          </a:p>
        </p:txBody>
      </p:sp>
    </p:spTree>
    <p:extLst>
      <p:ext uri="{BB962C8B-B14F-4D97-AF65-F5344CB8AC3E}">
        <p14:creationId xmlns:p14="http://schemas.microsoft.com/office/powerpoint/2010/main" val="42171690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群組 5"/>
          <p:cNvGrpSpPr/>
          <p:nvPr/>
        </p:nvGrpSpPr>
        <p:grpSpPr>
          <a:xfrm>
            <a:off x="3503611" y="682364"/>
            <a:ext cx="3692503" cy="4232163"/>
            <a:chOff x="3758669" y="617057"/>
            <a:chExt cx="3692503" cy="4232163"/>
          </a:xfrm>
        </p:grpSpPr>
        <p:pic>
          <p:nvPicPr>
            <p:cNvPr id="107" name="圖片 106"/>
            <p:cNvPicPr>
              <a:picLocks noChangeAspect="1"/>
            </p:cNvPicPr>
            <p:nvPr/>
          </p:nvPicPr>
          <p:blipFill rotWithShape="1">
            <a:blip r:embed="rId2" cstate="screen">
              <a:clrChange>
                <a:clrFrom>
                  <a:srgbClr val="000000"/>
                </a:clrFrom>
                <a:clrTo>
                  <a:srgbClr val="000000">
                    <a:alpha val="0"/>
                  </a:srgbClr>
                </a:clrTo>
              </a:clrChange>
              <a:lum bright="70000" contrast="-7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rot="16200000">
              <a:off x="3200369" y="1404060"/>
              <a:ext cx="4003459" cy="2886859"/>
            </a:xfrm>
            <a:prstGeom prst="rect">
              <a:avLst/>
            </a:prstGeom>
          </p:spPr>
        </p:pic>
        <p:sp>
          <p:nvSpPr>
            <p:cNvPr id="109" name="矩形 108"/>
            <p:cNvSpPr/>
            <p:nvPr/>
          </p:nvSpPr>
          <p:spPr>
            <a:xfrm>
              <a:off x="5962474" y="2485025"/>
              <a:ext cx="567061" cy="803969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algn="ctr"/>
              <a:r>
                <a:rPr lang="en-US" altLang="zh-TW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CV</a:t>
              </a:r>
              <a:endParaRPr lang="zh-TW" altLang="en-US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0" name="矩形 109"/>
            <p:cNvSpPr/>
            <p:nvPr/>
          </p:nvSpPr>
          <p:spPr>
            <a:xfrm>
              <a:off x="4112950" y="2766458"/>
              <a:ext cx="1778784" cy="728684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altLang="zh-TW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1.</a:t>
              </a:r>
              <a:r>
                <a:rPr lang="zh-TW" altLang="en-US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撥耳料機</a:t>
              </a:r>
            </a:p>
          </p:txBody>
        </p:sp>
        <p:sp>
          <p:nvSpPr>
            <p:cNvPr id="111" name="文字方塊 110"/>
            <p:cNvSpPr txBox="1"/>
            <p:nvPr/>
          </p:nvSpPr>
          <p:spPr>
            <a:xfrm rot="5400000">
              <a:off x="6447628" y="4053727"/>
              <a:ext cx="861774" cy="42904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vert="vert270" wrap="square" rtlCol="0">
              <a:spAutoFit/>
            </a:bodyPr>
            <a:lstStyle/>
            <a:p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AGV</a:t>
              </a:r>
              <a:r>
                <a: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搬運廢料走道</a:t>
              </a:r>
            </a:p>
          </p:txBody>
        </p:sp>
        <p:sp>
          <p:nvSpPr>
            <p:cNvPr id="112" name="圓角矩形 111"/>
            <p:cNvSpPr/>
            <p:nvPr/>
          </p:nvSpPr>
          <p:spPr>
            <a:xfrm>
              <a:off x="4974856" y="3488412"/>
              <a:ext cx="1601210" cy="1360808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切割機</a:t>
              </a:r>
            </a:p>
          </p:txBody>
        </p:sp>
        <p:sp>
          <p:nvSpPr>
            <p:cNvPr id="114" name="向下箭號 113"/>
            <p:cNvSpPr/>
            <p:nvPr/>
          </p:nvSpPr>
          <p:spPr>
            <a:xfrm flipV="1">
              <a:off x="5363297" y="3479009"/>
              <a:ext cx="248735" cy="503885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5" name="矩形 114"/>
            <p:cNvSpPr/>
            <p:nvPr/>
          </p:nvSpPr>
          <p:spPr>
            <a:xfrm>
              <a:off x="5886481" y="1356378"/>
              <a:ext cx="743565" cy="1119976"/>
            </a:xfrm>
            <a:prstGeom prst="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algn="ctr"/>
              <a:endPara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  <a:p>
              <a:pPr algn="ctr"/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CV</a:t>
              </a:r>
            </a:p>
          </p:txBody>
        </p:sp>
        <p:sp>
          <p:nvSpPr>
            <p:cNvPr id="116" name="圓角矩形 115"/>
            <p:cNvSpPr/>
            <p:nvPr/>
          </p:nvSpPr>
          <p:spPr>
            <a:xfrm>
              <a:off x="4359186" y="1021944"/>
              <a:ext cx="2216883" cy="320873"/>
            </a:xfrm>
            <a:prstGeom prst="roundRect">
              <a:avLst/>
            </a:prstGeom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CST</a:t>
              </a:r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7" name="文字方塊 116"/>
            <p:cNvSpPr txBox="1"/>
            <p:nvPr/>
          </p:nvSpPr>
          <p:spPr>
            <a:xfrm>
              <a:off x="5825509" y="1377390"/>
              <a:ext cx="472485" cy="2616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A2</a:t>
              </a:r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8" name="文字方塊 117"/>
            <p:cNvSpPr txBox="1"/>
            <p:nvPr/>
          </p:nvSpPr>
          <p:spPr>
            <a:xfrm>
              <a:off x="5877177" y="3037060"/>
              <a:ext cx="34977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A1</a:t>
              </a:r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19" name="文字方塊 118"/>
            <p:cNvSpPr txBox="1"/>
            <p:nvPr/>
          </p:nvSpPr>
          <p:spPr>
            <a:xfrm>
              <a:off x="5342554" y="617057"/>
              <a:ext cx="1459179" cy="261610"/>
            </a:xfrm>
            <a:prstGeom prst="rect">
              <a:avLst/>
            </a:prstGeom>
            <a:solidFill>
              <a:srgbClr val="FFC000"/>
            </a:solidFill>
          </p:spPr>
          <p:txBody>
            <a:bodyPr wrap="square" rtlCol="0">
              <a:spAutoFit/>
            </a:bodyPr>
            <a:lstStyle/>
            <a:p>
              <a:pPr marL="406349" indent="-406349"/>
              <a:r>
                <a:rPr lang="zh-TW" altLang="en-US" sz="1100" dirty="0">
                  <a:solidFill>
                    <a:srgbClr val="0000FF"/>
                  </a:solidFill>
                </a:rPr>
                <a:t>單</a:t>
              </a:r>
              <a:r>
                <a:rPr lang="en-US" altLang="zh-TW" sz="1100" dirty="0">
                  <a:solidFill>
                    <a:srgbClr val="0000FF"/>
                  </a:solidFill>
                </a:rPr>
                <a:t> robot </a:t>
              </a:r>
              <a:r>
                <a:rPr lang="zh-TW" altLang="en-US" sz="1100" dirty="0">
                  <a:solidFill>
                    <a:srgbClr val="0000FF"/>
                  </a:solidFill>
                </a:rPr>
                <a:t>架構</a:t>
              </a:r>
              <a:r>
                <a:rPr lang="en-US" altLang="zh-TW" sz="1100" dirty="0">
                  <a:solidFill>
                    <a:srgbClr val="0000FF"/>
                  </a:solidFill>
                </a:rPr>
                <a:t>(</a:t>
              </a:r>
              <a:r>
                <a:rPr lang="zh-TW" altLang="en-US" sz="1100" dirty="0">
                  <a:solidFill>
                    <a:srgbClr val="0000FF"/>
                  </a:solidFill>
                </a:rPr>
                <a:t>吸盤</a:t>
              </a:r>
              <a:r>
                <a:rPr lang="en-US" altLang="zh-TW" sz="1100" dirty="0">
                  <a:solidFill>
                    <a:srgbClr val="0000FF"/>
                  </a:solidFill>
                </a:rPr>
                <a:t>)</a:t>
              </a:r>
            </a:p>
          </p:txBody>
        </p:sp>
        <p:sp>
          <p:nvSpPr>
            <p:cNvPr id="120" name="矩形 119"/>
            <p:cNvSpPr/>
            <p:nvPr/>
          </p:nvSpPr>
          <p:spPr>
            <a:xfrm>
              <a:off x="4359187" y="1358444"/>
              <a:ext cx="1250247" cy="461314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         </a:t>
              </a:r>
              <a:r>
                <a:rPr lang="en-US" altLang="zh-TW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AOI</a:t>
              </a:r>
              <a:endParaRPr lang="zh-TW" altLang="en-US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24" name="文字方塊 123"/>
            <p:cNvSpPr txBox="1"/>
            <p:nvPr/>
          </p:nvSpPr>
          <p:spPr>
            <a:xfrm>
              <a:off x="5969959" y="2601219"/>
              <a:ext cx="563725" cy="26161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風刀</a:t>
              </a:r>
            </a:p>
          </p:txBody>
        </p:sp>
        <p:sp>
          <p:nvSpPr>
            <p:cNvPr id="125" name="矩形 124"/>
            <p:cNvSpPr/>
            <p:nvPr/>
          </p:nvSpPr>
          <p:spPr>
            <a:xfrm>
              <a:off x="5962474" y="1691270"/>
              <a:ext cx="466794" cy="26161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讀碼</a:t>
              </a:r>
              <a:endParaRPr lang="zh-TW" altLang="en-US" sz="1100" dirty="0"/>
            </a:p>
          </p:txBody>
        </p:sp>
        <p:grpSp>
          <p:nvGrpSpPr>
            <p:cNvPr id="126" name="群組 125"/>
            <p:cNvGrpSpPr/>
            <p:nvPr/>
          </p:nvGrpSpPr>
          <p:grpSpPr>
            <a:xfrm>
              <a:off x="4149106" y="2855155"/>
              <a:ext cx="1630716" cy="544843"/>
              <a:chOff x="6062742" y="4230524"/>
              <a:chExt cx="3914884" cy="1235978"/>
            </a:xfrm>
          </p:grpSpPr>
          <p:sp>
            <p:nvSpPr>
              <p:cNvPr id="127" name="矩形 126"/>
              <p:cNvSpPr/>
              <p:nvPr/>
            </p:nvSpPr>
            <p:spPr>
              <a:xfrm>
                <a:off x="6062742" y="4230524"/>
                <a:ext cx="1889965" cy="1235978"/>
              </a:xfrm>
              <a:prstGeom prst="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  <p:grpSp>
            <p:nvGrpSpPr>
              <p:cNvPr id="128" name="群組 127"/>
              <p:cNvGrpSpPr/>
              <p:nvPr/>
            </p:nvGrpSpPr>
            <p:grpSpPr>
              <a:xfrm flipH="1">
                <a:off x="8124596" y="4261150"/>
                <a:ext cx="1853030" cy="1133194"/>
                <a:chOff x="6982743" y="3517597"/>
                <a:chExt cx="2127863" cy="1132434"/>
              </a:xfrm>
            </p:grpSpPr>
            <p:grpSp>
              <p:nvGrpSpPr>
                <p:cNvPr id="129" name="群組 128"/>
                <p:cNvGrpSpPr/>
                <p:nvPr/>
              </p:nvGrpSpPr>
              <p:grpSpPr>
                <a:xfrm>
                  <a:off x="6982743" y="3517597"/>
                  <a:ext cx="1897308" cy="1132434"/>
                  <a:chOff x="2821889" y="1638866"/>
                  <a:chExt cx="1561789" cy="932173"/>
                </a:xfrm>
              </p:grpSpPr>
              <p:sp>
                <p:nvSpPr>
                  <p:cNvPr id="133" name="圓角矩形 132"/>
                  <p:cNvSpPr/>
                  <p:nvPr/>
                </p:nvSpPr>
                <p:spPr>
                  <a:xfrm rot="2235779">
                    <a:off x="3565263" y="1702497"/>
                    <a:ext cx="524373" cy="13683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4" name="圓角矩形 133"/>
                  <p:cNvSpPr/>
                  <p:nvPr/>
                </p:nvSpPr>
                <p:spPr>
                  <a:xfrm rot="20092806">
                    <a:off x="3251271" y="1638866"/>
                    <a:ext cx="561732" cy="26841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8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5" name="圓角矩形 134"/>
                  <p:cNvSpPr/>
                  <p:nvPr/>
                </p:nvSpPr>
                <p:spPr>
                  <a:xfrm rot="6601990">
                    <a:off x="2928349" y="1992968"/>
                    <a:ext cx="745297" cy="220297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bg1">
                      <a:lumMod val="50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6" name="矩形 135"/>
                  <p:cNvSpPr/>
                  <p:nvPr/>
                </p:nvSpPr>
                <p:spPr>
                  <a:xfrm>
                    <a:off x="2821889" y="2277950"/>
                    <a:ext cx="495934" cy="293089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7" name="橢圓 136"/>
                  <p:cNvSpPr/>
                  <p:nvPr/>
                </p:nvSpPr>
                <p:spPr>
                  <a:xfrm>
                    <a:off x="3161387" y="2333704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8" name="橢圓 137"/>
                  <p:cNvSpPr/>
                  <p:nvPr/>
                </p:nvSpPr>
                <p:spPr>
                  <a:xfrm>
                    <a:off x="3349589" y="1831225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39" name="橢圓 138"/>
                  <p:cNvSpPr/>
                  <p:nvPr/>
                </p:nvSpPr>
                <p:spPr>
                  <a:xfrm>
                    <a:off x="3670050" y="1665600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40" name="矩形 139"/>
                  <p:cNvSpPr/>
                  <p:nvPr/>
                </p:nvSpPr>
                <p:spPr>
                  <a:xfrm>
                    <a:off x="3644642" y="1912264"/>
                    <a:ext cx="739036" cy="125211"/>
                  </a:xfrm>
                  <a:prstGeom prst="rect">
                    <a:avLst/>
                  </a:prstGeom>
                  <a:solidFill>
                    <a:schemeClr val="bg1">
                      <a:lumMod val="75000"/>
                    </a:schemeClr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41" name="橢圓 140"/>
                  <p:cNvSpPr/>
                  <p:nvPr/>
                </p:nvSpPr>
                <p:spPr>
                  <a:xfrm>
                    <a:off x="3850155" y="1848819"/>
                    <a:ext cx="288526" cy="146508"/>
                  </a:xfrm>
                  <a:prstGeom prst="ellipse">
                    <a:avLst/>
                  </a:prstGeom>
                  <a:solidFill>
                    <a:srgbClr val="76CBC6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  <p:sp>
                <p:nvSpPr>
                  <p:cNvPr id="142" name="橢圓 141"/>
                  <p:cNvSpPr/>
                  <p:nvPr/>
                </p:nvSpPr>
                <p:spPr>
                  <a:xfrm>
                    <a:off x="3958418" y="1890966"/>
                    <a:ext cx="72000" cy="72000"/>
                  </a:xfrm>
                  <a:prstGeom prst="ellipse">
                    <a:avLst/>
                  </a:prstGeom>
                  <a:solidFill>
                    <a:schemeClr val="tx1"/>
                  </a:soli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TW" altLang="en-US" sz="1100">
                      <a:latin typeface="Noto Sans TC" panose="020B0200000000000000" pitchFamily="34" charset="-120"/>
                      <a:ea typeface="Noto Sans TC" panose="020B0200000000000000" pitchFamily="34" charset="-120"/>
                    </a:endParaRPr>
                  </a:p>
                </p:txBody>
              </p:sp>
            </p:grpSp>
            <p:sp>
              <p:nvSpPr>
                <p:cNvPr id="130" name="矩形 129"/>
                <p:cNvSpPr/>
                <p:nvPr/>
              </p:nvSpPr>
              <p:spPr>
                <a:xfrm flipH="1">
                  <a:off x="7714280" y="4104565"/>
                  <a:ext cx="1396326" cy="265610"/>
                </a:xfrm>
                <a:prstGeom prst="rect">
                  <a:avLst/>
                </a:prstGeom>
                <a:solidFill>
                  <a:schemeClr val="tx1"/>
                </a:solidFill>
                <a:ln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altLang="zh-TW" sz="900" dirty="0">
                      <a:latin typeface="Noto Sans TC" panose="020B0200000000000000" pitchFamily="34" charset="-120"/>
                      <a:ea typeface="Noto Sans TC" panose="020B0200000000000000" pitchFamily="34" charset="-120"/>
                    </a:rPr>
                    <a:t>panel</a:t>
                  </a:r>
                  <a:endParaRPr lang="zh-TW" altLang="en-US" sz="900" dirty="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1" name="橢圓 130"/>
                <p:cNvSpPr/>
                <p:nvPr/>
              </p:nvSpPr>
              <p:spPr>
                <a:xfrm>
                  <a:off x="8076932" y="3993994"/>
                  <a:ext cx="282967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2" name="橢圓 131"/>
                <p:cNvSpPr/>
                <p:nvPr/>
              </p:nvSpPr>
              <p:spPr>
                <a:xfrm>
                  <a:off x="8508534" y="3993994"/>
                  <a:ext cx="282967" cy="45719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</p:grpSp>
        </p:grpSp>
        <p:sp>
          <p:nvSpPr>
            <p:cNvPr id="143" name="矩形 142"/>
            <p:cNvSpPr/>
            <p:nvPr/>
          </p:nvSpPr>
          <p:spPr>
            <a:xfrm>
              <a:off x="5006230" y="1831504"/>
              <a:ext cx="598883" cy="911364"/>
            </a:xfrm>
            <a:prstGeom prst="rect">
              <a:avLst/>
            </a:prstGeom>
            <a:ln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5"/>
            </a:lnRef>
            <a:fillRef idx="2">
              <a:schemeClr val="accent5"/>
            </a:fillRef>
            <a:effectRef idx="1">
              <a:schemeClr val="accent5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zh-TW" altLang="en-US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讀碼</a:t>
              </a:r>
              <a:r>
                <a:rPr lang="en-US" altLang="zh-TW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/</a:t>
              </a:r>
              <a:r>
                <a:rPr lang="zh-TW" altLang="en-US" sz="1100" dirty="0">
                  <a:solidFill>
                    <a:schemeClr val="tx1"/>
                  </a:solidFill>
                  <a:latin typeface="Noto Sans TC" panose="020B0200000000000000" pitchFamily="34" charset="-120"/>
                  <a:ea typeface="Noto Sans TC" panose="020B0200000000000000" pitchFamily="34" charset="-120"/>
                </a:rPr>
                <a:t>風刀</a:t>
              </a:r>
            </a:p>
          </p:txBody>
        </p:sp>
        <p:sp>
          <p:nvSpPr>
            <p:cNvPr id="144" name="文字方塊 143"/>
            <p:cNvSpPr txBox="1"/>
            <p:nvPr/>
          </p:nvSpPr>
          <p:spPr>
            <a:xfrm>
              <a:off x="5063008" y="1902989"/>
              <a:ext cx="3016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2.</a:t>
              </a:r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5" name="文字方塊 144"/>
            <p:cNvSpPr txBox="1"/>
            <p:nvPr/>
          </p:nvSpPr>
          <p:spPr>
            <a:xfrm>
              <a:off x="4330460" y="1342817"/>
              <a:ext cx="301686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TW" sz="1100" dirty="0">
                  <a:latin typeface="Noto Sans TC" panose="020B0200000000000000" pitchFamily="34" charset="-120"/>
                  <a:ea typeface="Noto Sans TC" panose="020B0200000000000000" pitchFamily="34" charset="-120"/>
                </a:rPr>
                <a:t>3.</a:t>
              </a:r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7" name="向下箭號 146"/>
            <p:cNvSpPr/>
            <p:nvPr/>
          </p:nvSpPr>
          <p:spPr>
            <a:xfrm flipV="1">
              <a:off x="5191952" y="1653151"/>
              <a:ext cx="248735" cy="304773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8" name="矩形 147"/>
            <p:cNvSpPr/>
            <p:nvPr/>
          </p:nvSpPr>
          <p:spPr>
            <a:xfrm>
              <a:off x="6178528" y="3299316"/>
              <a:ext cx="351950" cy="119100"/>
            </a:xfrm>
            <a:prstGeom prst="rect">
              <a:avLst/>
            </a:prstGeom>
            <a:ln/>
          </p:spPr>
          <p:style>
            <a:lnRef idx="1">
              <a:schemeClr val="dk1"/>
            </a:lnRef>
            <a:fillRef idx="2">
              <a:schemeClr val="dk1"/>
            </a:fillRef>
            <a:effectRef idx="1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altLang="zh-TW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49" name="右大括弧 148"/>
            <p:cNvSpPr/>
            <p:nvPr/>
          </p:nvSpPr>
          <p:spPr>
            <a:xfrm>
              <a:off x="6655429" y="2485025"/>
              <a:ext cx="197458" cy="79456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0" name="文字方塊 149"/>
            <p:cNvSpPr txBox="1"/>
            <p:nvPr/>
          </p:nvSpPr>
          <p:spPr>
            <a:xfrm>
              <a:off x="6843191" y="2774586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1300mm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51" name="右大括弧 150"/>
            <p:cNvSpPr/>
            <p:nvPr/>
          </p:nvSpPr>
          <p:spPr>
            <a:xfrm>
              <a:off x="6663992" y="1356410"/>
              <a:ext cx="197458" cy="111921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2" name="右大括弧 151"/>
            <p:cNvSpPr/>
            <p:nvPr/>
          </p:nvSpPr>
          <p:spPr>
            <a:xfrm>
              <a:off x="6655431" y="3286783"/>
              <a:ext cx="197458" cy="12379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3" name="文字方塊 152"/>
            <p:cNvSpPr txBox="1"/>
            <p:nvPr/>
          </p:nvSpPr>
          <p:spPr>
            <a:xfrm>
              <a:off x="6837655" y="3226555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230mm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54" name="文字方塊 153"/>
            <p:cNvSpPr txBox="1"/>
            <p:nvPr/>
          </p:nvSpPr>
          <p:spPr>
            <a:xfrm>
              <a:off x="6861450" y="1808294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2100mm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55" name="右大括弧 154"/>
            <p:cNvSpPr/>
            <p:nvPr/>
          </p:nvSpPr>
          <p:spPr>
            <a:xfrm rot="16200000">
              <a:off x="6154312" y="867406"/>
              <a:ext cx="197458" cy="754010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6" name="文字方塊 155"/>
            <p:cNvSpPr txBox="1"/>
            <p:nvPr/>
          </p:nvSpPr>
          <p:spPr>
            <a:xfrm>
              <a:off x="6028180" y="912061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1350mm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57" name="右大括弧 156"/>
            <p:cNvSpPr/>
            <p:nvPr/>
          </p:nvSpPr>
          <p:spPr>
            <a:xfrm rot="16200000">
              <a:off x="6150495" y="2084969"/>
              <a:ext cx="197458" cy="560622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58" name="文字方塊 157"/>
            <p:cNvSpPr txBox="1"/>
            <p:nvPr/>
          </p:nvSpPr>
          <p:spPr>
            <a:xfrm>
              <a:off x="6022245" y="2118591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880mm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59" name="向下箭號 158"/>
            <p:cNvSpPr/>
            <p:nvPr/>
          </p:nvSpPr>
          <p:spPr>
            <a:xfrm rot="7903214" flipV="1">
              <a:off x="5679838" y="2298228"/>
              <a:ext cx="248735" cy="93646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sp>
          <p:nvSpPr>
            <p:cNvPr id="160" name="右大括弧 159"/>
            <p:cNvSpPr/>
            <p:nvPr/>
          </p:nvSpPr>
          <p:spPr>
            <a:xfrm rot="16200000">
              <a:off x="5338116" y="801215"/>
              <a:ext cx="197458" cy="86122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1" name="文字方塊 160"/>
            <p:cNvSpPr txBox="1"/>
            <p:nvPr/>
          </p:nvSpPr>
          <p:spPr>
            <a:xfrm>
              <a:off x="5219602" y="911449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1700mm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sp>
          <p:nvSpPr>
            <p:cNvPr id="162" name="右大括弧 161"/>
            <p:cNvSpPr/>
            <p:nvPr/>
          </p:nvSpPr>
          <p:spPr>
            <a:xfrm rot="16200000">
              <a:off x="4445515" y="801884"/>
              <a:ext cx="197458" cy="861226"/>
            </a:xfrm>
            <a:prstGeom prst="rightBrac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3" name="文字方塊 162"/>
            <p:cNvSpPr txBox="1"/>
            <p:nvPr/>
          </p:nvSpPr>
          <p:spPr>
            <a:xfrm>
              <a:off x="4331947" y="911194"/>
              <a:ext cx="589722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800" dirty="0">
                  <a:solidFill>
                    <a:srgbClr val="0000FF"/>
                  </a:solidFill>
                </a:rPr>
                <a:t>1700mm</a:t>
              </a:r>
              <a:endParaRPr lang="zh-TW" altLang="en-US" sz="800" dirty="0">
                <a:solidFill>
                  <a:srgbClr val="0000FF"/>
                </a:solidFill>
              </a:endParaRPr>
            </a:p>
          </p:txBody>
        </p:sp>
        <p:cxnSp>
          <p:nvCxnSpPr>
            <p:cNvPr id="164" name="直線單箭頭接點 163"/>
            <p:cNvCxnSpPr/>
            <p:nvPr/>
          </p:nvCxnSpPr>
          <p:spPr>
            <a:xfrm flipV="1">
              <a:off x="6484349" y="1490788"/>
              <a:ext cx="6264" cy="1831480"/>
            </a:xfrm>
            <a:prstGeom prst="straightConnector1">
              <a:avLst/>
            </a:prstGeom>
            <a:ln w="57150">
              <a:solidFill>
                <a:srgbClr val="FFC000"/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肘形接點 164"/>
            <p:cNvCxnSpPr/>
            <p:nvPr/>
          </p:nvCxnSpPr>
          <p:spPr>
            <a:xfrm rot="16200000" flipV="1">
              <a:off x="4825817" y="2381848"/>
              <a:ext cx="833394" cy="639717"/>
            </a:xfrm>
            <a:prstGeom prst="bentConnector3">
              <a:avLst>
                <a:gd name="adj1" fmla="val 206313"/>
              </a:avLst>
            </a:prstGeom>
            <a:ln w="57150">
              <a:solidFill>
                <a:schemeClr val="accent5">
                  <a:lumMod val="50000"/>
                </a:schemeClr>
              </a:solidFill>
              <a:prstDash val="sysDot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6" name="文字方塊 165"/>
            <p:cNvSpPr txBox="1"/>
            <p:nvPr/>
          </p:nvSpPr>
          <p:spPr>
            <a:xfrm>
              <a:off x="6811785" y="1414019"/>
              <a:ext cx="522788" cy="323165"/>
            </a:xfrm>
            <a:prstGeom prst="rect">
              <a:avLst/>
            </a:prstGeom>
            <a:solidFill>
              <a:schemeClr val="accent3"/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1500" b="1" dirty="0">
                  <a:solidFill>
                    <a:srgbClr val="7F7F7F"/>
                  </a:solidFill>
                </a:rPr>
                <a:t>A</a:t>
              </a:r>
              <a:r>
                <a:rPr lang="zh-TW" altLang="en-US" sz="1500" b="1" dirty="0">
                  <a:solidFill>
                    <a:srgbClr val="7F7F7F"/>
                  </a:solidFill>
                </a:rPr>
                <a:t>貨</a:t>
              </a:r>
            </a:p>
          </p:txBody>
        </p:sp>
        <p:sp>
          <p:nvSpPr>
            <p:cNvPr id="167" name="文字方塊 166"/>
            <p:cNvSpPr txBox="1"/>
            <p:nvPr/>
          </p:nvSpPr>
          <p:spPr>
            <a:xfrm>
              <a:off x="4200289" y="2014558"/>
              <a:ext cx="522788" cy="323165"/>
            </a:xfrm>
            <a:prstGeom prst="rect">
              <a:avLst/>
            </a:prstGeom>
            <a:solidFill>
              <a:schemeClr val="accent5">
                <a:lumMod val="7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TW" sz="1500" b="1" dirty="0">
                  <a:solidFill>
                    <a:srgbClr val="7F7F7F"/>
                  </a:solidFill>
                </a:rPr>
                <a:t>X</a:t>
              </a:r>
              <a:r>
                <a:rPr lang="zh-TW" altLang="en-US" sz="1500" b="1" dirty="0">
                  <a:solidFill>
                    <a:srgbClr val="7F7F7F"/>
                  </a:solidFill>
                </a:rPr>
                <a:t>貨</a:t>
              </a:r>
            </a:p>
          </p:txBody>
        </p:sp>
        <p:sp>
          <p:nvSpPr>
            <p:cNvPr id="169" name="矩形 168"/>
            <p:cNvSpPr/>
            <p:nvPr/>
          </p:nvSpPr>
          <p:spPr>
            <a:xfrm>
              <a:off x="4536592" y="1446898"/>
              <a:ext cx="221731" cy="317494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</p:grpSp>
      <p:sp>
        <p:nvSpPr>
          <p:cNvPr id="171" name="標題 1"/>
          <p:cNvSpPr>
            <a:spLocks noGrp="1"/>
          </p:cNvSpPr>
          <p:nvPr>
            <p:ph type="ctrTitle"/>
          </p:nvPr>
        </p:nvSpPr>
        <p:spPr>
          <a:xfrm>
            <a:off x="151339" y="59127"/>
            <a:ext cx="8483600" cy="583654"/>
          </a:xfrm>
        </p:spPr>
        <p:txBody>
          <a:bodyPr>
            <a:normAutofit/>
          </a:bodyPr>
          <a:lstStyle/>
          <a:p>
            <a:r>
              <a:rPr lang="en-US" altLang="zh-TW" sz="2700" dirty="0"/>
              <a:t>L5A</a:t>
            </a:r>
            <a:r>
              <a:rPr lang="zh-TW" altLang="en-US" sz="2700" dirty="0"/>
              <a:t> </a:t>
            </a:r>
            <a:r>
              <a:rPr lang="en-US" altLang="zh-TW" sz="2700" dirty="0"/>
              <a:t>CGL</a:t>
            </a:r>
            <a:r>
              <a:rPr lang="zh-TW" altLang="en-US" sz="2700" dirty="0"/>
              <a:t>自動化省人專案</a:t>
            </a:r>
          </a:p>
        </p:txBody>
      </p:sp>
      <p:sp>
        <p:nvSpPr>
          <p:cNvPr id="179" name="剪去对角的矩形 15"/>
          <p:cNvSpPr/>
          <p:nvPr/>
        </p:nvSpPr>
        <p:spPr>
          <a:xfrm>
            <a:off x="108741" y="468458"/>
            <a:ext cx="1655763" cy="360000"/>
          </a:xfrm>
          <a:prstGeom prst="snip2DiagRect">
            <a:avLst/>
          </a:prstGeom>
          <a:solidFill>
            <a:srgbClr val="46A4DB"/>
          </a:solidFill>
          <a:ln w="28575" cap="flat" cmpd="sng" algn="ctr">
            <a:noFill/>
            <a:prstDash val="solid"/>
          </a:ln>
          <a:effectLst/>
        </p:spPr>
        <p:txBody>
          <a:bodyPr anchor="ctr"/>
          <a:lstStyle/>
          <a:p>
            <a:pPr algn="ctr">
              <a:defRPr/>
            </a:pPr>
            <a:r>
              <a:rPr lang="zh-TW" altLang="en-US" b="1" kern="0" dirty="0">
                <a:solidFill>
                  <a:sysClr val="window" lastClr="FFFFFF"/>
                </a:solidFill>
                <a:latin typeface="Mabry Pro" panose="020D0503040002040303" pitchFamily="34" charset="0"/>
                <a:ea typeface="Noto Sans TC" panose="020B0500000000000000" pitchFamily="34" charset="-120"/>
                <a:cs typeface="Arial" pitchFamily="34" charset="0"/>
                <a:sym typeface="+mn-lt"/>
              </a:rPr>
              <a:t>投資細項</a:t>
            </a:r>
            <a:endParaRPr lang="zh-CN" altLang="en-US" b="1" kern="0" dirty="0">
              <a:solidFill>
                <a:sysClr val="window" lastClr="FFFFFF"/>
              </a:solidFill>
              <a:latin typeface="Mabry Pro" panose="020D0503040002040303" pitchFamily="34" charset="0"/>
              <a:ea typeface="Noto Sans TC" panose="020B0500000000000000" pitchFamily="34" charset="-120"/>
              <a:cs typeface="Arial" pitchFamily="34" charset="0"/>
              <a:sym typeface="+mn-lt"/>
            </a:endParaRPr>
          </a:p>
        </p:txBody>
      </p:sp>
      <p:grpSp>
        <p:nvGrpSpPr>
          <p:cNvPr id="180" name="群組 19"/>
          <p:cNvGrpSpPr/>
          <p:nvPr/>
        </p:nvGrpSpPr>
        <p:grpSpPr>
          <a:xfrm>
            <a:off x="4711509" y="98710"/>
            <a:ext cx="4427460" cy="358775"/>
            <a:chOff x="4707015" y="333375"/>
            <a:chExt cx="4427460" cy="358775"/>
          </a:xfrm>
        </p:grpSpPr>
        <p:sp>
          <p:nvSpPr>
            <p:cNvPr id="181" name="矩形 180"/>
            <p:cNvSpPr>
              <a:spLocks noChangeArrowheads="1"/>
            </p:cNvSpPr>
            <p:nvPr/>
          </p:nvSpPr>
          <p:spPr bwMode="auto">
            <a:xfrm>
              <a:off x="8126413" y="333375"/>
              <a:ext cx="1008062" cy="358775"/>
            </a:xfrm>
            <a:prstGeom prst="rect">
              <a:avLst/>
            </a:prstGeom>
            <a:solidFill>
              <a:srgbClr val="BFBFBF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72000" rIns="0" anchor="ctr"/>
            <a:lstStyle/>
            <a:p>
              <a:pPr algn="ctr">
                <a:defRPr/>
              </a:pPr>
              <a:r>
                <a:rPr lang="zh-TW" altLang="en-US" sz="1500" b="1" kern="0">
                  <a:solidFill>
                    <a:srgbClr val="FFFFFF"/>
                  </a:solidFill>
                  <a:latin typeface="Mabry Pro" panose="020D0503040002040303" pitchFamily="34" charset="0"/>
                  <a:ea typeface="Noto Sans TC" panose="020B0500000000000000" pitchFamily="34" charset="-120"/>
                  <a:cs typeface="Calibri" pitchFamily="34" charset="0"/>
                </a:rPr>
                <a:t>效益分析</a:t>
              </a:r>
            </a:p>
          </p:txBody>
        </p:sp>
        <p:sp>
          <p:nvSpPr>
            <p:cNvPr id="182" name="平行四邊形 181"/>
            <p:cNvSpPr>
              <a:spLocks noChangeArrowheads="1"/>
            </p:cNvSpPr>
            <p:nvPr/>
          </p:nvSpPr>
          <p:spPr bwMode="auto">
            <a:xfrm>
              <a:off x="6399213" y="333375"/>
              <a:ext cx="1008062" cy="358775"/>
            </a:xfrm>
            <a:prstGeom prst="parallelogram">
              <a:avLst>
                <a:gd name="adj" fmla="val 25092"/>
              </a:avLst>
            </a:prstGeom>
            <a:solidFill>
              <a:srgbClr val="BFBFBF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rIns="0" anchor="ctr"/>
            <a:lstStyle/>
            <a:p>
              <a:pPr algn="ctr">
                <a:defRPr/>
              </a:pPr>
              <a:r>
                <a:rPr lang="zh-TW" altLang="en-US" sz="1500" b="1" kern="0">
                  <a:solidFill>
                    <a:srgbClr val="FFFFFF"/>
                  </a:solidFill>
                  <a:latin typeface="Mabry Pro" panose="020D0503040002040303" pitchFamily="34" charset="0"/>
                  <a:ea typeface="Noto Sans TC" panose="020B0500000000000000" pitchFamily="34" charset="-120"/>
                  <a:cs typeface="Calibri" pitchFamily="34" charset="0"/>
                </a:rPr>
                <a:t>現況評估</a:t>
              </a:r>
            </a:p>
          </p:txBody>
        </p:sp>
        <p:sp>
          <p:nvSpPr>
            <p:cNvPr id="183" name="平行四邊形 182"/>
            <p:cNvSpPr>
              <a:spLocks noChangeArrowheads="1"/>
            </p:cNvSpPr>
            <p:nvPr/>
          </p:nvSpPr>
          <p:spPr bwMode="auto">
            <a:xfrm>
              <a:off x="7262813" y="333375"/>
              <a:ext cx="1008062" cy="358775"/>
            </a:xfrm>
            <a:prstGeom prst="parallelogram">
              <a:avLst>
                <a:gd name="adj" fmla="val 25092"/>
              </a:avLst>
            </a:prstGeom>
            <a:solidFill>
              <a:srgbClr val="BFBFBF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rIns="0" anchor="ctr"/>
            <a:lstStyle/>
            <a:p>
              <a:pPr algn="ctr">
                <a:defRPr/>
              </a:pPr>
              <a:r>
                <a:rPr lang="zh-TW" altLang="en-US" sz="1500" b="1" kern="0" dirty="0">
                  <a:solidFill>
                    <a:srgbClr val="FFFFFF"/>
                  </a:solidFill>
                  <a:latin typeface="Mabry Pro" panose="020D0503040002040303" pitchFamily="34" charset="0"/>
                  <a:ea typeface="Noto Sans TC" panose="020B0500000000000000" pitchFamily="34" charset="-120"/>
                  <a:cs typeface="Calibri" pitchFamily="34" charset="0"/>
                </a:rPr>
                <a:t>解決方案</a:t>
              </a:r>
            </a:p>
          </p:txBody>
        </p:sp>
        <p:sp>
          <p:nvSpPr>
            <p:cNvPr id="184" name="平行四邊形 183"/>
            <p:cNvSpPr>
              <a:spLocks noChangeArrowheads="1"/>
            </p:cNvSpPr>
            <p:nvPr/>
          </p:nvSpPr>
          <p:spPr bwMode="auto">
            <a:xfrm>
              <a:off x="5534025" y="333375"/>
              <a:ext cx="1008063" cy="358775"/>
            </a:xfrm>
            <a:prstGeom prst="parallelogram">
              <a:avLst>
                <a:gd name="adj" fmla="val 25093"/>
              </a:avLst>
            </a:prstGeom>
            <a:solidFill>
              <a:srgbClr val="46A4DB"/>
            </a:solidFill>
            <a:ln w="25400" algn="ctr">
              <a:solidFill>
                <a:srgbClr val="FFFFFF"/>
              </a:solidFill>
              <a:miter lim="800000"/>
              <a:headEnd/>
              <a:tailEnd/>
            </a:ln>
          </p:spPr>
          <p:txBody>
            <a:bodyPr lIns="0" rIns="0" anchor="ctr"/>
            <a:lstStyle/>
            <a:p>
              <a:pPr algn="ctr">
                <a:defRPr/>
              </a:pPr>
              <a:r>
                <a:rPr lang="zh-TW" altLang="en-US" sz="1500" b="1" kern="0" dirty="0">
                  <a:solidFill>
                    <a:srgbClr val="FFFFFF"/>
                  </a:solidFill>
                  <a:latin typeface="Mabry Pro" panose="020D0503040002040303" pitchFamily="34" charset="0"/>
                  <a:ea typeface="Noto Sans TC" panose="020B0500000000000000" pitchFamily="34" charset="-120"/>
                  <a:cs typeface="Calibri" pitchFamily="34" charset="0"/>
                </a:rPr>
                <a:t>需求說明</a:t>
              </a:r>
            </a:p>
          </p:txBody>
        </p:sp>
        <p:cxnSp>
          <p:nvCxnSpPr>
            <p:cNvPr id="185" name="直線接點 184"/>
            <p:cNvCxnSpPr/>
            <p:nvPr/>
          </p:nvCxnSpPr>
          <p:spPr>
            <a:xfrm>
              <a:off x="4707015" y="683695"/>
              <a:ext cx="4410490" cy="0"/>
            </a:xfrm>
            <a:prstGeom prst="line">
              <a:avLst/>
            </a:prstGeom>
            <a:noFill/>
            <a:ln w="41275" cap="flat" cmpd="sng" algn="ctr">
              <a:gradFill flip="none" rotWithShape="1">
                <a:gsLst>
                  <a:gs pos="0">
                    <a:srgbClr val="5E9EFF"/>
                  </a:gs>
                  <a:gs pos="39999">
                    <a:srgbClr val="85C2FF"/>
                  </a:gs>
                  <a:gs pos="70000">
                    <a:srgbClr val="C4D6EB"/>
                  </a:gs>
                  <a:gs pos="100000">
                    <a:srgbClr val="FFEBFA"/>
                  </a:gs>
                </a:gsLst>
                <a:lin ang="10800000" scaled="0"/>
                <a:tileRect/>
              </a:gradFill>
              <a:prstDash val="solid"/>
            </a:ln>
            <a:effectLst/>
          </p:spPr>
        </p:cxnSp>
      </p:grpSp>
      <p:sp>
        <p:nvSpPr>
          <p:cNvPr id="2" name="箭號: 向下 1">
            <a:extLst>
              <a:ext uri="{FF2B5EF4-FFF2-40B4-BE49-F238E27FC236}">
                <a16:creationId xmlns:a16="http://schemas.microsoft.com/office/drawing/2014/main" id="{42E4284C-FA10-571F-E15A-BDFD506F58E9}"/>
              </a:ext>
            </a:extLst>
          </p:cNvPr>
          <p:cNvSpPr/>
          <p:nvPr/>
        </p:nvSpPr>
        <p:spPr>
          <a:xfrm rot="16200000">
            <a:off x="6530342" y="1938012"/>
            <a:ext cx="434979" cy="921912"/>
          </a:xfrm>
          <a:prstGeom prst="down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4FD41F2A-DE03-28FE-CB7C-7DC44ABD8B1B}"/>
              </a:ext>
            </a:extLst>
          </p:cNvPr>
          <p:cNvSpPr txBox="1"/>
          <p:nvPr/>
        </p:nvSpPr>
        <p:spPr>
          <a:xfrm>
            <a:off x="7196114" y="2229906"/>
            <a:ext cx="1523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現有設備</a:t>
            </a:r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C347E2B1-BCAD-8D80-E30D-EA33C59A6F1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675" y="3251466"/>
            <a:ext cx="2242983" cy="1533236"/>
          </a:xfrm>
          <a:prstGeom prst="rect">
            <a:avLst/>
          </a:prstGeom>
        </p:spPr>
      </p:pic>
      <p:sp>
        <p:nvSpPr>
          <p:cNvPr id="5" name="箭號: 向下 4">
            <a:extLst>
              <a:ext uri="{FF2B5EF4-FFF2-40B4-BE49-F238E27FC236}">
                <a16:creationId xmlns:a16="http://schemas.microsoft.com/office/drawing/2014/main" id="{4C4F6FD2-9CC1-C99D-84D1-2B063EE50325}"/>
              </a:ext>
            </a:extLst>
          </p:cNvPr>
          <p:cNvSpPr/>
          <p:nvPr/>
        </p:nvSpPr>
        <p:spPr>
          <a:xfrm rot="5400000">
            <a:off x="3199722" y="2949764"/>
            <a:ext cx="434979" cy="916745"/>
          </a:xfrm>
          <a:prstGeom prst="down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34FEF2E1-15D9-EAA6-37EF-F91BA015B0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1148" y="1046195"/>
            <a:ext cx="2329340" cy="1842027"/>
          </a:xfrm>
          <a:prstGeom prst="rect">
            <a:avLst/>
          </a:prstGeom>
        </p:spPr>
      </p:pic>
      <p:sp>
        <p:nvSpPr>
          <p:cNvPr id="8" name="箭號: 向下 7">
            <a:extLst>
              <a:ext uri="{FF2B5EF4-FFF2-40B4-BE49-F238E27FC236}">
                <a16:creationId xmlns:a16="http://schemas.microsoft.com/office/drawing/2014/main" id="{FA4C6E95-CD78-37D3-25D6-86794F4ACF74}"/>
              </a:ext>
            </a:extLst>
          </p:cNvPr>
          <p:cNvSpPr/>
          <p:nvPr/>
        </p:nvSpPr>
        <p:spPr>
          <a:xfrm rot="5400000">
            <a:off x="3364494" y="1158476"/>
            <a:ext cx="434979" cy="1250247"/>
          </a:xfrm>
          <a:prstGeom prst="downArrow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0FA422A2-04F0-B09D-EA42-3DC091B780D2}"/>
              </a:ext>
            </a:extLst>
          </p:cNvPr>
          <p:cNvSpPr txBox="1"/>
          <p:nvPr/>
        </p:nvSpPr>
        <p:spPr>
          <a:xfrm>
            <a:off x="1507145" y="4727395"/>
            <a:ext cx="1523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三合一撥片機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CE66DB38-E41B-BD13-20F6-C560BEA0940E}"/>
              </a:ext>
            </a:extLst>
          </p:cNvPr>
          <p:cNvSpPr txBox="1"/>
          <p:nvPr/>
        </p:nvSpPr>
        <p:spPr>
          <a:xfrm>
            <a:off x="1316034" y="2832983"/>
            <a:ext cx="152334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/>
              <a:t>AOI/</a:t>
            </a:r>
            <a:r>
              <a:rPr lang="zh-TW" altLang="en-US" dirty="0"/>
              <a:t>流片機</a:t>
            </a:r>
          </a:p>
        </p:txBody>
      </p:sp>
    </p:spTree>
    <p:extLst>
      <p:ext uri="{BB962C8B-B14F-4D97-AF65-F5344CB8AC3E}">
        <p14:creationId xmlns:p14="http://schemas.microsoft.com/office/powerpoint/2010/main" val="22546198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8615" y="974836"/>
            <a:ext cx="3895625" cy="2662932"/>
          </a:xfrm>
          <a:prstGeom prst="rect">
            <a:avLst/>
          </a:prstGeom>
        </p:spPr>
      </p:pic>
      <p:sp>
        <p:nvSpPr>
          <p:cNvPr id="5" name="文字版面配置區 1"/>
          <p:cNvSpPr>
            <a:spLocks noGrp="1"/>
          </p:cNvSpPr>
          <p:nvPr>
            <p:ph type="body" sz="quarter" idx="19"/>
          </p:nvPr>
        </p:nvSpPr>
        <p:spPr>
          <a:xfrm>
            <a:off x="251520" y="195486"/>
            <a:ext cx="7416824" cy="1008112"/>
          </a:xfrm>
        </p:spPr>
        <p:txBody>
          <a:bodyPr/>
          <a:lstStyle/>
          <a:p>
            <a:pPr indent="0" defTabSz="685783">
              <a:lnSpc>
                <a:spcPct val="90000"/>
              </a:lnSpc>
              <a:spcBef>
                <a:spcPct val="0"/>
              </a:spcBef>
            </a:pPr>
            <a:r>
              <a:rPr lang="en-US" altLang="zh-TW" sz="2700" dirty="0">
                <a:solidFill>
                  <a:srgbClr val="005087"/>
                </a:solidFill>
                <a:latin typeface="+mj-lt"/>
                <a:ea typeface="+mj-ea"/>
                <a:cs typeface="+mj-cs"/>
              </a:rPr>
              <a:t>3</a:t>
            </a:r>
            <a:r>
              <a:rPr lang="zh-TW" altLang="en-US" sz="2700" dirty="0">
                <a:solidFill>
                  <a:srgbClr val="005087"/>
                </a:solidFill>
                <a:latin typeface="+mj-lt"/>
                <a:ea typeface="+mj-ea"/>
                <a:cs typeface="+mj-cs"/>
              </a:rPr>
              <a:t>合一機台</a:t>
            </a:r>
          </a:p>
        </p:txBody>
      </p:sp>
      <p:sp>
        <p:nvSpPr>
          <p:cNvPr id="6" name="手繪多邊形 5"/>
          <p:cNvSpPr/>
          <p:nvPr/>
        </p:nvSpPr>
        <p:spPr>
          <a:xfrm>
            <a:off x="4030862" y="888860"/>
            <a:ext cx="1729667" cy="1669979"/>
          </a:xfrm>
          <a:custGeom>
            <a:avLst/>
            <a:gdLst>
              <a:gd name="connsiteX0" fmla="*/ 0 w 1965960"/>
              <a:gd name="connsiteY0" fmla="*/ 464820 h 1744980"/>
              <a:gd name="connsiteX1" fmla="*/ 7620 w 1965960"/>
              <a:gd name="connsiteY1" fmla="*/ 1546860 h 1744980"/>
              <a:gd name="connsiteX2" fmla="*/ 358140 w 1965960"/>
              <a:gd name="connsiteY2" fmla="*/ 1744980 h 1744980"/>
              <a:gd name="connsiteX3" fmla="*/ 1965960 w 1965960"/>
              <a:gd name="connsiteY3" fmla="*/ 1188720 h 1744980"/>
              <a:gd name="connsiteX4" fmla="*/ 1965960 w 1965960"/>
              <a:gd name="connsiteY4" fmla="*/ 228600 h 1744980"/>
              <a:gd name="connsiteX5" fmla="*/ 1531620 w 1965960"/>
              <a:gd name="connsiteY5" fmla="*/ 0 h 1744980"/>
              <a:gd name="connsiteX6" fmla="*/ 0 w 1965960"/>
              <a:gd name="connsiteY6" fmla="*/ 464820 h 17449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965960" h="1744980">
                <a:moveTo>
                  <a:pt x="0" y="464820"/>
                </a:moveTo>
                <a:lnTo>
                  <a:pt x="7620" y="1546860"/>
                </a:lnTo>
                <a:lnTo>
                  <a:pt x="358140" y="1744980"/>
                </a:lnTo>
                <a:lnTo>
                  <a:pt x="1965960" y="1188720"/>
                </a:lnTo>
                <a:lnTo>
                  <a:pt x="1965960" y="228600"/>
                </a:lnTo>
                <a:lnTo>
                  <a:pt x="1531620" y="0"/>
                </a:lnTo>
                <a:lnTo>
                  <a:pt x="0" y="464820"/>
                </a:ln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8" name="直線單箭頭接點 7"/>
          <p:cNvCxnSpPr>
            <a:cxnSpLocks/>
          </p:cNvCxnSpPr>
          <p:nvPr/>
        </p:nvCxnSpPr>
        <p:spPr>
          <a:xfrm flipH="1">
            <a:off x="3579005" y="2211904"/>
            <a:ext cx="45752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手繪多邊形 8"/>
          <p:cNvSpPr/>
          <p:nvPr/>
        </p:nvSpPr>
        <p:spPr>
          <a:xfrm>
            <a:off x="5171203" y="2257510"/>
            <a:ext cx="2697480" cy="1187770"/>
          </a:xfrm>
          <a:custGeom>
            <a:avLst/>
            <a:gdLst>
              <a:gd name="connsiteX0" fmla="*/ 0 w 2697480"/>
              <a:gd name="connsiteY0" fmla="*/ 632460 h 1280160"/>
              <a:gd name="connsiteX1" fmla="*/ 1546860 w 2697480"/>
              <a:gd name="connsiteY1" fmla="*/ 0 h 1280160"/>
              <a:gd name="connsiteX2" fmla="*/ 2697480 w 2697480"/>
              <a:gd name="connsiteY2" fmla="*/ 731520 h 1280160"/>
              <a:gd name="connsiteX3" fmla="*/ 1043940 w 2697480"/>
              <a:gd name="connsiteY3" fmla="*/ 1280160 h 1280160"/>
              <a:gd name="connsiteX4" fmla="*/ 0 w 2697480"/>
              <a:gd name="connsiteY4" fmla="*/ 63246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697480" h="1280160">
                <a:moveTo>
                  <a:pt x="0" y="632460"/>
                </a:moveTo>
                <a:lnTo>
                  <a:pt x="1546860" y="0"/>
                </a:lnTo>
                <a:lnTo>
                  <a:pt x="2697480" y="731520"/>
                </a:lnTo>
                <a:lnTo>
                  <a:pt x="1043940" y="1280160"/>
                </a:lnTo>
                <a:lnTo>
                  <a:pt x="0" y="632460"/>
                </a:ln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0" name="直線單箭頭接點 9"/>
          <p:cNvCxnSpPr>
            <a:cxnSpLocks/>
            <a:endCxn id="17" idx="1"/>
          </p:cNvCxnSpPr>
          <p:nvPr/>
        </p:nvCxnSpPr>
        <p:spPr>
          <a:xfrm>
            <a:off x="6754747" y="2922004"/>
            <a:ext cx="1249149" cy="1269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字方塊 14"/>
          <p:cNvSpPr txBox="1"/>
          <p:nvPr/>
        </p:nvSpPr>
        <p:spPr>
          <a:xfrm>
            <a:off x="1270925" y="646516"/>
            <a:ext cx="163149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殘邊夾爪模組</a:t>
            </a:r>
            <a:endParaRPr lang="en-US" altLang="zh-TW" dirty="0">
              <a:latin typeface="+mn-ea"/>
              <a:ea typeface="+mn-ea"/>
            </a:endParaRPr>
          </a:p>
          <a:p>
            <a:r>
              <a:rPr lang="en-US" altLang="zh-TW" dirty="0">
                <a:latin typeface="+mn-ea"/>
                <a:ea typeface="+mn-ea"/>
              </a:rPr>
              <a:t>(N-Cut + COS)</a:t>
            </a:r>
          </a:p>
        </p:txBody>
      </p:sp>
      <p:sp>
        <p:nvSpPr>
          <p:cNvPr id="17" name="文字方塊 16"/>
          <p:cNvSpPr txBox="1"/>
          <p:nvPr/>
        </p:nvSpPr>
        <p:spPr>
          <a:xfrm>
            <a:off x="8003896" y="2725791"/>
            <a:ext cx="13388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翻轉台模組</a:t>
            </a:r>
            <a:endParaRPr lang="en-US" altLang="zh-TW" dirty="0">
              <a:latin typeface="+mn-ea"/>
              <a:ea typeface="+mn-ea"/>
            </a:endParaRPr>
          </a:p>
          <a:p>
            <a:r>
              <a:rPr lang="en-US" altLang="zh-TW" dirty="0">
                <a:latin typeface="+mn-ea"/>
                <a:ea typeface="+mn-ea"/>
              </a:rPr>
              <a:t>(Just Cut)</a:t>
            </a:r>
          </a:p>
        </p:txBody>
      </p:sp>
      <p:sp>
        <p:nvSpPr>
          <p:cNvPr id="18" name="文字方塊 17"/>
          <p:cNvSpPr txBox="1"/>
          <p:nvPr/>
        </p:nvSpPr>
        <p:spPr>
          <a:xfrm>
            <a:off x="8237620" y="103435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吸盤模組</a:t>
            </a:r>
            <a:endParaRPr lang="en-US" altLang="zh-TW" dirty="0">
              <a:latin typeface="+mn-ea"/>
              <a:ea typeface="+mn-ea"/>
            </a:endParaRPr>
          </a:p>
        </p:txBody>
      </p:sp>
      <p:sp>
        <p:nvSpPr>
          <p:cNvPr id="19" name="手繪多邊形 18"/>
          <p:cNvSpPr/>
          <p:nvPr/>
        </p:nvSpPr>
        <p:spPr>
          <a:xfrm>
            <a:off x="4920714" y="2098130"/>
            <a:ext cx="1028700" cy="541020"/>
          </a:xfrm>
          <a:custGeom>
            <a:avLst/>
            <a:gdLst>
              <a:gd name="connsiteX0" fmla="*/ 556260 w 1028700"/>
              <a:gd name="connsiteY0" fmla="*/ 0 h 541020"/>
              <a:gd name="connsiteX1" fmla="*/ 0 w 1028700"/>
              <a:gd name="connsiteY1" fmla="*/ 198120 h 541020"/>
              <a:gd name="connsiteX2" fmla="*/ 594360 w 1028700"/>
              <a:gd name="connsiteY2" fmla="*/ 541020 h 541020"/>
              <a:gd name="connsiteX3" fmla="*/ 1028700 w 1028700"/>
              <a:gd name="connsiteY3" fmla="*/ 350520 h 541020"/>
              <a:gd name="connsiteX4" fmla="*/ 556260 w 1028700"/>
              <a:gd name="connsiteY4" fmla="*/ 0 h 541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28700" h="541020">
                <a:moveTo>
                  <a:pt x="556260" y="0"/>
                </a:moveTo>
                <a:lnTo>
                  <a:pt x="0" y="198120"/>
                </a:lnTo>
                <a:lnTo>
                  <a:pt x="594360" y="541020"/>
                </a:lnTo>
                <a:lnTo>
                  <a:pt x="1028700" y="350520"/>
                </a:lnTo>
                <a:lnTo>
                  <a:pt x="556260" y="0"/>
                </a:lnTo>
                <a:close/>
              </a:path>
            </a:pathLst>
          </a:cu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20" name="直線單箭頭接點 19"/>
          <p:cNvCxnSpPr>
            <a:cxnSpLocks/>
          </p:cNvCxnSpPr>
          <p:nvPr/>
        </p:nvCxnSpPr>
        <p:spPr>
          <a:xfrm flipV="1">
            <a:off x="6223909" y="1391194"/>
            <a:ext cx="2193764" cy="1088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圖片 10">
            <a:extLst>
              <a:ext uri="{FF2B5EF4-FFF2-40B4-BE49-F238E27FC236}">
                <a16:creationId xmlns:a16="http://schemas.microsoft.com/office/drawing/2014/main" id="{9D96A5EC-84B0-E39C-3989-52BC43FBC0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390" y="1095542"/>
            <a:ext cx="3253615" cy="2278242"/>
          </a:xfrm>
          <a:prstGeom prst="rect">
            <a:avLst/>
          </a:prstGeom>
          <a:ln>
            <a:solidFill>
              <a:schemeClr val="tx2">
                <a:lumMod val="50000"/>
                <a:lumOff val="50000"/>
              </a:schemeClr>
            </a:solidFill>
          </a:ln>
        </p:spPr>
      </p:pic>
      <p:pic>
        <p:nvPicPr>
          <p:cNvPr id="42" name="圖片 41">
            <a:extLst>
              <a:ext uri="{FF2B5EF4-FFF2-40B4-BE49-F238E27FC236}">
                <a16:creationId xmlns:a16="http://schemas.microsoft.com/office/drawing/2014/main" id="{A66D4EFB-3E30-CB75-D28D-79AF332D19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4432" y="3432270"/>
            <a:ext cx="2052986" cy="1475195"/>
          </a:xfrm>
          <a:prstGeom prst="rect">
            <a:avLst/>
          </a:prstGeom>
        </p:spPr>
      </p:pic>
      <p:pic>
        <p:nvPicPr>
          <p:cNvPr id="49" name="圖片 48">
            <a:extLst>
              <a:ext uri="{FF2B5EF4-FFF2-40B4-BE49-F238E27FC236}">
                <a16:creationId xmlns:a16="http://schemas.microsoft.com/office/drawing/2014/main" id="{5E8A37BC-92C4-5CAD-B646-128760B3DF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0396" y="3198264"/>
            <a:ext cx="1977552" cy="1752319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49A3160D-F09C-AF86-1705-1F531B8D5F19}"/>
              </a:ext>
            </a:extLst>
          </p:cNvPr>
          <p:cNvSpPr txBox="1"/>
          <p:nvPr/>
        </p:nvSpPr>
        <p:spPr>
          <a:xfrm>
            <a:off x="2218373" y="3607366"/>
            <a:ext cx="1421501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同面高</a:t>
            </a:r>
            <a:endParaRPr lang="en-US" altLang="zh-TW" sz="1100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水平方向剝離</a:t>
            </a:r>
          </a:p>
        </p:txBody>
      </p:sp>
      <p:sp>
        <p:nvSpPr>
          <p:cNvPr id="22" name="文字方塊 21">
            <a:extLst>
              <a:ext uri="{FF2B5EF4-FFF2-40B4-BE49-F238E27FC236}">
                <a16:creationId xmlns:a16="http://schemas.microsoft.com/office/drawing/2014/main" id="{69A25700-0AB4-D01F-3EB6-ABEF8AF2DD85}"/>
              </a:ext>
            </a:extLst>
          </p:cNvPr>
          <p:cNvSpPr txBox="1"/>
          <p:nvPr/>
        </p:nvSpPr>
        <p:spPr>
          <a:xfrm>
            <a:off x="2218373" y="4396661"/>
            <a:ext cx="1521965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頃角造成沿裂</a:t>
            </a:r>
            <a:endParaRPr lang="en-US" altLang="zh-TW" sz="1100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水平方向剝離</a:t>
            </a:r>
          </a:p>
        </p:txBody>
      </p:sp>
      <p:sp>
        <p:nvSpPr>
          <p:cNvPr id="23" name="箭號: 向右 22">
            <a:extLst>
              <a:ext uri="{FF2B5EF4-FFF2-40B4-BE49-F238E27FC236}">
                <a16:creationId xmlns:a16="http://schemas.microsoft.com/office/drawing/2014/main" id="{4B9A9624-7D5A-CD62-96FA-B3B1890D22DD}"/>
              </a:ext>
            </a:extLst>
          </p:cNvPr>
          <p:cNvSpPr/>
          <p:nvPr/>
        </p:nvSpPr>
        <p:spPr>
          <a:xfrm>
            <a:off x="3298457" y="3998519"/>
            <a:ext cx="341417" cy="342695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5D6229EC-A94B-424E-E3F3-0BDB2547D2B8}"/>
              </a:ext>
            </a:extLst>
          </p:cNvPr>
          <p:cNvSpPr txBox="1"/>
          <p:nvPr/>
        </p:nvSpPr>
        <p:spPr>
          <a:xfrm>
            <a:off x="3558054" y="3954300"/>
            <a:ext cx="13736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200" dirty="0"/>
              <a:t>透過製程參數動態調整剝離手法</a:t>
            </a: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3141FE48-C888-F4F6-334D-222799EE7DAC}"/>
              </a:ext>
            </a:extLst>
          </p:cNvPr>
          <p:cNvSpPr txBox="1"/>
          <p:nvPr/>
        </p:nvSpPr>
        <p:spPr>
          <a:xfrm>
            <a:off x="6483299" y="4476236"/>
            <a:ext cx="166896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翻轉</a:t>
            </a:r>
            <a:endParaRPr lang="en-US" altLang="zh-TW" sz="1100" dirty="0"/>
          </a:p>
          <a:p>
            <a:pPr marL="228600" indent="-228600">
              <a:buFont typeface="+mj-lt"/>
              <a:buAutoNum type="arabicPeriod"/>
            </a:pPr>
            <a:r>
              <a:rPr lang="zh-TW" altLang="en-US" sz="1100" dirty="0"/>
              <a:t>模擬手指碰觸殘邊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551340A1-4522-1900-5E62-C073819C33D4}"/>
              </a:ext>
            </a:extLst>
          </p:cNvPr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10800000" flipH="1">
            <a:off x="8645026" y="4275180"/>
            <a:ext cx="462922" cy="8329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5218007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版面配置區 1"/>
          <p:cNvSpPr>
            <a:spLocks noGrp="1"/>
          </p:cNvSpPr>
          <p:nvPr>
            <p:ph type="body" sz="quarter" idx="19"/>
          </p:nvPr>
        </p:nvSpPr>
        <p:spPr/>
        <p:txBody>
          <a:bodyPr/>
          <a:lstStyle/>
          <a:p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Normal Cut 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關鍵技術突破說明</a:t>
            </a:r>
          </a:p>
        </p:txBody>
      </p:sp>
      <p:pic>
        <p:nvPicPr>
          <p:cNvPr id="4" name="錄製內容 2026-07-27 214842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 rotWithShape="1">
          <a:blip r:embed="rId6"/>
          <a:srcRect l="30622" t="6752" r="6521" b="9518"/>
          <a:stretch/>
        </p:blipFill>
        <p:spPr>
          <a:xfrm>
            <a:off x="431540" y="1220480"/>
            <a:ext cx="3898497" cy="3098804"/>
          </a:xfrm>
          <a:prstGeom prst="rect">
            <a:avLst/>
          </a:prstGeom>
        </p:spPr>
      </p:pic>
      <p:pic>
        <p:nvPicPr>
          <p:cNvPr id="5" name="放大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 rotWithShape="1">
          <a:blip r:embed="rId7"/>
          <a:srcRect r="3408" b="6214"/>
          <a:stretch/>
        </p:blipFill>
        <p:spPr>
          <a:xfrm>
            <a:off x="5418010" y="1614064"/>
            <a:ext cx="2430354" cy="2289834"/>
          </a:xfrm>
          <a:prstGeom prst="rect">
            <a:avLst/>
          </a:prstGeom>
          <a:ln w="19050">
            <a:solidFill>
              <a:srgbClr val="0066FF"/>
            </a:solidFill>
          </a:ln>
        </p:spPr>
      </p:pic>
      <p:sp>
        <p:nvSpPr>
          <p:cNvPr id="6" name="文字方塊 5"/>
          <p:cNvSpPr txBox="1"/>
          <p:nvPr/>
        </p:nvSpPr>
        <p:spPr>
          <a:xfrm>
            <a:off x="431540" y="851148"/>
            <a:ext cx="31598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N-Cut 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剝片細部動作示意模擬</a:t>
            </a:r>
          </a:p>
        </p:txBody>
      </p:sp>
      <p:sp>
        <p:nvSpPr>
          <p:cNvPr id="7" name="文字方塊 6"/>
          <p:cNvSpPr txBox="1"/>
          <p:nvPr/>
        </p:nvSpPr>
        <p:spPr>
          <a:xfrm>
            <a:off x="303299" y="3979468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透過</a:t>
            </a:r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3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軸向控制仿人作業動作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精準還原人員剝片的角度、力道</a:t>
            </a:r>
          </a:p>
        </p:txBody>
      </p:sp>
      <p:sp>
        <p:nvSpPr>
          <p:cNvPr id="8" name="橢圓 7"/>
          <p:cNvSpPr/>
          <p:nvPr/>
        </p:nvSpPr>
        <p:spPr>
          <a:xfrm>
            <a:off x="719572" y="2750540"/>
            <a:ext cx="864096" cy="865326"/>
          </a:xfrm>
          <a:prstGeom prst="ellipse">
            <a:avLst/>
          </a:prstGeom>
          <a:noFill/>
          <a:ln w="28575">
            <a:solidFill>
              <a:srgbClr val="0066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10" name="直線接點 9"/>
          <p:cNvCxnSpPr>
            <a:stCxn id="8" idx="0"/>
          </p:cNvCxnSpPr>
          <p:nvPr/>
        </p:nvCxnSpPr>
        <p:spPr>
          <a:xfrm flipV="1">
            <a:off x="1151620" y="1614064"/>
            <a:ext cx="4266390" cy="1136476"/>
          </a:xfrm>
          <a:prstGeom prst="line">
            <a:avLst/>
          </a:prstGeom>
          <a:ln w="19050">
            <a:solidFill>
              <a:srgbClr val="00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>
            <a:off x="1208187" y="3615866"/>
            <a:ext cx="4209823" cy="288032"/>
          </a:xfrm>
          <a:prstGeom prst="line">
            <a:avLst/>
          </a:prstGeom>
          <a:ln w="19050">
            <a:solidFill>
              <a:srgbClr val="0066FF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5292080" y="3990994"/>
            <a:ext cx="34163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Noto Sans TC" panose="020B0200000000000000" pitchFamily="34" charset="-120"/>
                <a:ea typeface="Noto Sans TC" panose="020B0200000000000000" pitchFamily="34" charset="-120"/>
              </a:rPr>
              <a:t>5</a:t>
            </a: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度折角並向右下方向拉開殘邊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避免殘邊與金手指接觸造刮傷</a:t>
            </a:r>
          </a:p>
        </p:txBody>
      </p:sp>
    </p:spTree>
    <p:extLst>
      <p:ext uri="{BB962C8B-B14F-4D97-AF65-F5344CB8AC3E}">
        <p14:creationId xmlns:p14="http://schemas.microsoft.com/office/powerpoint/2010/main" val="302481131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738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7381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1265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10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1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2" fill="hold">
                      <p:stCondLst>
                        <p:cond delay="0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5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 mute="1">
                <p:cTn id="16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1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8" fill="hold">
                      <p:stCondLst>
                        <p:cond delay="0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" name="圖片 8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3871" t="23521" r="43419" b="23884"/>
          <a:stretch/>
        </p:blipFill>
        <p:spPr>
          <a:xfrm>
            <a:off x="8360916" y="2884070"/>
            <a:ext cx="677635" cy="188559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EE4FEC4-2DA8-B870-BE15-95318200123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剝片技術分類 </a:t>
            </a:r>
            <a:r>
              <a:rPr lang="en-US" altLang="zh-TW" dirty="0"/>
              <a:t>-</a:t>
            </a:r>
            <a:r>
              <a:rPr lang="zh-TW" altLang="en-US" dirty="0"/>
              <a:t> </a:t>
            </a:r>
            <a:r>
              <a:rPr lang="en-US" altLang="zh-TW" dirty="0"/>
              <a:t>COS</a:t>
            </a:r>
            <a:r>
              <a:rPr lang="zh-TW" altLang="en-US" dirty="0"/>
              <a:t>、</a:t>
            </a:r>
            <a:r>
              <a:rPr lang="en-US" altLang="zh-TW" dirty="0"/>
              <a:t>N-Cut</a:t>
            </a:r>
            <a:r>
              <a:rPr lang="zh-TW" altLang="en-US" dirty="0"/>
              <a:t>、</a:t>
            </a:r>
            <a:r>
              <a:rPr lang="en-US" altLang="zh-TW" dirty="0"/>
              <a:t>J-Cut</a:t>
            </a:r>
            <a:endParaRPr lang="zh-TW" altLang="en-US" dirty="0"/>
          </a:p>
        </p:txBody>
      </p:sp>
      <p:grpSp>
        <p:nvGrpSpPr>
          <p:cNvPr id="4" name="群組 3">
            <a:extLst>
              <a:ext uri="{FF2B5EF4-FFF2-40B4-BE49-F238E27FC236}">
                <a16:creationId xmlns:a16="http://schemas.microsoft.com/office/drawing/2014/main" id="{6388C1B4-6298-1C4F-B7B5-535EAF0E7197}"/>
              </a:ext>
            </a:extLst>
          </p:cNvPr>
          <p:cNvGrpSpPr/>
          <p:nvPr/>
        </p:nvGrpSpPr>
        <p:grpSpPr>
          <a:xfrm>
            <a:off x="184151" y="3212005"/>
            <a:ext cx="2614788" cy="670089"/>
            <a:chOff x="3025592" y="3607069"/>
            <a:chExt cx="2614788" cy="670089"/>
          </a:xfrm>
        </p:grpSpPr>
        <p:cxnSp>
          <p:nvCxnSpPr>
            <p:cNvPr id="5" name="直線接點 4">
              <a:extLst>
                <a:ext uri="{FF2B5EF4-FFF2-40B4-BE49-F238E27FC236}">
                  <a16:creationId xmlns:a16="http://schemas.microsoft.com/office/drawing/2014/main" id="{9A5D8DC8-8D07-3196-5F16-6042E9175466}"/>
                </a:ext>
              </a:extLst>
            </p:cNvPr>
            <p:cNvCxnSpPr>
              <a:cxnSpLocks/>
            </p:cNvCxnSpPr>
            <p:nvPr/>
          </p:nvCxnSpPr>
          <p:spPr>
            <a:xfrm>
              <a:off x="3025592" y="4269752"/>
              <a:ext cx="361447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線接點 5">
              <a:extLst>
                <a:ext uri="{FF2B5EF4-FFF2-40B4-BE49-F238E27FC236}">
                  <a16:creationId xmlns:a16="http://schemas.microsoft.com/office/drawing/2014/main" id="{CEBBD8D8-A0FB-5F1D-93D4-FC3F87AA2D46}"/>
                </a:ext>
              </a:extLst>
            </p:cNvPr>
            <p:cNvCxnSpPr/>
            <p:nvPr/>
          </p:nvCxnSpPr>
          <p:spPr>
            <a:xfrm>
              <a:off x="3387039" y="4269752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直線接點 6">
              <a:extLst>
                <a:ext uri="{FF2B5EF4-FFF2-40B4-BE49-F238E27FC236}">
                  <a16:creationId xmlns:a16="http://schemas.microsoft.com/office/drawing/2014/main" id="{795248E5-E9AF-074C-97A1-BAB12D18F08C}"/>
                </a:ext>
              </a:extLst>
            </p:cNvPr>
            <p:cNvCxnSpPr/>
            <p:nvPr/>
          </p:nvCxnSpPr>
          <p:spPr>
            <a:xfrm>
              <a:off x="3387039" y="3621680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接點 7">
              <a:extLst>
                <a:ext uri="{FF2B5EF4-FFF2-40B4-BE49-F238E27FC236}">
                  <a16:creationId xmlns:a16="http://schemas.microsoft.com/office/drawing/2014/main" id="{3488E8F3-0A7E-B1FE-4403-21747427F57B}"/>
                </a:ext>
              </a:extLst>
            </p:cNvPr>
            <p:cNvCxnSpPr/>
            <p:nvPr/>
          </p:nvCxnSpPr>
          <p:spPr>
            <a:xfrm>
              <a:off x="4179127" y="3614480"/>
              <a:ext cx="0" cy="32403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線接點 8">
              <a:extLst>
                <a:ext uri="{FF2B5EF4-FFF2-40B4-BE49-F238E27FC236}">
                  <a16:creationId xmlns:a16="http://schemas.microsoft.com/office/drawing/2014/main" id="{3045814E-47F1-5A53-0864-FAB73EFD201A}"/>
                </a:ext>
              </a:extLst>
            </p:cNvPr>
            <p:cNvCxnSpPr/>
            <p:nvPr/>
          </p:nvCxnSpPr>
          <p:spPr>
            <a:xfrm>
              <a:off x="4179127" y="3981720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線接點 9">
              <a:extLst>
                <a:ext uri="{FF2B5EF4-FFF2-40B4-BE49-F238E27FC236}">
                  <a16:creationId xmlns:a16="http://schemas.microsoft.com/office/drawing/2014/main" id="{0B11882A-2900-AF6F-BBEE-0D2CE8EE3333}"/>
                </a:ext>
              </a:extLst>
            </p:cNvPr>
            <p:cNvCxnSpPr/>
            <p:nvPr/>
          </p:nvCxnSpPr>
          <p:spPr>
            <a:xfrm>
              <a:off x="3387039" y="3967440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87876DAE-20A0-76AD-2A34-A79939A2F2B9}"/>
                </a:ext>
              </a:extLst>
            </p:cNvPr>
            <p:cNvSpPr txBox="1"/>
            <p:nvPr/>
          </p:nvSpPr>
          <p:spPr>
            <a:xfrm>
              <a:off x="3260542" y="3645632"/>
              <a:ext cx="74551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Seal</a:t>
              </a:r>
              <a:endParaRPr lang="zh-TW" altLang="en-US" sz="1600" b="1" dirty="0">
                <a:latin typeface="微軟正黑體" pitchFamily="34" charset="-120"/>
                <a:ea typeface="微軟正黑體" pitchFamily="34" charset="-120"/>
              </a:endParaRPr>
            </a:p>
          </p:txBody>
        </p:sp>
        <p:sp>
          <p:nvSpPr>
            <p:cNvPr id="12" name="文字方塊 11">
              <a:extLst>
                <a:ext uri="{FF2B5EF4-FFF2-40B4-BE49-F238E27FC236}">
                  <a16:creationId xmlns:a16="http://schemas.microsoft.com/office/drawing/2014/main" id="{412BC955-82A4-A00A-B382-8F09EA6FCCAE}"/>
                </a:ext>
              </a:extLst>
            </p:cNvPr>
            <p:cNvSpPr txBox="1"/>
            <p:nvPr/>
          </p:nvSpPr>
          <p:spPr>
            <a:xfrm>
              <a:off x="4665969" y="3720110"/>
              <a:ext cx="504056" cy="523220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9B3EE359-74CA-6192-3F83-2CBFFE6D619D}"/>
                </a:ext>
              </a:extLst>
            </p:cNvPr>
            <p:cNvGrpSpPr/>
            <p:nvPr/>
          </p:nvGrpSpPr>
          <p:grpSpPr>
            <a:xfrm>
              <a:off x="4230041" y="3607069"/>
              <a:ext cx="1410339" cy="670089"/>
              <a:chOff x="4244441" y="3614063"/>
              <a:chExt cx="1410339" cy="670089"/>
            </a:xfrm>
          </p:grpSpPr>
          <p:cxnSp>
            <p:nvCxnSpPr>
              <p:cNvPr id="16" name="直線接點 15">
                <a:extLst>
                  <a:ext uri="{FF2B5EF4-FFF2-40B4-BE49-F238E27FC236}">
                    <a16:creationId xmlns:a16="http://schemas.microsoft.com/office/drawing/2014/main" id="{364A92DB-1886-9453-D6ED-1209B5B39994}"/>
                  </a:ext>
                </a:extLst>
              </p:cNvPr>
              <p:cNvCxnSpPr/>
              <p:nvPr/>
            </p:nvCxnSpPr>
            <p:spPr>
              <a:xfrm>
                <a:off x="5654780" y="3630064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線接點 16">
                <a:extLst>
                  <a:ext uri="{FF2B5EF4-FFF2-40B4-BE49-F238E27FC236}">
                    <a16:creationId xmlns:a16="http://schemas.microsoft.com/office/drawing/2014/main" id="{E3B6CC63-2F2C-5BDC-3210-62C4C7D8D0D7}"/>
                  </a:ext>
                </a:extLst>
              </p:cNvPr>
              <p:cNvCxnSpPr/>
              <p:nvPr/>
            </p:nvCxnSpPr>
            <p:spPr>
              <a:xfrm flipV="1">
                <a:off x="4244441" y="4276746"/>
                <a:ext cx="1410339" cy="139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線接點 17">
                <a:extLst>
                  <a:ext uri="{FF2B5EF4-FFF2-40B4-BE49-F238E27FC236}">
                    <a16:creationId xmlns:a16="http://schemas.microsoft.com/office/drawing/2014/main" id="{313623BC-FD13-7D61-3CC1-C4B344DCBEE8}"/>
                  </a:ext>
                </a:extLst>
              </p:cNvPr>
              <p:cNvCxnSpPr/>
              <p:nvPr/>
            </p:nvCxnSpPr>
            <p:spPr>
              <a:xfrm>
                <a:off x="4244441" y="3630064"/>
                <a:ext cx="1410339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線接點 18">
                <a:extLst>
                  <a:ext uri="{FF2B5EF4-FFF2-40B4-BE49-F238E27FC236}">
                    <a16:creationId xmlns:a16="http://schemas.microsoft.com/office/drawing/2014/main" id="{7380EFCC-B995-0136-1BD7-198A5B5FF444}"/>
                  </a:ext>
                </a:extLst>
              </p:cNvPr>
              <p:cNvCxnSpPr/>
              <p:nvPr/>
            </p:nvCxnSpPr>
            <p:spPr>
              <a:xfrm>
                <a:off x="4244441" y="3614063"/>
                <a:ext cx="0" cy="324036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線接點 19">
                <a:extLst>
                  <a:ext uri="{FF2B5EF4-FFF2-40B4-BE49-F238E27FC236}">
                    <a16:creationId xmlns:a16="http://schemas.microsoft.com/office/drawing/2014/main" id="{FF6ECB10-45BF-59EE-2A79-2180F516E45C}"/>
                  </a:ext>
                </a:extLst>
              </p:cNvPr>
              <p:cNvCxnSpPr/>
              <p:nvPr/>
            </p:nvCxnSpPr>
            <p:spPr>
              <a:xfrm>
                <a:off x="4244441" y="3996120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直線接點 20">
                <a:extLst>
                  <a:ext uri="{FF2B5EF4-FFF2-40B4-BE49-F238E27FC236}">
                    <a16:creationId xmlns:a16="http://schemas.microsoft.com/office/drawing/2014/main" id="{54CFB068-8973-7221-DCF2-EAE1B92203C1}"/>
                  </a:ext>
                </a:extLst>
              </p:cNvPr>
              <p:cNvCxnSpPr/>
              <p:nvPr/>
            </p:nvCxnSpPr>
            <p:spPr>
              <a:xfrm flipV="1">
                <a:off x="4244441" y="3974434"/>
                <a:ext cx="1410339" cy="139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" name="圓角矩形 50">
              <a:extLst>
                <a:ext uri="{FF2B5EF4-FFF2-40B4-BE49-F238E27FC236}">
                  <a16:creationId xmlns:a16="http://schemas.microsoft.com/office/drawing/2014/main" id="{1AD46A05-C039-51E5-DDF5-4F59722A8DF4}"/>
                </a:ext>
              </a:extLst>
            </p:cNvPr>
            <p:cNvSpPr/>
            <p:nvPr/>
          </p:nvSpPr>
          <p:spPr>
            <a:xfrm>
              <a:off x="4101186" y="3896822"/>
              <a:ext cx="201424" cy="144016"/>
            </a:xfrm>
            <a:prstGeom prst="roundRect">
              <a:avLst/>
            </a:prstGeom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cxnSp>
          <p:nvCxnSpPr>
            <p:cNvPr id="15" name="直線單箭頭接點 14">
              <a:extLst>
                <a:ext uri="{FF2B5EF4-FFF2-40B4-BE49-F238E27FC236}">
                  <a16:creationId xmlns:a16="http://schemas.microsoft.com/office/drawing/2014/main" id="{0DF5CF07-C39A-F9D0-F644-4A76DAD1B96A}"/>
                </a:ext>
              </a:extLst>
            </p:cNvPr>
            <p:cNvCxnSpPr>
              <a:cxnSpLocks/>
              <a:stCxn id="14" idx="1"/>
              <a:endCxn id="11" idx="3"/>
            </p:cNvCxnSpPr>
            <p:nvPr/>
          </p:nvCxnSpPr>
          <p:spPr>
            <a:xfrm flipH="1" flipV="1">
              <a:off x="4006059" y="3814909"/>
              <a:ext cx="95127" cy="15392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矩形 22">
            <a:extLst>
              <a:ext uri="{FF2B5EF4-FFF2-40B4-BE49-F238E27FC236}">
                <a16:creationId xmlns:a16="http://schemas.microsoft.com/office/drawing/2014/main" id="{246DF285-E3E0-7700-C91B-45E0FCA30E5B}"/>
              </a:ext>
            </a:extLst>
          </p:cNvPr>
          <p:cNvSpPr/>
          <p:nvPr/>
        </p:nvSpPr>
        <p:spPr>
          <a:xfrm>
            <a:off x="575642" y="2807249"/>
            <a:ext cx="658667" cy="39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夾具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4D125851-3D49-58E6-4437-993ED956F570}"/>
              </a:ext>
            </a:extLst>
          </p:cNvPr>
          <p:cNvSpPr/>
          <p:nvPr/>
        </p:nvSpPr>
        <p:spPr>
          <a:xfrm>
            <a:off x="2085426" y="2985254"/>
            <a:ext cx="956377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400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汽缸夾具</a:t>
            </a:r>
          </a:p>
        </p:txBody>
      </p:sp>
      <p:sp>
        <p:nvSpPr>
          <p:cNvPr id="26" name="向右箭號 84">
            <a:extLst>
              <a:ext uri="{FF2B5EF4-FFF2-40B4-BE49-F238E27FC236}">
                <a16:creationId xmlns:a16="http://schemas.microsoft.com/office/drawing/2014/main" id="{997A33A4-22B9-736C-B85B-962316284D08}"/>
              </a:ext>
            </a:extLst>
          </p:cNvPr>
          <p:cNvSpPr/>
          <p:nvPr/>
        </p:nvSpPr>
        <p:spPr>
          <a:xfrm>
            <a:off x="1461169" y="2618239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A762B719-91FF-2283-4E61-41087384FBB6}"/>
              </a:ext>
            </a:extLst>
          </p:cNvPr>
          <p:cNvSpPr txBox="1"/>
          <p:nvPr/>
        </p:nvSpPr>
        <p:spPr>
          <a:xfrm>
            <a:off x="478149" y="1291816"/>
            <a:ext cx="236328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Cutting on Seal</a:t>
            </a:r>
            <a:r>
              <a:rPr lang="zh-TW" altLang="en-US" sz="1600" dirty="0"/>
              <a:t> </a:t>
            </a:r>
            <a:r>
              <a:rPr lang="en-US" altLang="zh-TW" sz="1600" dirty="0"/>
              <a:t>(COS)</a:t>
            </a:r>
          </a:p>
          <a:p>
            <a:pPr algn="ctr"/>
            <a:r>
              <a:rPr lang="en-US" altLang="zh-TW" sz="1600" dirty="0"/>
              <a:t>-</a:t>
            </a:r>
            <a:r>
              <a:rPr lang="zh-TW" altLang="en-US" sz="1600" dirty="0"/>
              <a:t>專用夾具機構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:30%)</a:t>
            </a:r>
          </a:p>
          <a:p>
            <a:pPr algn="ctr"/>
            <a:endParaRPr lang="zh-TW" altLang="en-US" sz="1600" dirty="0"/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CCC64177-9F8C-7B2C-3F39-3FB84EA69176}"/>
              </a:ext>
            </a:extLst>
          </p:cNvPr>
          <p:cNvSpPr/>
          <p:nvPr/>
        </p:nvSpPr>
        <p:spPr>
          <a:xfrm>
            <a:off x="184151" y="3902863"/>
            <a:ext cx="1153533" cy="255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平台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7A52D3F2-A427-026C-D12E-3D95560FED8B}"/>
              </a:ext>
            </a:extLst>
          </p:cNvPr>
          <p:cNvSpPr/>
          <p:nvPr/>
        </p:nvSpPr>
        <p:spPr>
          <a:xfrm>
            <a:off x="2085427" y="3892079"/>
            <a:ext cx="956377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23B8D84A-0A31-77A2-4B2F-A85F4A4EDB36}"/>
              </a:ext>
            </a:extLst>
          </p:cNvPr>
          <p:cNvSpPr/>
          <p:nvPr/>
        </p:nvSpPr>
        <p:spPr>
          <a:xfrm>
            <a:off x="2827607" y="3203298"/>
            <a:ext cx="214198" cy="7141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cxnSp>
        <p:nvCxnSpPr>
          <p:cNvPr id="31" name="直線接點 30">
            <a:extLst>
              <a:ext uri="{FF2B5EF4-FFF2-40B4-BE49-F238E27FC236}">
                <a16:creationId xmlns:a16="http://schemas.microsoft.com/office/drawing/2014/main" id="{5228530C-5804-D000-45E2-810CB3894523}"/>
              </a:ext>
            </a:extLst>
          </p:cNvPr>
          <p:cNvCxnSpPr>
            <a:cxnSpLocks/>
          </p:cNvCxnSpPr>
          <p:nvPr/>
        </p:nvCxnSpPr>
        <p:spPr>
          <a:xfrm>
            <a:off x="3305026" y="1291816"/>
            <a:ext cx="0" cy="326113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箭號: 向下 32">
            <a:extLst>
              <a:ext uri="{FF2B5EF4-FFF2-40B4-BE49-F238E27FC236}">
                <a16:creationId xmlns:a16="http://schemas.microsoft.com/office/drawing/2014/main" id="{73CB428B-7D5F-51A4-704A-4A4B48B40C5D}"/>
              </a:ext>
            </a:extLst>
          </p:cNvPr>
          <p:cNvSpPr/>
          <p:nvPr/>
        </p:nvSpPr>
        <p:spPr>
          <a:xfrm>
            <a:off x="372211" y="2853377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6" name="直線接點 35">
            <a:extLst>
              <a:ext uri="{FF2B5EF4-FFF2-40B4-BE49-F238E27FC236}">
                <a16:creationId xmlns:a16="http://schemas.microsoft.com/office/drawing/2014/main" id="{ABFC4081-501A-34C0-4157-70DF47297842}"/>
              </a:ext>
            </a:extLst>
          </p:cNvPr>
          <p:cNvCxnSpPr>
            <a:cxnSpLocks/>
          </p:cNvCxnSpPr>
          <p:nvPr/>
        </p:nvCxnSpPr>
        <p:spPr>
          <a:xfrm>
            <a:off x="184151" y="3226616"/>
            <a:ext cx="361447" cy="0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箭號: 向下 37">
            <a:extLst>
              <a:ext uri="{FF2B5EF4-FFF2-40B4-BE49-F238E27FC236}">
                <a16:creationId xmlns:a16="http://schemas.microsoft.com/office/drawing/2014/main" id="{01AD6F04-9248-0217-E9B4-03D93D89E28E}"/>
              </a:ext>
            </a:extLst>
          </p:cNvPr>
          <p:cNvSpPr/>
          <p:nvPr/>
        </p:nvSpPr>
        <p:spPr>
          <a:xfrm>
            <a:off x="2836899" y="3271780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40" name="箭號: 向下 39">
            <a:extLst>
              <a:ext uri="{FF2B5EF4-FFF2-40B4-BE49-F238E27FC236}">
                <a16:creationId xmlns:a16="http://schemas.microsoft.com/office/drawing/2014/main" id="{A3180D90-888D-F3C3-B41D-2831017BEC0F}"/>
              </a:ext>
            </a:extLst>
          </p:cNvPr>
          <p:cNvSpPr/>
          <p:nvPr/>
        </p:nvSpPr>
        <p:spPr>
          <a:xfrm rot="10800000">
            <a:off x="2836899" y="3591483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69" name="向右箭號 67">
            <a:extLst>
              <a:ext uri="{FF2B5EF4-FFF2-40B4-BE49-F238E27FC236}">
                <a16:creationId xmlns:a16="http://schemas.microsoft.com/office/drawing/2014/main" id="{9B3B3DC4-F943-78F1-1E93-CF62FDA7DF9B}"/>
              </a:ext>
            </a:extLst>
          </p:cNvPr>
          <p:cNvSpPr/>
          <p:nvPr/>
        </p:nvSpPr>
        <p:spPr>
          <a:xfrm rot="17596966">
            <a:off x="5522271" y="2404347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0" name="文字方塊 69">
            <a:extLst>
              <a:ext uri="{FF2B5EF4-FFF2-40B4-BE49-F238E27FC236}">
                <a16:creationId xmlns:a16="http://schemas.microsoft.com/office/drawing/2014/main" id="{E432B584-E294-7D63-B71B-DD0D7FABB73C}"/>
              </a:ext>
            </a:extLst>
          </p:cNvPr>
          <p:cNvSpPr txBox="1"/>
          <p:nvPr/>
        </p:nvSpPr>
        <p:spPr>
          <a:xfrm>
            <a:off x="3592508" y="1262746"/>
            <a:ext cx="2266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Normal Cut</a:t>
            </a:r>
            <a:br>
              <a:rPr lang="en-US" altLang="zh-TW" sz="1600" dirty="0"/>
            </a:br>
            <a:r>
              <a:rPr lang="en-US" altLang="zh-TW" sz="1600" dirty="0"/>
              <a:t>-</a:t>
            </a:r>
            <a:r>
              <a:rPr lang="zh-TW" altLang="en-US" sz="1600" dirty="0"/>
              <a:t>翻轉角度型治具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:70%)</a:t>
            </a:r>
          </a:p>
        </p:txBody>
      </p:sp>
      <p:sp>
        <p:nvSpPr>
          <p:cNvPr id="72" name="矩形 71">
            <a:extLst>
              <a:ext uri="{FF2B5EF4-FFF2-40B4-BE49-F238E27FC236}">
                <a16:creationId xmlns:a16="http://schemas.microsoft.com/office/drawing/2014/main" id="{B320BD78-C031-AEFB-F402-01308D333D20}"/>
              </a:ext>
            </a:extLst>
          </p:cNvPr>
          <p:cNvSpPr/>
          <p:nvPr/>
        </p:nvSpPr>
        <p:spPr>
          <a:xfrm>
            <a:off x="3697220" y="2807249"/>
            <a:ext cx="658667" cy="39605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夾具</a:t>
            </a:r>
          </a:p>
        </p:txBody>
      </p:sp>
      <p:sp>
        <p:nvSpPr>
          <p:cNvPr id="74" name="箭號: 向下 73">
            <a:extLst>
              <a:ext uri="{FF2B5EF4-FFF2-40B4-BE49-F238E27FC236}">
                <a16:creationId xmlns:a16="http://schemas.microsoft.com/office/drawing/2014/main" id="{E22F327B-2587-9504-FF49-B0E08FB4E6DC}"/>
              </a:ext>
            </a:extLst>
          </p:cNvPr>
          <p:cNvSpPr/>
          <p:nvPr/>
        </p:nvSpPr>
        <p:spPr>
          <a:xfrm>
            <a:off x="3420069" y="2818669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DC691485-A1B8-F4CB-6C25-69D42C783D0F}"/>
              </a:ext>
            </a:extLst>
          </p:cNvPr>
          <p:cNvSpPr/>
          <p:nvPr/>
        </p:nvSpPr>
        <p:spPr>
          <a:xfrm>
            <a:off x="3703554" y="3896879"/>
            <a:ext cx="792088" cy="255676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平台</a:t>
            </a:r>
          </a:p>
        </p:txBody>
      </p:sp>
      <p:grpSp>
        <p:nvGrpSpPr>
          <p:cNvPr id="105" name="群組 104">
            <a:extLst>
              <a:ext uri="{FF2B5EF4-FFF2-40B4-BE49-F238E27FC236}">
                <a16:creationId xmlns:a16="http://schemas.microsoft.com/office/drawing/2014/main" id="{0BDBA471-1958-121F-05D8-88BEA5C34344}"/>
              </a:ext>
            </a:extLst>
          </p:cNvPr>
          <p:cNvGrpSpPr/>
          <p:nvPr/>
        </p:nvGrpSpPr>
        <p:grpSpPr>
          <a:xfrm>
            <a:off x="3703554" y="3221303"/>
            <a:ext cx="1656184" cy="648072"/>
            <a:chOff x="3724807" y="3514648"/>
            <a:chExt cx="1656184" cy="648072"/>
          </a:xfrm>
          <a:scene3d>
            <a:camera prst="orthographicFront">
              <a:rot lat="10800000" lon="0" rev="0"/>
            </a:camera>
            <a:lightRig rig="threePt" dir="t"/>
          </a:scene3d>
        </p:grpSpPr>
        <p:cxnSp>
          <p:nvCxnSpPr>
            <p:cNvPr id="97" name="直線接點 96">
              <a:extLst>
                <a:ext uri="{FF2B5EF4-FFF2-40B4-BE49-F238E27FC236}">
                  <a16:creationId xmlns:a16="http://schemas.microsoft.com/office/drawing/2014/main" id="{EDBBA407-681B-3A9E-26B8-D0B24FB29FD3}"/>
                </a:ext>
              </a:extLst>
            </p:cNvPr>
            <p:cNvCxnSpPr/>
            <p:nvPr/>
          </p:nvCxnSpPr>
          <p:spPr>
            <a:xfrm>
              <a:off x="3724807" y="3514648"/>
              <a:ext cx="0" cy="6480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直線接點 97">
              <a:extLst>
                <a:ext uri="{FF2B5EF4-FFF2-40B4-BE49-F238E27FC236}">
                  <a16:creationId xmlns:a16="http://schemas.microsoft.com/office/drawing/2014/main" id="{E8A26522-6B26-7055-4239-BBDA1DD5423C}"/>
                </a:ext>
              </a:extLst>
            </p:cNvPr>
            <p:cNvCxnSpPr/>
            <p:nvPr/>
          </p:nvCxnSpPr>
          <p:spPr>
            <a:xfrm>
              <a:off x="3724807" y="4162720"/>
              <a:ext cx="16561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直線接點 98">
              <a:extLst>
                <a:ext uri="{FF2B5EF4-FFF2-40B4-BE49-F238E27FC236}">
                  <a16:creationId xmlns:a16="http://schemas.microsoft.com/office/drawing/2014/main" id="{12638C8C-1908-E6C6-41EE-231E1F1B48DE}"/>
                </a:ext>
              </a:extLst>
            </p:cNvPr>
            <p:cNvCxnSpPr/>
            <p:nvPr/>
          </p:nvCxnSpPr>
          <p:spPr>
            <a:xfrm>
              <a:off x="3724807" y="3514648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線接點 99">
              <a:extLst>
                <a:ext uri="{FF2B5EF4-FFF2-40B4-BE49-F238E27FC236}">
                  <a16:creationId xmlns:a16="http://schemas.microsoft.com/office/drawing/2014/main" id="{AC53C09C-1B0B-0D72-495F-5A1502109977}"/>
                </a:ext>
              </a:extLst>
            </p:cNvPr>
            <p:cNvCxnSpPr/>
            <p:nvPr/>
          </p:nvCxnSpPr>
          <p:spPr>
            <a:xfrm>
              <a:off x="4516895" y="3514648"/>
              <a:ext cx="0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線接點 100">
              <a:extLst>
                <a:ext uri="{FF2B5EF4-FFF2-40B4-BE49-F238E27FC236}">
                  <a16:creationId xmlns:a16="http://schemas.microsoft.com/office/drawing/2014/main" id="{1787CB1E-E57F-9ADB-94B0-8E71113F99DB}"/>
                </a:ext>
              </a:extLst>
            </p:cNvPr>
            <p:cNvCxnSpPr/>
            <p:nvPr/>
          </p:nvCxnSpPr>
          <p:spPr>
            <a:xfrm>
              <a:off x="4516895" y="3874688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直線接點 101">
              <a:extLst>
                <a:ext uri="{FF2B5EF4-FFF2-40B4-BE49-F238E27FC236}">
                  <a16:creationId xmlns:a16="http://schemas.microsoft.com/office/drawing/2014/main" id="{7C43309B-BC77-AB9D-F033-C557C104BEEC}"/>
                </a:ext>
              </a:extLst>
            </p:cNvPr>
            <p:cNvCxnSpPr/>
            <p:nvPr/>
          </p:nvCxnSpPr>
          <p:spPr>
            <a:xfrm>
              <a:off x="5380991" y="3874688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直線接點 102">
              <a:extLst>
                <a:ext uri="{FF2B5EF4-FFF2-40B4-BE49-F238E27FC236}">
                  <a16:creationId xmlns:a16="http://schemas.microsoft.com/office/drawing/2014/main" id="{18C2A449-908A-79ED-F500-F5F8729337F0}"/>
                </a:ext>
              </a:extLst>
            </p:cNvPr>
            <p:cNvCxnSpPr/>
            <p:nvPr/>
          </p:nvCxnSpPr>
          <p:spPr>
            <a:xfrm>
              <a:off x="3724807" y="3874688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4" name="文字方塊 103">
            <a:extLst>
              <a:ext uri="{FF2B5EF4-FFF2-40B4-BE49-F238E27FC236}">
                <a16:creationId xmlns:a16="http://schemas.microsoft.com/office/drawing/2014/main" id="{BBFBD3D6-F451-8FEF-C322-C02CEB0AA91B}"/>
              </a:ext>
            </a:extLst>
          </p:cNvPr>
          <p:cNvSpPr txBox="1"/>
          <p:nvPr/>
        </p:nvSpPr>
        <p:spPr>
          <a:xfrm>
            <a:off x="4529588" y="3203460"/>
            <a:ext cx="800219" cy="338554"/>
          </a:xfrm>
          <a:prstGeom prst="rect">
            <a:avLst/>
          </a:prstGeom>
          <a:noFill/>
          <a:scene3d>
            <a:camera prst="orthographicFront">
              <a:rot lat="60000" lon="0" rev="0"/>
            </a:camera>
            <a:lightRig rig="threePt" dir="t"/>
          </a:scene3d>
        </p:spPr>
        <p:txBody>
          <a:bodyPr wrap="none" rtlCol="0">
            <a:spAutoFit/>
          </a:bodyPr>
          <a:lstStyle/>
          <a:p>
            <a:r>
              <a:rPr lang="zh-TW" altLang="en-US" sz="1600" b="1" dirty="0">
                <a:latin typeface="微軟正黑體" pitchFamily="34" charset="-120"/>
                <a:ea typeface="微軟正黑體" pitchFamily="34" charset="-120"/>
              </a:rPr>
              <a:t>金手指</a:t>
            </a:r>
          </a:p>
        </p:txBody>
      </p:sp>
      <p:grpSp>
        <p:nvGrpSpPr>
          <p:cNvPr id="139" name="群組 138">
            <a:extLst>
              <a:ext uri="{FF2B5EF4-FFF2-40B4-BE49-F238E27FC236}">
                <a16:creationId xmlns:a16="http://schemas.microsoft.com/office/drawing/2014/main" id="{51A97356-1444-40CE-E666-9D6B9B9F8EDA}"/>
              </a:ext>
            </a:extLst>
          </p:cNvPr>
          <p:cNvGrpSpPr/>
          <p:nvPr/>
        </p:nvGrpSpPr>
        <p:grpSpPr>
          <a:xfrm rot="21250510">
            <a:off x="4541887" y="3203460"/>
            <a:ext cx="1437701" cy="687656"/>
            <a:chOff x="4563140" y="3496805"/>
            <a:chExt cx="1437701" cy="687656"/>
          </a:xfrm>
        </p:grpSpPr>
        <p:cxnSp>
          <p:nvCxnSpPr>
            <p:cNvPr id="119" name="直線接點 118">
              <a:extLst>
                <a:ext uri="{FF2B5EF4-FFF2-40B4-BE49-F238E27FC236}">
                  <a16:creationId xmlns:a16="http://schemas.microsoft.com/office/drawing/2014/main" id="{649DC2C3-6F80-5E52-44A4-87F6F5E0093D}"/>
                </a:ext>
              </a:extLst>
            </p:cNvPr>
            <p:cNvCxnSpPr>
              <a:cxnSpLocks/>
            </p:cNvCxnSpPr>
            <p:nvPr/>
          </p:nvCxnSpPr>
          <p:spPr>
            <a:xfrm>
              <a:off x="4563140" y="4159899"/>
              <a:ext cx="1437610" cy="0"/>
            </a:xfrm>
            <a:prstGeom prst="line">
              <a:avLst/>
            </a:prstGeom>
            <a:ln w="38100"/>
            <a:scene3d>
              <a:camera prst="orthographicFront">
                <a:rot lat="10800000" lon="0" rev="0"/>
              </a:camera>
              <a:lightRig rig="threePt" dir="t"/>
            </a:scene3d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38" name="群組 137">
              <a:extLst>
                <a:ext uri="{FF2B5EF4-FFF2-40B4-BE49-F238E27FC236}">
                  <a16:creationId xmlns:a16="http://schemas.microsoft.com/office/drawing/2014/main" id="{85055951-8740-2222-A874-F533F6917C56}"/>
                </a:ext>
              </a:extLst>
            </p:cNvPr>
            <p:cNvGrpSpPr/>
            <p:nvPr/>
          </p:nvGrpSpPr>
          <p:grpSpPr>
            <a:xfrm>
              <a:off x="4563140" y="3496805"/>
              <a:ext cx="1437701" cy="687656"/>
              <a:chOff x="4563140" y="3496805"/>
              <a:chExt cx="1437701" cy="687656"/>
            </a:xfrm>
          </p:grpSpPr>
          <p:cxnSp>
            <p:nvCxnSpPr>
              <p:cNvPr id="120" name="直線接點 119">
                <a:extLst>
                  <a:ext uri="{FF2B5EF4-FFF2-40B4-BE49-F238E27FC236}">
                    <a16:creationId xmlns:a16="http://schemas.microsoft.com/office/drawing/2014/main" id="{AD5CD5AB-9622-A8BF-77D1-EAC353883D2C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4563140" y="3852946"/>
                <a:ext cx="0" cy="331515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線接點 122">
                <a:extLst>
                  <a:ext uri="{FF2B5EF4-FFF2-40B4-BE49-F238E27FC236}">
                    <a16:creationId xmlns:a16="http://schemas.microsoft.com/office/drawing/2014/main" id="{23F60458-9C90-F8CE-022C-2DD2E40891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577425" y="3848266"/>
                <a:ext cx="880400" cy="0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7" name="直線接點 126">
                <a:extLst>
                  <a:ext uri="{FF2B5EF4-FFF2-40B4-BE49-F238E27FC236}">
                    <a16:creationId xmlns:a16="http://schemas.microsoft.com/office/drawing/2014/main" id="{DC1A79E2-56CF-6DF5-91A6-07F24BF80C31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998240" y="3496805"/>
                <a:ext cx="2510" cy="687656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9" name="直線接點 128">
                <a:extLst>
                  <a:ext uri="{FF2B5EF4-FFF2-40B4-BE49-F238E27FC236}">
                    <a16:creationId xmlns:a16="http://schemas.microsoft.com/office/drawing/2014/main" id="{DFEEF3B7-F0DD-B54C-3F6B-F816C6712D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435600" y="3496805"/>
                <a:ext cx="565241" cy="0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1" name="直線接點 130">
                <a:extLst>
                  <a:ext uri="{FF2B5EF4-FFF2-40B4-BE49-F238E27FC236}">
                    <a16:creationId xmlns:a16="http://schemas.microsoft.com/office/drawing/2014/main" id="{618547E9-0C58-6BEF-D740-F2378205E31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435600" y="3501624"/>
                <a:ext cx="3840" cy="346642"/>
              </a:xfrm>
              <a:prstGeom prst="line">
                <a:avLst/>
              </a:prstGeom>
              <a:ln w="38100"/>
              <a:scene3d>
                <a:camera prst="orthographicFront">
                  <a:rot lat="10800000" lon="0" rev="0"/>
                </a:camera>
                <a:lightRig rig="threePt" dir="t"/>
              </a:scene3d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34" name="直線接點 133">
            <a:extLst>
              <a:ext uri="{FF2B5EF4-FFF2-40B4-BE49-F238E27FC236}">
                <a16:creationId xmlns:a16="http://schemas.microsoft.com/office/drawing/2014/main" id="{6586BB92-FDF3-74AC-4A7C-CD95B517C7A1}"/>
              </a:ext>
            </a:extLst>
          </p:cNvPr>
          <p:cNvCxnSpPr>
            <a:cxnSpLocks/>
          </p:cNvCxnSpPr>
          <p:nvPr/>
        </p:nvCxnSpPr>
        <p:spPr>
          <a:xfrm>
            <a:off x="5414347" y="3540027"/>
            <a:ext cx="562640" cy="0"/>
          </a:xfrm>
          <a:prstGeom prst="line">
            <a:avLst/>
          </a:prstGeom>
          <a:ln w="38100">
            <a:prstDash val="sysDot"/>
          </a:ln>
          <a:scene3d>
            <a:camera prst="orthographicFront">
              <a:rot lat="10800000" lon="0" rev="0"/>
            </a:camera>
            <a:lightRig rig="threePt" dir="t"/>
          </a:scene3d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文字方塊 136">
            <a:extLst>
              <a:ext uri="{FF2B5EF4-FFF2-40B4-BE49-F238E27FC236}">
                <a16:creationId xmlns:a16="http://schemas.microsoft.com/office/drawing/2014/main" id="{1159E106-83C7-0F2E-D933-F1270A54B223}"/>
              </a:ext>
            </a:extLst>
          </p:cNvPr>
          <p:cNvSpPr txBox="1"/>
          <p:nvPr/>
        </p:nvSpPr>
        <p:spPr>
          <a:xfrm rot="21153148">
            <a:off x="5428550" y="3253482"/>
            <a:ext cx="50405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400" b="1" dirty="0">
                <a:latin typeface="微軟正黑體" pitchFamily="34" charset="-120"/>
                <a:ea typeface="微軟正黑體" pitchFamily="34" charset="-120"/>
              </a:rPr>
              <a:t>殘邊</a:t>
            </a:r>
          </a:p>
        </p:txBody>
      </p:sp>
      <p:sp>
        <p:nvSpPr>
          <p:cNvPr id="141" name="矩形 140">
            <a:extLst>
              <a:ext uri="{FF2B5EF4-FFF2-40B4-BE49-F238E27FC236}">
                <a16:creationId xmlns:a16="http://schemas.microsoft.com/office/drawing/2014/main" id="{8836B8CE-19CD-97A1-0844-7282BF3214FA}"/>
              </a:ext>
            </a:extLst>
          </p:cNvPr>
          <p:cNvSpPr/>
          <p:nvPr/>
        </p:nvSpPr>
        <p:spPr>
          <a:xfrm rot="21269630">
            <a:off x="5339563" y="2916643"/>
            <a:ext cx="869284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dirty="0">
                <a:solidFill>
                  <a:sysClr val="windowText" lastClr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汽缸夾具</a:t>
            </a:r>
          </a:p>
        </p:txBody>
      </p:sp>
      <p:sp>
        <p:nvSpPr>
          <p:cNvPr id="143" name="矩形 142">
            <a:extLst>
              <a:ext uri="{FF2B5EF4-FFF2-40B4-BE49-F238E27FC236}">
                <a16:creationId xmlns:a16="http://schemas.microsoft.com/office/drawing/2014/main" id="{E96A96F7-0D84-A474-7176-0F20DB0EDBB4}"/>
              </a:ext>
            </a:extLst>
          </p:cNvPr>
          <p:cNvSpPr/>
          <p:nvPr/>
        </p:nvSpPr>
        <p:spPr>
          <a:xfrm rot="21269630">
            <a:off x="5353375" y="3806698"/>
            <a:ext cx="934788" cy="222456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5" name="矩形 144">
            <a:extLst>
              <a:ext uri="{FF2B5EF4-FFF2-40B4-BE49-F238E27FC236}">
                <a16:creationId xmlns:a16="http://schemas.microsoft.com/office/drawing/2014/main" id="{E884C382-5DF8-5504-8E95-6F94DCEF6280}"/>
              </a:ext>
            </a:extLst>
          </p:cNvPr>
          <p:cNvSpPr/>
          <p:nvPr/>
        </p:nvSpPr>
        <p:spPr>
          <a:xfrm rot="21269630">
            <a:off x="6038326" y="3065402"/>
            <a:ext cx="214198" cy="71418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>
              <a:solidFill>
                <a:sysClr val="windowText" lastClr="000000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7" name="箭號: 向下 146">
            <a:extLst>
              <a:ext uri="{FF2B5EF4-FFF2-40B4-BE49-F238E27FC236}">
                <a16:creationId xmlns:a16="http://schemas.microsoft.com/office/drawing/2014/main" id="{70F0132D-CA52-8672-03D5-339F9BC29880}"/>
              </a:ext>
            </a:extLst>
          </p:cNvPr>
          <p:cNvSpPr/>
          <p:nvPr/>
        </p:nvSpPr>
        <p:spPr>
          <a:xfrm rot="21269630">
            <a:off x="6095597" y="3218043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49" name="箭號: 向下 148">
            <a:extLst>
              <a:ext uri="{FF2B5EF4-FFF2-40B4-BE49-F238E27FC236}">
                <a16:creationId xmlns:a16="http://schemas.microsoft.com/office/drawing/2014/main" id="{5680EB2F-F52D-6D68-4294-E0EF04923B79}"/>
              </a:ext>
            </a:extLst>
          </p:cNvPr>
          <p:cNvSpPr/>
          <p:nvPr/>
        </p:nvSpPr>
        <p:spPr>
          <a:xfrm rot="10469630">
            <a:off x="6095597" y="3537746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50" name="直線接點 149">
            <a:extLst>
              <a:ext uri="{FF2B5EF4-FFF2-40B4-BE49-F238E27FC236}">
                <a16:creationId xmlns:a16="http://schemas.microsoft.com/office/drawing/2014/main" id="{28BF5AD6-D3FF-CDE4-4635-10344DE0CB56}"/>
              </a:ext>
            </a:extLst>
          </p:cNvPr>
          <p:cNvCxnSpPr>
            <a:cxnSpLocks/>
          </p:cNvCxnSpPr>
          <p:nvPr/>
        </p:nvCxnSpPr>
        <p:spPr>
          <a:xfrm>
            <a:off x="6443514" y="1291816"/>
            <a:ext cx="0" cy="3261134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1" name="群組 150">
            <a:extLst>
              <a:ext uri="{FF2B5EF4-FFF2-40B4-BE49-F238E27FC236}">
                <a16:creationId xmlns:a16="http://schemas.microsoft.com/office/drawing/2014/main" id="{7B518B88-DBF2-0A07-AC8F-E99BCF446EE0}"/>
              </a:ext>
            </a:extLst>
          </p:cNvPr>
          <p:cNvGrpSpPr>
            <a:grpSpLocks noChangeAspect="1"/>
          </p:cNvGrpSpPr>
          <p:nvPr/>
        </p:nvGrpSpPr>
        <p:grpSpPr>
          <a:xfrm flipV="1">
            <a:off x="6626172" y="3153973"/>
            <a:ext cx="1699614" cy="1024722"/>
            <a:chOff x="3722754" y="1674321"/>
            <a:chExt cx="1699614" cy="1024722"/>
          </a:xfrm>
        </p:grpSpPr>
        <p:cxnSp>
          <p:nvCxnSpPr>
            <p:cNvPr id="152" name="直線接點 151">
              <a:extLst>
                <a:ext uri="{FF2B5EF4-FFF2-40B4-BE49-F238E27FC236}">
                  <a16:creationId xmlns:a16="http://schemas.microsoft.com/office/drawing/2014/main" id="{955BAB09-FE87-FD43-C2ED-110DA4FCF945}"/>
                </a:ext>
              </a:extLst>
            </p:cNvPr>
            <p:cNvCxnSpPr/>
            <p:nvPr/>
          </p:nvCxnSpPr>
          <p:spPr>
            <a:xfrm>
              <a:off x="3722754" y="2050971"/>
              <a:ext cx="0" cy="64807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直線接點 152">
              <a:extLst>
                <a:ext uri="{FF2B5EF4-FFF2-40B4-BE49-F238E27FC236}">
                  <a16:creationId xmlns:a16="http://schemas.microsoft.com/office/drawing/2014/main" id="{DA60ACF9-8ABD-7DF5-7CE9-E71FECDF2FF9}"/>
                </a:ext>
              </a:extLst>
            </p:cNvPr>
            <p:cNvCxnSpPr/>
            <p:nvPr/>
          </p:nvCxnSpPr>
          <p:spPr>
            <a:xfrm>
              <a:off x="3722754" y="2699043"/>
              <a:ext cx="165618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直線接點 153">
              <a:extLst>
                <a:ext uri="{FF2B5EF4-FFF2-40B4-BE49-F238E27FC236}">
                  <a16:creationId xmlns:a16="http://schemas.microsoft.com/office/drawing/2014/main" id="{845D6F61-0F97-90A4-1FC1-B508067161F2}"/>
                </a:ext>
              </a:extLst>
            </p:cNvPr>
            <p:cNvCxnSpPr/>
            <p:nvPr/>
          </p:nvCxnSpPr>
          <p:spPr>
            <a:xfrm>
              <a:off x="3722754" y="2050971"/>
              <a:ext cx="7920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直線接點 154">
              <a:extLst>
                <a:ext uri="{FF2B5EF4-FFF2-40B4-BE49-F238E27FC236}">
                  <a16:creationId xmlns:a16="http://schemas.microsoft.com/office/drawing/2014/main" id="{85A81B98-C25C-451C-3719-536772D81B5D}"/>
                </a:ext>
              </a:extLst>
            </p:cNvPr>
            <p:cNvCxnSpPr/>
            <p:nvPr/>
          </p:nvCxnSpPr>
          <p:spPr>
            <a:xfrm>
              <a:off x="4514842" y="2050971"/>
              <a:ext cx="0" cy="36004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直線接點 155">
              <a:extLst>
                <a:ext uri="{FF2B5EF4-FFF2-40B4-BE49-F238E27FC236}">
                  <a16:creationId xmlns:a16="http://schemas.microsoft.com/office/drawing/2014/main" id="{736458DF-F626-8915-AB3C-B799662FFB8A}"/>
                </a:ext>
              </a:extLst>
            </p:cNvPr>
            <p:cNvCxnSpPr/>
            <p:nvPr/>
          </p:nvCxnSpPr>
          <p:spPr>
            <a:xfrm>
              <a:off x="4514842" y="2411011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直線接點 156">
              <a:extLst>
                <a:ext uri="{FF2B5EF4-FFF2-40B4-BE49-F238E27FC236}">
                  <a16:creationId xmlns:a16="http://schemas.microsoft.com/office/drawing/2014/main" id="{7B3AD2EF-A8C5-7654-AB2A-E789029B8EAB}"/>
                </a:ext>
              </a:extLst>
            </p:cNvPr>
            <p:cNvCxnSpPr/>
            <p:nvPr/>
          </p:nvCxnSpPr>
          <p:spPr>
            <a:xfrm>
              <a:off x="5378938" y="2411011"/>
              <a:ext cx="0" cy="288032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直線接點 157">
              <a:extLst>
                <a:ext uri="{FF2B5EF4-FFF2-40B4-BE49-F238E27FC236}">
                  <a16:creationId xmlns:a16="http://schemas.microsoft.com/office/drawing/2014/main" id="{426E9BC2-D7CA-409C-3594-298D21077B9B}"/>
                </a:ext>
              </a:extLst>
            </p:cNvPr>
            <p:cNvCxnSpPr/>
            <p:nvPr/>
          </p:nvCxnSpPr>
          <p:spPr>
            <a:xfrm>
              <a:off x="3722754" y="2411011"/>
              <a:ext cx="792088" cy="0"/>
            </a:xfrm>
            <a:prstGeom prst="line">
              <a:avLst/>
            </a:prstGeom>
            <a:ln w="38100"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直線接點 158">
              <a:extLst>
                <a:ext uri="{FF2B5EF4-FFF2-40B4-BE49-F238E27FC236}">
                  <a16:creationId xmlns:a16="http://schemas.microsoft.com/office/drawing/2014/main" id="{690A5AD8-32E9-B8FB-4525-24CDA5AA1B58}"/>
                </a:ext>
              </a:extLst>
            </p:cNvPr>
            <p:cNvCxnSpPr/>
            <p:nvPr/>
          </p:nvCxnSpPr>
          <p:spPr>
            <a:xfrm flipV="1">
              <a:off x="5422368" y="2070080"/>
              <a:ext cx="0" cy="309726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直線接點 159">
              <a:extLst>
                <a:ext uri="{FF2B5EF4-FFF2-40B4-BE49-F238E27FC236}">
                  <a16:creationId xmlns:a16="http://schemas.microsoft.com/office/drawing/2014/main" id="{A0285AC9-CFF6-692B-8495-82DF6CA9C8E8}"/>
                </a:ext>
              </a:extLst>
            </p:cNvPr>
            <p:cNvCxnSpPr/>
            <p:nvPr/>
          </p:nvCxnSpPr>
          <p:spPr>
            <a:xfrm flipH="1">
              <a:off x="4558273" y="2050971"/>
              <a:ext cx="864095" cy="4764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直線接點 160">
              <a:extLst>
                <a:ext uri="{FF2B5EF4-FFF2-40B4-BE49-F238E27FC236}">
                  <a16:creationId xmlns:a16="http://schemas.microsoft.com/office/drawing/2014/main" id="{7325B135-3B46-C0A3-4B4C-DBFEB94F812E}"/>
                </a:ext>
              </a:extLst>
            </p:cNvPr>
            <p:cNvCxnSpPr/>
            <p:nvPr/>
          </p:nvCxnSpPr>
          <p:spPr>
            <a:xfrm rot="10800000">
              <a:off x="4558272" y="2372344"/>
              <a:ext cx="864096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直線接點 161">
              <a:extLst>
                <a:ext uri="{FF2B5EF4-FFF2-40B4-BE49-F238E27FC236}">
                  <a16:creationId xmlns:a16="http://schemas.microsoft.com/office/drawing/2014/main" id="{348389D4-02B1-93B5-4196-5F4C5AD673B4}"/>
                </a:ext>
              </a:extLst>
            </p:cNvPr>
            <p:cNvCxnSpPr/>
            <p:nvPr/>
          </p:nvCxnSpPr>
          <p:spPr>
            <a:xfrm rot="10800000">
              <a:off x="4558272" y="2048344"/>
              <a:ext cx="0" cy="32400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3" name="文字方塊 162">
              <a:extLst>
                <a:ext uri="{FF2B5EF4-FFF2-40B4-BE49-F238E27FC236}">
                  <a16:creationId xmlns:a16="http://schemas.microsoft.com/office/drawing/2014/main" id="{2E5680AC-77BC-54F2-4D25-E8D7718B8163}"/>
                </a:ext>
              </a:extLst>
            </p:cNvPr>
            <p:cNvSpPr txBox="1"/>
            <p:nvPr/>
          </p:nvSpPr>
          <p:spPr>
            <a:xfrm rot="10800000">
              <a:off x="4636833" y="2058058"/>
              <a:ext cx="705230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164" name="弧形 163">
              <a:extLst>
                <a:ext uri="{FF2B5EF4-FFF2-40B4-BE49-F238E27FC236}">
                  <a16:creationId xmlns:a16="http://schemas.microsoft.com/office/drawing/2014/main" id="{808160E6-32FC-EFDD-2AC4-AA122F1FB5CE}"/>
                </a:ext>
              </a:extLst>
            </p:cNvPr>
            <p:cNvSpPr/>
            <p:nvPr/>
          </p:nvSpPr>
          <p:spPr>
            <a:xfrm>
              <a:off x="4558272" y="1815332"/>
              <a:ext cx="862353" cy="432048"/>
            </a:xfrm>
            <a:prstGeom prst="arc">
              <a:avLst>
                <a:gd name="adj1" fmla="val 10852903"/>
                <a:gd name="adj2" fmla="val 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TW" altLang="en-US"/>
            </a:p>
          </p:txBody>
        </p:sp>
        <p:sp>
          <p:nvSpPr>
            <p:cNvPr id="165" name="文字方塊 164">
              <a:extLst>
                <a:ext uri="{FF2B5EF4-FFF2-40B4-BE49-F238E27FC236}">
                  <a16:creationId xmlns:a16="http://schemas.microsoft.com/office/drawing/2014/main" id="{2DAFDAA7-AD31-11D5-B0B7-D76EF89AFC73}"/>
                </a:ext>
              </a:extLst>
            </p:cNvPr>
            <p:cNvSpPr txBox="1"/>
            <p:nvPr/>
          </p:nvSpPr>
          <p:spPr>
            <a:xfrm rot="10800000">
              <a:off x="4716841" y="1674321"/>
              <a:ext cx="559769" cy="276999"/>
            </a:xfrm>
            <a:prstGeom prst="rect">
              <a:avLst/>
            </a:prstGeom>
            <a:solidFill>
              <a:schemeClr val="bg1"/>
            </a:solidFill>
          </p:spPr>
          <p:txBody>
            <a:bodyPr wrap="none" rtlCol="0">
              <a:spAutoFit/>
            </a:bodyPr>
            <a:lstStyle/>
            <a:p>
              <a:r>
                <a:rPr lang="en-US" altLang="zh-TW" sz="1200" dirty="0">
                  <a:latin typeface="微軟正黑體" pitchFamily="34" charset="-120"/>
                  <a:ea typeface="微軟正黑體" pitchFamily="34" charset="-120"/>
                </a:rPr>
                <a:t>3mm</a:t>
              </a:r>
              <a:endParaRPr lang="zh-TW" altLang="en-US" sz="1200" dirty="0">
                <a:latin typeface="微軟正黑體" pitchFamily="34" charset="-120"/>
                <a:ea typeface="微軟正黑體" pitchFamily="34" charset="-120"/>
              </a:endParaRPr>
            </a:p>
          </p:txBody>
        </p:sp>
      </p:grpSp>
      <p:sp>
        <p:nvSpPr>
          <p:cNvPr id="166" name="文字方塊 165">
            <a:extLst>
              <a:ext uri="{FF2B5EF4-FFF2-40B4-BE49-F238E27FC236}">
                <a16:creationId xmlns:a16="http://schemas.microsoft.com/office/drawing/2014/main" id="{407D6FD2-BA29-01B5-FF3A-952BFE66D1AE}"/>
              </a:ext>
            </a:extLst>
          </p:cNvPr>
          <p:cNvSpPr txBox="1"/>
          <p:nvPr/>
        </p:nvSpPr>
        <p:spPr>
          <a:xfrm>
            <a:off x="6760063" y="1227657"/>
            <a:ext cx="203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TW" sz="1600" dirty="0"/>
              <a:t>Just Cut</a:t>
            </a:r>
          </a:p>
          <a:p>
            <a:pPr algn="ctr"/>
            <a:r>
              <a:rPr lang="en-US" altLang="zh-TW" sz="1600" dirty="0"/>
              <a:t>-</a:t>
            </a:r>
            <a:r>
              <a:rPr lang="zh-TW" altLang="en-US" sz="1600" dirty="0"/>
              <a:t>柔性爪剝除</a:t>
            </a:r>
            <a:endParaRPr lang="en-US" altLang="zh-TW" sz="1600" dirty="0"/>
          </a:p>
          <a:p>
            <a:pPr algn="ctr"/>
            <a:r>
              <a:rPr lang="en-US" altLang="zh-TW" sz="1600" dirty="0"/>
              <a:t>(</a:t>
            </a:r>
            <a:r>
              <a:rPr lang="zh-TW" altLang="en-US" sz="1600" dirty="0"/>
              <a:t>占比</a:t>
            </a:r>
            <a:r>
              <a:rPr lang="en-US" altLang="zh-TW" sz="1600" dirty="0"/>
              <a:t>:80%)</a:t>
            </a:r>
          </a:p>
        </p:txBody>
      </p:sp>
      <p:sp>
        <p:nvSpPr>
          <p:cNvPr id="168" name="向右箭號 94">
            <a:extLst>
              <a:ext uri="{FF2B5EF4-FFF2-40B4-BE49-F238E27FC236}">
                <a16:creationId xmlns:a16="http://schemas.microsoft.com/office/drawing/2014/main" id="{BFB1C11F-9F04-F429-C409-21D788855289}"/>
              </a:ext>
            </a:extLst>
          </p:cNvPr>
          <p:cNvSpPr/>
          <p:nvPr/>
        </p:nvSpPr>
        <p:spPr>
          <a:xfrm rot="10800000">
            <a:off x="8135595" y="2593374"/>
            <a:ext cx="598043" cy="25833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71" name="箭號: 向下 170">
            <a:extLst>
              <a:ext uri="{FF2B5EF4-FFF2-40B4-BE49-F238E27FC236}">
                <a16:creationId xmlns:a16="http://schemas.microsoft.com/office/drawing/2014/main" id="{74FBA7AA-D388-84E8-FB42-36E4EA978197}"/>
              </a:ext>
            </a:extLst>
          </p:cNvPr>
          <p:cNvSpPr/>
          <p:nvPr/>
        </p:nvSpPr>
        <p:spPr>
          <a:xfrm>
            <a:off x="7802864" y="4178695"/>
            <a:ext cx="180003" cy="300596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5" name="弧形箭號 (上彎) 34"/>
          <p:cNvSpPr/>
          <p:nvPr/>
        </p:nvSpPr>
        <p:spPr>
          <a:xfrm rot="4179928">
            <a:off x="4816098" y="3829395"/>
            <a:ext cx="709422" cy="426720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811177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矩形: 圓角 72">
            <a:extLst>
              <a:ext uri="{FF2B5EF4-FFF2-40B4-BE49-F238E27FC236}">
                <a16:creationId xmlns:a16="http://schemas.microsoft.com/office/drawing/2014/main" id="{48C057EB-1A36-2ADF-0F90-029C2F419063}"/>
              </a:ext>
            </a:extLst>
          </p:cNvPr>
          <p:cNvSpPr/>
          <p:nvPr/>
        </p:nvSpPr>
        <p:spPr>
          <a:xfrm>
            <a:off x="2950838" y="2667908"/>
            <a:ext cx="2058073" cy="30852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75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5288296" y="2667908"/>
            <a:ext cx="598594" cy="295583"/>
          </a:xfrm>
          <a:prstGeom prst="roundRect">
            <a:avLst/>
          </a:prstGeom>
          <a:solidFill>
            <a:schemeClr val="accent3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53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6253740" y="2667908"/>
            <a:ext cx="598594" cy="295583"/>
          </a:xfrm>
          <a:prstGeom prst="roundRect">
            <a:avLst/>
          </a:prstGeom>
          <a:solidFill>
            <a:schemeClr val="accent5">
              <a:lumMod val="60000"/>
              <a:lumOff val="4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graphicFrame>
        <p:nvGraphicFramePr>
          <p:cNvPr id="19" name="圖表 18"/>
          <p:cNvGraphicFramePr>
            <a:graphicFrameLocks/>
          </p:cNvGraphicFramePr>
          <p:nvPr/>
        </p:nvGraphicFramePr>
        <p:xfrm>
          <a:off x="478148" y="863597"/>
          <a:ext cx="8276385" cy="21146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4CA5DD5B-3D92-7797-4D0A-9CC3DAE3BB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085" y="252426"/>
            <a:ext cx="8482972" cy="533863"/>
          </a:xfrm>
        </p:spPr>
        <p:txBody>
          <a:bodyPr/>
          <a:lstStyle/>
          <a:p>
            <a:r>
              <a:rPr lang="en-US" altLang="zh-TW" dirty="0"/>
              <a:t>COS </a:t>
            </a:r>
            <a:r>
              <a:rPr lang="zh-TW" altLang="en-US" dirty="0"/>
              <a:t>測試開發</a:t>
            </a:r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1162075" y="4337313"/>
            <a:ext cx="2072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>
                <a:solidFill>
                  <a:schemeClr val="tx2"/>
                </a:solidFill>
              </a:rPr>
              <a:t>手動</a:t>
            </a:r>
            <a:r>
              <a:rPr lang="zh-TW" altLang="en-US" sz="1000" dirty="0"/>
              <a:t>測試機 </a:t>
            </a:r>
            <a:r>
              <a:rPr lang="en-US" altLang="zh-TW" sz="1000" dirty="0"/>
              <a:t>– </a:t>
            </a:r>
            <a:r>
              <a:rPr lang="zh-TW" altLang="en-US" sz="1000" dirty="0">
                <a:solidFill>
                  <a:srgbClr val="0070C0"/>
                </a:solidFill>
              </a:rPr>
              <a:t>材質</a:t>
            </a:r>
            <a:r>
              <a:rPr lang="en-US" altLang="zh-TW" sz="1000" dirty="0">
                <a:solidFill>
                  <a:srgbClr val="0070C0"/>
                </a:solidFill>
              </a:rPr>
              <a:t>/</a:t>
            </a:r>
            <a:r>
              <a:rPr lang="zh-TW" altLang="en-US" sz="1000" dirty="0">
                <a:solidFill>
                  <a:srgbClr val="0070C0"/>
                </a:solidFill>
              </a:rPr>
              <a:t>材料特性測試</a:t>
            </a:r>
            <a:endParaRPr lang="en-US" altLang="zh-TW" sz="1000" dirty="0">
              <a:solidFill>
                <a:srgbClr val="0070C0"/>
              </a:solidFill>
            </a:endParaRPr>
          </a:p>
          <a:p>
            <a:pPr algn="ctr"/>
            <a:r>
              <a:rPr lang="zh-TW" altLang="en-US" sz="1000" dirty="0"/>
              <a:t>提高夾持力度、避免滑片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6983D4A1-0919-7994-4524-2615E8174C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05597" y="3326769"/>
            <a:ext cx="1153241" cy="943802"/>
          </a:xfrm>
          <a:prstGeom prst="rect">
            <a:avLst/>
          </a:prstGeom>
        </p:spPr>
      </p:pic>
      <p:sp>
        <p:nvSpPr>
          <p:cNvPr id="21" name="矩形 20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878517" y="3244131"/>
            <a:ext cx="2639135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12891858-78F0-5A0B-FFE6-40C685024F1F}"/>
              </a:ext>
            </a:extLst>
          </p:cNvPr>
          <p:cNvCxnSpPr>
            <a:cxnSpLocks/>
            <a:stCxn id="73" idx="2"/>
            <a:endCxn id="21" idx="0"/>
          </p:cNvCxnSpPr>
          <p:nvPr/>
        </p:nvCxnSpPr>
        <p:spPr>
          <a:xfrm rot="5400000">
            <a:off x="2955132" y="2219388"/>
            <a:ext cx="267696" cy="1781790"/>
          </a:xfrm>
          <a:prstGeom prst="bentConnector3">
            <a:avLst>
              <a:gd name="adj1" fmla="val 50000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B2D36757-D08A-AB10-FD4A-88FD8007CAAA}"/>
              </a:ext>
            </a:extLst>
          </p:cNvPr>
          <p:cNvCxnSpPr>
            <a:cxnSpLocks/>
            <a:stCxn id="75" idx="2"/>
            <a:endCxn id="32" idx="0"/>
          </p:cNvCxnSpPr>
          <p:nvPr/>
        </p:nvCxnSpPr>
        <p:spPr>
          <a:xfrm rot="5400000">
            <a:off x="5089404" y="2745942"/>
            <a:ext cx="280640" cy="715738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3" name="Picture 3" descr="49b730ed-39c3-4247-a00c-d1ac042d4337@auo">
            <a:extLst>
              <a:ext uri="{FF2B5EF4-FFF2-40B4-BE49-F238E27FC236}">
                <a16:creationId xmlns:a16="http://schemas.microsoft.com/office/drawing/2014/main" id="{8F620B01-947C-7390-50BA-4C2EE0550F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 flipV="1">
            <a:off x="945781" y="3329057"/>
            <a:ext cx="1252303" cy="9392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矩形 31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3625164" y="3244131"/>
            <a:ext cx="2493382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27" name="圖片 2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7169" y="3299241"/>
            <a:ext cx="1089669" cy="957428"/>
          </a:xfrm>
          <a:prstGeom prst="rect">
            <a:avLst/>
          </a:prstGeom>
        </p:spPr>
      </p:pic>
      <p:sp>
        <p:nvSpPr>
          <p:cNvPr id="43" name="文字方塊 42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3814872" y="4337313"/>
            <a:ext cx="207201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自動</a:t>
            </a:r>
            <a:r>
              <a:rPr lang="zh-TW" altLang="en-US" sz="1000" dirty="0"/>
              <a:t>測試機</a:t>
            </a:r>
            <a:endParaRPr lang="en-US" altLang="zh-TW" sz="1000" dirty="0"/>
          </a:p>
          <a:p>
            <a:pPr algn="ctr"/>
            <a:r>
              <a:rPr lang="zh-TW" altLang="en-US" sz="1000" dirty="0"/>
              <a:t>面板放置後全自動剝片</a:t>
            </a:r>
          </a:p>
        </p:txBody>
      </p:sp>
      <p:cxnSp>
        <p:nvCxnSpPr>
          <p:cNvPr id="45" name="接點: 肘形 35">
            <a:extLst>
              <a:ext uri="{FF2B5EF4-FFF2-40B4-BE49-F238E27FC236}">
                <a16:creationId xmlns:a16="http://schemas.microsoft.com/office/drawing/2014/main" id="{B2D36757-D08A-AB10-FD4A-88FD8007CAAA}"/>
              </a:ext>
            </a:extLst>
          </p:cNvPr>
          <p:cNvCxnSpPr>
            <a:cxnSpLocks/>
            <a:stCxn id="53" idx="2"/>
            <a:endCxn id="46" idx="0"/>
          </p:cNvCxnSpPr>
          <p:nvPr/>
        </p:nvCxnSpPr>
        <p:spPr>
          <a:xfrm rot="16200000" flipH="1">
            <a:off x="6791024" y="2725504"/>
            <a:ext cx="280640" cy="756614"/>
          </a:xfrm>
          <a:prstGeom prst="bentConnector3">
            <a:avLst>
              <a:gd name="adj1" fmla="val 50000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6" name="矩形 45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6237409" y="3244131"/>
            <a:ext cx="2144484" cy="1562321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pic>
        <p:nvPicPr>
          <p:cNvPr id="40" name="圖片 3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22460" y="3299241"/>
            <a:ext cx="1039614" cy="978830"/>
          </a:xfrm>
          <a:prstGeom prst="rect">
            <a:avLst/>
          </a:prstGeom>
        </p:spPr>
      </p:pic>
      <p:pic>
        <p:nvPicPr>
          <p:cNvPr id="50" name="圖片 4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80989" y="3301486"/>
            <a:ext cx="1459685" cy="962922"/>
          </a:xfrm>
          <a:prstGeom prst="rect">
            <a:avLst/>
          </a:prstGeom>
        </p:spPr>
      </p:pic>
      <p:sp>
        <p:nvSpPr>
          <p:cNvPr id="58" name="文字方塊 57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6273641" y="4337313"/>
            <a:ext cx="210825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/>
              <a:t>自動測試機</a:t>
            </a:r>
            <a:endParaRPr lang="en-US" altLang="zh-TW" sz="1000" dirty="0"/>
          </a:p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調整夾具水平</a:t>
            </a:r>
            <a:r>
              <a:rPr lang="zh-TW" altLang="en-US" sz="1000" dirty="0"/>
              <a:t>，確認其為</a:t>
            </a:r>
            <a:r>
              <a:rPr lang="zh-TW" altLang="en-US" sz="1000" dirty="0">
                <a:solidFill>
                  <a:srgbClr val="C00000"/>
                </a:solidFill>
              </a:rPr>
              <a:t>關鍵因子</a:t>
            </a:r>
          </a:p>
        </p:txBody>
      </p:sp>
      <p:sp>
        <p:nvSpPr>
          <p:cNvPr id="62" name="矩形: 圓角 74">
            <a:extLst>
              <a:ext uri="{FF2B5EF4-FFF2-40B4-BE49-F238E27FC236}">
                <a16:creationId xmlns:a16="http://schemas.microsoft.com/office/drawing/2014/main" id="{40D6B7FC-7032-4D66-6E4D-F176A5B80D5B}"/>
              </a:ext>
            </a:extLst>
          </p:cNvPr>
          <p:cNvSpPr/>
          <p:nvPr/>
        </p:nvSpPr>
        <p:spPr>
          <a:xfrm>
            <a:off x="6747813" y="3805406"/>
            <a:ext cx="1016024" cy="34473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67" name="文字方塊 66">
            <a:extLst>
              <a:ext uri="{FF2B5EF4-FFF2-40B4-BE49-F238E27FC236}">
                <a16:creationId xmlns:a16="http://schemas.microsoft.com/office/drawing/2014/main" id="{F527FCC9-4B5F-143A-1DE6-6A6F58ABEACE}"/>
              </a:ext>
            </a:extLst>
          </p:cNvPr>
          <p:cNvSpPr txBox="1"/>
          <p:nvPr/>
        </p:nvSpPr>
        <p:spPr>
          <a:xfrm>
            <a:off x="5886890" y="32763"/>
            <a:ext cx="3017295" cy="650330"/>
          </a:xfrm>
          <a:prstGeom prst="rect">
            <a:avLst/>
          </a:prstGeom>
          <a:solidFill>
            <a:schemeClr val="bg2"/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900" b="1">
                <a:solidFill>
                  <a:schemeClr val="bg1"/>
                </a:solidFill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原水平高度 </a:t>
            </a:r>
            <a:r>
              <a:rPr lang="en-US" altLang="zh-TW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0.2~0.3</a:t>
            </a:r>
            <a:r>
              <a:rPr lang="zh-TW" altLang="en-US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1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(mm)</a:t>
            </a:r>
            <a:b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</a:br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透過</a:t>
            </a:r>
            <a:r>
              <a:rPr lang="zh-TW" altLang="en-US" sz="1100" b="0" dirty="0">
                <a:solidFill>
                  <a:srgbClr val="0070C0"/>
                </a:solidFill>
              </a:rPr>
              <a:t>高精度滑台調整至 </a:t>
            </a:r>
            <a:r>
              <a:rPr lang="en-US" altLang="zh-TW" sz="1100" dirty="0">
                <a:solidFill>
                  <a:srgbClr val="0070C0"/>
                </a:solidFill>
              </a:rPr>
              <a:t>0.05~0.1</a:t>
            </a:r>
            <a:r>
              <a:rPr lang="zh-TW" altLang="en-US" sz="1100" dirty="0">
                <a:solidFill>
                  <a:srgbClr val="0070C0"/>
                </a:solidFill>
              </a:rPr>
              <a:t> </a:t>
            </a:r>
            <a:r>
              <a:rPr lang="en-US" altLang="zh-TW" sz="1100" dirty="0">
                <a:solidFill>
                  <a:srgbClr val="0070C0"/>
                </a:solidFill>
              </a:rPr>
              <a:t>(mm)</a:t>
            </a:r>
          </a:p>
          <a:p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持續提升良率至 </a:t>
            </a:r>
            <a: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100%</a:t>
            </a:r>
            <a:r>
              <a:rPr lang="zh-TW" altLang="en-US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 </a:t>
            </a:r>
            <a:r>
              <a:rPr lang="en-US" altLang="zh-TW" sz="1100" b="0" dirty="0">
                <a:solidFill>
                  <a:schemeClr val="tx1">
                    <a:lumMod val="95000"/>
                    <a:lumOff val="5000"/>
                  </a:schemeClr>
                </a:solidFill>
              </a:rPr>
              <a:t>(50pcs)</a:t>
            </a:r>
          </a:p>
        </p:txBody>
      </p:sp>
      <p:sp>
        <p:nvSpPr>
          <p:cNvPr id="42" name="向上箭號 41"/>
          <p:cNvSpPr/>
          <p:nvPr/>
        </p:nvSpPr>
        <p:spPr>
          <a:xfrm>
            <a:off x="7390441" y="579353"/>
            <a:ext cx="286266" cy="253138"/>
          </a:xfrm>
          <a:prstGeom prst="upArrow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852392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BADBF-7057-9232-DEE0-F07B4CC7CB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DDE452-9531-50A8-E52D-56DA3B59EA8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N-Cut </a:t>
            </a:r>
            <a:r>
              <a:rPr lang="zh-TW" altLang="en-US" dirty="0"/>
              <a:t>夾持示意圖</a:t>
            </a:r>
          </a:p>
        </p:txBody>
      </p:sp>
      <p:grpSp>
        <p:nvGrpSpPr>
          <p:cNvPr id="109" name="群組 108">
            <a:extLst>
              <a:ext uri="{FF2B5EF4-FFF2-40B4-BE49-F238E27FC236}">
                <a16:creationId xmlns:a16="http://schemas.microsoft.com/office/drawing/2014/main" id="{A92CCF9D-3706-AC00-CF2C-F3CC9B5CB34A}"/>
              </a:ext>
            </a:extLst>
          </p:cNvPr>
          <p:cNvGrpSpPr/>
          <p:nvPr/>
        </p:nvGrpSpPr>
        <p:grpSpPr>
          <a:xfrm flipH="1">
            <a:off x="366076" y="1124225"/>
            <a:ext cx="3413836" cy="2563696"/>
            <a:chOff x="215516" y="861759"/>
            <a:chExt cx="3413836" cy="2563696"/>
          </a:xfrm>
        </p:grpSpPr>
        <p:grpSp>
          <p:nvGrpSpPr>
            <p:cNvPr id="56" name="群組 55">
              <a:extLst>
                <a:ext uri="{FF2B5EF4-FFF2-40B4-BE49-F238E27FC236}">
                  <a16:creationId xmlns:a16="http://schemas.microsoft.com/office/drawing/2014/main" id="{FCD2BE20-5217-1203-FC27-39DF4438E589}"/>
                </a:ext>
              </a:extLst>
            </p:cNvPr>
            <p:cNvGrpSpPr/>
            <p:nvPr/>
          </p:nvGrpSpPr>
          <p:grpSpPr>
            <a:xfrm rot="10976115">
              <a:off x="1676122" y="2105356"/>
              <a:ext cx="1656184" cy="648072"/>
              <a:chOff x="307263" y="3950407"/>
              <a:chExt cx="1656184" cy="648072"/>
            </a:xfrm>
          </p:grpSpPr>
          <p:cxnSp>
            <p:nvCxnSpPr>
              <p:cNvPr id="72" name="直線接點 71">
                <a:extLst>
                  <a:ext uri="{FF2B5EF4-FFF2-40B4-BE49-F238E27FC236}">
                    <a16:creationId xmlns:a16="http://schemas.microsoft.com/office/drawing/2014/main" id="{4AB7E1A2-4EA7-68B2-DE06-695AEC35DB15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直線接點 72">
                <a:extLst>
                  <a:ext uri="{FF2B5EF4-FFF2-40B4-BE49-F238E27FC236}">
                    <a16:creationId xmlns:a16="http://schemas.microsoft.com/office/drawing/2014/main" id="{6C2F838F-C2CB-2968-4BFB-D396A7EB5E65}"/>
                  </a:ext>
                </a:extLst>
              </p:cNvPr>
              <p:cNvCxnSpPr/>
              <p:nvPr/>
            </p:nvCxnSpPr>
            <p:spPr>
              <a:xfrm>
                <a:off x="307263" y="4598479"/>
                <a:ext cx="165618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直線接點 73">
                <a:extLst>
                  <a:ext uri="{FF2B5EF4-FFF2-40B4-BE49-F238E27FC236}">
                    <a16:creationId xmlns:a16="http://schemas.microsoft.com/office/drawing/2014/main" id="{AF138465-06B5-F5D6-156B-E230190BC069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79208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直線接點 74">
                <a:extLst>
                  <a:ext uri="{FF2B5EF4-FFF2-40B4-BE49-F238E27FC236}">
                    <a16:creationId xmlns:a16="http://schemas.microsoft.com/office/drawing/2014/main" id="{3AF6B928-227D-760C-68D8-832660C5D090}"/>
                  </a:ext>
                </a:extLst>
              </p:cNvPr>
              <p:cNvCxnSpPr/>
              <p:nvPr/>
            </p:nvCxnSpPr>
            <p:spPr>
              <a:xfrm>
                <a:off x="1099351" y="3950407"/>
                <a:ext cx="0" cy="36004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直線接點 75">
                <a:extLst>
                  <a:ext uri="{FF2B5EF4-FFF2-40B4-BE49-F238E27FC236}">
                    <a16:creationId xmlns:a16="http://schemas.microsoft.com/office/drawing/2014/main" id="{4BF97238-96EC-464D-43C0-975550A7F4C5}"/>
                  </a:ext>
                </a:extLst>
              </p:cNvPr>
              <p:cNvCxnSpPr/>
              <p:nvPr/>
            </p:nvCxnSpPr>
            <p:spPr>
              <a:xfrm>
                <a:off x="1099351" y="4310447"/>
                <a:ext cx="86409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線接點 76">
                <a:extLst>
                  <a:ext uri="{FF2B5EF4-FFF2-40B4-BE49-F238E27FC236}">
                    <a16:creationId xmlns:a16="http://schemas.microsoft.com/office/drawing/2014/main" id="{78A179AB-B681-EBDE-02D4-DFE9CDBA5E25}"/>
                  </a:ext>
                </a:extLst>
              </p:cNvPr>
              <p:cNvCxnSpPr/>
              <p:nvPr/>
            </p:nvCxnSpPr>
            <p:spPr>
              <a:xfrm>
                <a:off x="1963447" y="4310447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線接點 77">
                <a:extLst>
                  <a:ext uri="{FF2B5EF4-FFF2-40B4-BE49-F238E27FC236}">
                    <a16:creationId xmlns:a16="http://schemas.microsoft.com/office/drawing/2014/main" id="{B783DFBC-3348-4A77-DE74-6866EA7B3887}"/>
                  </a:ext>
                </a:extLst>
              </p:cNvPr>
              <p:cNvCxnSpPr/>
              <p:nvPr/>
            </p:nvCxnSpPr>
            <p:spPr>
              <a:xfrm>
                <a:off x="307263" y="4310447"/>
                <a:ext cx="792088" cy="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7" name="文字方塊 56">
              <a:extLst>
                <a:ext uri="{FF2B5EF4-FFF2-40B4-BE49-F238E27FC236}">
                  <a16:creationId xmlns:a16="http://schemas.microsoft.com/office/drawing/2014/main" id="{23495A3B-9EBE-463A-156E-E28517879A7F}"/>
                </a:ext>
              </a:extLst>
            </p:cNvPr>
            <p:cNvSpPr txBox="1"/>
            <p:nvPr/>
          </p:nvSpPr>
          <p:spPr>
            <a:xfrm rot="175782">
              <a:off x="1646967" y="2063897"/>
              <a:ext cx="11256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金手指</a:t>
              </a:r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T</a:t>
              </a:r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側</a:t>
              </a:r>
            </a:p>
          </p:txBody>
        </p:sp>
        <p:grpSp>
          <p:nvGrpSpPr>
            <p:cNvPr id="58" name="群組 57">
              <a:extLst>
                <a:ext uri="{FF2B5EF4-FFF2-40B4-BE49-F238E27FC236}">
                  <a16:creationId xmlns:a16="http://schemas.microsoft.com/office/drawing/2014/main" id="{2AD65639-0E82-068C-295D-3B247249B80E}"/>
                </a:ext>
              </a:extLst>
            </p:cNvPr>
            <p:cNvGrpSpPr/>
            <p:nvPr/>
          </p:nvGrpSpPr>
          <p:grpSpPr>
            <a:xfrm rot="10314870">
              <a:off x="879302" y="2063412"/>
              <a:ext cx="1656184" cy="655462"/>
              <a:chOff x="1203798" y="3932441"/>
              <a:chExt cx="1656184" cy="655462"/>
            </a:xfrm>
          </p:grpSpPr>
          <p:cxnSp>
            <p:nvCxnSpPr>
              <p:cNvPr id="64" name="直線接點 63">
                <a:extLst>
                  <a:ext uri="{FF2B5EF4-FFF2-40B4-BE49-F238E27FC236}">
                    <a16:creationId xmlns:a16="http://schemas.microsoft.com/office/drawing/2014/main" id="{D91106CB-9E66-56F2-77C6-B98D2C79225A}"/>
                  </a:ext>
                </a:extLst>
              </p:cNvPr>
              <p:cNvCxnSpPr/>
              <p:nvPr/>
            </p:nvCxnSpPr>
            <p:spPr>
              <a:xfrm>
                <a:off x="2030692" y="4271780"/>
                <a:ext cx="806020" cy="153302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群組 64">
                <a:extLst>
                  <a:ext uri="{FF2B5EF4-FFF2-40B4-BE49-F238E27FC236}">
                    <a16:creationId xmlns:a16="http://schemas.microsoft.com/office/drawing/2014/main" id="{C921A9E6-3D59-AFCC-DFBA-5F77C971FA1B}"/>
                  </a:ext>
                </a:extLst>
              </p:cNvPr>
              <p:cNvGrpSpPr/>
              <p:nvPr/>
            </p:nvGrpSpPr>
            <p:grpSpPr>
              <a:xfrm rot="11445114">
                <a:off x="1203798" y="3932441"/>
                <a:ext cx="1656184" cy="655462"/>
                <a:chOff x="6804248" y="771550"/>
                <a:chExt cx="1656184" cy="655462"/>
              </a:xfrm>
            </p:grpSpPr>
            <p:cxnSp>
              <p:nvCxnSpPr>
                <p:cNvPr id="66" name="直線接點 65">
                  <a:extLst>
                    <a:ext uri="{FF2B5EF4-FFF2-40B4-BE49-F238E27FC236}">
                      <a16:creationId xmlns:a16="http://schemas.microsoft.com/office/drawing/2014/main" id="{2E5BE54A-A204-3AC9-086C-7E8D02E00140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0" cy="64807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7" name="直線接點 66">
                  <a:extLst>
                    <a:ext uri="{FF2B5EF4-FFF2-40B4-BE49-F238E27FC236}">
                      <a16:creationId xmlns:a16="http://schemas.microsoft.com/office/drawing/2014/main" id="{018FEBB4-B4CA-7F86-06A3-4F6130C260B1}"/>
                    </a:ext>
                  </a:extLst>
                </p:cNvPr>
                <p:cNvCxnSpPr/>
                <p:nvPr/>
              </p:nvCxnSpPr>
              <p:spPr>
                <a:xfrm>
                  <a:off x="6804248" y="1419622"/>
                  <a:ext cx="165618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直線接點 67">
                  <a:extLst>
                    <a:ext uri="{FF2B5EF4-FFF2-40B4-BE49-F238E27FC236}">
                      <a16:creationId xmlns:a16="http://schemas.microsoft.com/office/drawing/2014/main" id="{0D4C27C5-D686-2210-BEE6-3EC31D3C6922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79208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9" name="直線接點 68">
                  <a:extLst>
                    <a:ext uri="{FF2B5EF4-FFF2-40B4-BE49-F238E27FC236}">
                      <a16:creationId xmlns:a16="http://schemas.microsoft.com/office/drawing/2014/main" id="{5F4935E5-CEC2-1E6D-10E6-086250426C4B}"/>
                    </a:ext>
                  </a:extLst>
                </p:cNvPr>
                <p:cNvCxnSpPr/>
                <p:nvPr/>
              </p:nvCxnSpPr>
              <p:spPr>
                <a:xfrm>
                  <a:off x="7596336" y="1103012"/>
                  <a:ext cx="86409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0" name="直線接點 69">
                  <a:extLst>
                    <a:ext uri="{FF2B5EF4-FFF2-40B4-BE49-F238E27FC236}">
                      <a16:creationId xmlns:a16="http://schemas.microsoft.com/office/drawing/2014/main" id="{F8CA24B3-0337-8947-9906-000E627C138F}"/>
                    </a:ext>
                  </a:extLst>
                </p:cNvPr>
                <p:cNvCxnSpPr/>
                <p:nvPr/>
              </p:nvCxnSpPr>
              <p:spPr>
                <a:xfrm>
                  <a:off x="8460432" y="1103012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1" name="直線接點 70">
                  <a:extLst>
                    <a:ext uri="{FF2B5EF4-FFF2-40B4-BE49-F238E27FC236}">
                      <a16:creationId xmlns:a16="http://schemas.microsoft.com/office/drawing/2014/main" id="{2EEBC1CD-9541-2E52-0CFF-B0AD09DC31A2}"/>
                    </a:ext>
                  </a:extLst>
                </p:cNvPr>
                <p:cNvCxnSpPr/>
                <p:nvPr/>
              </p:nvCxnSpPr>
              <p:spPr>
                <a:xfrm>
                  <a:off x="7596336" y="771550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59" name="文字方塊 58">
              <a:extLst>
                <a:ext uri="{FF2B5EF4-FFF2-40B4-BE49-F238E27FC236}">
                  <a16:creationId xmlns:a16="http://schemas.microsoft.com/office/drawing/2014/main" id="{11C86D3F-2827-A0AA-CF8D-196FAA43C196}"/>
                </a:ext>
              </a:extLst>
            </p:cNvPr>
            <p:cNvSpPr txBox="1"/>
            <p:nvPr/>
          </p:nvSpPr>
          <p:spPr>
            <a:xfrm>
              <a:off x="215516" y="2170345"/>
              <a:ext cx="5040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60" name="矩形 59">
              <a:extLst>
                <a:ext uri="{FF2B5EF4-FFF2-40B4-BE49-F238E27FC236}">
                  <a16:creationId xmlns:a16="http://schemas.microsoft.com/office/drawing/2014/main" id="{13CD743D-4F5F-B3AE-CBF4-A46247080BD2}"/>
                </a:ext>
              </a:extLst>
            </p:cNvPr>
            <p:cNvSpPr/>
            <p:nvPr/>
          </p:nvSpPr>
          <p:spPr>
            <a:xfrm>
              <a:off x="255249" y="2732068"/>
              <a:ext cx="1238050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1" name="矩形 60">
              <a:extLst>
                <a:ext uri="{FF2B5EF4-FFF2-40B4-BE49-F238E27FC236}">
                  <a16:creationId xmlns:a16="http://schemas.microsoft.com/office/drawing/2014/main" id="{51DF5F76-7A05-6179-E18B-92AAF83F33C0}"/>
                </a:ext>
              </a:extLst>
            </p:cNvPr>
            <p:cNvSpPr/>
            <p:nvPr/>
          </p:nvSpPr>
          <p:spPr>
            <a:xfrm>
              <a:off x="689151" y="1041779"/>
              <a:ext cx="804148" cy="855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2" name="矩形 61">
              <a:extLst>
                <a:ext uri="{FF2B5EF4-FFF2-40B4-BE49-F238E27FC236}">
                  <a16:creationId xmlns:a16="http://schemas.microsoft.com/office/drawing/2014/main" id="{C2F8D978-3463-08E8-F7D8-D080F78F4A8E}"/>
                </a:ext>
              </a:extLst>
            </p:cNvPr>
            <p:cNvSpPr/>
            <p:nvPr/>
          </p:nvSpPr>
          <p:spPr>
            <a:xfrm>
              <a:off x="2692851" y="2854553"/>
              <a:ext cx="936501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id="{3840829A-0346-4076-0D6C-17C4EBE2A407}"/>
                </a:ext>
              </a:extLst>
            </p:cNvPr>
            <p:cNvSpPr/>
            <p:nvPr/>
          </p:nvSpPr>
          <p:spPr>
            <a:xfrm>
              <a:off x="2640368" y="861759"/>
              <a:ext cx="614483" cy="11205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</a:t>
              </a:r>
              <a:endParaRPr lang="en-US" altLang="zh-TW" b="1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82" name="文字方塊 81">
            <a:extLst>
              <a:ext uri="{FF2B5EF4-FFF2-40B4-BE49-F238E27FC236}">
                <a16:creationId xmlns:a16="http://schemas.microsoft.com/office/drawing/2014/main" id="{76C7FAD7-90B4-B667-53D9-8A5354F8DE52}"/>
              </a:ext>
            </a:extLst>
          </p:cNvPr>
          <p:cNvSpPr txBox="1"/>
          <p:nvPr/>
        </p:nvSpPr>
        <p:spPr>
          <a:xfrm>
            <a:off x="8764860" y="2509016"/>
            <a:ext cx="34678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基準水平線</a:t>
            </a:r>
          </a:p>
        </p:txBody>
      </p:sp>
      <p:grpSp>
        <p:nvGrpSpPr>
          <p:cNvPr id="108" name="群組 107">
            <a:extLst>
              <a:ext uri="{FF2B5EF4-FFF2-40B4-BE49-F238E27FC236}">
                <a16:creationId xmlns:a16="http://schemas.microsoft.com/office/drawing/2014/main" id="{5E6C3FA1-FAB4-F1A7-4DF3-5E3BE0EB1BBC}"/>
              </a:ext>
            </a:extLst>
          </p:cNvPr>
          <p:cNvGrpSpPr/>
          <p:nvPr/>
        </p:nvGrpSpPr>
        <p:grpSpPr>
          <a:xfrm flipH="1">
            <a:off x="4642146" y="1234672"/>
            <a:ext cx="3458246" cy="2457828"/>
            <a:chOff x="4420358" y="972206"/>
            <a:chExt cx="3458246" cy="2457828"/>
          </a:xfrm>
        </p:grpSpPr>
        <p:grpSp>
          <p:nvGrpSpPr>
            <p:cNvPr id="85" name="群組 84">
              <a:extLst>
                <a:ext uri="{FF2B5EF4-FFF2-40B4-BE49-F238E27FC236}">
                  <a16:creationId xmlns:a16="http://schemas.microsoft.com/office/drawing/2014/main" id="{D20D2169-D773-BB18-188F-1CEF5BEFBBB6}"/>
                </a:ext>
              </a:extLst>
            </p:cNvPr>
            <p:cNvGrpSpPr/>
            <p:nvPr/>
          </p:nvGrpSpPr>
          <p:grpSpPr>
            <a:xfrm rot="10800000">
              <a:off x="5975585" y="2184596"/>
              <a:ext cx="1656184" cy="648072"/>
              <a:chOff x="307263" y="3950407"/>
              <a:chExt cx="1656184" cy="648072"/>
            </a:xfrm>
          </p:grpSpPr>
          <p:cxnSp>
            <p:nvCxnSpPr>
              <p:cNvPr id="101" name="直線接點 100">
                <a:extLst>
                  <a:ext uri="{FF2B5EF4-FFF2-40B4-BE49-F238E27FC236}">
                    <a16:creationId xmlns:a16="http://schemas.microsoft.com/office/drawing/2014/main" id="{E7CB2E27-E59B-A5A0-441D-5AA5AA4148AC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0" cy="64807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直線接點 101">
                <a:extLst>
                  <a:ext uri="{FF2B5EF4-FFF2-40B4-BE49-F238E27FC236}">
                    <a16:creationId xmlns:a16="http://schemas.microsoft.com/office/drawing/2014/main" id="{AF2BE92D-1D6F-0464-C533-FB90629A0DE4}"/>
                  </a:ext>
                </a:extLst>
              </p:cNvPr>
              <p:cNvCxnSpPr/>
              <p:nvPr/>
            </p:nvCxnSpPr>
            <p:spPr>
              <a:xfrm>
                <a:off x="307263" y="4598479"/>
                <a:ext cx="1656184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直線接點 102">
                <a:extLst>
                  <a:ext uri="{FF2B5EF4-FFF2-40B4-BE49-F238E27FC236}">
                    <a16:creationId xmlns:a16="http://schemas.microsoft.com/office/drawing/2014/main" id="{831AEC48-07FB-DC5F-EED0-CEA4DFB947F8}"/>
                  </a:ext>
                </a:extLst>
              </p:cNvPr>
              <p:cNvCxnSpPr/>
              <p:nvPr/>
            </p:nvCxnSpPr>
            <p:spPr>
              <a:xfrm>
                <a:off x="307263" y="3950407"/>
                <a:ext cx="792088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直線接點 103">
                <a:extLst>
                  <a:ext uri="{FF2B5EF4-FFF2-40B4-BE49-F238E27FC236}">
                    <a16:creationId xmlns:a16="http://schemas.microsoft.com/office/drawing/2014/main" id="{A373A043-6523-FAA3-0E55-89E578923053}"/>
                  </a:ext>
                </a:extLst>
              </p:cNvPr>
              <p:cNvCxnSpPr/>
              <p:nvPr/>
            </p:nvCxnSpPr>
            <p:spPr>
              <a:xfrm>
                <a:off x="1099351" y="3950407"/>
                <a:ext cx="0" cy="36004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直線接點 104">
                <a:extLst>
                  <a:ext uri="{FF2B5EF4-FFF2-40B4-BE49-F238E27FC236}">
                    <a16:creationId xmlns:a16="http://schemas.microsoft.com/office/drawing/2014/main" id="{A33DE9B0-28EB-1B3D-D973-E086A1029786}"/>
                  </a:ext>
                </a:extLst>
              </p:cNvPr>
              <p:cNvCxnSpPr/>
              <p:nvPr/>
            </p:nvCxnSpPr>
            <p:spPr>
              <a:xfrm>
                <a:off x="1099351" y="4310447"/>
                <a:ext cx="864096" cy="0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直線接點 105">
                <a:extLst>
                  <a:ext uri="{FF2B5EF4-FFF2-40B4-BE49-F238E27FC236}">
                    <a16:creationId xmlns:a16="http://schemas.microsoft.com/office/drawing/2014/main" id="{635B8907-3FD7-AB50-2EEC-85A1E8665945}"/>
                  </a:ext>
                </a:extLst>
              </p:cNvPr>
              <p:cNvCxnSpPr/>
              <p:nvPr/>
            </p:nvCxnSpPr>
            <p:spPr>
              <a:xfrm>
                <a:off x="1963447" y="4310447"/>
                <a:ext cx="0" cy="288032"/>
              </a:xfrm>
              <a:prstGeom prst="line">
                <a:avLst/>
              </a:prstGeom>
              <a:ln w="38100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7" name="直線接點 106">
                <a:extLst>
                  <a:ext uri="{FF2B5EF4-FFF2-40B4-BE49-F238E27FC236}">
                    <a16:creationId xmlns:a16="http://schemas.microsoft.com/office/drawing/2014/main" id="{E1AD0FC3-BB14-95D4-E716-6B68BD1C8233}"/>
                  </a:ext>
                </a:extLst>
              </p:cNvPr>
              <p:cNvCxnSpPr/>
              <p:nvPr/>
            </p:nvCxnSpPr>
            <p:spPr>
              <a:xfrm>
                <a:off x="307263" y="4310447"/>
                <a:ext cx="792088" cy="0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86" name="文字方塊 85">
              <a:extLst>
                <a:ext uri="{FF2B5EF4-FFF2-40B4-BE49-F238E27FC236}">
                  <a16:creationId xmlns:a16="http://schemas.microsoft.com/office/drawing/2014/main" id="{A7C784BC-BABB-A414-4E68-D64904F16987}"/>
                </a:ext>
              </a:extLst>
            </p:cNvPr>
            <p:cNvSpPr txBox="1"/>
            <p:nvPr/>
          </p:nvSpPr>
          <p:spPr>
            <a:xfrm>
              <a:off x="5962783" y="2154295"/>
              <a:ext cx="112562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金手指</a:t>
              </a:r>
              <a:r>
                <a:rPr lang="en-US" altLang="zh-TW" sz="1600" b="1" dirty="0">
                  <a:latin typeface="微軟正黑體" pitchFamily="34" charset="-120"/>
                  <a:ea typeface="微軟正黑體" pitchFamily="34" charset="-120"/>
                </a:rPr>
                <a:t>T</a:t>
              </a:r>
              <a:r>
                <a:rPr lang="zh-TW" altLang="en-US" sz="1600" b="1" dirty="0">
                  <a:latin typeface="微軟正黑體" pitchFamily="34" charset="-120"/>
                  <a:ea typeface="微軟正黑體" pitchFamily="34" charset="-120"/>
                </a:rPr>
                <a:t>側</a:t>
              </a:r>
            </a:p>
          </p:txBody>
        </p:sp>
        <p:grpSp>
          <p:nvGrpSpPr>
            <p:cNvPr id="87" name="群組 86">
              <a:extLst>
                <a:ext uri="{FF2B5EF4-FFF2-40B4-BE49-F238E27FC236}">
                  <a16:creationId xmlns:a16="http://schemas.microsoft.com/office/drawing/2014/main" id="{49649EC4-A46A-7DC9-088B-0AB718B4DD9C}"/>
                </a:ext>
              </a:extLst>
            </p:cNvPr>
            <p:cNvGrpSpPr/>
            <p:nvPr/>
          </p:nvGrpSpPr>
          <p:grpSpPr>
            <a:xfrm rot="11286458">
              <a:off x="5051365" y="2138756"/>
              <a:ext cx="1656184" cy="655462"/>
              <a:chOff x="1203798" y="3932441"/>
              <a:chExt cx="1656184" cy="655462"/>
            </a:xfrm>
          </p:grpSpPr>
          <p:cxnSp>
            <p:nvCxnSpPr>
              <p:cNvPr id="93" name="直線接點 92">
                <a:extLst>
                  <a:ext uri="{FF2B5EF4-FFF2-40B4-BE49-F238E27FC236}">
                    <a16:creationId xmlns:a16="http://schemas.microsoft.com/office/drawing/2014/main" id="{51501649-F1E6-A83D-0FBA-365AE80C39C6}"/>
                  </a:ext>
                </a:extLst>
              </p:cNvPr>
              <p:cNvCxnSpPr/>
              <p:nvPr/>
            </p:nvCxnSpPr>
            <p:spPr>
              <a:xfrm>
                <a:off x="2030692" y="4271780"/>
                <a:ext cx="806020" cy="153302"/>
              </a:xfrm>
              <a:prstGeom prst="line">
                <a:avLst/>
              </a:prstGeom>
              <a:ln w="38100"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94" name="群組 93">
                <a:extLst>
                  <a:ext uri="{FF2B5EF4-FFF2-40B4-BE49-F238E27FC236}">
                    <a16:creationId xmlns:a16="http://schemas.microsoft.com/office/drawing/2014/main" id="{A8B96390-C2CE-AA6D-6D16-66019AB1872B}"/>
                  </a:ext>
                </a:extLst>
              </p:cNvPr>
              <p:cNvGrpSpPr/>
              <p:nvPr/>
            </p:nvGrpSpPr>
            <p:grpSpPr>
              <a:xfrm rot="11445114">
                <a:off x="1203798" y="3932441"/>
                <a:ext cx="1656184" cy="655462"/>
                <a:chOff x="6804248" y="771550"/>
                <a:chExt cx="1656184" cy="655462"/>
              </a:xfrm>
            </p:grpSpPr>
            <p:cxnSp>
              <p:nvCxnSpPr>
                <p:cNvPr id="95" name="直線接點 94">
                  <a:extLst>
                    <a:ext uri="{FF2B5EF4-FFF2-40B4-BE49-F238E27FC236}">
                      <a16:creationId xmlns:a16="http://schemas.microsoft.com/office/drawing/2014/main" id="{52350DA6-E457-5CE6-3CA5-50BF98D450B6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0" cy="648072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直線接點 95">
                  <a:extLst>
                    <a:ext uri="{FF2B5EF4-FFF2-40B4-BE49-F238E27FC236}">
                      <a16:creationId xmlns:a16="http://schemas.microsoft.com/office/drawing/2014/main" id="{C719D542-5B34-D36F-3478-30EC744D1415}"/>
                    </a:ext>
                  </a:extLst>
                </p:cNvPr>
                <p:cNvCxnSpPr/>
                <p:nvPr/>
              </p:nvCxnSpPr>
              <p:spPr>
                <a:xfrm>
                  <a:off x="6804248" y="1419622"/>
                  <a:ext cx="1656184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直線接點 96">
                  <a:extLst>
                    <a:ext uri="{FF2B5EF4-FFF2-40B4-BE49-F238E27FC236}">
                      <a16:creationId xmlns:a16="http://schemas.microsoft.com/office/drawing/2014/main" id="{98C70DA7-CF2E-D2C5-1953-B2E5C5BF95E0}"/>
                    </a:ext>
                  </a:extLst>
                </p:cNvPr>
                <p:cNvCxnSpPr/>
                <p:nvPr/>
              </p:nvCxnSpPr>
              <p:spPr>
                <a:xfrm>
                  <a:off x="6804248" y="771550"/>
                  <a:ext cx="792088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直線接點 97">
                  <a:extLst>
                    <a:ext uri="{FF2B5EF4-FFF2-40B4-BE49-F238E27FC236}">
                      <a16:creationId xmlns:a16="http://schemas.microsoft.com/office/drawing/2014/main" id="{86567DFA-80D8-BCC4-969B-0FEAE6419F22}"/>
                    </a:ext>
                  </a:extLst>
                </p:cNvPr>
                <p:cNvCxnSpPr/>
                <p:nvPr/>
              </p:nvCxnSpPr>
              <p:spPr>
                <a:xfrm>
                  <a:off x="7596336" y="1103012"/>
                  <a:ext cx="864096" cy="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9" name="直線接點 98">
                  <a:extLst>
                    <a:ext uri="{FF2B5EF4-FFF2-40B4-BE49-F238E27FC236}">
                      <a16:creationId xmlns:a16="http://schemas.microsoft.com/office/drawing/2014/main" id="{DBC31C78-749E-402B-C080-5B5D4615EE64}"/>
                    </a:ext>
                  </a:extLst>
                </p:cNvPr>
                <p:cNvCxnSpPr/>
                <p:nvPr/>
              </p:nvCxnSpPr>
              <p:spPr>
                <a:xfrm>
                  <a:off x="8460432" y="1103012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0" name="直線接點 99">
                  <a:extLst>
                    <a:ext uri="{FF2B5EF4-FFF2-40B4-BE49-F238E27FC236}">
                      <a16:creationId xmlns:a16="http://schemas.microsoft.com/office/drawing/2014/main" id="{A34005FD-A295-70C8-BB70-BD96BDDF82AB}"/>
                    </a:ext>
                  </a:extLst>
                </p:cNvPr>
                <p:cNvCxnSpPr/>
                <p:nvPr/>
              </p:nvCxnSpPr>
              <p:spPr>
                <a:xfrm>
                  <a:off x="7596336" y="771550"/>
                  <a:ext cx="0" cy="324000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88" name="文字方塊 87">
              <a:extLst>
                <a:ext uri="{FF2B5EF4-FFF2-40B4-BE49-F238E27FC236}">
                  <a16:creationId xmlns:a16="http://schemas.microsoft.com/office/drawing/2014/main" id="{14E81133-615D-6BCB-8065-17AADB904D9E}"/>
                </a:ext>
              </a:extLst>
            </p:cNvPr>
            <p:cNvSpPr txBox="1"/>
            <p:nvPr/>
          </p:nvSpPr>
          <p:spPr>
            <a:xfrm>
              <a:off x="4560018" y="2174924"/>
              <a:ext cx="504056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TW" altLang="en-US" sz="1400" b="1" dirty="0">
                  <a:latin typeface="微軟正黑體" pitchFamily="34" charset="-120"/>
                  <a:ea typeface="微軟正黑體" pitchFamily="34" charset="-120"/>
                </a:rPr>
                <a:t>殘邊</a:t>
              </a:r>
            </a:p>
          </p:txBody>
        </p:sp>
        <p:sp>
          <p:nvSpPr>
            <p:cNvPr id="89" name="矩形 88">
              <a:extLst>
                <a:ext uri="{FF2B5EF4-FFF2-40B4-BE49-F238E27FC236}">
                  <a16:creationId xmlns:a16="http://schemas.microsoft.com/office/drawing/2014/main" id="{244D8E00-E525-FA89-E1E1-CF3841AD66D3}"/>
                </a:ext>
              </a:extLst>
            </p:cNvPr>
            <p:cNvSpPr/>
            <p:nvPr/>
          </p:nvSpPr>
          <p:spPr>
            <a:xfrm>
              <a:off x="4420358" y="2726960"/>
              <a:ext cx="1238050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A3E60DBD-238D-AE08-2246-F42086295E60}"/>
                </a:ext>
              </a:extLst>
            </p:cNvPr>
            <p:cNvSpPr/>
            <p:nvPr/>
          </p:nvSpPr>
          <p:spPr>
            <a:xfrm>
              <a:off x="4854260" y="972206"/>
              <a:ext cx="804148" cy="85522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殘邊夾具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7977F12B-1A6D-9AC7-5513-B0A91C3E10D1}"/>
                </a:ext>
              </a:extLst>
            </p:cNvPr>
            <p:cNvSpPr/>
            <p:nvPr/>
          </p:nvSpPr>
          <p:spPr>
            <a:xfrm>
              <a:off x="6942103" y="2859132"/>
              <a:ext cx="936501" cy="570902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主載台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199E1556-02FA-C0AF-969D-62D1278ADC8C}"/>
                </a:ext>
              </a:extLst>
            </p:cNvPr>
            <p:cNvSpPr/>
            <p:nvPr/>
          </p:nvSpPr>
          <p:spPr>
            <a:xfrm>
              <a:off x="6943712" y="1039425"/>
              <a:ext cx="614483" cy="1120518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主</a:t>
              </a:r>
              <a:endParaRPr lang="en-US" altLang="zh-TW" b="1" dirty="0">
                <a:solidFill>
                  <a:schemeClr val="tx1"/>
                </a:solidFill>
              </a:endParaRPr>
            </a:p>
            <a:p>
              <a:pPr algn="ctr"/>
              <a:r>
                <a:rPr lang="zh-TW" altLang="en-US" b="1" dirty="0">
                  <a:solidFill>
                    <a:schemeClr val="tx1"/>
                  </a:solidFill>
                </a:rPr>
                <a:t>夾具</a:t>
              </a:r>
              <a:endParaRPr lang="zh-TW" altLang="en-US" sz="900" b="1" dirty="0">
                <a:solidFill>
                  <a:schemeClr val="tx1"/>
                </a:solidFill>
              </a:endParaRPr>
            </a:p>
          </p:txBody>
        </p:sp>
      </p:grpSp>
      <p:cxnSp>
        <p:nvCxnSpPr>
          <p:cNvPr id="80" name="直線接點 79">
            <a:extLst>
              <a:ext uri="{FF2B5EF4-FFF2-40B4-BE49-F238E27FC236}">
                <a16:creationId xmlns:a16="http://schemas.microsoft.com/office/drawing/2014/main" id="{75514F76-E183-47BA-6832-519EE962ABAC}"/>
              </a:ext>
            </a:extLst>
          </p:cNvPr>
          <p:cNvCxnSpPr/>
          <p:nvPr/>
        </p:nvCxnSpPr>
        <p:spPr>
          <a:xfrm>
            <a:off x="107504" y="3117019"/>
            <a:ext cx="8964996" cy="0"/>
          </a:xfrm>
          <a:prstGeom prst="line">
            <a:avLst/>
          </a:prstGeom>
          <a:ln w="12700">
            <a:solidFill>
              <a:srgbClr val="00B050"/>
            </a:solidFill>
            <a:prstDash val="lgDash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直線單箭頭接點 110">
            <a:extLst>
              <a:ext uri="{FF2B5EF4-FFF2-40B4-BE49-F238E27FC236}">
                <a16:creationId xmlns:a16="http://schemas.microsoft.com/office/drawing/2014/main" id="{7DC20BB9-6C77-BFF7-E758-3295ED48BFAE}"/>
              </a:ext>
            </a:extLst>
          </p:cNvPr>
          <p:cNvCxnSpPr>
            <a:stCxn id="117" idx="3"/>
            <a:endCxn id="113" idx="0"/>
          </p:cNvCxnSpPr>
          <p:nvPr/>
        </p:nvCxnSpPr>
        <p:spPr>
          <a:xfrm flipH="1">
            <a:off x="1945356" y="3095885"/>
            <a:ext cx="484631" cy="2609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文字方塊 112">
            <a:extLst>
              <a:ext uri="{FF2B5EF4-FFF2-40B4-BE49-F238E27FC236}">
                <a16:creationId xmlns:a16="http://schemas.microsoft.com/office/drawing/2014/main" id="{71F8F57A-46DD-4DA4-E782-60ED50C41A89}"/>
              </a:ext>
            </a:extLst>
          </p:cNvPr>
          <p:cNvSpPr txBox="1"/>
          <p:nvPr/>
        </p:nvSpPr>
        <p:spPr>
          <a:xfrm>
            <a:off x="1304440" y="3356803"/>
            <a:ext cx="12818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殘邊載台</a:t>
            </a:r>
            <a:endParaRPr lang="en-US" altLang="zh-TW" sz="10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zh-TW" altLang="en-US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高於主載台</a:t>
            </a:r>
            <a:r>
              <a:rPr lang="en-US" altLang="zh-TW" sz="10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0.2mm</a:t>
            </a:r>
            <a:endParaRPr lang="zh-TW" altLang="en-US" sz="10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4" name="文字方塊 113">
            <a:extLst>
              <a:ext uri="{FF2B5EF4-FFF2-40B4-BE49-F238E27FC236}">
                <a16:creationId xmlns:a16="http://schemas.microsoft.com/office/drawing/2014/main" id="{DF8CDAB6-209B-1282-A7C9-5816474BB65C}"/>
              </a:ext>
            </a:extLst>
          </p:cNvPr>
          <p:cNvSpPr txBox="1"/>
          <p:nvPr/>
        </p:nvSpPr>
        <p:spPr>
          <a:xfrm>
            <a:off x="420713" y="4075361"/>
            <a:ext cx="29867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玻璃放置於主載台上有輕微傾角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endParaRPr lang="zh-TW" altLang="en-US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7" name="橢圓 116">
            <a:extLst>
              <a:ext uri="{FF2B5EF4-FFF2-40B4-BE49-F238E27FC236}">
                <a16:creationId xmlns:a16="http://schemas.microsoft.com/office/drawing/2014/main" id="{8EC2A787-28F4-BBBD-CDDB-42218C5A948C}"/>
              </a:ext>
            </a:extLst>
          </p:cNvPr>
          <p:cNvSpPr/>
          <p:nvPr/>
        </p:nvSpPr>
        <p:spPr>
          <a:xfrm>
            <a:off x="2398351" y="2911497"/>
            <a:ext cx="216024" cy="216024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123" name="直線單箭頭接點 122">
            <a:extLst>
              <a:ext uri="{FF2B5EF4-FFF2-40B4-BE49-F238E27FC236}">
                <a16:creationId xmlns:a16="http://schemas.microsoft.com/office/drawing/2014/main" id="{2AA28181-9911-BEFB-7A11-FC52975CB50A}"/>
              </a:ext>
            </a:extLst>
          </p:cNvPr>
          <p:cNvCxnSpPr/>
          <p:nvPr/>
        </p:nvCxnSpPr>
        <p:spPr>
          <a:xfrm>
            <a:off x="4752020" y="1466064"/>
            <a:ext cx="0" cy="81309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>
            <a:extLst>
              <a:ext uri="{FF2B5EF4-FFF2-40B4-BE49-F238E27FC236}">
                <a16:creationId xmlns:a16="http://schemas.microsoft.com/office/drawing/2014/main" id="{849DE830-8CA0-9ED3-8E33-083A5F98F14C}"/>
              </a:ext>
            </a:extLst>
          </p:cNvPr>
          <p:cNvSpPr txBox="1"/>
          <p:nvPr/>
        </p:nvSpPr>
        <p:spPr>
          <a:xfrm>
            <a:off x="4206774" y="1204993"/>
            <a:ext cx="92011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1.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面板夾持</a:t>
            </a: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7F24DD7E-A395-4546-8CA1-5B31B4C486A7}"/>
              </a:ext>
            </a:extLst>
          </p:cNvPr>
          <p:cNvSpPr txBox="1"/>
          <p:nvPr/>
        </p:nvSpPr>
        <p:spPr>
          <a:xfrm>
            <a:off x="5963597" y="1737779"/>
            <a:ext cx="8987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2.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自然沿裂</a:t>
            </a:r>
          </a:p>
        </p:txBody>
      </p:sp>
      <p:cxnSp>
        <p:nvCxnSpPr>
          <p:cNvPr id="126" name="直線單箭頭接點 125">
            <a:extLst>
              <a:ext uri="{FF2B5EF4-FFF2-40B4-BE49-F238E27FC236}">
                <a16:creationId xmlns:a16="http://schemas.microsoft.com/office/drawing/2014/main" id="{70DC1EE7-F820-7AAE-5434-DEEFCED443A4}"/>
              </a:ext>
            </a:extLst>
          </p:cNvPr>
          <p:cNvCxnSpPr>
            <a:stCxn id="125" idx="2"/>
          </p:cNvCxnSpPr>
          <p:nvPr/>
        </p:nvCxnSpPr>
        <p:spPr>
          <a:xfrm>
            <a:off x="6412969" y="1984000"/>
            <a:ext cx="112191" cy="40737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文字方塊 128">
            <a:extLst>
              <a:ext uri="{FF2B5EF4-FFF2-40B4-BE49-F238E27FC236}">
                <a16:creationId xmlns:a16="http://schemas.microsoft.com/office/drawing/2014/main" id="{701E18FB-BEDE-CB22-9CBF-AE29DBC76729}"/>
              </a:ext>
            </a:extLst>
          </p:cNvPr>
          <p:cNvSpPr txBox="1"/>
          <p:nvPr/>
        </p:nvSpPr>
        <p:spPr>
          <a:xfrm>
            <a:off x="7663751" y="1401066"/>
            <a:ext cx="96630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3.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殘邊夾持</a:t>
            </a:r>
          </a:p>
        </p:txBody>
      </p:sp>
      <p:cxnSp>
        <p:nvCxnSpPr>
          <p:cNvPr id="130" name="直線單箭頭接點 129">
            <a:extLst>
              <a:ext uri="{FF2B5EF4-FFF2-40B4-BE49-F238E27FC236}">
                <a16:creationId xmlns:a16="http://schemas.microsoft.com/office/drawing/2014/main" id="{85AF0622-1EFF-8925-489E-2294E09E19D3}"/>
              </a:ext>
            </a:extLst>
          </p:cNvPr>
          <p:cNvCxnSpPr/>
          <p:nvPr/>
        </p:nvCxnSpPr>
        <p:spPr>
          <a:xfrm>
            <a:off x="7798554" y="1662283"/>
            <a:ext cx="0" cy="506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直線單箭頭接點 132">
            <a:extLst>
              <a:ext uri="{FF2B5EF4-FFF2-40B4-BE49-F238E27FC236}">
                <a16:creationId xmlns:a16="http://schemas.microsoft.com/office/drawing/2014/main" id="{D344887B-DF19-0024-AC22-4B8D78A25A81}"/>
              </a:ext>
            </a:extLst>
          </p:cNvPr>
          <p:cNvCxnSpPr/>
          <p:nvPr/>
        </p:nvCxnSpPr>
        <p:spPr>
          <a:xfrm>
            <a:off x="7989648" y="3330027"/>
            <a:ext cx="406596" cy="2894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4" name="文字方塊 133">
            <a:extLst>
              <a:ext uri="{FF2B5EF4-FFF2-40B4-BE49-F238E27FC236}">
                <a16:creationId xmlns:a16="http://schemas.microsoft.com/office/drawing/2014/main" id="{04337F97-D685-CEC5-F0F1-DC55E0D0B21C}"/>
              </a:ext>
            </a:extLst>
          </p:cNvPr>
          <p:cNvSpPr txBox="1"/>
          <p:nvPr/>
        </p:nvSpPr>
        <p:spPr>
          <a:xfrm>
            <a:off x="7746907" y="3562305"/>
            <a:ext cx="8336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4.</a:t>
            </a: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載台</a:t>
            </a:r>
            <a:br>
              <a:rPr lang="en-US" altLang="zh-TW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</a:br>
            <a:r>
              <a:rPr lang="zh-TW" altLang="en-US" sz="1000" b="1" dirty="0">
                <a:solidFill>
                  <a:srgbClr val="0066FF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拉開除料</a:t>
            </a: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E35D2B86-1694-CCFF-D29C-3E8D48033DC4}"/>
              </a:ext>
            </a:extLst>
          </p:cNvPr>
          <p:cNvSpPr txBox="1"/>
          <p:nvPr/>
        </p:nvSpPr>
        <p:spPr>
          <a:xfrm>
            <a:off x="4924388" y="4074663"/>
            <a:ext cx="3166251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主夾具夾持造成殘邊發生自然沿裂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>
                <a:latin typeface="Noto Sans TC" panose="020B0200000000000000" pitchFamily="34" charset="-120"/>
                <a:ea typeface="Noto Sans TC" panose="020B0200000000000000" pitchFamily="34" charset="-120"/>
              </a:rPr>
              <a:t>殘邊夾具夾持殘邊後進行脫離動作</a:t>
            </a:r>
            <a:endParaRPr lang="en-US" altLang="zh-TW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zh-TW" altLang="en-US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4054031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0443FD-D240-75D8-2668-609CF8A17B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: 圓角 11">
            <a:extLst>
              <a:ext uri="{FF2B5EF4-FFF2-40B4-BE49-F238E27FC236}">
                <a16:creationId xmlns:a16="http://schemas.microsoft.com/office/drawing/2014/main" id="{3A0090B0-5B13-08BB-DF8E-90CE5BA92253}"/>
              </a:ext>
            </a:extLst>
          </p:cNvPr>
          <p:cNvSpPr/>
          <p:nvPr/>
        </p:nvSpPr>
        <p:spPr>
          <a:xfrm>
            <a:off x="3838301" y="3025221"/>
            <a:ext cx="1090697" cy="205200"/>
          </a:xfrm>
          <a:prstGeom prst="roundRect">
            <a:avLst/>
          </a:prstGeom>
          <a:solidFill>
            <a:schemeClr val="accent5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19B582B9-9785-E337-068D-982571191BAF}"/>
              </a:ext>
            </a:extLst>
          </p:cNvPr>
          <p:cNvSpPr/>
          <p:nvPr/>
        </p:nvSpPr>
        <p:spPr>
          <a:xfrm>
            <a:off x="1317416" y="3025221"/>
            <a:ext cx="1123069" cy="205754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12" name="矩形: 圓角 11">
            <a:extLst>
              <a:ext uri="{FF2B5EF4-FFF2-40B4-BE49-F238E27FC236}">
                <a16:creationId xmlns:a16="http://schemas.microsoft.com/office/drawing/2014/main" id="{3A0090B0-5B13-08BB-DF8E-90CE5BA92253}"/>
              </a:ext>
            </a:extLst>
          </p:cNvPr>
          <p:cNvSpPr/>
          <p:nvPr/>
        </p:nvSpPr>
        <p:spPr>
          <a:xfrm>
            <a:off x="2578232" y="3025221"/>
            <a:ext cx="1081892" cy="205200"/>
          </a:xfrm>
          <a:prstGeom prst="roundRect">
            <a:avLst/>
          </a:prstGeom>
          <a:solidFill>
            <a:schemeClr val="accent3">
              <a:lumMod val="60000"/>
              <a:lumOff val="40000"/>
              <a:alpha val="7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lvl1pPr marL="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zh-TW" altLang="en-US" kern="1200"/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E87DA4C2-8F69-DE1C-5B7E-1D7B0A353F6C}"/>
              </a:ext>
            </a:extLst>
          </p:cNvPr>
          <p:cNvSpPr/>
          <p:nvPr/>
        </p:nvSpPr>
        <p:spPr>
          <a:xfrm>
            <a:off x="2776169" y="3701799"/>
            <a:ext cx="2133071" cy="1309396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C66E7BC-DC69-F727-2F4C-89B760FAEBA3}"/>
              </a:ext>
            </a:extLst>
          </p:cNvPr>
          <p:cNvSpPr/>
          <p:nvPr/>
        </p:nvSpPr>
        <p:spPr>
          <a:xfrm>
            <a:off x="225216" y="3711609"/>
            <a:ext cx="2455550" cy="130830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3" name="矩形 32">
            <a:extLst>
              <a:ext uri="{FF2B5EF4-FFF2-40B4-BE49-F238E27FC236}">
                <a16:creationId xmlns:a16="http://schemas.microsoft.com/office/drawing/2014/main" id="{4D301DD7-37FE-95ED-56D2-0F0A6FACDD92}"/>
              </a:ext>
            </a:extLst>
          </p:cNvPr>
          <p:cNvSpPr/>
          <p:nvPr/>
        </p:nvSpPr>
        <p:spPr>
          <a:xfrm>
            <a:off x="5041192" y="3702886"/>
            <a:ext cx="2455550" cy="1308309"/>
          </a:xfrm>
          <a:prstGeom prst="rect">
            <a:avLst/>
          </a:prstGeom>
          <a:solidFill>
            <a:schemeClr val="bg2"/>
          </a:solidFill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91EB1EDB-2DB9-4817-D30C-F3C385F3141A}"/>
              </a:ext>
            </a:extLst>
          </p:cNvPr>
          <p:cNvSpPr txBox="1"/>
          <p:nvPr/>
        </p:nvSpPr>
        <p:spPr>
          <a:xfrm>
            <a:off x="2826868" y="4594152"/>
            <a:ext cx="2072018" cy="400110"/>
          </a:xfrm>
          <a:prstGeom prst="rect">
            <a:avLst/>
          </a:prstGeom>
          <a:solidFill>
            <a:schemeClr val="bg2"/>
          </a:solidFill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自動</a:t>
            </a:r>
            <a:r>
              <a:rPr lang="zh-TW" altLang="en-US" sz="1000" dirty="0"/>
              <a:t>測試機</a:t>
            </a:r>
            <a:endParaRPr lang="en-US" altLang="zh-TW" sz="1000" dirty="0"/>
          </a:p>
          <a:p>
            <a:pPr algn="ctr"/>
            <a:r>
              <a:rPr lang="zh-TW" altLang="en-US" sz="1000" dirty="0"/>
              <a:t>面板放置後全自動剝片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38F2F00A-4B38-D456-0B63-97C9151C1E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N-Cut </a:t>
            </a:r>
            <a:r>
              <a:rPr lang="zh-TW" altLang="en-US" dirty="0"/>
              <a:t>測試開發</a:t>
            </a:r>
          </a:p>
        </p:txBody>
      </p:sp>
      <p:graphicFrame>
        <p:nvGraphicFramePr>
          <p:cNvPr id="10" name="圖表 9">
            <a:extLst>
              <a:ext uri="{FF2B5EF4-FFF2-40B4-BE49-F238E27FC236}">
                <a16:creationId xmlns:a16="http://schemas.microsoft.com/office/drawing/2014/main" id="{40E5E428-B152-8FE6-DC18-185BA923D1D6}"/>
              </a:ext>
            </a:extLst>
          </p:cNvPr>
          <p:cNvGraphicFramePr/>
          <p:nvPr/>
        </p:nvGraphicFramePr>
        <p:xfrm>
          <a:off x="382665" y="956734"/>
          <a:ext cx="5213802" cy="25130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文字方塊 13">
            <a:extLst>
              <a:ext uri="{FF2B5EF4-FFF2-40B4-BE49-F238E27FC236}">
                <a16:creationId xmlns:a16="http://schemas.microsoft.com/office/drawing/2014/main" id="{8B47FC61-7310-B260-4E49-B9B73EFE8B67}"/>
              </a:ext>
            </a:extLst>
          </p:cNvPr>
          <p:cNvSpPr txBox="1"/>
          <p:nvPr/>
        </p:nvSpPr>
        <p:spPr>
          <a:xfrm>
            <a:off x="645747" y="4594152"/>
            <a:ext cx="1614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dirty="0"/>
              <a:t>調整夾持材料</a:t>
            </a:r>
            <a:endParaRPr lang="en-US" altLang="zh-TW" sz="1000" dirty="0"/>
          </a:p>
          <a:p>
            <a:pPr algn="ctr"/>
            <a:r>
              <a:rPr lang="zh-TW" altLang="en-US" sz="1000" dirty="0"/>
              <a:t>提高夾持力度、避免滑片</a:t>
            </a:r>
          </a:p>
        </p:txBody>
      </p:sp>
      <p:pic>
        <p:nvPicPr>
          <p:cNvPr id="16" name="圖片 15">
            <a:extLst>
              <a:ext uri="{FF2B5EF4-FFF2-40B4-BE49-F238E27FC236}">
                <a16:creationId xmlns:a16="http://schemas.microsoft.com/office/drawing/2014/main" id="{B8A78DD0-C579-E633-FA15-AD34E9D27F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7192" y="3797300"/>
            <a:ext cx="876904" cy="717650"/>
          </a:xfrm>
          <a:prstGeom prst="rect">
            <a:avLst/>
          </a:prstGeom>
        </p:spPr>
      </p:pic>
      <p:pic>
        <p:nvPicPr>
          <p:cNvPr id="20" name="圖片 19">
            <a:extLst>
              <a:ext uri="{FF2B5EF4-FFF2-40B4-BE49-F238E27FC236}">
                <a16:creationId xmlns:a16="http://schemas.microsoft.com/office/drawing/2014/main" id="{D1187DD0-8C55-A061-2CD0-C9562A76C1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80574" y="3797300"/>
            <a:ext cx="1201102" cy="717650"/>
          </a:xfrm>
          <a:prstGeom prst="rect">
            <a:avLst/>
          </a:prstGeom>
          <a:scene3d>
            <a:camera prst="orthographicFront">
              <a:rot lat="1080000" lon="10800000" rev="0"/>
            </a:camera>
            <a:lightRig rig="threePt" dir="t"/>
          </a:scene3d>
        </p:spPr>
      </p:pic>
      <p:cxnSp>
        <p:nvCxnSpPr>
          <p:cNvPr id="25" name="接點: 肘形 24">
            <a:extLst>
              <a:ext uri="{FF2B5EF4-FFF2-40B4-BE49-F238E27FC236}">
                <a16:creationId xmlns:a16="http://schemas.microsoft.com/office/drawing/2014/main" id="{7A03289C-36F8-6740-F71B-9F1986FF5BFB}"/>
              </a:ext>
            </a:extLst>
          </p:cNvPr>
          <p:cNvCxnSpPr>
            <a:cxnSpLocks/>
            <a:stCxn id="11" idx="2"/>
            <a:endCxn id="21" idx="0"/>
          </p:cNvCxnSpPr>
          <p:nvPr/>
        </p:nvCxnSpPr>
        <p:spPr>
          <a:xfrm rot="5400000">
            <a:off x="1425654" y="3258312"/>
            <a:ext cx="480634" cy="425960"/>
          </a:xfrm>
          <a:prstGeom prst="bentConnector3">
            <a:avLst>
              <a:gd name="adj1" fmla="val 64092"/>
            </a:avLst>
          </a:prstGeom>
          <a:ln w="127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7" name="圖片 26">
            <a:extLst>
              <a:ext uri="{FF2B5EF4-FFF2-40B4-BE49-F238E27FC236}">
                <a16:creationId xmlns:a16="http://schemas.microsoft.com/office/drawing/2014/main" id="{1BE297C7-B14E-67AB-A30C-99C8B92ADB6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73107" y="3739114"/>
            <a:ext cx="1056818" cy="812288"/>
          </a:xfrm>
          <a:prstGeom prst="rect">
            <a:avLst/>
          </a:prstGeom>
        </p:spPr>
      </p:pic>
      <p:sp>
        <p:nvSpPr>
          <p:cNvPr id="29" name="文字方塊 28">
            <a:extLst>
              <a:ext uri="{FF2B5EF4-FFF2-40B4-BE49-F238E27FC236}">
                <a16:creationId xmlns:a16="http://schemas.microsoft.com/office/drawing/2014/main" id="{4EFDC2D2-2715-6253-6EC6-B098409E0D40}"/>
              </a:ext>
            </a:extLst>
          </p:cNvPr>
          <p:cNvSpPr txBox="1"/>
          <p:nvPr/>
        </p:nvSpPr>
        <p:spPr>
          <a:xfrm>
            <a:off x="5461723" y="4594152"/>
            <a:ext cx="161448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TW" altLang="en-US" sz="1000" b="1" dirty="0">
                <a:solidFill>
                  <a:srgbClr val="0070C0"/>
                </a:solidFill>
              </a:rPr>
              <a:t>殘邊高度</a:t>
            </a:r>
            <a:r>
              <a:rPr lang="zh-TW" altLang="en-US" sz="1000" dirty="0"/>
              <a:t>為</a:t>
            </a:r>
            <a:r>
              <a:rPr lang="zh-TW" altLang="en-US" sz="1000" dirty="0">
                <a:solidFill>
                  <a:srgbClr val="C00000"/>
                </a:solidFill>
              </a:rPr>
              <a:t>關鍵參數</a:t>
            </a:r>
            <a:endParaRPr lang="en-US" altLang="zh-TW" sz="1000" dirty="0">
              <a:solidFill>
                <a:srgbClr val="C00000"/>
              </a:solidFill>
            </a:endParaRPr>
          </a:p>
          <a:p>
            <a:pPr algn="ctr"/>
            <a:r>
              <a:rPr lang="zh-TW" altLang="en-US" sz="1000" dirty="0"/>
              <a:t>加入</a:t>
            </a:r>
            <a:r>
              <a:rPr lang="en-US" altLang="zh-TW" sz="1000" dirty="0"/>
              <a:t>Z</a:t>
            </a:r>
            <a:r>
              <a:rPr lang="zh-TW" altLang="en-US" sz="1000" dirty="0"/>
              <a:t>軸微調滑台</a:t>
            </a:r>
          </a:p>
        </p:txBody>
      </p:sp>
      <p:pic>
        <p:nvPicPr>
          <p:cNvPr id="31" name="圖片 30">
            <a:extLst>
              <a:ext uri="{FF2B5EF4-FFF2-40B4-BE49-F238E27FC236}">
                <a16:creationId xmlns:a16="http://schemas.microsoft.com/office/drawing/2014/main" id="{24B6A07A-BEA2-0C2F-BDCC-795779993C5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958" y="3745859"/>
            <a:ext cx="1019175" cy="822254"/>
          </a:xfrm>
          <a:prstGeom prst="rect">
            <a:avLst/>
          </a:prstGeom>
        </p:spPr>
      </p:pic>
      <p:cxnSp>
        <p:nvCxnSpPr>
          <p:cNvPr id="36" name="接點: 肘形 35">
            <a:extLst>
              <a:ext uri="{FF2B5EF4-FFF2-40B4-BE49-F238E27FC236}">
                <a16:creationId xmlns:a16="http://schemas.microsoft.com/office/drawing/2014/main" id="{F40B273F-B283-D225-BD16-71BCAB10C43F}"/>
              </a:ext>
            </a:extLst>
          </p:cNvPr>
          <p:cNvCxnSpPr>
            <a:cxnSpLocks/>
            <a:stCxn id="12" idx="2"/>
            <a:endCxn id="57" idx="0"/>
          </p:cNvCxnSpPr>
          <p:nvPr/>
        </p:nvCxnSpPr>
        <p:spPr>
          <a:xfrm rot="16200000" flipH="1">
            <a:off x="3245252" y="3104346"/>
            <a:ext cx="471378" cy="723527"/>
          </a:xfrm>
          <a:prstGeom prst="bentConnector3">
            <a:avLst>
              <a:gd name="adj1" fmla="val 66165"/>
            </a:avLst>
          </a:prstGeom>
          <a:ln w="12700">
            <a:solidFill>
              <a:schemeClr val="accent3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41" name="接點: 肘形 40">
            <a:extLst>
              <a:ext uri="{FF2B5EF4-FFF2-40B4-BE49-F238E27FC236}">
                <a16:creationId xmlns:a16="http://schemas.microsoft.com/office/drawing/2014/main" id="{4EB1846D-3604-DDF0-C867-8929EF7D2DBC}"/>
              </a:ext>
            </a:extLst>
          </p:cNvPr>
          <p:cNvCxnSpPr>
            <a:cxnSpLocks/>
            <a:stCxn id="37" idx="2"/>
            <a:endCxn id="64" idx="1"/>
          </p:cNvCxnSpPr>
          <p:nvPr/>
        </p:nvCxnSpPr>
        <p:spPr>
          <a:xfrm rot="5400000" flipH="1" flipV="1">
            <a:off x="4431740" y="1769523"/>
            <a:ext cx="1412807" cy="1508989"/>
          </a:xfrm>
          <a:prstGeom prst="bentConnector4">
            <a:avLst>
              <a:gd name="adj1" fmla="val -10188"/>
              <a:gd name="adj2" fmla="val 87147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8" name="圖片 57">
            <a:extLst>
              <a:ext uri="{FF2B5EF4-FFF2-40B4-BE49-F238E27FC236}">
                <a16:creationId xmlns:a16="http://schemas.microsoft.com/office/drawing/2014/main" id="{2F62459B-3D97-C957-C568-BF8E86F1301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10322"/>
          <a:stretch/>
        </p:blipFill>
        <p:spPr>
          <a:xfrm>
            <a:off x="6063672" y="282328"/>
            <a:ext cx="2688925" cy="2573171"/>
          </a:xfrm>
          <a:prstGeom prst="rect">
            <a:avLst/>
          </a:prstGeom>
        </p:spPr>
      </p:pic>
      <p:sp>
        <p:nvSpPr>
          <p:cNvPr id="60" name="文字方塊 59">
            <a:extLst>
              <a:ext uri="{FF2B5EF4-FFF2-40B4-BE49-F238E27FC236}">
                <a16:creationId xmlns:a16="http://schemas.microsoft.com/office/drawing/2014/main" id="{DEFC34A2-B5CA-8571-0942-45BD037CAC9A}"/>
              </a:ext>
            </a:extLst>
          </p:cNvPr>
          <p:cNvSpPr txBox="1"/>
          <p:nvPr/>
        </p:nvSpPr>
        <p:spPr>
          <a:xfrm>
            <a:off x="6148637" y="2879449"/>
            <a:ext cx="26039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00" dirty="0"/>
              <a:t>批量測試、獲取製程參數</a:t>
            </a:r>
            <a:endParaRPr lang="en-US" altLang="zh-TW" sz="1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altLang="zh-TW" sz="1000" dirty="0"/>
              <a:t>Z</a:t>
            </a:r>
            <a:r>
              <a:rPr lang="zh-TW" altLang="en-US" sz="1000" dirty="0"/>
              <a:t>軸高度差：</a:t>
            </a:r>
            <a:r>
              <a:rPr lang="en-US" altLang="zh-TW" sz="1000" dirty="0"/>
              <a:t>0.3+-0.1mm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zh-TW" altLang="en-US" sz="1000" dirty="0"/>
              <a:t>刀輪壓力：</a:t>
            </a:r>
            <a:r>
              <a:rPr lang="en-US" altLang="zh-TW" sz="1000" dirty="0"/>
              <a:t>100~130gf</a:t>
            </a:r>
          </a:p>
        </p:txBody>
      </p:sp>
      <p:sp>
        <p:nvSpPr>
          <p:cNvPr id="64" name="矩形 63">
            <a:extLst>
              <a:ext uri="{FF2B5EF4-FFF2-40B4-BE49-F238E27FC236}">
                <a16:creationId xmlns:a16="http://schemas.microsoft.com/office/drawing/2014/main" id="{535DC0B5-D9F4-6989-8F23-D5A29D9F02DE}"/>
              </a:ext>
            </a:extLst>
          </p:cNvPr>
          <p:cNvSpPr/>
          <p:nvPr/>
        </p:nvSpPr>
        <p:spPr>
          <a:xfrm>
            <a:off x="5892639" y="177831"/>
            <a:ext cx="2968130" cy="3279566"/>
          </a:xfrm>
          <a:prstGeom prst="rect">
            <a:avLst/>
          </a:prstGeom>
          <a:noFill/>
          <a:ln w="9525">
            <a:solidFill>
              <a:schemeClr val="accent1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cxnSp>
        <p:nvCxnSpPr>
          <p:cNvPr id="39" name="接點: 肘形 35">
            <a:extLst>
              <a:ext uri="{FF2B5EF4-FFF2-40B4-BE49-F238E27FC236}">
                <a16:creationId xmlns:a16="http://schemas.microsoft.com/office/drawing/2014/main" id="{F40B273F-B283-D225-BD16-71BCAB10C43F}"/>
              </a:ext>
            </a:extLst>
          </p:cNvPr>
          <p:cNvCxnSpPr>
            <a:cxnSpLocks/>
            <a:stCxn id="37" idx="2"/>
            <a:endCxn id="33" idx="0"/>
          </p:cNvCxnSpPr>
          <p:nvPr/>
        </p:nvCxnSpPr>
        <p:spPr>
          <a:xfrm rot="16200000" flipH="1">
            <a:off x="5090076" y="2523994"/>
            <a:ext cx="472465" cy="1885317"/>
          </a:xfrm>
          <a:prstGeom prst="bentConnector3">
            <a:avLst>
              <a:gd name="adj1" fmla="val 69712"/>
            </a:avLst>
          </a:prstGeom>
          <a:ln w="12700"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59" name="圖片 58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862877" y="3756908"/>
            <a:ext cx="972158" cy="854178"/>
          </a:xfrm>
          <a:prstGeom prst="rect">
            <a:avLst/>
          </a:prstGeom>
        </p:spPr>
      </p:pic>
      <p:pic>
        <p:nvPicPr>
          <p:cNvPr id="62" name="圖片 6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873465" y="3756908"/>
            <a:ext cx="927501" cy="873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5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3BE0376-D349-8B0A-9511-295F9C09F5B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成本分析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4720435F-A2EA-B939-DB9A-84EBE991B34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8290561"/>
              </p:ext>
            </p:extLst>
          </p:nvPr>
        </p:nvGraphicFramePr>
        <p:xfrm>
          <a:off x="260886" y="1175184"/>
          <a:ext cx="2438772" cy="13261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5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4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0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401W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7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703.9W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5" name="表格 4">
            <a:extLst>
              <a:ext uri="{FF2B5EF4-FFF2-40B4-BE49-F238E27FC236}">
                <a16:creationId xmlns:a16="http://schemas.microsoft.com/office/drawing/2014/main" id="{94ECBD4F-C4DD-1124-B4DE-24C695ED5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3010133"/>
              </p:ext>
            </p:extLst>
          </p:nvPr>
        </p:nvGraphicFramePr>
        <p:xfrm>
          <a:off x="278994" y="2598395"/>
          <a:ext cx="2250156" cy="51097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473">
                <a:tc>
                  <a:txBody>
                    <a:bodyPr/>
                    <a:lstStyle/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Payback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估算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3.8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年</a:t>
                      </a:r>
                      <a:endParaRPr lang="en-US" altLang="zh-TW" sz="1100" b="1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marL="0" marR="0" lvl="0" indent="0" algn="ctr" defTabSz="685783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703.9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*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0.9/187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議價後*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人力金額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zh-TW" sz="1100" b="1" i="0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057" marR="8057" marT="80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表格 6">
            <a:extLst>
              <a:ext uri="{FF2B5EF4-FFF2-40B4-BE49-F238E27FC236}">
                <a16:creationId xmlns:a16="http://schemas.microsoft.com/office/drawing/2014/main" id="{C11970FC-28BB-2460-D6D5-3E999B50003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58720"/>
              </p:ext>
            </p:extLst>
          </p:nvPr>
        </p:nvGraphicFramePr>
        <p:xfrm>
          <a:off x="3279895" y="1175182"/>
          <a:ext cx="2438772" cy="13261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5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4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0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7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593.9W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7E32C1A9-518C-1CFC-C349-0EDBD1AB46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332036"/>
              </p:ext>
            </p:extLst>
          </p:nvPr>
        </p:nvGraphicFramePr>
        <p:xfrm>
          <a:off x="3392311" y="2593292"/>
          <a:ext cx="2250156" cy="51097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Payback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估算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2.85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年  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593.9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*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0.9/187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TW" altLang="en-US" sz="1100" b="1" i="0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議價後*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人力金額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zh-TW" sz="1100" b="1" i="0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057" marR="8057" marT="80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9" name="箭號: 向下 8">
            <a:extLst>
              <a:ext uri="{FF2B5EF4-FFF2-40B4-BE49-F238E27FC236}">
                <a16:creationId xmlns:a16="http://schemas.microsoft.com/office/drawing/2014/main" id="{50675F44-2778-A41F-6EED-4A8FD27C2A1A}"/>
              </a:ext>
            </a:extLst>
          </p:cNvPr>
          <p:cNvSpPr/>
          <p:nvPr/>
        </p:nvSpPr>
        <p:spPr>
          <a:xfrm rot="16200000">
            <a:off x="2686065" y="1755162"/>
            <a:ext cx="607423" cy="49017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4DB5020A-DDBA-31B8-C773-4075A0B8A9D1}"/>
              </a:ext>
            </a:extLst>
          </p:cNvPr>
          <p:cNvSpPr txBox="1"/>
          <p:nvPr/>
        </p:nvSpPr>
        <p:spPr>
          <a:xfrm>
            <a:off x="3650415" y="3286058"/>
            <a:ext cx="19920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軟體</a:t>
            </a:r>
            <a:r>
              <a:rPr lang="en-US" altLang="zh-TW" dirty="0"/>
              <a:t>AMC</a:t>
            </a:r>
            <a:r>
              <a:rPr lang="zh-TW" altLang="en-US" dirty="0"/>
              <a:t>自行開發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自行安裝與調機</a:t>
            </a:r>
          </a:p>
        </p:txBody>
      </p:sp>
      <p:sp>
        <p:nvSpPr>
          <p:cNvPr id="13" name="箭號: 向下 12">
            <a:extLst>
              <a:ext uri="{FF2B5EF4-FFF2-40B4-BE49-F238E27FC236}">
                <a16:creationId xmlns:a16="http://schemas.microsoft.com/office/drawing/2014/main" id="{3651BBE4-4B63-14C2-74DC-601FD4856A2E}"/>
              </a:ext>
            </a:extLst>
          </p:cNvPr>
          <p:cNvSpPr/>
          <p:nvPr/>
        </p:nvSpPr>
        <p:spPr>
          <a:xfrm rot="16200000">
            <a:off x="5758106" y="1755162"/>
            <a:ext cx="607423" cy="490174"/>
          </a:xfrm>
          <a:prstGeom prst="down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E0E15AD5-F5B9-996B-B9A4-967C62CBC60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72244237"/>
              </p:ext>
            </p:extLst>
          </p:nvPr>
        </p:nvGraphicFramePr>
        <p:xfrm>
          <a:off x="6404968" y="1175182"/>
          <a:ext cx="2438772" cy="132619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193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38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695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2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2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54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80W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6821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62W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408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FF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185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447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25W</a:t>
                      </a:r>
                    </a:p>
                  </a:txBody>
                  <a:tcPr marL="9525" marR="9525" marT="9525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71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352W</a:t>
                      </a:r>
                    </a:p>
                  </a:txBody>
                  <a:tcPr marL="9525" marR="9525" marT="9525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6" name="表格 15">
            <a:extLst>
              <a:ext uri="{FF2B5EF4-FFF2-40B4-BE49-F238E27FC236}">
                <a16:creationId xmlns:a16="http://schemas.microsoft.com/office/drawing/2014/main" id="{2CEECE31-2566-FBAA-1C2F-DF15E380B9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78375128"/>
              </p:ext>
            </p:extLst>
          </p:nvPr>
        </p:nvGraphicFramePr>
        <p:xfrm>
          <a:off x="6415564" y="2593292"/>
          <a:ext cx="2250156" cy="510977"/>
        </p:xfrm>
        <a:graphic>
          <a:graphicData uri="http://schemas.openxmlformats.org/drawingml/2006/table">
            <a:tbl>
              <a:tblPr firstRow="1" bandRow="1">
                <a:tableStyleId>{B301B821-A1FF-4177-AEE7-76D212191A09}</a:tableStyleId>
              </a:tblPr>
              <a:tblGrid>
                <a:gridCol w="22501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43473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Payback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估算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1.68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年   </a:t>
                      </a:r>
                      <a:endParaRPr lang="en-US" altLang="zh-TW" sz="1100" b="1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352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*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0.9/187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zh-TW" altLang="en-US" sz="1100" b="1" i="0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(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議價後* 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0.9/ </a:t>
                      </a:r>
                      <a:r>
                        <a:rPr lang="zh-TW" altLang="en-US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人力金額</a:t>
                      </a:r>
                      <a:r>
                        <a:rPr lang="en-US" altLang="zh-TW" sz="1100" b="1" u="none" strike="noStrike" dirty="0">
                          <a:solidFill>
                            <a:srgbClr val="0000F7"/>
                          </a:solidFill>
                          <a:effectLst/>
                          <a:latin typeface="+mn-lt"/>
                          <a:ea typeface="+mn-ea"/>
                        </a:rPr>
                        <a:t>)</a:t>
                      </a:r>
                      <a:endParaRPr lang="en-US" altLang="zh-TW" sz="1100" b="1" i="0" u="none" strike="noStrike" dirty="0">
                        <a:solidFill>
                          <a:srgbClr val="0000F7"/>
                        </a:solidFill>
                        <a:effectLst/>
                        <a:latin typeface="+mn-lt"/>
                        <a:ea typeface="+mn-ea"/>
                      </a:endParaRPr>
                    </a:p>
                  </a:txBody>
                  <a:tcPr marL="8057" marR="8057" marT="8057" marB="0" anchor="ctr"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7" name="文字方塊 16">
            <a:extLst>
              <a:ext uri="{FF2B5EF4-FFF2-40B4-BE49-F238E27FC236}">
                <a16:creationId xmlns:a16="http://schemas.microsoft.com/office/drawing/2014/main" id="{82EC1060-4805-1F44-E1F6-21B156E318E9}"/>
              </a:ext>
            </a:extLst>
          </p:cNvPr>
          <p:cNvSpPr txBox="1"/>
          <p:nvPr/>
        </p:nvSpPr>
        <p:spPr>
          <a:xfrm>
            <a:off x="6793809" y="3229654"/>
            <a:ext cx="199205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資產活化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簡化架構</a:t>
            </a:r>
            <a:endParaRPr lang="en-US" altLang="zh-TW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dirty="0"/>
              <a:t>替代料件</a:t>
            </a: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F03DE3AE-6C5F-F227-87D1-C3EBFDF61AB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649" y="331532"/>
            <a:ext cx="5273497" cy="5121084"/>
          </a:xfrm>
          <a:prstGeom prst="rect">
            <a:avLst/>
          </a:prstGeom>
        </p:spPr>
      </p:pic>
      <p:pic>
        <p:nvPicPr>
          <p:cNvPr id="18" name="圖片 17">
            <a:extLst>
              <a:ext uri="{FF2B5EF4-FFF2-40B4-BE49-F238E27FC236}">
                <a16:creationId xmlns:a16="http://schemas.microsoft.com/office/drawing/2014/main" id="{D579CB80-2BE9-AB8C-58C5-91F4928188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87249" y="3194958"/>
            <a:ext cx="1763166" cy="1905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7085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1D7B86-A3D3-15BC-2DDF-ABFA31233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Cost down - </a:t>
            </a:r>
            <a:r>
              <a:rPr lang="zh-TW" altLang="en-US" dirty="0"/>
              <a:t>自動剝片硬體機構</a:t>
            </a:r>
            <a:br>
              <a:rPr lang="zh-TW" altLang="en-US" sz="3300" b="1" dirty="0">
                <a:solidFill>
                  <a:srgbClr val="000000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</a:b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865CB7BA-0881-156D-9B1F-461F4733C8A0}"/>
              </a:ext>
            </a:extLst>
          </p:cNvPr>
          <p:cNvGraphicFramePr>
            <a:graphicFrameLocks noGrp="1"/>
          </p:cNvGraphicFramePr>
          <p:nvPr/>
        </p:nvGraphicFramePr>
        <p:xfrm>
          <a:off x="478149" y="2044371"/>
          <a:ext cx="2294890" cy="19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18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6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593.9W</a:t>
                      </a:r>
                    </a:p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不含軟體及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保固人工時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100hr)</a:t>
                      </a: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A2EC01E9-F478-CDBE-0FF5-6D1A85A215A3}"/>
              </a:ext>
            </a:extLst>
          </p:cNvPr>
          <p:cNvSpPr/>
          <p:nvPr/>
        </p:nvSpPr>
        <p:spPr>
          <a:xfrm>
            <a:off x="532363" y="2413000"/>
            <a:ext cx="2091872" cy="158750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FA1383B4-4A38-520A-8D70-6BCCF5B0D3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2322375"/>
              </p:ext>
            </p:extLst>
          </p:nvPr>
        </p:nvGraphicFramePr>
        <p:xfrm>
          <a:off x="3992068" y="1341306"/>
          <a:ext cx="5023268" cy="204593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558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9858">
                  <a:extLst>
                    <a:ext uri="{9D8B030D-6E8A-4147-A177-3AD203B41FA5}">
                      <a16:colId xmlns:a16="http://schemas.microsoft.com/office/drawing/2014/main" val="1178922696"/>
                    </a:ext>
                  </a:extLst>
                </a:gridCol>
                <a:gridCol w="68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5099">
                  <a:extLst>
                    <a:ext uri="{9D8B030D-6E8A-4147-A177-3AD203B41FA5}">
                      <a16:colId xmlns:a16="http://schemas.microsoft.com/office/drawing/2014/main" val="3599095029"/>
                    </a:ext>
                  </a:extLst>
                </a:gridCol>
              </a:tblGrid>
              <a:tr h="41059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類別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Before</a:t>
                      </a: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After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備註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543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TM12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90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HY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資產活化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已預定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543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機構件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鋁擠、汽缸、吸嘴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(HY 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資產活化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7/31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拆機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2914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電控件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軸驅動馬達、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HMI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(AMR500</a:t>
                      </a:r>
                      <a:r>
                        <a:rPr lang="zh-TW" altLang="en-US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資產活化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PLC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、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Power 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、電磁閥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(HY 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資產活化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7/31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拆機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747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組裝、配電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運費、場地費、電線耗材、整新費用</a:t>
                      </a:r>
                      <a:endParaRPr lang="en-US" altLang="zh-TW" sz="1000" b="1" i="0" u="none" strike="noStrike" dirty="0">
                        <a:solidFill>
                          <a:schemeClr val="tx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8376">
                <a:tc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80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AMC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自行組裝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47E66946-DD9C-60DB-7809-DB6C7ACDA775}"/>
              </a:ext>
            </a:extLst>
          </p:cNvPr>
          <p:cNvCxnSpPr>
            <a:cxnSpLocks/>
          </p:cNvCxnSpPr>
          <p:nvPr/>
        </p:nvCxnSpPr>
        <p:spPr>
          <a:xfrm flipV="1">
            <a:off x="2624235" y="1341306"/>
            <a:ext cx="1367832" cy="11510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15179CF2-0349-18AB-BA75-A9F31EF72BDE}"/>
              </a:ext>
            </a:extLst>
          </p:cNvPr>
          <p:cNvCxnSpPr/>
          <p:nvPr/>
        </p:nvCxnSpPr>
        <p:spPr>
          <a:xfrm>
            <a:off x="2624235" y="2492375"/>
            <a:ext cx="1367832" cy="94705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圖片 6">
            <a:extLst>
              <a:ext uri="{FF2B5EF4-FFF2-40B4-BE49-F238E27FC236}">
                <a16:creationId xmlns:a16="http://schemas.microsoft.com/office/drawing/2014/main" id="{A4DE048C-E02D-B2B8-8FF4-69612A817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92067" y="3589086"/>
            <a:ext cx="1577627" cy="1453237"/>
          </a:xfrm>
          <a:prstGeom prst="rect">
            <a:avLst/>
          </a:prstGeom>
        </p:spPr>
      </p:pic>
      <p:pic>
        <p:nvPicPr>
          <p:cNvPr id="11" name="圖片 10">
            <a:extLst>
              <a:ext uri="{FF2B5EF4-FFF2-40B4-BE49-F238E27FC236}">
                <a16:creationId xmlns:a16="http://schemas.microsoft.com/office/drawing/2014/main" id="{A32F314C-DC48-C732-C0B2-0F31C64D73C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3976" y="3582828"/>
            <a:ext cx="1233213" cy="1469215"/>
          </a:xfrm>
          <a:prstGeom prst="rect">
            <a:avLst/>
          </a:prstGeom>
        </p:spPr>
      </p:pic>
      <p:sp>
        <p:nvSpPr>
          <p:cNvPr id="13" name="文字方塊 12">
            <a:extLst>
              <a:ext uri="{FF2B5EF4-FFF2-40B4-BE49-F238E27FC236}">
                <a16:creationId xmlns:a16="http://schemas.microsoft.com/office/drawing/2014/main" id="{2CA8EA4C-9CFE-1635-058E-E7A079083D55}"/>
              </a:ext>
            </a:extLst>
          </p:cNvPr>
          <p:cNvSpPr txBox="1"/>
          <p:nvPr/>
        </p:nvSpPr>
        <p:spPr>
          <a:xfrm>
            <a:off x="5529506" y="3340817"/>
            <a:ext cx="5142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050" dirty="0">
                <a:solidFill>
                  <a:srgbClr val="2727F5"/>
                </a:solidFill>
              </a:rPr>
              <a:t>-120</a:t>
            </a:r>
            <a:endParaRPr lang="zh-TW" altLang="en-US" sz="1050" dirty="0">
              <a:solidFill>
                <a:srgbClr val="2727F5"/>
              </a:solidFill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8E27567E-B42C-6CE3-05B7-927940549B87}"/>
              </a:ext>
            </a:extLst>
          </p:cNvPr>
          <p:cNvSpPr txBox="1"/>
          <p:nvPr/>
        </p:nvSpPr>
        <p:spPr>
          <a:xfrm>
            <a:off x="7077189" y="4254467"/>
            <a:ext cx="19381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28588" indent="-128588">
              <a:buFont typeface="Arial" panose="020B0604020202020204" pitchFamily="34" charset="0"/>
              <a:buChar char="•"/>
            </a:pPr>
            <a:r>
              <a:rPr lang="zh-TW" altLang="en-US" sz="1000" dirty="0"/>
              <a:t>鋁擠</a:t>
            </a:r>
            <a:r>
              <a:rPr lang="en-US" altLang="zh-TW" sz="1000" dirty="0"/>
              <a:t>+</a:t>
            </a:r>
            <a:r>
              <a:rPr lang="zh-TW" altLang="en-US" sz="1000" dirty="0"/>
              <a:t>模組化設計</a:t>
            </a:r>
            <a:endParaRPr lang="en-US" altLang="zh-TW" sz="1000" dirty="0"/>
          </a:p>
          <a:p>
            <a:pPr marL="128588" indent="-128588">
              <a:buFont typeface="Arial" panose="020B0604020202020204" pitchFamily="34" charset="0"/>
              <a:buChar char="•"/>
            </a:pPr>
            <a:r>
              <a:rPr lang="zh-TW" altLang="en-US" sz="1000" dirty="0"/>
              <a:t>輸送帶與</a:t>
            </a:r>
            <a:r>
              <a:rPr lang="en-US" altLang="zh-TW" sz="1000" dirty="0"/>
              <a:t>Robot </a:t>
            </a:r>
            <a:r>
              <a:rPr lang="zh-TW" altLang="en-US" sz="1000" dirty="0"/>
              <a:t>可二次活化</a:t>
            </a:r>
          </a:p>
        </p:txBody>
      </p:sp>
    </p:spTree>
    <p:extLst>
      <p:ext uri="{BB962C8B-B14F-4D97-AF65-F5344CB8AC3E}">
        <p14:creationId xmlns:p14="http://schemas.microsoft.com/office/powerpoint/2010/main" val="25858755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630194F-AD5E-D05B-962E-73990D5E6C4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Cost down –</a:t>
            </a:r>
            <a:r>
              <a:rPr lang="zh-TW" altLang="en-US" dirty="0"/>
              <a:t> 分流機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04576014-C981-1B1D-DEFB-A51C442B51B6}"/>
              </a:ext>
            </a:extLst>
          </p:cNvPr>
          <p:cNvGraphicFramePr>
            <a:graphicFrameLocks noGrp="1"/>
          </p:cNvGraphicFramePr>
          <p:nvPr/>
        </p:nvGraphicFramePr>
        <p:xfrm>
          <a:off x="394173" y="2058367"/>
          <a:ext cx="2294890" cy="19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18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6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593.9W</a:t>
                      </a:r>
                    </a:p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不含軟體及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保固人工時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100hr)</a:t>
                      </a: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4B2FBA73-52AB-E760-DABB-8E67C7D23E9E}"/>
              </a:ext>
            </a:extLst>
          </p:cNvPr>
          <p:cNvSpPr/>
          <p:nvPr/>
        </p:nvSpPr>
        <p:spPr>
          <a:xfrm>
            <a:off x="495682" y="2867664"/>
            <a:ext cx="2091872" cy="158750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graphicFrame>
        <p:nvGraphicFramePr>
          <p:cNvPr id="6" name="表格 5">
            <a:extLst>
              <a:ext uri="{FF2B5EF4-FFF2-40B4-BE49-F238E27FC236}">
                <a16:creationId xmlns:a16="http://schemas.microsoft.com/office/drawing/2014/main" id="{3E60A73A-BE9C-141A-8977-CB07164171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615078"/>
              </p:ext>
            </p:extLst>
          </p:nvPr>
        </p:nvGraphicFramePr>
        <p:xfrm>
          <a:off x="3353563" y="1999987"/>
          <a:ext cx="5607558" cy="2196865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2593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9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6325">
                  <a:extLst>
                    <a:ext uri="{9D8B030D-6E8A-4147-A177-3AD203B41FA5}">
                      <a16:colId xmlns:a16="http://schemas.microsoft.com/office/drawing/2014/main" val="2557529837"/>
                    </a:ext>
                  </a:extLst>
                </a:gridCol>
                <a:gridCol w="2726975">
                  <a:extLst>
                    <a:ext uri="{9D8B030D-6E8A-4147-A177-3AD203B41FA5}">
                      <a16:colId xmlns:a16="http://schemas.microsoft.com/office/drawing/2014/main" val="3599095029"/>
                    </a:ext>
                  </a:extLst>
                </a:gridCol>
              </a:tblGrid>
              <a:tr h="265419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類別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Before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After</a:t>
                      </a: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備註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809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加工件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46.3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40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尋找第二間統包商詢價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marL="342900" marR="0" lvl="0" indent="-34290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自行發包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板金、加工、鋁擠分開發包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4412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市構件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94.3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AutoNum type="arabicPeriod"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場內資產活化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目前已找到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2D reader 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可減少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-22.2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萬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  <a:p>
                      <a:pPr marL="342900" indent="-342900" algn="l" fontAlgn="ctr">
                        <a:buAutoNum type="arabicPeriod"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檢討馬達控制系統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8092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電控件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17.2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AMC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自行開發軟體，重複報價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223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組裝、配電、保固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40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2">
                              <a:lumMod val="95000"/>
                              <a:lumOff val="5000"/>
                            </a:schemeClr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尋找其他組裝廠詢價 </a:t>
                      </a:r>
                      <a:endParaRPr lang="en-US" altLang="zh-TW" sz="1000" b="1" i="0" u="none" strike="noStrike" dirty="0">
                        <a:solidFill>
                          <a:schemeClr val="tx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41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管銷、利潤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92.6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50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採購空間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4132923"/>
                  </a:ext>
                </a:extLst>
              </a:tr>
              <a:tr h="367414">
                <a:tc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185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圖片 7">
            <a:extLst>
              <a:ext uri="{FF2B5EF4-FFF2-40B4-BE49-F238E27FC236}">
                <a16:creationId xmlns:a16="http://schemas.microsoft.com/office/drawing/2014/main" id="{5588AAEE-01FD-37A9-2785-8294E97CBF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6170" y="135158"/>
            <a:ext cx="1044229" cy="1775587"/>
          </a:xfrm>
          <a:prstGeom prst="rect">
            <a:avLst/>
          </a:prstGeom>
        </p:spPr>
      </p:pic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951B3EF0-1EC7-7C10-8222-5710A4728AF7}"/>
              </a:ext>
            </a:extLst>
          </p:cNvPr>
          <p:cNvCxnSpPr>
            <a:cxnSpLocks/>
          </p:cNvCxnSpPr>
          <p:nvPr/>
        </p:nvCxnSpPr>
        <p:spPr>
          <a:xfrm flipV="1">
            <a:off x="2587554" y="1999987"/>
            <a:ext cx="766008" cy="86767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線單箭頭接點 12">
            <a:extLst>
              <a:ext uri="{FF2B5EF4-FFF2-40B4-BE49-F238E27FC236}">
                <a16:creationId xmlns:a16="http://schemas.microsoft.com/office/drawing/2014/main" id="{26F501A6-9D27-321E-0777-574778608E6B}"/>
              </a:ext>
            </a:extLst>
          </p:cNvPr>
          <p:cNvCxnSpPr>
            <a:cxnSpLocks/>
          </p:cNvCxnSpPr>
          <p:nvPr/>
        </p:nvCxnSpPr>
        <p:spPr>
          <a:xfrm>
            <a:off x="2587554" y="3013039"/>
            <a:ext cx="766008" cy="11838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文字方塊 8">
            <a:extLst>
              <a:ext uri="{FF2B5EF4-FFF2-40B4-BE49-F238E27FC236}">
                <a16:creationId xmlns:a16="http://schemas.microsoft.com/office/drawing/2014/main" id="{03E45916-F1DF-9193-8163-799373DF2E1E}"/>
              </a:ext>
            </a:extLst>
          </p:cNvPr>
          <p:cNvSpPr txBox="1"/>
          <p:nvPr/>
        </p:nvSpPr>
        <p:spPr>
          <a:xfrm>
            <a:off x="7010399" y="1484906"/>
            <a:ext cx="1639859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050" b="1" dirty="0"/>
              <a:t>專用 </a:t>
            </a:r>
            <a:r>
              <a:rPr lang="en-US" altLang="zh-TW" sz="1050" b="1" dirty="0"/>
              <a:t>2Dreader </a:t>
            </a:r>
            <a:r>
              <a:rPr lang="en-US" altLang="zh-TW" sz="1050" b="1" dirty="0">
                <a:sym typeface="Wingdings" panose="05000000000000000000" pitchFamily="2" charset="2"/>
              </a:rPr>
              <a:t></a:t>
            </a:r>
            <a:r>
              <a:rPr lang="en-US" altLang="zh-TW" sz="1050" b="1" dirty="0"/>
              <a:t> 22</a:t>
            </a:r>
            <a:r>
              <a:rPr lang="zh-TW" altLang="en-US" sz="1050" b="1" dirty="0"/>
              <a:t>萬</a:t>
            </a:r>
            <a:endParaRPr lang="en-US" altLang="zh-TW" sz="1050" b="1" dirty="0"/>
          </a:p>
          <a:p>
            <a:r>
              <a:rPr lang="en-US" altLang="zh-TW" sz="1050" b="1" dirty="0"/>
              <a:t>HY</a:t>
            </a:r>
            <a:r>
              <a:rPr lang="zh-TW" altLang="en-US" sz="1050" b="1" dirty="0"/>
              <a:t> 資產活化</a:t>
            </a:r>
            <a:endParaRPr lang="zh-TW" altLang="en-US" sz="1050" dirty="0"/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3021E5A-477E-4A41-F115-45F594EA53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6324" y="98011"/>
            <a:ext cx="1416027" cy="1481491"/>
          </a:xfrm>
          <a:prstGeom prst="rect">
            <a:avLst/>
          </a:prstGeom>
        </p:spPr>
      </p:pic>
      <p:graphicFrame>
        <p:nvGraphicFramePr>
          <p:cNvPr id="18" name="物件 17">
            <a:extLst>
              <a:ext uri="{FF2B5EF4-FFF2-40B4-BE49-F238E27FC236}">
                <a16:creationId xmlns:a16="http://schemas.microsoft.com/office/drawing/2014/main" id="{9C82C839-2D35-B6A3-B774-FA4065C1DCC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56255790"/>
              </p:ext>
            </p:extLst>
          </p:nvPr>
        </p:nvGraphicFramePr>
        <p:xfrm>
          <a:off x="38482" y="3981883"/>
          <a:ext cx="914400" cy="7699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showAsIcon="1" r:id="rId4" imgW="914400" imgH="769510" progId="Excel.Sheet.12">
                  <p:embed/>
                </p:oleObj>
              </mc:Choice>
              <mc:Fallback>
                <p:oleObj name="Worksheet" showAsIcon="1" r:id="rId4" imgW="914400" imgH="769510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8482" y="3981883"/>
                        <a:ext cx="914400" cy="7699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15" name="圖片 14">
            <a:extLst>
              <a:ext uri="{FF2B5EF4-FFF2-40B4-BE49-F238E27FC236}">
                <a16:creationId xmlns:a16="http://schemas.microsoft.com/office/drawing/2014/main" id="{E37AA807-FC7F-AF36-9967-3B456A398A4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897" y="4638077"/>
            <a:ext cx="8644483" cy="227486"/>
          </a:xfrm>
          <a:prstGeom prst="rect">
            <a:avLst/>
          </a:prstGeom>
        </p:spPr>
      </p:pic>
      <p:pic>
        <p:nvPicPr>
          <p:cNvPr id="17" name="圖片 16">
            <a:extLst>
              <a:ext uri="{FF2B5EF4-FFF2-40B4-BE49-F238E27FC236}">
                <a16:creationId xmlns:a16="http://schemas.microsoft.com/office/drawing/2014/main" id="{9C1F314F-7D02-F5A4-ADE8-645873D13E4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897" y="4879735"/>
            <a:ext cx="8644483" cy="128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842120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C998AB-F90B-DF21-9472-DE926FEBC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799616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矩形 60"/>
          <p:cNvSpPr/>
          <p:nvPr/>
        </p:nvSpPr>
        <p:spPr>
          <a:xfrm>
            <a:off x="1914569" y="4304685"/>
            <a:ext cx="3750464" cy="202065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050" b="1" dirty="0">
                <a:solidFill>
                  <a:schemeClr val="tx1"/>
                </a:solidFill>
              </a:rPr>
              <a:t>載台滑台</a:t>
            </a:r>
          </a:p>
        </p:txBody>
      </p:sp>
      <p:grpSp>
        <p:nvGrpSpPr>
          <p:cNvPr id="34" name="群組 33"/>
          <p:cNvGrpSpPr/>
          <p:nvPr/>
        </p:nvGrpSpPr>
        <p:grpSpPr>
          <a:xfrm rot="10800000">
            <a:off x="1272402" y="3126169"/>
            <a:ext cx="2293922" cy="578311"/>
            <a:chOff x="1539549" y="3368484"/>
            <a:chExt cx="2293922" cy="578311"/>
          </a:xfrm>
        </p:grpSpPr>
        <p:grpSp>
          <p:nvGrpSpPr>
            <p:cNvPr id="35" name="群組 34"/>
            <p:cNvGrpSpPr/>
            <p:nvPr/>
          </p:nvGrpSpPr>
          <p:grpSpPr>
            <a:xfrm>
              <a:off x="1749090" y="3490725"/>
              <a:ext cx="1818035" cy="456070"/>
              <a:chOff x="1079612" y="2390193"/>
              <a:chExt cx="1818035" cy="456070"/>
            </a:xfrm>
          </p:grpSpPr>
          <p:sp>
            <p:nvSpPr>
              <p:cNvPr id="39" name="矩形 38"/>
              <p:cNvSpPr/>
              <p:nvPr/>
            </p:nvSpPr>
            <p:spPr>
              <a:xfrm>
                <a:off x="1169455" y="2607754"/>
                <a:ext cx="1656184" cy="1440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0" name="橢圓 39"/>
              <p:cNvSpPr/>
              <p:nvPr/>
            </p:nvSpPr>
            <p:spPr>
              <a:xfrm>
                <a:off x="1817527" y="2390193"/>
                <a:ext cx="360040" cy="36004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1" name="矩形 40"/>
              <p:cNvSpPr/>
              <p:nvPr/>
            </p:nvSpPr>
            <p:spPr>
              <a:xfrm>
                <a:off x="1331305" y="2486223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2" name="矩形 41"/>
              <p:cNvSpPr/>
              <p:nvPr/>
            </p:nvSpPr>
            <p:spPr>
              <a:xfrm>
                <a:off x="2591780" y="2486223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43" name="矩形 42"/>
              <p:cNvSpPr/>
              <p:nvPr/>
            </p:nvSpPr>
            <p:spPr>
              <a:xfrm>
                <a:off x="1079612" y="2405249"/>
                <a:ext cx="1818035" cy="8097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6" name="群組 35"/>
            <p:cNvGrpSpPr/>
            <p:nvPr/>
          </p:nvGrpSpPr>
          <p:grpSpPr>
            <a:xfrm>
              <a:off x="1539549" y="3368484"/>
              <a:ext cx="2293922" cy="137297"/>
              <a:chOff x="848486" y="2262673"/>
              <a:chExt cx="2293922" cy="137297"/>
            </a:xfrm>
          </p:grpSpPr>
          <p:sp>
            <p:nvSpPr>
              <p:cNvPr id="37" name="圓角矩形 36"/>
              <p:cNvSpPr/>
              <p:nvPr/>
            </p:nvSpPr>
            <p:spPr>
              <a:xfrm>
                <a:off x="848486" y="226267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8" name="直線接點 37"/>
              <p:cNvCxnSpPr>
                <a:stCxn id="37" idx="1"/>
                <a:endCxn id="37" idx="3"/>
              </p:cNvCxnSpPr>
              <p:nvPr/>
            </p:nvCxnSpPr>
            <p:spPr>
              <a:xfrm>
                <a:off x="848486" y="233132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" name="文字版面配置區 1"/>
          <p:cNvSpPr>
            <a:spLocks noGrp="1"/>
          </p:cNvSpPr>
          <p:nvPr>
            <p:ph type="body" sz="quarter" idx="19"/>
          </p:nvPr>
        </p:nvSpPr>
        <p:spPr>
          <a:xfrm>
            <a:off x="188408" y="81819"/>
            <a:ext cx="4104456" cy="384311"/>
          </a:xfrm>
        </p:spPr>
        <p:txBody>
          <a:bodyPr>
            <a:normAutofit fontScale="70000" lnSpcReduction="20000"/>
          </a:bodyPr>
          <a:lstStyle/>
          <a:p>
            <a:r>
              <a:rPr lang="zh-TW" altLang="en-US" dirty="0"/>
              <a:t>三合一自動剝片機構流程</a:t>
            </a:r>
          </a:p>
        </p:txBody>
      </p:sp>
      <p:grpSp>
        <p:nvGrpSpPr>
          <p:cNvPr id="15" name="群組 14"/>
          <p:cNvGrpSpPr/>
          <p:nvPr/>
        </p:nvGrpSpPr>
        <p:grpSpPr>
          <a:xfrm>
            <a:off x="1518796" y="3179363"/>
            <a:ext cx="1818035" cy="441014"/>
            <a:chOff x="1079612" y="2405249"/>
            <a:chExt cx="1818035" cy="441014"/>
          </a:xfrm>
        </p:grpSpPr>
        <p:sp>
          <p:nvSpPr>
            <p:cNvPr id="4" name="矩形 3"/>
            <p:cNvSpPr/>
            <p:nvPr/>
          </p:nvSpPr>
          <p:spPr>
            <a:xfrm>
              <a:off x="1169455" y="2607754"/>
              <a:ext cx="1656184" cy="1440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5" name="橢圓 4"/>
            <p:cNvSpPr/>
            <p:nvPr/>
          </p:nvSpPr>
          <p:spPr>
            <a:xfrm>
              <a:off x="1817527" y="2447349"/>
              <a:ext cx="360040" cy="3600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矩形 5"/>
            <p:cNvSpPr/>
            <p:nvPr/>
          </p:nvSpPr>
          <p:spPr>
            <a:xfrm>
              <a:off x="1331305" y="2486223"/>
              <a:ext cx="72008" cy="3600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2591780" y="2486223"/>
              <a:ext cx="72008" cy="3600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1079612" y="2405249"/>
              <a:ext cx="1818035" cy="8097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</p:grpSp>
      <p:pic>
        <p:nvPicPr>
          <p:cNvPr id="9" name="圖片 8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58" b="96667" l="3594" r="9781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37007" y="1713219"/>
            <a:ext cx="1828505" cy="942823"/>
          </a:xfrm>
          <a:prstGeom prst="rect">
            <a:avLst/>
          </a:prstGeom>
        </p:spPr>
      </p:pic>
      <p:grpSp>
        <p:nvGrpSpPr>
          <p:cNvPr id="14" name="群組 13"/>
          <p:cNvGrpSpPr/>
          <p:nvPr/>
        </p:nvGrpSpPr>
        <p:grpSpPr>
          <a:xfrm>
            <a:off x="804298" y="2597174"/>
            <a:ext cx="2293922" cy="137297"/>
            <a:chOff x="670566" y="2262673"/>
            <a:chExt cx="2293922" cy="137297"/>
          </a:xfrm>
        </p:grpSpPr>
        <p:sp>
          <p:nvSpPr>
            <p:cNvPr id="10" name="圓角矩形 9"/>
            <p:cNvSpPr/>
            <p:nvPr/>
          </p:nvSpPr>
          <p:spPr>
            <a:xfrm>
              <a:off x="670566" y="2262673"/>
              <a:ext cx="2293922" cy="13729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2" name="直線接點 11"/>
            <p:cNvCxnSpPr>
              <a:stCxn id="10" idx="1"/>
              <a:endCxn id="10" idx="3"/>
            </p:cNvCxnSpPr>
            <p:nvPr/>
          </p:nvCxnSpPr>
          <p:spPr>
            <a:xfrm>
              <a:off x="670566" y="2331322"/>
              <a:ext cx="22939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" name="直線接點 16"/>
          <p:cNvCxnSpPr/>
          <p:nvPr/>
        </p:nvCxnSpPr>
        <p:spPr>
          <a:xfrm>
            <a:off x="4728" y="-114942"/>
            <a:ext cx="9217024" cy="24991"/>
          </a:xfrm>
          <a:prstGeom prst="line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3" name="群組 32"/>
          <p:cNvGrpSpPr/>
          <p:nvPr/>
        </p:nvGrpSpPr>
        <p:grpSpPr>
          <a:xfrm>
            <a:off x="1294391" y="3041377"/>
            <a:ext cx="2293922" cy="578395"/>
            <a:chOff x="1552249" y="3368484"/>
            <a:chExt cx="2293922" cy="578395"/>
          </a:xfrm>
        </p:grpSpPr>
        <p:grpSp>
          <p:nvGrpSpPr>
            <p:cNvPr id="24" name="群組 23"/>
            <p:cNvGrpSpPr/>
            <p:nvPr/>
          </p:nvGrpSpPr>
          <p:grpSpPr>
            <a:xfrm>
              <a:off x="1790193" y="3505781"/>
              <a:ext cx="1818035" cy="441098"/>
              <a:chOff x="1120715" y="2405249"/>
              <a:chExt cx="1818035" cy="441098"/>
            </a:xfrm>
          </p:grpSpPr>
          <p:sp>
            <p:nvSpPr>
              <p:cNvPr id="25" name="矩形 24"/>
              <p:cNvSpPr/>
              <p:nvPr/>
            </p:nvSpPr>
            <p:spPr>
              <a:xfrm>
                <a:off x="1201640" y="2607754"/>
                <a:ext cx="1656184" cy="1440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6" name="橢圓 25"/>
              <p:cNvSpPr/>
              <p:nvPr/>
            </p:nvSpPr>
            <p:spPr>
              <a:xfrm>
                <a:off x="1849712" y="2452016"/>
                <a:ext cx="360040" cy="36004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7" name="矩形 26"/>
              <p:cNvSpPr/>
              <p:nvPr/>
            </p:nvSpPr>
            <p:spPr>
              <a:xfrm>
                <a:off x="1347242" y="2486307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8" name="矩形 27"/>
              <p:cNvSpPr/>
              <p:nvPr/>
            </p:nvSpPr>
            <p:spPr>
              <a:xfrm>
                <a:off x="2627784" y="2486223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29" name="矩形 28"/>
              <p:cNvSpPr/>
              <p:nvPr/>
            </p:nvSpPr>
            <p:spPr>
              <a:xfrm>
                <a:off x="1120715" y="2405249"/>
                <a:ext cx="1818035" cy="8097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30" name="群組 29"/>
            <p:cNvGrpSpPr/>
            <p:nvPr/>
          </p:nvGrpSpPr>
          <p:grpSpPr>
            <a:xfrm>
              <a:off x="1552249" y="3368484"/>
              <a:ext cx="2293922" cy="137297"/>
              <a:chOff x="861186" y="2262673"/>
              <a:chExt cx="2293922" cy="137297"/>
            </a:xfrm>
          </p:grpSpPr>
          <p:sp>
            <p:nvSpPr>
              <p:cNvPr id="31" name="圓角矩形 30"/>
              <p:cNvSpPr/>
              <p:nvPr/>
            </p:nvSpPr>
            <p:spPr>
              <a:xfrm>
                <a:off x="861186" y="226267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32" name="直線接點 31"/>
              <p:cNvCxnSpPr/>
              <p:nvPr/>
            </p:nvCxnSpPr>
            <p:spPr>
              <a:xfrm>
                <a:off x="861186" y="233132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5" name="圖片 44"/>
          <p:cNvPicPr>
            <a:picLocks noChangeAspect="1"/>
          </p:cNvPicPr>
          <p:nvPr/>
        </p:nvPicPr>
        <p:blipFill>
          <a:blip r:embed="rId4" cstate="screen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2487" b="96092" l="1855" r="97991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flipV="1">
            <a:off x="252000" y="3507553"/>
            <a:ext cx="743740" cy="647180"/>
          </a:xfrm>
          <a:prstGeom prst="rect">
            <a:avLst/>
          </a:prstGeom>
        </p:spPr>
      </p:pic>
      <p:sp>
        <p:nvSpPr>
          <p:cNvPr id="49" name="矩形 48"/>
          <p:cNvSpPr/>
          <p:nvPr/>
        </p:nvSpPr>
        <p:spPr>
          <a:xfrm>
            <a:off x="1306119" y="3639007"/>
            <a:ext cx="94868" cy="68649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grpSp>
        <p:nvGrpSpPr>
          <p:cNvPr id="51" name="群組 50"/>
          <p:cNvGrpSpPr/>
          <p:nvPr/>
        </p:nvGrpSpPr>
        <p:grpSpPr>
          <a:xfrm rot="10800000">
            <a:off x="1272186" y="3217655"/>
            <a:ext cx="2293922" cy="720038"/>
            <a:chOff x="1539549" y="3132264"/>
            <a:chExt cx="2293922" cy="720038"/>
          </a:xfrm>
        </p:grpSpPr>
        <p:grpSp>
          <p:nvGrpSpPr>
            <p:cNvPr id="52" name="群組 51"/>
            <p:cNvGrpSpPr/>
            <p:nvPr/>
          </p:nvGrpSpPr>
          <p:grpSpPr>
            <a:xfrm>
              <a:off x="1749090" y="3269561"/>
              <a:ext cx="1818035" cy="582741"/>
              <a:chOff x="1079612" y="2169029"/>
              <a:chExt cx="1818035" cy="582741"/>
            </a:xfrm>
          </p:grpSpPr>
          <p:sp>
            <p:nvSpPr>
              <p:cNvPr id="56" name="矩形 55"/>
              <p:cNvSpPr/>
              <p:nvPr/>
            </p:nvSpPr>
            <p:spPr>
              <a:xfrm>
                <a:off x="1169455" y="2607754"/>
                <a:ext cx="1656184" cy="144016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7" name="橢圓 56"/>
              <p:cNvSpPr/>
              <p:nvPr/>
            </p:nvSpPr>
            <p:spPr>
              <a:xfrm>
                <a:off x="1817527" y="2390193"/>
                <a:ext cx="360040" cy="360040"/>
              </a:xfrm>
              <a:prstGeom prst="ellipse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8" name="矩形 57"/>
              <p:cNvSpPr/>
              <p:nvPr/>
            </p:nvSpPr>
            <p:spPr>
              <a:xfrm>
                <a:off x="1331305" y="2250003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59" name="矩形 58"/>
              <p:cNvSpPr/>
              <p:nvPr/>
            </p:nvSpPr>
            <p:spPr>
              <a:xfrm>
                <a:off x="2591780" y="2250003"/>
                <a:ext cx="72008" cy="360040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60" name="矩形 59"/>
              <p:cNvSpPr/>
              <p:nvPr/>
            </p:nvSpPr>
            <p:spPr>
              <a:xfrm>
                <a:off x="1079612" y="2169029"/>
                <a:ext cx="1818035" cy="8097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3" name="群組 52"/>
            <p:cNvGrpSpPr/>
            <p:nvPr/>
          </p:nvGrpSpPr>
          <p:grpSpPr>
            <a:xfrm>
              <a:off x="1539549" y="3132264"/>
              <a:ext cx="2293922" cy="137297"/>
              <a:chOff x="848486" y="2026453"/>
              <a:chExt cx="2293922" cy="137297"/>
            </a:xfrm>
          </p:grpSpPr>
          <p:sp>
            <p:nvSpPr>
              <p:cNvPr id="54" name="圓角矩形 53"/>
              <p:cNvSpPr/>
              <p:nvPr/>
            </p:nvSpPr>
            <p:spPr>
              <a:xfrm>
                <a:off x="848486" y="202645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55" name="直線接點 54"/>
              <p:cNvCxnSpPr>
                <a:stCxn id="54" idx="1"/>
                <a:endCxn id="54" idx="3"/>
              </p:cNvCxnSpPr>
              <p:nvPr/>
            </p:nvCxnSpPr>
            <p:spPr>
              <a:xfrm>
                <a:off x="848486" y="209510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63" name="群組 62"/>
          <p:cNvGrpSpPr/>
          <p:nvPr/>
        </p:nvGrpSpPr>
        <p:grpSpPr>
          <a:xfrm>
            <a:off x="3845367" y="3931624"/>
            <a:ext cx="2821729" cy="366838"/>
            <a:chOff x="3766495" y="3219822"/>
            <a:chExt cx="2821729" cy="366838"/>
          </a:xfrm>
        </p:grpSpPr>
        <p:sp>
          <p:nvSpPr>
            <p:cNvPr id="50" name="矩形 49"/>
            <p:cNvSpPr/>
            <p:nvPr/>
          </p:nvSpPr>
          <p:spPr>
            <a:xfrm>
              <a:off x="3766495" y="3219822"/>
              <a:ext cx="2821729" cy="28889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</a:rPr>
                <a:t>主載台</a:t>
              </a:r>
            </a:p>
          </p:txBody>
        </p:sp>
        <p:sp>
          <p:nvSpPr>
            <p:cNvPr id="62" name="矩形 61"/>
            <p:cNvSpPr/>
            <p:nvPr/>
          </p:nvSpPr>
          <p:spPr>
            <a:xfrm>
              <a:off x="5033343" y="3508716"/>
              <a:ext cx="288032" cy="779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</p:grpSp>
      <p:grpSp>
        <p:nvGrpSpPr>
          <p:cNvPr id="71" name="群組 70"/>
          <p:cNvGrpSpPr/>
          <p:nvPr/>
        </p:nvGrpSpPr>
        <p:grpSpPr>
          <a:xfrm>
            <a:off x="1024028" y="3801528"/>
            <a:ext cx="2821729" cy="498186"/>
            <a:chOff x="3984213" y="3940746"/>
            <a:chExt cx="2821729" cy="498186"/>
          </a:xfrm>
        </p:grpSpPr>
        <p:grpSp>
          <p:nvGrpSpPr>
            <p:cNvPr id="64" name="群組 63"/>
            <p:cNvGrpSpPr/>
            <p:nvPr/>
          </p:nvGrpSpPr>
          <p:grpSpPr>
            <a:xfrm>
              <a:off x="4248116" y="3940746"/>
              <a:ext cx="2293922" cy="137297"/>
              <a:chOff x="670566" y="2262673"/>
              <a:chExt cx="2293922" cy="137297"/>
            </a:xfrm>
          </p:grpSpPr>
          <p:sp>
            <p:nvSpPr>
              <p:cNvPr id="65" name="圓角矩形 64"/>
              <p:cNvSpPr/>
              <p:nvPr/>
            </p:nvSpPr>
            <p:spPr>
              <a:xfrm>
                <a:off x="670566" y="226267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66" name="直線接點 65"/>
              <p:cNvCxnSpPr>
                <a:stCxn id="65" idx="1"/>
                <a:endCxn id="65" idx="3"/>
              </p:cNvCxnSpPr>
              <p:nvPr/>
            </p:nvCxnSpPr>
            <p:spPr>
              <a:xfrm>
                <a:off x="670566" y="233132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8" name="群組 67"/>
            <p:cNvGrpSpPr/>
            <p:nvPr/>
          </p:nvGrpSpPr>
          <p:grpSpPr>
            <a:xfrm>
              <a:off x="3984213" y="4072094"/>
              <a:ext cx="2821729" cy="366838"/>
              <a:chOff x="3766495" y="3219822"/>
              <a:chExt cx="2821729" cy="366838"/>
            </a:xfrm>
          </p:grpSpPr>
          <p:sp>
            <p:nvSpPr>
              <p:cNvPr id="69" name="矩形 68"/>
              <p:cNvSpPr/>
              <p:nvPr/>
            </p:nvSpPr>
            <p:spPr>
              <a:xfrm>
                <a:off x="3766495" y="3219822"/>
                <a:ext cx="2821729" cy="288894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zh-TW" altLang="en-US" sz="1400" b="1" dirty="0">
                    <a:solidFill>
                      <a:schemeClr val="tx1"/>
                    </a:solidFill>
                  </a:rPr>
                  <a:t>主載台</a:t>
                </a:r>
              </a:p>
            </p:txBody>
          </p:sp>
          <p:sp>
            <p:nvSpPr>
              <p:cNvPr id="70" name="矩形 69"/>
              <p:cNvSpPr/>
              <p:nvPr/>
            </p:nvSpPr>
            <p:spPr>
              <a:xfrm>
                <a:off x="5033343" y="3508716"/>
                <a:ext cx="288032" cy="77944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</p:grpSp>
      </p:grpSp>
      <p:grpSp>
        <p:nvGrpSpPr>
          <p:cNvPr id="73" name="群組 72"/>
          <p:cNvGrpSpPr/>
          <p:nvPr/>
        </p:nvGrpSpPr>
        <p:grpSpPr>
          <a:xfrm rot="10800000">
            <a:off x="1539489" y="3157338"/>
            <a:ext cx="1818035" cy="441014"/>
            <a:chOff x="1079612" y="2369057"/>
            <a:chExt cx="1818035" cy="441014"/>
          </a:xfrm>
        </p:grpSpPr>
        <p:sp>
          <p:nvSpPr>
            <p:cNvPr id="77" name="矩形 76"/>
            <p:cNvSpPr/>
            <p:nvPr/>
          </p:nvSpPr>
          <p:spPr>
            <a:xfrm>
              <a:off x="1169455" y="2607754"/>
              <a:ext cx="1656184" cy="144016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8" name="橢圓 77"/>
            <p:cNvSpPr/>
            <p:nvPr/>
          </p:nvSpPr>
          <p:spPr>
            <a:xfrm>
              <a:off x="1817527" y="2390193"/>
              <a:ext cx="360040" cy="360040"/>
            </a:xfrm>
            <a:prstGeom prst="ellipse">
              <a:avLst/>
            </a:prstGeom>
            <a:solidFill>
              <a:srgbClr val="92D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79" name="矩形 78"/>
            <p:cNvSpPr/>
            <p:nvPr/>
          </p:nvSpPr>
          <p:spPr>
            <a:xfrm>
              <a:off x="1331305" y="2450031"/>
              <a:ext cx="72008" cy="3600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80" name="矩形 79"/>
            <p:cNvSpPr/>
            <p:nvPr/>
          </p:nvSpPr>
          <p:spPr>
            <a:xfrm>
              <a:off x="2591780" y="2450031"/>
              <a:ext cx="72008" cy="36004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81" name="矩形 80"/>
            <p:cNvSpPr/>
            <p:nvPr/>
          </p:nvSpPr>
          <p:spPr>
            <a:xfrm>
              <a:off x="1079612" y="2369057"/>
              <a:ext cx="1818035" cy="8097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</p:grpSp>
      <p:sp>
        <p:nvSpPr>
          <p:cNvPr id="82" name="圓角矩形 81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手臂放料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cxnSp>
        <p:nvCxnSpPr>
          <p:cNvPr id="83" name="直線接點 82"/>
          <p:cNvCxnSpPr/>
          <p:nvPr/>
        </p:nvCxnSpPr>
        <p:spPr>
          <a:xfrm flipV="1">
            <a:off x="-504564" y="-489910"/>
            <a:ext cx="0" cy="5832648"/>
          </a:xfrm>
          <a:prstGeom prst="line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>
            <a:off x="4728" y="-248913"/>
            <a:ext cx="9217024" cy="24991"/>
          </a:xfrm>
          <a:prstGeom prst="line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圓角矩形 84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旋載台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翻轉</a:t>
            </a:r>
          </a:p>
        </p:txBody>
      </p:sp>
      <p:sp>
        <p:nvSpPr>
          <p:cNvPr id="86" name="圓角矩形 85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+mn-ea"/>
              </a:rPr>
              <a:t>Just Cut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除料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7" name="圓角矩形 86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翻轉台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放料</a:t>
            </a:r>
          </a:p>
        </p:txBody>
      </p:sp>
      <p:sp>
        <p:nvSpPr>
          <p:cNvPr id="88" name="圓角矩形 87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主載台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承接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89" name="圓角矩形 88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手臂二次定位基板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0" name="圓角矩形 89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移動基板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1" name="圓角矩形 90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手臂回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原點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2" name="圓角矩形 91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基板夾具移入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3" name="圓角矩形 92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基板夾持固定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4" name="圓角矩形 93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殘邊夾爪機構移入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95" name="圓角矩形 94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殘邊夾持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96" name="圖片 95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58" b="96667" l="3594" r="9781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41610" y="1245666"/>
            <a:ext cx="1828505" cy="942823"/>
          </a:xfrm>
          <a:prstGeom prst="rect">
            <a:avLst/>
          </a:prstGeom>
        </p:spPr>
      </p:pic>
      <p:grpSp>
        <p:nvGrpSpPr>
          <p:cNvPr id="101" name="群組 100"/>
          <p:cNvGrpSpPr/>
          <p:nvPr/>
        </p:nvGrpSpPr>
        <p:grpSpPr>
          <a:xfrm>
            <a:off x="4117098" y="2908002"/>
            <a:ext cx="2293922" cy="1011472"/>
            <a:chOff x="6221929" y="1303527"/>
            <a:chExt cx="2293922" cy="1011472"/>
          </a:xfrm>
        </p:grpSpPr>
        <p:pic>
          <p:nvPicPr>
            <p:cNvPr id="97" name="圖片 96"/>
            <p:cNvPicPr>
              <a:picLocks noChangeAspect="1"/>
            </p:cNvPicPr>
            <p:nvPr/>
          </p:nvPicPr>
          <p:blipFill>
            <a:blip r:embed="rId2" cstate="screen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backgroundRemoval t="5758" b="96667" l="3594" r="9781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6394633" y="1303527"/>
              <a:ext cx="1828505" cy="942823"/>
            </a:xfrm>
            <a:prstGeom prst="rect">
              <a:avLst/>
            </a:prstGeom>
          </p:spPr>
        </p:pic>
        <p:grpSp>
          <p:nvGrpSpPr>
            <p:cNvPr id="98" name="群組 97"/>
            <p:cNvGrpSpPr/>
            <p:nvPr/>
          </p:nvGrpSpPr>
          <p:grpSpPr>
            <a:xfrm>
              <a:off x="6221929" y="2177702"/>
              <a:ext cx="2293922" cy="137297"/>
              <a:chOff x="670566" y="2262673"/>
              <a:chExt cx="2293922" cy="137297"/>
            </a:xfrm>
          </p:grpSpPr>
          <p:sp>
            <p:nvSpPr>
              <p:cNvPr id="99" name="圓角矩形 98"/>
              <p:cNvSpPr/>
              <p:nvPr/>
            </p:nvSpPr>
            <p:spPr>
              <a:xfrm>
                <a:off x="670566" y="226267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00" name="直線接點 99"/>
              <p:cNvCxnSpPr>
                <a:stCxn id="99" idx="1"/>
                <a:endCxn id="99" idx="3"/>
              </p:cNvCxnSpPr>
              <p:nvPr/>
            </p:nvCxnSpPr>
            <p:spPr>
              <a:xfrm>
                <a:off x="670566" y="233132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4" name="群組 103"/>
          <p:cNvGrpSpPr/>
          <p:nvPr/>
        </p:nvGrpSpPr>
        <p:grpSpPr>
          <a:xfrm>
            <a:off x="3845757" y="3932174"/>
            <a:ext cx="2821729" cy="366838"/>
            <a:chOff x="3766495" y="3219822"/>
            <a:chExt cx="2821729" cy="366838"/>
          </a:xfrm>
        </p:grpSpPr>
        <p:sp>
          <p:nvSpPr>
            <p:cNvPr id="105" name="矩形 104"/>
            <p:cNvSpPr/>
            <p:nvPr/>
          </p:nvSpPr>
          <p:spPr>
            <a:xfrm>
              <a:off x="3766495" y="3219822"/>
              <a:ext cx="2821729" cy="28889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1400" b="1" dirty="0">
                  <a:solidFill>
                    <a:schemeClr val="tx1"/>
                  </a:solidFill>
                </a:rPr>
                <a:t>主載台</a:t>
              </a:r>
            </a:p>
          </p:txBody>
        </p:sp>
        <p:sp>
          <p:nvSpPr>
            <p:cNvPr id="106" name="矩形 105"/>
            <p:cNvSpPr/>
            <p:nvPr/>
          </p:nvSpPr>
          <p:spPr>
            <a:xfrm>
              <a:off x="5033343" y="3508716"/>
              <a:ext cx="288032" cy="77944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19" name="直線接點 18"/>
          <p:cNvCxnSpPr/>
          <p:nvPr/>
        </p:nvCxnSpPr>
        <p:spPr>
          <a:xfrm flipV="1">
            <a:off x="-324544" y="-489910"/>
            <a:ext cx="0" cy="5832648"/>
          </a:xfrm>
          <a:prstGeom prst="line">
            <a:avLst/>
          </a:prstGeom>
          <a:ln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0" name="圖片 109"/>
          <p:cNvPicPr>
            <a:picLocks noChangeAspect="1"/>
          </p:cNvPicPr>
          <p:nvPr/>
        </p:nvPicPr>
        <p:blipFill>
          <a:blip r:embed="rId2" cstate="screen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5758" b="96667" l="3594" r="9781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832512" y="2908722"/>
            <a:ext cx="1828505" cy="942823"/>
          </a:xfrm>
          <a:prstGeom prst="rect">
            <a:avLst/>
          </a:prstGeom>
        </p:spPr>
      </p:pic>
      <p:grpSp>
        <p:nvGrpSpPr>
          <p:cNvPr id="111" name="群組 110"/>
          <p:cNvGrpSpPr/>
          <p:nvPr/>
        </p:nvGrpSpPr>
        <p:grpSpPr>
          <a:xfrm>
            <a:off x="4667428" y="3798137"/>
            <a:ext cx="2293922" cy="137297"/>
            <a:chOff x="670566" y="2262673"/>
            <a:chExt cx="2293922" cy="137297"/>
          </a:xfrm>
        </p:grpSpPr>
        <p:sp>
          <p:nvSpPr>
            <p:cNvPr id="112" name="圓角矩形 111"/>
            <p:cNvSpPr/>
            <p:nvPr/>
          </p:nvSpPr>
          <p:spPr>
            <a:xfrm>
              <a:off x="670566" y="2262673"/>
              <a:ext cx="2293922" cy="13729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13" name="直線接點 112"/>
            <p:cNvCxnSpPr>
              <a:stCxn id="112" idx="1"/>
              <a:endCxn id="112" idx="3"/>
            </p:cNvCxnSpPr>
            <p:nvPr/>
          </p:nvCxnSpPr>
          <p:spPr>
            <a:xfrm>
              <a:off x="670566" y="2331322"/>
              <a:ext cx="22939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16" name="矩形 115"/>
          <p:cNvSpPr/>
          <p:nvPr/>
        </p:nvSpPr>
        <p:spPr>
          <a:xfrm>
            <a:off x="6237000" y="1385875"/>
            <a:ext cx="1751065" cy="293916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</a:rPr>
              <a:t>主載台夾具滑台</a:t>
            </a:r>
          </a:p>
        </p:txBody>
      </p:sp>
      <p:grpSp>
        <p:nvGrpSpPr>
          <p:cNvPr id="120" name="群組 119"/>
          <p:cNvGrpSpPr/>
          <p:nvPr/>
        </p:nvGrpSpPr>
        <p:grpSpPr>
          <a:xfrm>
            <a:off x="6741436" y="1786596"/>
            <a:ext cx="739463" cy="1190154"/>
            <a:chOff x="7722000" y="2469327"/>
            <a:chExt cx="739463" cy="1190154"/>
          </a:xfrm>
        </p:grpSpPr>
        <p:sp>
          <p:nvSpPr>
            <p:cNvPr id="118" name="圓角矩形 117"/>
            <p:cNvSpPr/>
            <p:nvPr/>
          </p:nvSpPr>
          <p:spPr>
            <a:xfrm>
              <a:off x="8024674" y="2469327"/>
              <a:ext cx="119863" cy="93886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19" name="圓角矩形 118"/>
            <p:cNvSpPr/>
            <p:nvPr/>
          </p:nvSpPr>
          <p:spPr>
            <a:xfrm>
              <a:off x="7722000" y="3394668"/>
              <a:ext cx="739463" cy="26481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b="1" dirty="0">
                  <a:solidFill>
                    <a:sysClr val="windowText" lastClr="000000"/>
                  </a:solidFill>
                </a:rPr>
                <a:t>夾板</a:t>
              </a:r>
            </a:p>
          </p:txBody>
        </p:sp>
      </p:grpSp>
      <p:grpSp>
        <p:nvGrpSpPr>
          <p:cNvPr id="125" name="群組 124"/>
          <p:cNvGrpSpPr/>
          <p:nvPr/>
        </p:nvGrpSpPr>
        <p:grpSpPr>
          <a:xfrm>
            <a:off x="5877000" y="1780160"/>
            <a:ext cx="739463" cy="1196504"/>
            <a:chOff x="7722000" y="2469327"/>
            <a:chExt cx="739463" cy="1196504"/>
          </a:xfrm>
        </p:grpSpPr>
        <p:sp>
          <p:nvSpPr>
            <p:cNvPr id="126" name="圓角矩形 125"/>
            <p:cNvSpPr/>
            <p:nvPr/>
          </p:nvSpPr>
          <p:spPr>
            <a:xfrm>
              <a:off x="8024674" y="2469327"/>
              <a:ext cx="119863" cy="938860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sp>
          <p:nvSpPr>
            <p:cNvPr id="127" name="圓角矩形 126"/>
            <p:cNvSpPr/>
            <p:nvPr/>
          </p:nvSpPr>
          <p:spPr>
            <a:xfrm>
              <a:off x="7722000" y="3401018"/>
              <a:ext cx="739463" cy="264813"/>
            </a:xfrm>
            <a:prstGeom prst="roundRect">
              <a:avLst/>
            </a:prstGeom>
            <a:solidFill>
              <a:schemeClr val="bg1">
                <a:lumMod val="7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TW" altLang="en-US" sz="900" b="1" dirty="0">
                  <a:solidFill>
                    <a:sysClr val="windowText" lastClr="000000"/>
                  </a:solidFill>
                </a:rPr>
                <a:t>夾板</a:t>
              </a:r>
            </a:p>
          </p:txBody>
        </p:sp>
      </p:grpSp>
      <p:sp>
        <p:nvSpPr>
          <p:cNvPr id="117" name="圓角矩形 116"/>
          <p:cNvSpPr/>
          <p:nvPr/>
        </p:nvSpPr>
        <p:spPr>
          <a:xfrm>
            <a:off x="6827822" y="1679791"/>
            <a:ext cx="552440" cy="938964"/>
          </a:xfrm>
          <a:prstGeom prst="roundRect">
            <a:avLst/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ysClr val="windowText" lastClr="000000"/>
                </a:solidFill>
              </a:rPr>
              <a:t>夾具汽缸</a:t>
            </a:r>
          </a:p>
        </p:txBody>
      </p:sp>
      <p:sp>
        <p:nvSpPr>
          <p:cNvPr id="128" name="圓角矩形 127"/>
          <p:cNvSpPr/>
          <p:nvPr/>
        </p:nvSpPr>
        <p:spPr>
          <a:xfrm>
            <a:off x="752202" y="4785347"/>
            <a:ext cx="1202702" cy="3357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ysClr val="windowText" lastClr="000000"/>
                </a:solidFill>
              </a:rPr>
              <a:t>耳料箱</a:t>
            </a:r>
            <a:endParaRPr lang="zh-TW" altLang="en-US" sz="900" b="1" dirty="0">
              <a:solidFill>
                <a:sysClr val="windowText" lastClr="000000"/>
              </a:solidFill>
            </a:endParaRPr>
          </a:p>
        </p:txBody>
      </p:sp>
      <p:pic>
        <p:nvPicPr>
          <p:cNvPr id="133" name="圖片 132"/>
          <p:cNvPicPr>
            <a:picLocks noChangeAspect="1"/>
          </p:cNvPicPr>
          <p:nvPr/>
        </p:nvPicPr>
        <p:blipFill>
          <a:blip r:embed="rId6" cstate="screen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9950" b="89552" l="4918" r="8993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344308" y="4059300"/>
            <a:ext cx="1259480" cy="296435"/>
          </a:xfrm>
          <a:prstGeom prst="rect">
            <a:avLst/>
          </a:prstGeom>
        </p:spPr>
      </p:pic>
      <p:grpSp>
        <p:nvGrpSpPr>
          <p:cNvPr id="161" name="群組 160"/>
          <p:cNvGrpSpPr/>
          <p:nvPr/>
        </p:nvGrpSpPr>
        <p:grpSpPr>
          <a:xfrm>
            <a:off x="7416316" y="2788826"/>
            <a:ext cx="1151645" cy="1554235"/>
            <a:chOff x="7416316" y="2788826"/>
            <a:chExt cx="1151645" cy="1554235"/>
          </a:xfrm>
        </p:grpSpPr>
        <p:pic>
          <p:nvPicPr>
            <p:cNvPr id="132" name="圖片 131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439" b="100000" l="17717" r="100000">
                          <a14:foregroundMark x1="72441" y1="87282" x2="72441" y2="87282"/>
                          <a14:backgroundMark x1="31890" y1="91812" x2="31890" y2="91812"/>
                          <a14:backgroundMark x1="26772" y1="87631" x2="66535" y2="92160"/>
                          <a14:backgroundMark x1="91732" y1="90941" x2="94488" y2="87282"/>
                          <a14:backgroundMark x1="96850" y1="86760" x2="93701" y2="8676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7419309" y="2788826"/>
              <a:ext cx="1148652" cy="1554235"/>
            </a:xfrm>
            <a:prstGeom prst="rect">
              <a:avLst/>
            </a:prstGeom>
          </p:spPr>
        </p:pic>
        <p:pic>
          <p:nvPicPr>
            <p:cNvPr id="129" name="圖片 128"/>
            <p:cNvPicPr>
              <a:picLocks noChangeAspect="1"/>
            </p:cNvPicPr>
            <p:nvPr/>
          </p:nvPicPr>
          <p:blipFill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416316" y="3612613"/>
              <a:ext cx="739846" cy="512862"/>
            </a:xfrm>
            <a:prstGeom prst="rect">
              <a:avLst/>
            </a:prstGeom>
          </p:spPr>
        </p:pic>
      </p:grpSp>
      <p:pic>
        <p:nvPicPr>
          <p:cNvPr id="138" name="圖片 137"/>
          <p:cNvPicPr>
            <a:picLocks noChangeAspect="1"/>
          </p:cNvPicPr>
          <p:nvPr/>
        </p:nvPicPr>
        <p:blipFill rotWithShape="1">
          <a:blip r:embed="rId8" cstate="screen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2439" b="100000" l="17717" r="100000">
                        <a14:foregroundMark x1="72441" y1="87282" x2="72441" y2="87282"/>
                        <a14:backgroundMark x1="31890" y1="91812" x2="31890" y2="91812"/>
                        <a14:backgroundMark x1="26772" y1="87631" x2="66535" y2="92160"/>
                        <a14:backgroundMark x1="91732" y1="90941" x2="94488" y2="87282"/>
                        <a14:backgroundMark x1="96850" y1="86760" x2="93701" y2="8676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718909" y="2788825"/>
            <a:ext cx="1148652" cy="1554235"/>
          </a:xfrm>
          <a:prstGeom prst="rect">
            <a:avLst/>
          </a:prstGeom>
        </p:spPr>
      </p:pic>
      <p:sp>
        <p:nvSpPr>
          <p:cNvPr id="139" name="圓角矩形 138"/>
          <p:cNvSpPr/>
          <p:nvPr/>
        </p:nvSpPr>
        <p:spPr>
          <a:xfrm>
            <a:off x="9221752" y="1056688"/>
            <a:ext cx="976903" cy="50405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</a:rPr>
              <a:t>殘邊夾持</a:t>
            </a:r>
            <a:endParaRPr lang="zh-TW" altLang="en-US" sz="900" b="1" dirty="0">
              <a:solidFill>
                <a:schemeClr val="tx1"/>
              </a:solidFill>
            </a:endParaRPr>
          </a:p>
        </p:txBody>
      </p:sp>
      <p:sp>
        <p:nvSpPr>
          <p:cNvPr id="140" name="圓角矩形 139"/>
          <p:cNvSpPr/>
          <p:nvPr/>
        </p:nvSpPr>
        <p:spPr>
          <a:xfrm>
            <a:off x="9221752" y="1409914"/>
            <a:ext cx="976903" cy="50405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</a:rPr>
              <a:t>殘邊夾持</a:t>
            </a:r>
            <a:endParaRPr lang="zh-TW" altLang="en-US" sz="900" b="1" dirty="0">
              <a:solidFill>
                <a:schemeClr val="tx1"/>
              </a:solidFill>
            </a:endParaRPr>
          </a:p>
        </p:txBody>
      </p:sp>
      <p:sp>
        <p:nvSpPr>
          <p:cNvPr id="141" name="圓角矩形 140"/>
          <p:cNvSpPr/>
          <p:nvPr/>
        </p:nvSpPr>
        <p:spPr>
          <a:xfrm>
            <a:off x="9225981" y="1804290"/>
            <a:ext cx="976903" cy="504056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chemeClr val="tx1"/>
                </a:solidFill>
              </a:rPr>
              <a:t>殘邊夾持</a:t>
            </a:r>
            <a:endParaRPr lang="zh-TW" altLang="en-US" sz="900" b="1" dirty="0">
              <a:solidFill>
                <a:schemeClr val="tx1"/>
              </a:solidFill>
            </a:endParaRPr>
          </a:p>
        </p:txBody>
      </p:sp>
      <p:sp>
        <p:nvSpPr>
          <p:cNvPr id="142" name="圓角矩形 141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殘邊除料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3" name="圓角矩形 142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殘邊夾爪機構拉開</a:t>
            </a:r>
            <a:endParaRPr lang="zh-TW" altLang="en-US" sz="11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144" name="圓角矩形 143"/>
          <p:cNvSpPr/>
          <p:nvPr/>
        </p:nvSpPr>
        <p:spPr>
          <a:xfrm>
            <a:off x="62165" y="570593"/>
            <a:ext cx="1210020" cy="665291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b="1" dirty="0">
                <a:solidFill>
                  <a:schemeClr val="tx1"/>
                </a:solidFill>
                <a:latin typeface="+mn-ea"/>
              </a:rPr>
              <a:t>N-Cut </a:t>
            </a:r>
          </a:p>
          <a:p>
            <a:pPr algn="ctr"/>
            <a:r>
              <a:rPr lang="zh-TW" altLang="en-US" b="1" dirty="0">
                <a:solidFill>
                  <a:schemeClr val="tx1"/>
                </a:solidFill>
                <a:latin typeface="+mn-ea"/>
              </a:rPr>
              <a:t>傾角摺邊</a:t>
            </a:r>
            <a:endParaRPr lang="en-US" altLang="zh-TW" b="1" dirty="0">
              <a:solidFill>
                <a:schemeClr val="tx1"/>
              </a:solidFill>
              <a:latin typeface="+mn-ea"/>
            </a:endParaRPr>
          </a:p>
        </p:txBody>
      </p:sp>
      <p:grpSp>
        <p:nvGrpSpPr>
          <p:cNvPr id="145" name="群組 144"/>
          <p:cNvGrpSpPr/>
          <p:nvPr/>
        </p:nvGrpSpPr>
        <p:grpSpPr>
          <a:xfrm>
            <a:off x="4667428" y="3799148"/>
            <a:ext cx="2028808" cy="133572"/>
            <a:chOff x="670566" y="2262673"/>
            <a:chExt cx="2293922" cy="137297"/>
          </a:xfrm>
        </p:grpSpPr>
        <p:sp>
          <p:nvSpPr>
            <p:cNvPr id="146" name="圓角矩形 145"/>
            <p:cNvSpPr/>
            <p:nvPr/>
          </p:nvSpPr>
          <p:spPr>
            <a:xfrm>
              <a:off x="670566" y="2262673"/>
              <a:ext cx="2293922" cy="13729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47" name="直線接點 146"/>
            <p:cNvCxnSpPr>
              <a:stCxn id="146" idx="1"/>
              <a:endCxn id="146" idx="3"/>
            </p:cNvCxnSpPr>
            <p:nvPr/>
          </p:nvCxnSpPr>
          <p:spPr>
            <a:xfrm>
              <a:off x="670566" y="2331322"/>
              <a:ext cx="2293922" cy="0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2" name="群組 151"/>
          <p:cNvGrpSpPr/>
          <p:nvPr/>
        </p:nvGrpSpPr>
        <p:grpSpPr>
          <a:xfrm>
            <a:off x="6655780" y="3631063"/>
            <a:ext cx="741034" cy="465151"/>
            <a:chOff x="7013788" y="4643434"/>
            <a:chExt cx="741034" cy="465151"/>
          </a:xfrm>
        </p:grpSpPr>
        <p:grpSp>
          <p:nvGrpSpPr>
            <p:cNvPr id="148" name="群組 147"/>
            <p:cNvGrpSpPr/>
            <p:nvPr/>
          </p:nvGrpSpPr>
          <p:grpSpPr>
            <a:xfrm>
              <a:off x="7013788" y="4812014"/>
              <a:ext cx="232892" cy="137297"/>
              <a:chOff x="670566" y="2262673"/>
              <a:chExt cx="2293922" cy="137297"/>
            </a:xfrm>
          </p:grpSpPr>
          <p:sp>
            <p:nvSpPr>
              <p:cNvPr id="149" name="圓角矩形 148"/>
              <p:cNvSpPr/>
              <p:nvPr/>
            </p:nvSpPr>
            <p:spPr>
              <a:xfrm>
                <a:off x="670566" y="2262673"/>
                <a:ext cx="2293922" cy="137297"/>
              </a:xfrm>
              <a:prstGeom prst="roundRect">
                <a:avLst/>
              </a:prstGeom>
              <a:solidFill>
                <a:schemeClr val="accent2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900" b="1" dirty="0">
                  <a:solidFill>
                    <a:schemeClr val="bg1"/>
                  </a:solidFill>
                </a:endParaRPr>
              </a:p>
            </p:txBody>
          </p:sp>
          <p:cxnSp>
            <p:nvCxnSpPr>
              <p:cNvPr id="150" name="直線接點 149"/>
              <p:cNvCxnSpPr>
                <a:stCxn id="149" idx="1"/>
                <a:endCxn id="149" idx="3"/>
              </p:cNvCxnSpPr>
              <p:nvPr/>
            </p:nvCxnSpPr>
            <p:spPr>
              <a:xfrm>
                <a:off x="670566" y="2331322"/>
                <a:ext cx="2293922" cy="0"/>
              </a:xfrm>
              <a:prstGeom prst="line">
                <a:avLst/>
              </a:prstGeom>
              <a:ln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151" name="圖片 150"/>
            <p:cNvPicPr>
              <a:picLocks noChangeAspect="1"/>
            </p:cNvPicPr>
            <p:nvPr/>
          </p:nvPicPr>
          <p:blipFill>
            <a:blip r:embed="rId12" cstate="screen">
              <a:extLst>
                <a:ext uri="{BEBA8EAE-BF5A-486C-A8C5-ECC9F3942E4B}">
                  <a14:imgProps xmlns:a14="http://schemas.microsoft.com/office/drawing/2010/main">
                    <a14:imgLayer r:embed="rId13">
                      <a14:imgEffect>
                        <a14:backgroundRemoval t="6579" b="96579" l="3310" r="96864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7052199" y="4643434"/>
              <a:ext cx="702623" cy="465151"/>
            </a:xfrm>
            <a:prstGeom prst="rect">
              <a:avLst/>
            </a:prstGeom>
          </p:spPr>
        </p:pic>
      </p:grpSp>
      <p:grpSp>
        <p:nvGrpSpPr>
          <p:cNvPr id="160" name="群組 159"/>
          <p:cNvGrpSpPr/>
          <p:nvPr/>
        </p:nvGrpSpPr>
        <p:grpSpPr>
          <a:xfrm>
            <a:off x="6659123" y="2790066"/>
            <a:ext cx="1207332" cy="1554235"/>
            <a:chOff x="8516442" y="3359382"/>
            <a:chExt cx="1207332" cy="1554235"/>
          </a:xfrm>
        </p:grpSpPr>
        <p:pic>
          <p:nvPicPr>
            <p:cNvPr id="154" name="圖片 153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439" b="100000" l="17717" r="100000">
                          <a14:foregroundMark x1="72441" y1="87282" x2="72441" y2="87282"/>
                          <a14:backgroundMark x1="31890" y1="91812" x2="31890" y2="91812"/>
                          <a14:backgroundMark x1="26772" y1="87631" x2="66535" y2="92160"/>
                          <a14:backgroundMark x1="91732" y1="90941" x2="94488" y2="87282"/>
                          <a14:backgroundMark x1="96850" y1="86760" x2="93701" y2="8676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575122" y="3359382"/>
              <a:ext cx="1148652" cy="1554235"/>
            </a:xfrm>
            <a:prstGeom prst="rect">
              <a:avLst/>
            </a:prstGeom>
          </p:spPr>
        </p:pic>
        <p:grpSp>
          <p:nvGrpSpPr>
            <p:cNvPr id="155" name="群組 154"/>
            <p:cNvGrpSpPr/>
            <p:nvPr/>
          </p:nvGrpSpPr>
          <p:grpSpPr>
            <a:xfrm rot="-600000">
              <a:off x="8516442" y="4184194"/>
              <a:ext cx="734678" cy="465151"/>
              <a:chOff x="6866276" y="4503295"/>
              <a:chExt cx="734678" cy="465151"/>
            </a:xfrm>
          </p:grpSpPr>
          <p:grpSp>
            <p:nvGrpSpPr>
              <p:cNvPr id="156" name="群組 155"/>
              <p:cNvGrpSpPr/>
              <p:nvPr/>
            </p:nvGrpSpPr>
            <p:grpSpPr>
              <a:xfrm>
                <a:off x="6866276" y="4675226"/>
                <a:ext cx="232892" cy="137297"/>
                <a:chOff x="1072142" y="2269860"/>
                <a:chExt cx="2293923" cy="137297"/>
              </a:xfrm>
            </p:grpSpPr>
            <p:sp>
              <p:nvSpPr>
                <p:cNvPr id="158" name="圓角矩形 157"/>
                <p:cNvSpPr/>
                <p:nvPr/>
              </p:nvSpPr>
              <p:spPr>
                <a:xfrm>
                  <a:off x="1072142" y="2269860"/>
                  <a:ext cx="2293923" cy="137297"/>
                </a:xfrm>
                <a:prstGeom prst="roundRect">
                  <a:avLst/>
                </a:prstGeom>
                <a:solidFill>
                  <a:schemeClr val="accent2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900" b="1" dirty="0">
                    <a:solidFill>
                      <a:schemeClr val="bg1"/>
                    </a:solidFill>
                  </a:endParaRPr>
                </a:p>
              </p:txBody>
            </p:sp>
            <p:cxnSp>
              <p:nvCxnSpPr>
                <p:cNvPr id="159" name="直線接點 158"/>
                <p:cNvCxnSpPr>
                  <a:stCxn id="158" idx="1"/>
                  <a:endCxn id="158" idx="3"/>
                </p:cNvCxnSpPr>
                <p:nvPr/>
              </p:nvCxnSpPr>
              <p:spPr>
                <a:xfrm rot="600000" flipV="1">
                  <a:off x="1089565" y="2318288"/>
                  <a:ext cx="2259075" cy="40442"/>
                </a:xfrm>
                <a:prstGeom prst="line">
                  <a:avLst/>
                </a:prstGeom>
                <a:ln>
                  <a:headEnd type="none" w="med" len="med"/>
                  <a:tailEnd type="none" w="med" len="med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pic>
            <p:nvPicPr>
              <p:cNvPr id="157" name="圖片 156"/>
              <p:cNvPicPr>
                <a:picLocks noChangeAspect="1"/>
              </p:cNvPicPr>
              <p:nvPr/>
            </p:nvPicPr>
            <p:blipFill>
              <a:blip r:embed="rId12" cstate="screen">
                <a:extLst>
                  <a:ext uri="{BEBA8EAE-BF5A-486C-A8C5-ECC9F3942E4B}">
                    <a14:imgProps xmlns:a14="http://schemas.microsoft.com/office/drawing/2010/main">
                      <a14:imgLayer r:embed="rId13">
                        <a14:imgEffect>
                          <a14:backgroundRemoval t="6579" b="96579" l="3310" r="96864"/>
                        </a14:imgEffect>
                      </a14:imgLayer>
                    </a14:imgProps>
                  </a:ex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6898331" y="4503295"/>
                <a:ext cx="702623" cy="465151"/>
              </a:xfrm>
              <a:prstGeom prst="rect">
                <a:avLst/>
              </a:prstGeom>
            </p:spPr>
          </p:pic>
        </p:grpSp>
      </p:grpSp>
      <p:grpSp>
        <p:nvGrpSpPr>
          <p:cNvPr id="167" name="群組 166"/>
          <p:cNvGrpSpPr/>
          <p:nvPr/>
        </p:nvGrpSpPr>
        <p:grpSpPr>
          <a:xfrm rot="21000000">
            <a:off x="7333354" y="3850826"/>
            <a:ext cx="232892" cy="137297"/>
            <a:chOff x="1072142" y="2269860"/>
            <a:chExt cx="2293923" cy="137297"/>
          </a:xfrm>
        </p:grpSpPr>
        <p:sp>
          <p:nvSpPr>
            <p:cNvPr id="169" name="圓角矩形 168"/>
            <p:cNvSpPr/>
            <p:nvPr/>
          </p:nvSpPr>
          <p:spPr>
            <a:xfrm>
              <a:off x="1072142" y="2269860"/>
              <a:ext cx="2293923" cy="137297"/>
            </a:xfrm>
            <a:prstGeom prst="roundRect">
              <a:avLst/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900" b="1" dirty="0">
                <a:solidFill>
                  <a:schemeClr val="bg1"/>
                </a:solidFill>
              </a:endParaRPr>
            </a:p>
          </p:txBody>
        </p:sp>
        <p:cxnSp>
          <p:nvCxnSpPr>
            <p:cNvPr id="170" name="直線接點 169"/>
            <p:cNvCxnSpPr>
              <a:stCxn id="169" idx="1"/>
              <a:endCxn id="169" idx="3"/>
            </p:cNvCxnSpPr>
            <p:nvPr/>
          </p:nvCxnSpPr>
          <p:spPr>
            <a:xfrm rot="600000" flipV="1">
              <a:off x="1089565" y="2318288"/>
              <a:ext cx="2259075" cy="40442"/>
            </a:xfrm>
            <a:prstGeom prst="line">
              <a:avLst/>
            </a:prstGeom>
            <a:ln>
              <a:headEnd type="non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2" name="群組 171"/>
          <p:cNvGrpSpPr/>
          <p:nvPr/>
        </p:nvGrpSpPr>
        <p:grpSpPr>
          <a:xfrm>
            <a:off x="7362110" y="2787881"/>
            <a:ext cx="1213303" cy="1554235"/>
            <a:chOff x="9101912" y="3179363"/>
            <a:chExt cx="1213303" cy="1554235"/>
          </a:xfrm>
        </p:grpSpPr>
        <p:pic>
          <p:nvPicPr>
            <p:cNvPr id="165" name="圖片 164"/>
            <p:cNvPicPr>
              <a:picLocks noChangeAspect="1"/>
            </p:cNvPicPr>
            <p:nvPr/>
          </p:nvPicPr>
          <p:blipFill rotWithShape="1">
            <a:blip r:embed="rId8" cstate="screen">
              <a:extLst>
                <a:ext uri="{BEBA8EAE-BF5A-486C-A8C5-ECC9F3942E4B}">
                  <a14:imgProps xmlns:a14="http://schemas.microsoft.com/office/drawing/2010/main">
                    <a14:imgLayer r:embed="rId9">
                      <a14:imgEffect>
                        <a14:backgroundRemoval t="2439" b="100000" l="17717" r="100000">
                          <a14:foregroundMark x1="72441" y1="87282" x2="72441" y2="87282"/>
                          <a14:backgroundMark x1="31890" y1="91812" x2="31890" y2="91812"/>
                          <a14:backgroundMark x1="26772" y1="87631" x2="66535" y2="92160"/>
                          <a14:backgroundMark x1="91732" y1="90941" x2="94488" y2="87282"/>
                          <a14:backgroundMark x1="96850" y1="86760" x2="93701" y2="8676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9166563" y="3179363"/>
              <a:ext cx="1148652" cy="1554235"/>
            </a:xfrm>
            <a:prstGeom prst="rect">
              <a:avLst/>
            </a:prstGeom>
          </p:spPr>
        </p:pic>
        <p:pic>
          <p:nvPicPr>
            <p:cNvPr id="171" name="圖片 170"/>
            <p:cNvPicPr>
              <a:picLocks noChangeAspect="1"/>
            </p:cNvPicPr>
            <p:nvPr/>
          </p:nvPicPr>
          <p:blipFill>
            <a:blip r:embed="rId10" cstate="screen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10000" b="90000" l="10000" r="9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 rot="-600000">
              <a:off x="9101912" y="4007769"/>
              <a:ext cx="739846" cy="512862"/>
            </a:xfrm>
            <a:prstGeom prst="rect">
              <a:avLst/>
            </a:prstGeom>
          </p:spPr>
        </p:pic>
      </p:grpSp>
      <p:sp>
        <p:nvSpPr>
          <p:cNvPr id="173" name="圓角矩形 172"/>
          <p:cNvSpPr/>
          <p:nvPr/>
        </p:nvSpPr>
        <p:spPr>
          <a:xfrm>
            <a:off x="6848449" y="4780619"/>
            <a:ext cx="1202702" cy="335700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1200" b="1" dirty="0">
                <a:solidFill>
                  <a:sysClr val="windowText" lastClr="000000"/>
                </a:solidFill>
              </a:rPr>
              <a:t>耳料箱</a:t>
            </a:r>
            <a:endParaRPr lang="zh-TW" altLang="en-US" sz="900" b="1" dirty="0">
              <a:solidFill>
                <a:sysClr val="windowText" lastClr="000000"/>
              </a:solidFill>
            </a:endParaRPr>
          </a:p>
        </p:txBody>
      </p:sp>
      <p:sp>
        <p:nvSpPr>
          <p:cNvPr id="3" name="文字方塊 2"/>
          <p:cNvSpPr txBox="1"/>
          <p:nvPr/>
        </p:nvSpPr>
        <p:spPr>
          <a:xfrm>
            <a:off x="1387620" y="57059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透過手臂視覺進行邊框定位取料</a:t>
            </a:r>
          </a:p>
        </p:txBody>
      </p:sp>
      <p:sp>
        <p:nvSpPr>
          <p:cNvPr id="134" name="文字方塊 133"/>
          <p:cNvSpPr txBox="1"/>
          <p:nvPr/>
        </p:nvSpPr>
        <p:spPr>
          <a:xfrm>
            <a:off x="1387620" y="570593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放置於旋轉台後使用吸盤模組固定面板</a:t>
            </a:r>
          </a:p>
        </p:txBody>
      </p:sp>
      <p:sp>
        <p:nvSpPr>
          <p:cNvPr id="135" name="文字方塊 134"/>
          <p:cNvSpPr txBox="1"/>
          <p:nvPr/>
        </p:nvSpPr>
        <p:spPr>
          <a:xfrm>
            <a:off x="1387620" y="570593"/>
            <a:ext cx="526297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使用柔性爪應用，確保可有效剝除殘邊並保護產品</a:t>
            </a:r>
            <a:br>
              <a:rPr lang="en-US" altLang="zh-TW" dirty="0">
                <a:latin typeface="+mn-ea"/>
                <a:ea typeface="+mn-ea"/>
              </a:rPr>
            </a:br>
            <a:r>
              <a:rPr lang="zh-TW" altLang="en-US" dirty="0">
                <a:latin typeface="+mn-ea"/>
                <a:ea typeface="+mn-ea"/>
              </a:rPr>
              <a:t>面板統一單側對齊，故全尺寸面板適用</a:t>
            </a:r>
          </a:p>
        </p:txBody>
      </p:sp>
      <p:sp>
        <p:nvSpPr>
          <p:cNvPr id="136" name="文字方塊 135"/>
          <p:cNvSpPr txBox="1"/>
          <p:nvPr/>
        </p:nvSpPr>
        <p:spPr>
          <a:xfrm>
            <a:off x="1387620" y="570593"/>
            <a:ext cx="54938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主載台從避讓區移入，避免旋轉過程殘邊掉落主載台</a:t>
            </a:r>
          </a:p>
        </p:txBody>
      </p:sp>
      <p:sp>
        <p:nvSpPr>
          <p:cNvPr id="137" name="文字方塊 136"/>
          <p:cNvSpPr txBox="1"/>
          <p:nvPr/>
        </p:nvSpPr>
        <p:spPr>
          <a:xfrm>
            <a:off x="1399519" y="570593"/>
            <a:ext cx="387798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旋轉台內建推舉汽缸，穩定放置面板</a:t>
            </a:r>
            <a:br>
              <a:rPr lang="en-US" altLang="zh-TW" dirty="0">
                <a:latin typeface="+mn-ea"/>
                <a:ea typeface="+mn-ea"/>
              </a:rPr>
            </a:br>
            <a:r>
              <a:rPr lang="zh-TW" altLang="en-US" dirty="0">
                <a:latin typeface="+mn-ea"/>
                <a:ea typeface="+mn-ea"/>
              </a:rPr>
              <a:t>放置完畢主載台移回剝片區</a:t>
            </a:r>
          </a:p>
        </p:txBody>
      </p:sp>
      <p:sp>
        <p:nvSpPr>
          <p:cNvPr id="153" name="文字方塊 152"/>
          <p:cNvSpPr txBox="1"/>
          <p:nvPr/>
        </p:nvSpPr>
        <p:spPr>
          <a:xfrm>
            <a:off x="1387620" y="570593"/>
            <a:ext cx="34163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透過手臂視覺進行面板二次定位</a:t>
            </a:r>
          </a:p>
        </p:txBody>
      </p:sp>
      <p:sp>
        <p:nvSpPr>
          <p:cNvPr id="162" name="文字方塊 161"/>
          <p:cNvSpPr txBox="1"/>
          <p:nvPr/>
        </p:nvSpPr>
        <p:spPr>
          <a:xfrm>
            <a:off x="1387620" y="57059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使用手臂吸盤模組將面板移至剝片區</a:t>
            </a:r>
          </a:p>
        </p:txBody>
      </p:sp>
      <p:sp>
        <p:nvSpPr>
          <p:cNvPr id="163" name="文字方塊 162"/>
          <p:cNvSpPr txBox="1"/>
          <p:nvPr/>
        </p:nvSpPr>
        <p:spPr>
          <a:xfrm>
            <a:off x="1387620" y="570593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手臂模組退回避讓區</a:t>
            </a:r>
          </a:p>
        </p:txBody>
      </p:sp>
      <p:sp>
        <p:nvSpPr>
          <p:cNvPr id="164" name="文字方塊 163"/>
          <p:cNvSpPr txBox="1"/>
          <p:nvPr/>
        </p:nvSpPr>
        <p:spPr>
          <a:xfrm>
            <a:off x="1387620" y="570593"/>
            <a:ext cx="24929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面板固定夾具模組移入</a:t>
            </a:r>
          </a:p>
        </p:txBody>
      </p:sp>
      <p:sp>
        <p:nvSpPr>
          <p:cNvPr id="166" name="文字方塊 165"/>
          <p:cNvSpPr txBox="1"/>
          <p:nvPr/>
        </p:nvSpPr>
        <p:spPr>
          <a:xfrm>
            <a:off x="1387620" y="570593"/>
            <a:ext cx="45704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將面板固定於主載台上避免剝片過程被拖動</a:t>
            </a:r>
          </a:p>
        </p:txBody>
      </p:sp>
      <p:sp>
        <p:nvSpPr>
          <p:cNvPr id="168" name="文字方塊 167"/>
          <p:cNvSpPr txBox="1"/>
          <p:nvPr/>
        </p:nvSpPr>
        <p:spPr>
          <a:xfrm>
            <a:off x="1387620" y="57059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殘邊夾持模組移入</a:t>
            </a:r>
          </a:p>
        </p:txBody>
      </p:sp>
      <p:sp>
        <p:nvSpPr>
          <p:cNvPr id="174" name="文字方塊 173"/>
          <p:cNvSpPr txBox="1"/>
          <p:nvPr/>
        </p:nvSpPr>
        <p:spPr>
          <a:xfrm>
            <a:off x="1387620" y="570593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殘邊夾爪夾持殘邊</a:t>
            </a:r>
          </a:p>
        </p:txBody>
      </p:sp>
      <p:sp>
        <p:nvSpPr>
          <p:cNvPr id="175" name="文字方塊 174"/>
          <p:cNvSpPr txBox="1"/>
          <p:nvPr/>
        </p:nvSpPr>
        <p:spPr>
          <a:xfrm>
            <a:off x="1387620" y="570593"/>
            <a:ext cx="418415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>
                <a:latin typeface="+mn-ea"/>
                <a:ea typeface="+mn-ea"/>
              </a:rPr>
              <a:t>Normal Cut</a:t>
            </a:r>
            <a:r>
              <a:rPr lang="zh-TW" altLang="en-US" dirty="0">
                <a:latin typeface="+mn-ea"/>
                <a:ea typeface="+mn-ea"/>
              </a:rPr>
              <a:t>殘邊進行仿人動作進行摺邊</a:t>
            </a:r>
            <a:endParaRPr lang="en-US" altLang="zh-TW" dirty="0">
              <a:latin typeface="+mn-ea"/>
              <a:ea typeface="+mn-ea"/>
            </a:endParaRPr>
          </a:p>
          <a:p>
            <a:r>
              <a:rPr lang="en-US" altLang="zh-TW" dirty="0">
                <a:latin typeface="+mn-ea"/>
                <a:ea typeface="+mn-ea"/>
              </a:rPr>
              <a:t>(Cutting On Seal</a:t>
            </a:r>
            <a:r>
              <a:rPr lang="zh-TW" altLang="en-US" dirty="0">
                <a:latin typeface="+mn-ea"/>
                <a:ea typeface="+mn-ea"/>
              </a:rPr>
              <a:t> 殘邊可省略此步驟</a:t>
            </a:r>
            <a:r>
              <a:rPr lang="en-US" altLang="zh-TW" dirty="0">
                <a:latin typeface="+mn-ea"/>
                <a:ea typeface="+mn-ea"/>
              </a:rPr>
              <a:t>)</a:t>
            </a:r>
            <a:endParaRPr lang="zh-TW" altLang="en-US" dirty="0">
              <a:latin typeface="+mn-ea"/>
              <a:ea typeface="+mn-ea"/>
            </a:endParaRPr>
          </a:p>
        </p:txBody>
      </p:sp>
      <p:sp>
        <p:nvSpPr>
          <p:cNvPr id="176" name="文字方塊 175"/>
          <p:cNvSpPr txBox="1"/>
          <p:nvPr/>
        </p:nvSpPr>
        <p:spPr>
          <a:xfrm>
            <a:off x="1387620" y="570593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切割邊緣沿裂後拉開殘邊</a:t>
            </a:r>
          </a:p>
        </p:txBody>
      </p:sp>
      <p:sp>
        <p:nvSpPr>
          <p:cNvPr id="177" name="文字方塊 176"/>
          <p:cNvSpPr txBox="1"/>
          <p:nvPr/>
        </p:nvSpPr>
        <p:spPr>
          <a:xfrm>
            <a:off x="1387620" y="570593"/>
            <a:ext cx="38779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內建機構在夾爪收回時承靠進行除料</a:t>
            </a:r>
            <a:endParaRPr lang="en-US" altLang="zh-TW" dirty="0"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7491784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-1.35802E-6 L 0.04653 0.08025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26" y="4012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1.23457E-7 L 0.05121 0.0858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52" y="429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2000"/>
                            </p:stCondLst>
                            <p:childTnLst>
                              <p:par>
                                <p:cTn id="1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653 0.08025 L -0.0441 -0.08765 " pathEditMode="relative" rAng="0" ptsTypes="AA">
                                      <p:cBhvr>
                                        <p:cTn id="16" dur="2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531" y="-83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8" presetClass="emph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0800000">
                                      <p:cBhvr>
                                        <p:cTn id="38" dur="2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3.08642E-6 L 0.0408 0.00093 " pathEditMode="relative" rAng="0" ptsTypes="AA">
                                      <p:cBhvr>
                                        <p:cTn id="60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031" y="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2000"/>
                            </p:stCondLst>
                            <p:childTnLst>
                              <p:par>
                                <p:cTn id="62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7 2.46914E-6 L -2.77778E-7 0.25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25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4000"/>
                            </p:stCondLst>
                            <p:childTnLst>
                              <p:par>
                                <p:cTn id="65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408 0.00093 L 8.33333E-7 -3.08642E-6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049" y="-62"/>
                                    </p:animMotion>
                                  </p:childTnLst>
                                </p:cTn>
                              </p:par>
                              <p:par>
                                <p:cTn id="6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61111E-6 1.11022E-16 L -0.30608 1.11022E-16 " pathEditMode="relative" rAng="0" ptsTypes="AA">
                                      <p:cBhvr>
                                        <p:cTn id="82" dur="2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313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>
                            <p:stCondLst>
                              <p:cond delay="500"/>
                            </p:stCondLst>
                            <p:childTnLst>
                              <p:par>
                                <p:cTn id="10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>
                            <p:stCondLst>
                              <p:cond delay="500"/>
                            </p:stCondLst>
                            <p:childTnLst>
                              <p:par>
                                <p:cTn id="11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500"/>
                            </p:stCondLst>
                            <p:childTnLst>
                              <p:par>
                                <p:cTn id="113" presetID="42" presetClass="path" presetSubtype="0" accel="50000" decel="5000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.55556E-7 4.32099E-6 L 0.30937 4.32099E-6 " pathEditMode="relative" rAng="0" ptsTypes="AA">
                                      <p:cBhvr>
                                        <p:cTn id="114" dur="20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546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5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111E-6 -6.17284E-7 L 0.1993 -6.17284E-7 C 0.28871 -6.17284E-7 0.39948 0.08796 0.39948 0.15926 L 0.39948 0.31852 " pathEditMode="relative" rAng="0" ptsTypes="AAAA">
                                      <p:cBhvr>
                                        <p:cTn id="134" dur="2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9965" y="1592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46914E-7 L 0.0625 -2.46914E-7 " pathEditMode="relative" rAng="0" ptsTypes="AA">
                                      <p:cBhvr>
                                        <p:cTn id="162" dur="2000" fill="hold"/>
                                        <p:tgtEl>
                                          <p:spTgt spid="10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25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4" fill="hold">
                            <p:stCondLst>
                              <p:cond delay="0"/>
                            </p:stCondLst>
                            <p:childTnLst>
                              <p:par>
                                <p:cTn id="175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>
                            <p:stCondLst>
                              <p:cond delay="0"/>
                            </p:stCondLst>
                            <p:childTnLst>
                              <p:par>
                                <p:cTn id="18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22222E-6 1.23457E-6 L 0.00087 -0.16142 L -0.13663 -0.31975 L -0.45989 -0.31975 " pathEditMode="relative" rAng="0" ptsTypes="AAAA">
                                      <p:cBhvr>
                                        <p:cTn id="184" dur="2000" fill="hold"/>
                                        <p:tgtEl>
                                          <p:spTgt spid="1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22951" y="-1598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>
                      <p:stCondLst>
                        <p:cond delay="indefinite"/>
                      </p:stCondLst>
                      <p:childTnLst>
                        <p:par>
                          <p:cTn id="186" fill="hold">
                            <p:stCondLst>
                              <p:cond delay="0"/>
                            </p:stCondLst>
                            <p:childTnLst>
                              <p:par>
                                <p:cTn id="18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9" fill="hold">
                            <p:stCondLst>
                              <p:cond delay="0"/>
                            </p:stCondLst>
                            <p:childTnLst>
                              <p:par>
                                <p:cTn id="1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9" fill="hold">
                            <p:stCondLst>
                              <p:cond delay="0"/>
                            </p:stCondLst>
                            <p:childTnLst>
                              <p:par>
                                <p:cTn id="200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-1.23457E-6 L -0.09375 0.00031 " pathEditMode="relative" rAng="0" ptsTypes="AA">
                                      <p:cBhvr>
                                        <p:cTn id="201" dur="2000" fill="hold"/>
                                        <p:tgtEl>
                                          <p:spTgt spid="1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688" y="0"/>
                                    </p:animMotion>
                                  </p:childTnLst>
                                </p:cTn>
                              </p:par>
                              <p:par>
                                <p:cTn id="202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2.96296E-6 L -0.09444 -0.00092 " pathEditMode="relative" rAng="0" ptsTypes="AA">
                                      <p:cBhvr>
                                        <p:cTn id="203" dur="2000" fill="hold"/>
                                        <p:tgtEl>
                                          <p:spTgt spid="1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722" y="-6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>
                      <p:stCondLst>
                        <p:cond delay="indefinite"/>
                      </p:stCondLst>
                      <p:childTnLst>
                        <p:par>
                          <p:cTn id="205" fill="hold">
                            <p:stCondLst>
                              <p:cond delay="0"/>
                            </p:stCondLst>
                            <p:childTnLst>
                              <p:par>
                                <p:cTn id="2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2" fill="hold">
                            <p:stCondLst>
                              <p:cond delay="0"/>
                            </p:stCondLst>
                            <p:childTnLst>
                              <p:par>
                                <p:cTn id="213" presetID="1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5" fill="hold">
                            <p:stCondLst>
                              <p:cond delay="0"/>
                            </p:stCondLst>
                            <p:childTnLst>
                              <p:par>
                                <p:cTn id="21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8" fill="hold">
                            <p:stCondLst>
                              <p:cond delay="0"/>
                            </p:stCondLst>
                            <p:childTnLst>
                              <p:par>
                                <p:cTn id="219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77778E-7 4.32099E-6 L 0.00104 0.1574 " pathEditMode="relative" rAng="0" ptsTypes="AA">
                                      <p:cBhvr>
                                        <p:cTn id="220" dur="2000" fill="hold"/>
                                        <p:tgtEl>
                                          <p:spTgt spid="1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" y="7870"/>
                                    </p:animMotion>
                                  </p:childTnLst>
                                </p:cTn>
                              </p:par>
                              <p:par>
                                <p:cTn id="2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3" presetID="35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66667E-6 1.23457E-7 L -0.07604 1.23457E-7 " pathEditMode="relative" rAng="0" ptsTypes="AA">
                                      <p:cBhvr>
                                        <p:cTn id="234" dur="2000" fill="hold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802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5" fill="hold">
                      <p:stCondLst>
                        <p:cond delay="indefinite"/>
                      </p:stCondLst>
                      <p:childTnLst>
                        <p:par>
                          <p:cTn id="236" fill="hold">
                            <p:stCondLst>
                              <p:cond delay="0"/>
                            </p:stCondLst>
                            <p:childTnLst>
                              <p:par>
                                <p:cTn id="2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1" fill="hold">
                      <p:stCondLst>
                        <p:cond delay="indefinite"/>
                      </p:stCondLst>
                      <p:childTnLst>
                        <p:par>
                          <p:cTn id="252" fill="hold">
                            <p:stCondLst>
                              <p:cond delay="0"/>
                            </p:stCondLst>
                            <p:childTnLst>
                              <p:par>
                                <p:cTn id="25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1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-600000">
                                      <p:cBhvr>
                                        <p:cTn id="262" dur="2000" fill="hold"/>
                                        <p:tgtEl>
                                          <p:spTgt spid="15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26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7" fill="hold">
                      <p:stCondLst>
                        <p:cond delay="indefinite"/>
                      </p:stCondLst>
                      <p:childTnLst>
                        <p:par>
                          <p:cTn id="268" fill="hold">
                            <p:stCondLst>
                              <p:cond delay="0"/>
                            </p:stCondLst>
                            <p:childTnLst>
                              <p:par>
                                <p:cTn id="2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1" fill="hold">
                            <p:stCondLst>
                              <p:cond delay="0"/>
                            </p:stCondLst>
                            <p:childTnLst>
                              <p:par>
                                <p:cTn id="272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4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8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4" presetID="63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0.07969 -0.00031 " pathEditMode="relative" rAng="0" ptsTypes="AA">
                                      <p:cBhvr>
                                        <p:cTn id="285" dur="2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54" y="-3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6" fill="hold">
                      <p:stCondLst>
                        <p:cond delay="indefinite"/>
                      </p:stCondLst>
                      <p:childTnLst>
                        <p:par>
                          <p:cTn id="287" fill="hold">
                            <p:stCondLst>
                              <p:cond delay="0"/>
                            </p:stCondLst>
                            <p:childTnLst>
                              <p:par>
                                <p:cTn id="288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0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4" fill="hold">
                            <p:stCondLst>
                              <p:cond delay="0"/>
                            </p:stCondLst>
                            <p:childTnLst>
                              <p:par>
                                <p:cTn id="29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7" fill="hold">
                            <p:stCondLst>
                              <p:cond delay="0"/>
                            </p:stCondLst>
                            <p:childTnLst>
                              <p:par>
                                <p:cTn id="29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0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4" fill="hold">
                      <p:stCondLst>
                        <p:cond delay="indefinite"/>
                      </p:stCondLst>
                      <p:childTnLst>
                        <p:par>
                          <p:cTn id="305" fill="hold">
                            <p:stCondLst>
                              <p:cond delay="0"/>
                            </p:stCondLst>
                            <p:childTnLst>
                              <p:par>
                                <p:cTn id="306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33333E-6 2.96296E-6 L -3.33333E-6 0.20277 " pathEditMode="relative" rAng="0" ptsTypes="AA">
                                      <p:cBhvr>
                                        <p:cTn id="307" dur="2000" fill="hold"/>
                                        <p:tgtEl>
                                          <p:spTgt spid="1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1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8" fill="hold">
                            <p:stCondLst>
                              <p:cond delay="2000"/>
                            </p:stCondLst>
                            <p:childTnLst>
                              <p:par>
                                <p:cTn id="309" presetID="1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" grpId="0" animBg="1"/>
      <p:bldP spid="49" grpId="1" animBg="1"/>
      <p:bldP spid="49" grpId="2" animBg="1"/>
      <p:bldP spid="82" grpId="0" animBg="1"/>
      <p:bldP spid="82" grpId="1" animBg="1"/>
      <p:bldP spid="85" grpId="0" animBg="1"/>
      <p:bldP spid="85" grpId="1" animBg="1"/>
      <p:bldP spid="86" grpId="0" animBg="1"/>
      <p:bldP spid="86" grpId="1" animBg="1"/>
      <p:bldP spid="87" grpId="0" animBg="1"/>
      <p:bldP spid="87" grpId="1" animBg="1"/>
      <p:bldP spid="88" grpId="0" animBg="1"/>
      <p:bldP spid="88" grpId="1" animBg="1"/>
      <p:bldP spid="89" grpId="0" animBg="1"/>
      <p:bldP spid="89" grpId="1" animBg="1"/>
      <p:bldP spid="90" grpId="0" animBg="1"/>
      <p:bldP spid="90" grpId="1" animBg="1"/>
      <p:bldP spid="91" grpId="0" animBg="1"/>
      <p:bldP spid="91" grpId="1" animBg="1"/>
      <p:bldP spid="92" grpId="0" animBg="1"/>
      <p:bldP spid="92" grpId="1" animBg="1"/>
      <p:bldP spid="93" grpId="0" animBg="1"/>
      <p:bldP spid="93" grpId="1" animBg="1"/>
      <p:bldP spid="94" grpId="0" animBg="1"/>
      <p:bldP spid="94" grpId="1" animBg="1"/>
      <p:bldP spid="95" grpId="0" animBg="1"/>
      <p:bldP spid="95" grpId="1" animBg="1"/>
      <p:bldP spid="117" grpId="0" animBg="1"/>
      <p:bldP spid="142" grpId="0" animBg="1"/>
      <p:bldP spid="142" grpId="1" animBg="1"/>
      <p:bldP spid="143" grpId="0" animBg="1"/>
      <p:bldP spid="143" grpId="1" animBg="1"/>
      <p:bldP spid="144" grpId="0" animBg="1"/>
      <p:bldP spid="144" grpId="1" animBg="1"/>
      <p:bldP spid="3" grpId="0"/>
      <p:bldP spid="3" grpId="1"/>
      <p:bldP spid="134" grpId="0"/>
      <p:bldP spid="134" grpId="1"/>
      <p:bldP spid="135" grpId="0"/>
      <p:bldP spid="135" grpId="1"/>
      <p:bldP spid="136" grpId="0"/>
      <p:bldP spid="136" grpId="1"/>
      <p:bldP spid="137" grpId="0"/>
      <p:bldP spid="137" grpId="1"/>
      <p:bldP spid="153" grpId="0"/>
      <p:bldP spid="153" grpId="1"/>
      <p:bldP spid="162" grpId="0"/>
      <p:bldP spid="162" grpId="1"/>
      <p:bldP spid="163" grpId="0"/>
      <p:bldP spid="163" grpId="1"/>
      <p:bldP spid="164" grpId="0"/>
      <p:bldP spid="164" grpId="1"/>
      <p:bldP spid="166" grpId="0"/>
      <p:bldP spid="166" grpId="1"/>
      <p:bldP spid="168" grpId="0"/>
      <p:bldP spid="168" grpId="1"/>
      <p:bldP spid="174" grpId="0"/>
      <p:bldP spid="174" grpId="1"/>
      <p:bldP spid="175" grpId="0"/>
      <p:bldP spid="175" grpId="1"/>
      <p:bldP spid="176" grpId="0"/>
      <p:bldP spid="176" grpId="1"/>
      <p:bldP spid="177" grpId="0"/>
      <p:bldP spid="177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7C6558-70A9-38B7-EA1D-A2000214065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Cost down -</a:t>
            </a:r>
            <a:r>
              <a:rPr lang="zh-TW" altLang="en-US" dirty="0"/>
              <a:t> </a:t>
            </a:r>
            <a:r>
              <a:rPr lang="en-US" altLang="zh-TW" dirty="0"/>
              <a:t>AOI</a:t>
            </a:r>
            <a:endParaRPr lang="zh-TW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E86F9A2D-724A-8554-6600-2E6B57449362}"/>
              </a:ext>
            </a:extLst>
          </p:cNvPr>
          <p:cNvGraphicFramePr>
            <a:graphicFrameLocks noGrp="1"/>
          </p:cNvGraphicFramePr>
          <p:nvPr/>
        </p:nvGraphicFramePr>
        <p:xfrm>
          <a:off x="436161" y="1729894"/>
          <a:ext cx="2294890" cy="19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18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6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593.9W</a:t>
                      </a:r>
                    </a:p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不含軟體及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保固人工時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100hr)</a:t>
                      </a: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矩形: 圓角 4">
            <a:extLst>
              <a:ext uri="{FF2B5EF4-FFF2-40B4-BE49-F238E27FC236}">
                <a16:creationId xmlns:a16="http://schemas.microsoft.com/office/drawing/2014/main" id="{41D3DACD-C96C-7EAC-89CD-F8501E746BD1}"/>
              </a:ext>
            </a:extLst>
          </p:cNvPr>
          <p:cNvSpPr/>
          <p:nvPr/>
        </p:nvSpPr>
        <p:spPr>
          <a:xfrm>
            <a:off x="537670" y="2308462"/>
            <a:ext cx="2091872" cy="158750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191B24A6-3402-0A87-B413-4430634F6509}"/>
              </a:ext>
            </a:extLst>
          </p:cNvPr>
          <p:cNvGraphicFramePr>
            <a:graphicFrameLocks noGrp="1"/>
          </p:cNvGraphicFramePr>
          <p:nvPr/>
        </p:nvGraphicFramePr>
        <p:xfrm>
          <a:off x="3745979" y="2636935"/>
          <a:ext cx="4825360" cy="1602857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0884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27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4193">
                  <a:extLst>
                    <a:ext uri="{9D8B030D-6E8A-4147-A177-3AD203B41FA5}">
                      <a16:colId xmlns:a16="http://schemas.microsoft.com/office/drawing/2014/main" val="3599095029"/>
                    </a:ext>
                  </a:extLst>
                </a:gridCol>
              </a:tblGrid>
              <a:tr h="410593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類別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備註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32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Adlink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IPC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38 -&gt; 36.8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-&gt;24.8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研華 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(36.8</a:t>
                      </a:r>
                      <a:r>
                        <a:rPr lang="zh-TW" altLang="en-US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萬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  <a:p>
                      <a:pPr marL="342900" marR="0" lvl="0" indent="-34290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eriod"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商用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(24.8</a:t>
                      </a:r>
                      <a:r>
                        <a:rPr lang="zh-TW" altLang="en-US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萬</a:t>
                      </a:r>
                      <a:r>
                        <a:rPr lang="en-US" altLang="zh-TW" sz="1000" b="1" i="0" u="none" strike="noStrike" dirty="0">
                          <a:solidFill>
                            <a:srgbClr val="2727F5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)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32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相機</a:t>
                      </a:r>
                    </a:p>
                  </a:txBody>
                  <a:tcPr marL="7144" marR="7144" marT="7144" marB="0" anchor="ctr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38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342900" indent="-342900" algn="l" fontAlgn="ctr">
                        <a:buFont typeface="+mj-lt"/>
                        <a:buAutoNum type="arabicPeriod"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相機使用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HY 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活化資產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  <a:sym typeface="Wingdings" panose="05000000000000000000" pitchFamily="2" charset="2"/>
                        </a:rPr>
                        <a:t>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  <a:sym typeface="Wingdings" panose="05000000000000000000" pitchFamily="2" charset="2"/>
                        </a:rPr>
                        <a:t> 不合用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  <a:sym typeface="Wingdings" panose="05000000000000000000" pitchFamily="2" charset="2"/>
                        </a:rPr>
                        <a:t>(8/5)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marL="0" indent="0" algn="l" fontAlgn="ctr">
                        <a:buFont typeface="+mj-lt"/>
                        <a:buNone/>
                      </a:pP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8376">
                <a:tc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-&gt;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62</a:t>
                      </a:r>
                    </a:p>
                  </a:txBody>
                  <a:tcPr marL="7144" marR="7144" marT="7144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377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BAC802CD-4104-CA09-BE3F-033719C481B4}"/>
              </a:ext>
            </a:extLst>
          </p:cNvPr>
          <p:cNvCxnSpPr>
            <a:cxnSpLocks/>
          </p:cNvCxnSpPr>
          <p:nvPr/>
        </p:nvCxnSpPr>
        <p:spPr>
          <a:xfrm>
            <a:off x="2629543" y="2308462"/>
            <a:ext cx="1086374" cy="3284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線單箭頭接點 11">
            <a:extLst>
              <a:ext uri="{FF2B5EF4-FFF2-40B4-BE49-F238E27FC236}">
                <a16:creationId xmlns:a16="http://schemas.microsoft.com/office/drawing/2014/main" id="{3E431C33-CA1F-1C64-45E7-C736E55E565F}"/>
              </a:ext>
            </a:extLst>
          </p:cNvPr>
          <p:cNvCxnSpPr>
            <a:cxnSpLocks/>
          </p:cNvCxnSpPr>
          <p:nvPr/>
        </p:nvCxnSpPr>
        <p:spPr>
          <a:xfrm>
            <a:off x="2629542" y="2449139"/>
            <a:ext cx="1098344" cy="175342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圖片 14">
            <a:extLst>
              <a:ext uri="{FF2B5EF4-FFF2-40B4-BE49-F238E27FC236}">
                <a16:creationId xmlns:a16="http://schemas.microsoft.com/office/drawing/2014/main" id="{BFB3DBFA-02D8-5F4C-1181-6C127EA75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0594" y="230951"/>
            <a:ext cx="1188368" cy="1894104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E5B564F1-118F-DD59-0ACC-B7DECC03C5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4750" y="180051"/>
            <a:ext cx="4052371" cy="2247139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915AD305-6818-C681-2331-CC741A0D58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161" y="3620723"/>
            <a:ext cx="2193381" cy="1497070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8C9E37F0-7C64-7B9C-BEB3-3F1E59DD3BCB}"/>
              </a:ext>
            </a:extLst>
          </p:cNvPr>
          <p:cNvSpPr txBox="1"/>
          <p:nvPr/>
        </p:nvSpPr>
        <p:spPr>
          <a:xfrm>
            <a:off x="3727885" y="4375137"/>
            <a:ext cx="4881077" cy="5770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1" dirty="0"/>
              <a:t>32G </a:t>
            </a:r>
            <a:r>
              <a:rPr lang="zh-TW" altLang="en-US" sz="1050" b="1" dirty="0"/>
              <a:t>記憶體：</a:t>
            </a:r>
            <a:r>
              <a:rPr lang="en-US" altLang="zh-TW" sz="1050" b="1" dirty="0"/>
              <a:t>(</a:t>
            </a:r>
            <a:r>
              <a:rPr lang="zh-TW" altLang="en-US" sz="1050" b="1" dirty="0"/>
              <a:t>工規</a:t>
            </a:r>
            <a:r>
              <a:rPr lang="en-US" altLang="zh-TW" sz="1050" b="1" dirty="0"/>
              <a:t>)4</a:t>
            </a:r>
            <a:r>
              <a:rPr lang="zh-TW" altLang="en-US" sz="1050" b="1" dirty="0"/>
              <a:t>萬 * </a:t>
            </a:r>
            <a:r>
              <a:rPr lang="en-US" altLang="zh-TW" sz="1050" b="1" dirty="0"/>
              <a:t>4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=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16</a:t>
            </a:r>
            <a:r>
              <a:rPr lang="zh-TW" altLang="en-US" sz="1050" b="1" dirty="0"/>
              <a:t>萬 </a:t>
            </a:r>
            <a:r>
              <a:rPr lang="en-US" altLang="zh-TW" sz="1050" b="1" dirty="0"/>
              <a:t>(</a:t>
            </a:r>
            <a:r>
              <a:rPr lang="zh-TW" altLang="en-US" sz="1050" b="1" dirty="0"/>
              <a:t>商規：</a:t>
            </a:r>
            <a:r>
              <a:rPr lang="en-US" altLang="zh-TW" sz="1050" b="1" dirty="0"/>
              <a:t>1.5</a:t>
            </a:r>
            <a:r>
              <a:rPr lang="zh-TW" altLang="en-US" sz="1050" b="1" dirty="0"/>
              <a:t>萬 *</a:t>
            </a:r>
            <a:r>
              <a:rPr lang="en-US" altLang="zh-TW" sz="1050" b="1" dirty="0"/>
              <a:t>4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=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6</a:t>
            </a:r>
            <a:r>
              <a:rPr lang="zh-TW" altLang="en-US" sz="1050" b="1" dirty="0"/>
              <a:t>萬</a:t>
            </a:r>
            <a:r>
              <a:rPr lang="en-US" altLang="zh-TW" sz="1050" b="1" dirty="0"/>
              <a:t>)</a:t>
            </a:r>
          </a:p>
          <a:p>
            <a:r>
              <a:rPr lang="en-US" altLang="zh-TW" sz="1050" b="1" dirty="0"/>
              <a:t>SSD</a:t>
            </a:r>
            <a:r>
              <a:rPr lang="zh-TW" altLang="en-US" sz="1050" b="1" dirty="0"/>
              <a:t> ：</a:t>
            </a:r>
            <a:r>
              <a:rPr lang="en-US" altLang="zh-TW" sz="1050" b="1" dirty="0"/>
              <a:t> (</a:t>
            </a:r>
            <a:r>
              <a:rPr lang="zh-TW" altLang="en-US" sz="1050" b="1" dirty="0"/>
              <a:t>工規</a:t>
            </a:r>
            <a:r>
              <a:rPr lang="en-US" altLang="zh-TW" sz="1050" b="1" dirty="0"/>
              <a:t>) 1.5</a:t>
            </a:r>
            <a:r>
              <a:rPr lang="zh-TW" altLang="en-US" sz="1050" b="1" dirty="0"/>
              <a:t>萬 * </a:t>
            </a:r>
            <a:r>
              <a:rPr lang="en-US" altLang="zh-TW" sz="1050" b="1" dirty="0"/>
              <a:t>2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=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3</a:t>
            </a:r>
            <a:r>
              <a:rPr lang="zh-TW" altLang="en-US" sz="1050" b="1" dirty="0"/>
              <a:t>萬</a:t>
            </a:r>
            <a:r>
              <a:rPr lang="en-US" altLang="zh-TW" sz="1050" b="1" dirty="0"/>
              <a:t> (</a:t>
            </a:r>
            <a:r>
              <a:rPr lang="zh-TW" altLang="en-US" sz="1050" b="1" dirty="0"/>
              <a:t>商規：</a:t>
            </a:r>
            <a:r>
              <a:rPr lang="en-US" altLang="zh-TW" sz="1050" b="1" dirty="0"/>
              <a:t>5000</a:t>
            </a:r>
            <a:r>
              <a:rPr lang="zh-TW" altLang="en-US" sz="1050" b="1" dirty="0"/>
              <a:t>*</a:t>
            </a:r>
            <a:r>
              <a:rPr lang="en-US" altLang="zh-TW" sz="1050" b="1" dirty="0"/>
              <a:t>2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=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1</a:t>
            </a:r>
            <a:r>
              <a:rPr lang="zh-TW" altLang="en-US" sz="1050" b="1" dirty="0"/>
              <a:t> 萬</a:t>
            </a:r>
            <a:r>
              <a:rPr lang="en-US" altLang="zh-TW" sz="1050" b="1" dirty="0"/>
              <a:t>)</a:t>
            </a:r>
          </a:p>
          <a:p>
            <a:r>
              <a:rPr lang="en-US" altLang="zh-TW" sz="1050" b="1" dirty="0">
                <a:sym typeface="Wingdings" panose="05000000000000000000" pitchFamily="2" charset="2"/>
              </a:rPr>
              <a:t></a:t>
            </a:r>
            <a:r>
              <a:rPr lang="zh-TW" altLang="en-US" sz="1050" b="1" dirty="0">
                <a:sym typeface="Wingdings" panose="05000000000000000000" pitchFamily="2" charset="2"/>
              </a:rPr>
              <a:t> 商用可節省：</a:t>
            </a:r>
            <a:r>
              <a:rPr lang="en-US" altLang="zh-TW" sz="1050" b="1" dirty="0">
                <a:sym typeface="Wingdings" panose="05000000000000000000" pitchFamily="2" charset="2"/>
              </a:rPr>
              <a:t>12</a:t>
            </a:r>
            <a:r>
              <a:rPr lang="zh-TW" altLang="en-US" sz="1050" b="1" dirty="0">
                <a:sym typeface="Wingdings" panose="05000000000000000000" pitchFamily="2" charset="2"/>
              </a:rPr>
              <a:t>萬 </a:t>
            </a:r>
            <a:r>
              <a:rPr lang="en-US" altLang="zh-TW" sz="1050" b="1" dirty="0">
                <a:sym typeface="Wingdings" panose="05000000000000000000" pitchFamily="2" charset="2"/>
              </a:rPr>
              <a:t>(RD</a:t>
            </a:r>
            <a:r>
              <a:rPr lang="zh-TW" altLang="en-US" sz="1050" b="1" dirty="0">
                <a:sym typeface="Wingdings" panose="05000000000000000000" pitchFamily="2" charset="2"/>
              </a:rPr>
              <a:t> 確認可行</a:t>
            </a:r>
            <a:r>
              <a:rPr lang="en-US" altLang="zh-TW" sz="1050" b="1" dirty="0">
                <a:sym typeface="Wingdings" panose="05000000000000000000" pitchFamily="2" charset="2"/>
              </a:rPr>
              <a:t>)</a:t>
            </a:r>
            <a:endParaRPr lang="zh-TW" altLang="en-US" sz="1050" b="1" dirty="0"/>
          </a:p>
        </p:txBody>
      </p:sp>
    </p:spTree>
    <p:extLst>
      <p:ext uri="{BB962C8B-B14F-4D97-AF65-F5344CB8AC3E}">
        <p14:creationId xmlns:p14="http://schemas.microsoft.com/office/powerpoint/2010/main" val="17167280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ACA6035-7BFC-1DA2-01B2-6729FD6CEF6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TW" dirty="0"/>
              <a:t>Cost Down – </a:t>
            </a:r>
            <a:r>
              <a:rPr lang="zh-TW" altLang="en-US" dirty="0"/>
              <a:t>系統整合 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19E2CE16-20B5-FED4-E07D-5EDC0D6378E4}"/>
              </a:ext>
            </a:extLst>
          </p:cNvPr>
          <p:cNvGraphicFramePr>
            <a:graphicFrameLocks noGrp="1"/>
          </p:cNvGraphicFramePr>
          <p:nvPr/>
        </p:nvGraphicFramePr>
        <p:xfrm>
          <a:off x="394173" y="2058367"/>
          <a:ext cx="2294890" cy="19093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718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</a:t>
                      </a:r>
                      <a:r>
                        <a:rPr lang="en-US" altLang="zh-TW" sz="1100" b="1" u="none" strike="noStrike" baseline="0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 </a:t>
                      </a:r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Robot </a:t>
                      </a:r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en-US" altLang="zh-TW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(NTD. W)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65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自動剝片硬體機構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估價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AOI+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電腦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76W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分流機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291W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SI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系統整合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26.9W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593.9W</a:t>
                      </a:r>
                    </a:p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(</a:t>
                      </a: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不含軟體及</a:t>
                      </a:r>
                      <a:endParaRPr lang="en-US" altLang="zh-TW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  <a:p>
                      <a:pPr algn="ctr" fontAlgn="ctr"/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保固人工時</a:t>
                      </a:r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100hr)</a:t>
                      </a: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6" name="圖片 5">
            <a:extLst>
              <a:ext uri="{FF2B5EF4-FFF2-40B4-BE49-F238E27FC236}">
                <a16:creationId xmlns:a16="http://schemas.microsoft.com/office/drawing/2014/main" id="{012A819F-FDB9-573E-8B6D-1D3BBD7E5A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921" y="1927060"/>
            <a:ext cx="4182748" cy="2191235"/>
          </a:xfrm>
          <a:prstGeom prst="rect">
            <a:avLst/>
          </a:prstGeom>
        </p:spPr>
      </p:pic>
      <p:cxnSp>
        <p:nvCxnSpPr>
          <p:cNvPr id="8" name="直線單箭頭接點 7">
            <a:extLst>
              <a:ext uri="{FF2B5EF4-FFF2-40B4-BE49-F238E27FC236}">
                <a16:creationId xmlns:a16="http://schemas.microsoft.com/office/drawing/2014/main" id="{76C5D813-3302-0570-2C83-9053A2E498C9}"/>
              </a:ext>
            </a:extLst>
          </p:cNvPr>
          <p:cNvCxnSpPr>
            <a:cxnSpLocks/>
          </p:cNvCxnSpPr>
          <p:nvPr/>
        </p:nvCxnSpPr>
        <p:spPr>
          <a:xfrm flipV="1">
            <a:off x="2570021" y="1927060"/>
            <a:ext cx="1131900" cy="121352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單箭頭接點 9">
            <a:extLst>
              <a:ext uri="{FF2B5EF4-FFF2-40B4-BE49-F238E27FC236}">
                <a16:creationId xmlns:a16="http://schemas.microsoft.com/office/drawing/2014/main" id="{74C00BA9-343E-4E06-695F-44AE10171815}"/>
              </a:ext>
            </a:extLst>
          </p:cNvPr>
          <p:cNvCxnSpPr>
            <a:cxnSpLocks/>
          </p:cNvCxnSpPr>
          <p:nvPr/>
        </p:nvCxnSpPr>
        <p:spPr>
          <a:xfrm>
            <a:off x="2570021" y="3299334"/>
            <a:ext cx="1131900" cy="73149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矩形: 圓角 10">
            <a:extLst>
              <a:ext uri="{FF2B5EF4-FFF2-40B4-BE49-F238E27FC236}">
                <a16:creationId xmlns:a16="http://schemas.microsoft.com/office/drawing/2014/main" id="{7F985B80-122D-B1D1-4673-C7FE61110F83}"/>
              </a:ext>
            </a:extLst>
          </p:cNvPr>
          <p:cNvSpPr/>
          <p:nvPr/>
        </p:nvSpPr>
        <p:spPr>
          <a:xfrm>
            <a:off x="478149" y="3140584"/>
            <a:ext cx="2091872" cy="158750"/>
          </a:xfrm>
          <a:prstGeom prst="roundRect">
            <a:avLst/>
          </a:prstGeom>
          <a:noFill/>
          <a:ln w="254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05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AB80F736-D779-E839-4D27-E3A631BA7181}"/>
              </a:ext>
            </a:extLst>
          </p:cNvPr>
          <p:cNvSpPr txBox="1"/>
          <p:nvPr/>
        </p:nvSpPr>
        <p:spPr>
          <a:xfrm>
            <a:off x="3757905" y="4219769"/>
            <a:ext cx="3647845" cy="2539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050" dirty="0"/>
              <a:t>檢討架構、資產活化，預算控制在</a:t>
            </a:r>
            <a:r>
              <a:rPr lang="en-US" altLang="zh-TW" sz="1050" dirty="0">
                <a:solidFill>
                  <a:srgbClr val="2727F5"/>
                </a:solidFill>
              </a:rPr>
              <a:t>25</a:t>
            </a:r>
            <a:r>
              <a:rPr lang="zh-TW" altLang="en-US" sz="1050" dirty="0">
                <a:solidFill>
                  <a:srgbClr val="2727F5"/>
                </a:solidFill>
              </a:rPr>
              <a:t>萬</a:t>
            </a:r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39601F8F-DB20-4F6A-9AD4-7678D65783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5400000">
            <a:off x="5655458" y="21344"/>
            <a:ext cx="1450426" cy="1532173"/>
          </a:xfrm>
          <a:prstGeom prst="rect">
            <a:avLst/>
          </a:prstGeom>
        </p:spPr>
      </p:pic>
      <p:sp>
        <p:nvSpPr>
          <p:cNvPr id="9" name="文字方塊 8">
            <a:extLst>
              <a:ext uri="{FF2B5EF4-FFF2-40B4-BE49-F238E27FC236}">
                <a16:creationId xmlns:a16="http://schemas.microsoft.com/office/drawing/2014/main" id="{4C4A2BDD-8083-5B35-118E-EED38C66E869}"/>
              </a:ext>
            </a:extLst>
          </p:cNvPr>
          <p:cNvSpPr txBox="1"/>
          <p:nvPr/>
        </p:nvSpPr>
        <p:spPr>
          <a:xfrm>
            <a:off x="5581826" y="1551126"/>
            <a:ext cx="2372552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1050" b="1" dirty="0"/>
              <a:t>HY</a:t>
            </a:r>
            <a:r>
              <a:rPr lang="zh-TW" altLang="en-US" sz="1050" b="1" dirty="0"/>
              <a:t> 資產活化：</a:t>
            </a:r>
            <a:r>
              <a:rPr lang="en-US" altLang="zh-TW" sz="1050" b="1" dirty="0"/>
              <a:t>PLC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+</a:t>
            </a:r>
            <a:r>
              <a:rPr lang="zh-TW" altLang="en-US" sz="1050" b="1" dirty="0"/>
              <a:t> </a:t>
            </a:r>
            <a:r>
              <a:rPr lang="en-US" altLang="zh-TW" sz="1050" b="1" dirty="0"/>
              <a:t>I/O</a:t>
            </a:r>
            <a:r>
              <a:rPr lang="zh-TW" altLang="en-US" sz="1050" b="1" dirty="0"/>
              <a:t>模組</a:t>
            </a:r>
            <a:r>
              <a:rPr lang="en-US" altLang="zh-TW" sz="1050" b="1" dirty="0"/>
              <a:t> + HMI</a:t>
            </a:r>
            <a:endParaRPr lang="zh-TW" altLang="en-US" sz="1350" dirty="0"/>
          </a:p>
        </p:txBody>
      </p:sp>
    </p:spTree>
    <p:extLst>
      <p:ext uri="{BB962C8B-B14F-4D97-AF65-F5344CB8AC3E}">
        <p14:creationId xmlns:p14="http://schemas.microsoft.com/office/powerpoint/2010/main" val="305130314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3108724" y="2181185"/>
            <a:ext cx="567061" cy="80396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r>
              <a:rPr lang="en-US" altLang="zh-TW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CV</a:t>
            </a:r>
            <a:endParaRPr lang="zh-TW" altLang="en-US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2702551" y="3119969"/>
            <a:ext cx="2296490" cy="72868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   撥耳料</a:t>
            </a:r>
          </a:p>
        </p:txBody>
      </p:sp>
      <p:sp>
        <p:nvSpPr>
          <p:cNvPr id="7" name="文字方塊 6"/>
          <p:cNvSpPr txBox="1"/>
          <p:nvPr/>
        </p:nvSpPr>
        <p:spPr>
          <a:xfrm rot="5400000">
            <a:off x="2568694" y="4105255"/>
            <a:ext cx="861774" cy="4290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AGV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搬運廢料走道</a:t>
            </a:r>
          </a:p>
        </p:txBody>
      </p:sp>
      <p:sp>
        <p:nvSpPr>
          <p:cNvPr id="8" name="圓角矩形 7"/>
          <p:cNvSpPr/>
          <p:nvPr/>
        </p:nvSpPr>
        <p:spPr>
          <a:xfrm>
            <a:off x="3228370" y="4210213"/>
            <a:ext cx="1754364" cy="539771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切割機</a:t>
            </a:r>
          </a:p>
        </p:txBody>
      </p:sp>
      <p:sp>
        <p:nvSpPr>
          <p:cNvPr id="10" name="向下箭號 9"/>
          <p:cNvSpPr/>
          <p:nvPr/>
        </p:nvSpPr>
        <p:spPr>
          <a:xfrm flipV="1">
            <a:off x="4256888" y="3693132"/>
            <a:ext cx="248735" cy="5038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3032731" y="1052538"/>
            <a:ext cx="743565" cy="11199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CV</a:t>
            </a:r>
          </a:p>
        </p:txBody>
      </p:sp>
      <p:sp>
        <p:nvSpPr>
          <p:cNvPr id="12" name="圓角矩形 11"/>
          <p:cNvSpPr/>
          <p:nvPr/>
        </p:nvSpPr>
        <p:spPr>
          <a:xfrm>
            <a:off x="3071186" y="718104"/>
            <a:ext cx="2216883" cy="32087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CST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3" name="文字方塊 12"/>
          <p:cNvSpPr txBox="1"/>
          <p:nvPr/>
        </p:nvSpPr>
        <p:spPr>
          <a:xfrm>
            <a:off x="3040529" y="1093485"/>
            <a:ext cx="472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A2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4" name="文字方塊 13"/>
          <p:cNvSpPr txBox="1"/>
          <p:nvPr/>
        </p:nvSpPr>
        <p:spPr>
          <a:xfrm>
            <a:off x="3062677" y="2745974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A1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3177494" y="1407365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讀碼</a:t>
            </a:r>
            <a:endParaRPr lang="zh-TW" altLang="en-US" sz="1100" dirty="0"/>
          </a:p>
        </p:txBody>
      </p:sp>
      <p:sp>
        <p:nvSpPr>
          <p:cNvPr id="40" name="矩形 39"/>
          <p:cNvSpPr/>
          <p:nvPr/>
        </p:nvSpPr>
        <p:spPr>
          <a:xfrm>
            <a:off x="3111835" y="2995475"/>
            <a:ext cx="351950" cy="1191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7206177" y="2173858"/>
            <a:ext cx="567061" cy="803969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r>
              <a:rPr lang="en-US" altLang="zh-TW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CV</a:t>
            </a:r>
            <a:endParaRPr lang="zh-TW" altLang="en-US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6217545" y="3112642"/>
            <a:ext cx="2296490" cy="728684"/>
          </a:xfrm>
          <a:prstGeom prst="rect">
            <a:avLst/>
          </a:prstGeom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solidFill>
                  <a:schemeClr val="tx1"/>
                </a:solidFill>
                <a:latin typeface="Noto Sans TC" panose="020B0200000000000000" pitchFamily="34" charset="-120"/>
                <a:ea typeface="Noto Sans TC" panose="020B0200000000000000" pitchFamily="34" charset="-120"/>
              </a:rPr>
              <a:t>    撥耳料</a:t>
            </a:r>
          </a:p>
        </p:txBody>
      </p:sp>
      <p:sp>
        <p:nvSpPr>
          <p:cNvPr id="67" name="文字方塊 66"/>
          <p:cNvSpPr txBox="1"/>
          <p:nvPr/>
        </p:nvSpPr>
        <p:spPr>
          <a:xfrm rot="5400000">
            <a:off x="7998015" y="4105256"/>
            <a:ext cx="861774" cy="42904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vert270" wrap="squar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AGV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搬運廢料走道</a:t>
            </a:r>
          </a:p>
        </p:txBody>
      </p:sp>
      <p:sp>
        <p:nvSpPr>
          <p:cNvPr id="68" name="圓角矩形 67"/>
          <p:cNvSpPr/>
          <p:nvPr/>
        </p:nvSpPr>
        <p:spPr>
          <a:xfrm>
            <a:off x="6350788" y="3896945"/>
            <a:ext cx="1754364" cy="830734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切割機</a:t>
            </a:r>
          </a:p>
        </p:txBody>
      </p:sp>
      <p:sp>
        <p:nvSpPr>
          <p:cNvPr id="69" name="文字方塊 68"/>
          <p:cNvSpPr txBox="1"/>
          <p:nvPr/>
        </p:nvSpPr>
        <p:spPr>
          <a:xfrm>
            <a:off x="6303385" y="3272853"/>
            <a:ext cx="30168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1.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70" name="向下箭號 69"/>
          <p:cNvSpPr/>
          <p:nvPr/>
        </p:nvSpPr>
        <p:spPr>
          <a:xfrm flipV="1">
            <a:off x="6932640" y="3685805"/>
            <a:ext cx="248735" cy="50388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71" name="矩形 70"/>
          <p:cNvSpPr/>
          <p:nvPr/>
        </p:nvSpPr>
        <p:spPr>
          <a:xfrm>
            <a:off x="7130183" y="1045210"/>
            <a:ext cx="743565" cy="1119976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pPr algn="ctr"/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CV</a:t>
            </a:r>
          </a:p>
        </p:txBody>
      </p:sp>
      <p:sp>
        <p:nvSpPr>
          <p:cNvPr id="72" name="圓角矩形 71"/>
          <p:cNvSpPr/>
          <p:nvPr/>
        </p:nvSpPr>
        <p:spPr>
          <a:xfrm>
            <a:off x="5602889" y="710777"/>
            <a:ext cx="2216883" cy="320873"/>
          </a:xfrm>
          <a:prstGeom prst="round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CST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73" name="文字方塊 72"/>
          <p:cNvSpPr txBox="1"/>
          <p:nvPr/>
        </p:nvSpPr>
        <p:spPr>
          <a:xfrm>
            <a:off x="7069211" y="1066222"/>
            <a:ext cx="47248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A2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74" name="文字方塊 73"/>
          <p:cNvSpPr txBox="1"/>
          <p:nvPr/>
        </p:nvSpPr>
        <p:spPr>
          <a:xfrm>
            <a:off x="7147365" y="2767284"/>
            <a:ext cx="34977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A1</a:t>
            </a:r>
            <a:endParaRPr lang="zh-TW" altLang="en-US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77" name="文字方塊 76"/>
          <p:cNvSpPr txBox="1"/>
          <p:nvPr/>
        </p:nvSpPr>
        <p:spPr>
          <a:xfrm>
            <a:off x="7214102" y="2292845"/>
            <a:ext cx="563725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風刀</a:t>
            </a:r>
          </a:p>
        </p:txBody>
      </p:sp>
      <p:sp>
        <p:nvSpPr>
          <p:cNvPr id="78" name="矩形 77"/>
          <p:cNvSpPr/>
          <p:nvPr/>
        </p:nvSpPr>
        <p:spPr>
          <a:xfrm>
            <a:off x="7206176" y="1380102"/>
            <a:ext cx="466794" cy="2616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讀碼</a:t>
            </a:r>
            <a:endParaRPr lang="zh-TW" altLang="en-US" sz="1100" dirty="0"/>
          </a:p>
        </p:txBody>
      </p:sp>
      <p:grpSp>
        <p:nvGrpSpPr>
          <p:cNvPr id="79" name="群組 78"/>
          <p:cNvGrpSpPr/>
          <p:nvPr/>
        </p:nvGrpSpPr>
        <p:grpSpPr>
          <a:xfrm>
            <a:off x="6251659" y="2450050"/>
            <a:ext cx="771866" cy="606974"/>
            <a:chOff x="8124596" y="4017423"/>
            <a:chExt cx="1853030" cy="1376921"/>
          </a:xfrm>
        </p:grpSpPr>
        <p:sp>
          <p:nvSpPr>
            <p:cNvPr id="80" name="矩形 79"/>
            <p:cNvSpPr/>
            <p:nvPr/>
          </p:nvSpPr>
          <p:spPr>
            <a:xfrm>
              <a:off x="8131527" y="4017423"/>
              <a:ext cx="1778933" cy="134063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9804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grpSp>
          <p:nvGrpSpPr>
            <p:cNvPr id="81" name="群組 80"/>
            <p:cNvGrpSpPr/>
            <p:nvPr/>
          </p:nvGrpSpPr>
          <p:grpSpPr>
            <a:xfrm flipH="1">
              <a:off x="8124596" y="4261150"/>
              <a:ext cx="1853030" cy="1133194"/>
              <a:chOff x="6982743" y="3517597"/>
              <a:chExt cx="2127863" cy="1132434"/>
            </a:xfrm>
          </p:grpSpPr>
          <p:grpSp>
            <p:nvGrpSpPr>
              <p:cNvPr id="82" name="群組 81"/>
              <p:cNvGrpSpPr/>
              <p:nvPr/>
            </p:nvGrpSpPr>
            <p:grpSpPr>
              <a:xfrm>
                <a:off x="6982743" y="3517597"/>
                <a:ext cx="1897308" cy="1132434"/>
                <a:chOff x="2821889" y="1638866"/>
                <a:chExt cx="1561789" cy="932173"/>
              </a:xfrm>
            </p:grpSpPr>
            <p:sp>
              <p:nvSpPr>
                <p:cNvPr id="86" name="圓角矩形 85"/>
                <p:cNvSpPr/>
                <p:nvPr/>
              </p:nvSpPr>
              <p:spPr>
                <a:xfrm rot="2235779">
                  <a:off x="3565263" y="1702497"/>
                  <a:ext cx="524373" cy="13683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87" name="圓角矩形 86"/>
                <p:cNvSpPr/>
                <p:nvPr/>
              </p:nvSpPr>
              <p:spPr>
                <a:xfrm rot="20092806">
                  <a:off x="3251271" y="1638866"/>
                  <a:ext cx="561732" cy="2684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88" name="圓角矩形 87"/>
                <p:cNvSpPr/>
                <p:nvPr/>
              </p:nvSpPr>
              <p:spPr>
                <a:xfrm rot="6601990">
                  <a:off x="2928349" y="1992968"/>
                  <a:ext cx="745297" cy="22029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89" name="矩形 88"/>
                <p:cNvSpPr/>
                <p:nvPr/>
              </p:nvSpPr>
              <p:spPr>
                <a:xfrm>
                  <a:off x="2821889" y="2277950"/>
                  <a:ext cx="495934" cy="2930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0" name="橢圓 89"/>
                <p:cNvSpPr/>
                <p:nvPr/>
              </p:nvSpPr>
              <p:spPr>
                <a:xfrm>
                  <a:off x="3161387" y="2333704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1" name="橢圓 90"/>
                <p:cNvSpPr/>
                <p:nvPr/>
              </p:nvSpPr>
              <p:spPr>
                <a:xfrm>
                  <a:off x="3349589" y="1831225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2" name="橢圓 91"/>
                <p:cNvSpPr/>
                <p:nvPr/>
              </p:nvSpPr>
              <p:spPr>
                <a:xfrm>
                  <a:off x="3670050" y="166560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3" name="矩形 92"/>
                <p:cNvSpPr/>
                <p:nvPr/>
              </p:nvSpPr>
              <p:spPr>
                <a:xfrm>
                  <a:off x="3644642" y="1912264"/>
                  <a:ext cx="739036" cy="125211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4" name="橢圓 93"/>
                <p:cNvSpPr/>
                <p:nvPr/>
              </p:nvSpPr>
              <p:spPr>
                <a:xfrm>
                  <a:off x="3850155" y="1848819"/>
                  <a:ext cx="288526" cy="146508"/>
                </a:xfrm>
                <a:prstGeom prst="ellipse">
                  <a:avLst/>
                </a:prstGeom>
                <a:solidFill>
                  <a:srgbClr val="76CBC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95" name="橢圓 94"/>
                <p:cNvSpPr/>
                <p:nvPr/>
              </p:nvSpPr>
              <p:spPr>
                <a:xfrm>
                  <a:off x="3958418" y="1890966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</p:grpSp>
          <p:sp>
            <p:nvSpPr>
              <p:cNvPr id="83" name="矩形 82"/>
              <p:cNvSpPr/>
              <p:nvPr/>
            </p:nvSpPr>
            <p:spPr>
              <a:xfrm flipH="1">
                <a:off x="7563775" y="4104566"/>
                <a:ext cx="1546831" cy="320116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latin typeface="Noto Sans TC" panose="020B0200000000000000" pitchFamily="34" charset="-120"/>
                    <a:ea typeface="Noto Sans TC" panose="020B0200000000000000" pitchFamily="34" charset="-120"/>
                  </a:rPr>
                  <a:t>panel</a:t>
                </a:r>
                <a:endPara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  <p:sp>
            <p:nvSpPr>
              <p:cNvPr id="84" name="橢圓 83"/>
              <p:cNvSpPr/>
              <p:nvPr/>
            </p:nvSpPr>
            <p:spPr>
              <a:xfrm>
                <a:off x="8076932" y="3993994"/>
                <a:ext cx="282967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  <p:sp>
            <p:nvSpPr>
              <p:cNvPr id="85" name="橢圓 84"/>
              <p:cNvSpPr/>
              <p:nvPr/>
            </p:nvSpPr>
            <p:spPr>
              <a:xfrm>
                <a:off x="8508534" y="3993994"/>
                <a:ext cx="282967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</p:grpSp>
      </p:grpSp>
      <p:sp>
        <p:nvSpPr>
          <p:cNvPr id="100" name="矩形 99"/>
          <p:cNvSpPr/>
          <p:nvPr/>
        </p:nvSpPr>
        <p:spPr>
          <a:xfrm>
            <a:off x="7422231" y="2988148"/>
            <a:ext cx="351950" cy="119100"/>
          </a:xfrm>
          <a:prstGeom prst="rect">
            <a:avLst/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altLang="zh-TW" sz="1100" dirty="0">
              <a:solidFill>
                <a:schemeClr val="tx1"/>
              </a:solidFill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01" name="右大括弧 100"/>
          <p:cNvSpPr/>
          <p:nvPr/>
        </p:nvSpPr>
        <p:spPr>
          <a:xfrm>
            <a:off x="7899132" y="2173857"/>
            <a:ext cx="197458" cy="794566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2" name="文字方塊 101"/>
          <p:cNvSpPr txBox="1"/>
          <p:nvPr/>
        </p:nvSpPr>
        <p:spPr>
          <a:xfrm>
            <a:off x="8086893" y="2463418"/>
            <a:ext cx="589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0000FF"/>
                </a:solidFill>
              </a:rPr>
              <a:t>1300mm</a:t>
            </a:r>
            <a:endParaRPr lang="zh-TW" altLang="en-US" sz="800" dirty="0">
              <a:solidFill>
                <a:srgbClr val="0000FF"/>
              </a:solidFill>
            </a:endParaRPr>
          </a:p>
        </p:txBody>
      </p:sp>
      <p:sp>
        <p:nvSpPr>
          <p:cNvPr id="103" name="右大括弧 102"/>
          <p:cNvSpPr/>
          <p:nvPr/>
        </p:nvSpPr>
        <p:spPr>
          <a:xfrm>
            <a:off x="7907694" y="1045243"/>
            <a:ext cx="197458" cy="111921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4" name="右大括弧 103"/>
          <p:cNvSpPr/>
          <p:nvPr/>
        </p:nvSpPr>
        <p:spPr>
          <a:xfrm>
            <a:off x="7899134" y="2975615"/>
            <a:ext cx="197458" cy="123792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05" name="文字方塊 104"/>
          <p:cNvSpPr txBox="1"/>
          <p:nvPr/>
        </p:nvSpPr>
        <p:spPr>
          <a:xfrm>
            <a:off x="8081357" y="2915387"/>
            <a:ext cx="589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0000FF"/>
                </a:solidFill>
              </a:rPr>
              <a:t>230mm</a:t>
            </a:r>
            <a:endParaRPr lang="zh-TW" altLang="en-US" sz="800" dirty="0">
              <a:solidFill>
                <a:srgbClr val="0000FF"/>
              </a:solidFill>
            </a:endParaRPr>
          </a:p>
        </p:txBody>
      </p:sp>
      <p:sp>
        <p:nvSpPr>
          <p:cNvPr id="106" name="文字方塊 105"/>
          <p:cNvSpPr txBox="1"/>
          <p:nvPr/>
        </p:nvSpPr>
        <p:spPr>
          <a:xfrm>
            <a:off x="8105152" y="1497126"/>
            <a:ext cx="58972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800" dirty="0">
                <a:solidFill>
                  <a:srgbClr val="0000FF"/>
                </a:solidFill>
              </a:rPr>
              <a:t>2100mm</a:t>
            </a:r>
            <a:endParaRPr lang="zh-TW" altLang="en-US" sz="800" dirty="0">
              <a:solidFill>
                <a:srgbClr val="0000FF"/>
              </a:solidFill>
            </a:endParaRPr>
          </a:p>
        </p:txBody>
      </p:sp>
      <p:sp>
        <p:nvSpPr>
          <p:cNvPr id="112" name="右大括弧 111"/>
          <p:cNvSpPr/>
          <p:nvPr/>
        </p:nvSpPr>
        <p:spPr>
          <a:xfrm rot="16200000">
            <a:off x="6210077" y="118305"/>
            <a:ext cx="197458" cy="1604711"/>
          </a:xfrm>
          <a:prstGeom prst="rightBrace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13" name="文字方塊 112"/>
          <p:cNvSpPr txBox="1"/>
          <p:nvPr/>
        </p:nvSpPr>
        <p:spPr>
          <a:xfrm>
            <a:off x="5991175" y="478895"/>
            <a:ext cx="702767" cy="21544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r>
              <a:rPr lang="en-US" altLang="zh-TW" sz="800" b="1" dirty="0">
                <a:solidFill>
                  <a:srgbClr val="0000FF"/>
                </a:solidFill>
              </a:rPr>
              <a:t>2600mm</a:t>
            </a:r>
            <a:endParaRPr lang="zh-TW" altLang="en-US" sz="800" b="1" dirty="0">
              <a:solidFill>
                <a:srgbClr val="0000FF"/>
              </a:solidFill>
            </a:endParaRPr>
          </a:p>
        </p:txBody>
      </p:sp>
      <p:cxnSp>
        <p:nvCxnSpPr>
          <p:cNvPr id="116" name="直線單箭頭接點 115"/>
          <p:cNvCxnSpPr/>
          <p:nvPr/>
        </p:nvCxnSpPr>
        <p:spPr>
          <a:xfrm flipV="1">
            <a:off x="7728051" y="1179621"/>
            <a:ext cx="6264" cy="1831480"/>
          </a:xfrm>
          <a:prstGeom prst="straightConnector1">
            <a:avLst/>
          </a:prstGeom>
          <a:ln w="57150">
            <a:solidFill>
              <a:srgbClr val="FFC000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文字方塊 117"/>
          <p:cNvSpPr txBox="1"/>
          <p:nvPr/>
        </p:nvSpPr>
        <p:spPr>
          <a:xfrm>
            <a:off x="8047982" y="1702770"/>
            <a:ext cx="576930" cy="369332"/>
          </a:xfrm>
          <a:prstGeom prst="rect">
            <a:avLst/>
          </a:prstGeom>
          <a:solidFill>
            <a:schemeClr val="accent3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7F7F7F"/>
                </a:solidFill>
              </a:rPr>
              <a:t>A</a:t>
            </a:r>
            <a:r>
              <a:rPr lang="zh-TW" altLang="en-US" sz="1800" b="1" dirty="0">
                <a:solidFill>
                  <a:srgbClr val="7F7F7F"/>
                </a:solidFill>
              </a:rPr>
              <a:t>貨</a:t>
            </a:r>
          </a:p>
        </p:txBody>
      </p:sp>
      <p:pic>
        <p:nvPicPr>
          <p:cNvPr id="63" name="圖片 62"/>
          <p:cNvPicPr>
            <a:picLocks noChangeAspect="1"/>
          </p:cNvPicPr>
          <p:nvPr/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54"/>
          <a:stretch/>
        </p:blipFill>
        <p:spPr>
          <a:xfrm>
            <a:off x="5487027" y="1185100"/>
            <a:ext cx="1198895" cy="1243825"/>
          </a:xfrm>
          <a:prstGeom prst="rect">
            <a:avLst/>
          </a:prstGeom>
        </p:spPr>
      </p:pic>
      <p:cxnSp>
        <p:nvCxnSpPr>
          <p:cNvPr id="117" name="肘形接點 116"/>
          <p:cNvCxnSpPr/>
          <p:nvPr/>
        </p:nvCxnSpPr>
        <p:spPr>
          <a:xfrm rot="16200000" flipV="1">
            <a:off x="5647787" y="2117622"/>
            <a:ext cx="833394" cy="639717"/>
          </a:xfrm>
          <a:prstGeom prst="bentConnector3">
            <a:avLst>
              <a:gd name="adj1" fmla="val 166483"/>
            </a:avLst>
          </a:prstGeom>
          <a:ln w="57150">
            <a:solidFill>
              <a:schemeClr val="accent5">
                <a:lumMod val="50000"/>
              </a:schemeClr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文字方塊 123"/>
          <p:cNvSpPr txBox="1"/>
          <p:nvPr/>
        </p:nvSpPr>
        <p:spPr>
          <a:xfrm>
            <a:off x="5431716" y="2064212"/>
            <a:ext cx="591308" cy="369332"/>
          </a:xfrm>
          <a:prstGeom prst="rect">
            <a:avLst/>
          </a:prstGeom>
          <a:solidFill>
            <a:schemeClr val="accent5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TW" sz="1800" b="1" dirty="0">
                <a:solidFill>
                  <a:srgbClr val="7F7F7F"/>
                </a:solidFill>
              </a:rPr>
              <a:t>X</a:t>
            </a:r>
            <a:r>
              <a:rPr lang="zh-TW" altLang="en-US" sz="1800" b="1" dirty="0">
                <a:solidFill>
                  <a:srgbClr val="7F7F7F"/>
                </a:solidFill>
              </a:rPr>
              <a:t>貨</a:t>
            </a:r>
          </a:p>
        </p:txBody>
      </p:sp>
      <p:sp>
        <p:nvSpPr>
          <p:cNvPr id="125" name="右大括弧 124"/>
          <p:cNvSpPr/>
          <p:nvPr/>
        </p:nvSpPr>
        <p:spPr>
          <a:xfrm rot="16200000">
            <a:off x="6016584" y="1045575"/>
            <a:ext cx="197458" cy="1118548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26" name="文字方塊 125"/>
          <p:cNvSpPr txBox="1"/>
          <p:nvPr/>
        </p:nvSpPr>
        <p:spPr>
          <a:xfrm>
            <a:off x="5915057" y="1264726"/>
            <a:ext cx="469287" cy="184666"/>
          </a:xfrm>
          <a:prstGeom prst="rect">
            <a:avLst/>
          </a:prstGeom>
          <a:solidFill>
            <a:srgbClr val="F0F0F0"/>
          </a:solidFill>
        </p:spPr>
        <p:txBody>
          <a:bodyPr wrap="square" rtlCol="0">
            <a:spAutoFit/>
          </a:bodyPr>
          <a:lstStyle/>
          <a:p>
            <a:r>
              <a:rPr lang="en-US" altLang="zh-TW" sz="600" dirty="0"/>
              <a:t>1950mm</a:t>
            </a:r>
            <a:endParaRPr lang="zh-TW" altLang="en-US" sz="600" dirty="0"/>
          </a:p>
        </p:txBody>
      </p:sp>
      <p:sp>
        <p:nvSpPr>
          <p:cNvPr id="127" name="矩形 126"/>
          <p:cNvSpPr/>
          <p:nvPr/>
        </p:nvSpPr>
        <p:spPr>
          <a:xfrm>
            <a:off x="6685922" y="1064841"/>
            <a:ext cx="433817" cy="13288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維修空間</a:t>
            </a:r>
          </a:p>
        </p:txBody>
      </p:sp>
      <p:sp>
        <p:nvSpPr>
          <p:cNvPr id="111" name="向下箭號 110"/>
          <p:cNvSpPr/>
          <p:nvPr/>
        </p:nvSpPr>
        <p:spPr>
          <a:xfrm rot="6773845" flipV="1">
            <a:off x="6840720" y="2084747"/>
            <a:ext cx="248735" cy="902389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10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128" name="矩形 127"/>
          <p:cNvSpPr/>
          <p:nvPr/>
        </p:nvSpPr>
        <p:spPr>
          <a:xfrm>
            <a:off x="5506449" y="1066294"/>
            <a:ext cx="1188106" cy="1321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維修空間</a:t>
            </a:r>
          </a:p>
        </p:txBody>
      </p:sp>
      <p:sp>
        <p:nvSpPr>
          <p:cNvPr id="129" name="右大括弧 128"/>
          <p:cNvSpPr/>
          <p:nvPr/>
        </p:nvSpPr>
        <p:spPr>
          <a:xfrm rot="16200000">
            <a:off x="6813123" y="1377344"/>
            <a:ext cx="197458" cy="435819"/>
          </a:xfrm>
          <a:prstGeom prst="rightBrac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800"/>
          </a:p>
        </p:txBody>
      </p:sp>
      <p:sp>
        <p:nvSpPr>
          <p:cNvPr id="130" name="文字方塊 129"/>
          <p:cNvSpPr txBox="1"/>
          <p:nvPr/>
        </p:nvSpPr>
        <p:spPr>
          <a:xfrm>
            <a:off x="6698701" y="1287769"/>
            <a:ext cx="439629" cy="184666"/>
          </a:xfrm>
          <a:prstGeom prst="rect">
            <a:avLst/>
          </a:prstGeom>
          <a:solidFill>
            <a:srgbClr val="F0F0F0"/>
          </a:solidFill>
        </p:spPr>
        <p:txBody>
          <a:bodyPr wrap="square" rtlCol="0">
            <a:spAutoFit/>
          </a:bodyPr>
          <a:lstStyle/>
          <a:p>
            <a:r>
              <a:rPr lang="en-US" altLang="zh-TW" sz="600" dirty="0"/>
              <a:t>650mm</a:t>
            </a:r>
            <a:endParaRPr lang="zh-TW" altLang="en-US" sz="600" dirty="0"/>
          </a:p>
        </p:txBody>
      </p:sp>
      <p:cxnSp>
        <p:nvCxnSpPr>
          <p:cNvPr id="3" name="直線接點 2"/>
          <p:cNvCxnSpPr/>
          <p:nvPr/>
        </p:nvCxnSpPr>
        <p:spPr>
          <a:xfrm>
            <a:off x="3776295" y="320287"/>
            <a:ext cx="0" cy="6468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2" name="直線接點 121"/>
          <p:cNvCxnSpPr/>
          <p:nvPr/>
        </p:nvCxnSpPr>
        <p:spPr>
          <a:xfrm>
            <a:off x="7130183" y="289958"/>
            <a:ext cx="0" cy="646837"/>
          </a:xfrm>
          <a:prstGeom prst="line">
            <a:avLst/>
          </a:prstGeom>
          <a:ln w="28575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直線單箭頭接點 95"/>
          <p:cNvCxnSpPr/>
          <p:nvPr/>
        </p:nvCxnSpPr>
        <p:spPr>
          <a:xfrm flipV="1">
            <a:off x="3803055" y="389179"/>
            <a:ext cx="3291209" cy="6672"/>
          </a:xfrm>
          <a:prstGeom prst="straightConnector1">
            <a:avLst/>
          </a:prstGeom>
          <a:ln w="28575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文字方塊 130"/>
          <p:cNvSpPr txBox="1"/>
          <p:nvPr/>
        </p:nvSpPr>
        <p:spPr>
          <a:xfrm>
            <a:off x="5131736" y="108094"/>
            <a:ext cx="162642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200" dirty="0">
                <a:solidFill>
                  <a:srgbClr val="0000FF"/>
                </a:solidFill>
              </a:rPr>
              <a:t>5600mm</a:t>
            </a:r>
            <a:endParaRPr lang="zh-TW" altLang="en-US" sz="1200" dirty="0">
              <a:solidFill>
                <a:srgbClr val="0000FF"/>
              </a:solidFill>
            </a:endParaRPr>
          </a:p>
        </p:txBody>
      </p:sp>
      <p:pic>
        <p:nvPicPr>
          <p:cNvPr id="75" name="圖片 74"/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754"/>
          <a:stretch/>
        </p:blipFill>
        <p:spPr>
          <a:xfrm flipH="1">
            <a:off x="4221539" y="1191532"/>
            <a:ext cx="1292280" cy="1243825"/>
          </a:xfrm>
          <a:prstGeom prst="rect">
            <a:avLst/>
          </a:prstGeom>
        </p:spPr>
      </p:pic>
      <p:sp>
        <p:nvSpPr>
          <p:cNvPr id="76" name="矩形 75"/>
          <p:cNvSpPr/>
          <p:nvPr/>
        </p:nvSpPr>
        <p:spPr>
          <a:xfrm>
            <a:off x="3803055" y="1072657"/>
            <a:ext cx="433817" cy="132880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維修空間</a:t>
            </a:r>
          </a:p>
        </p:txBody>
      </p:sp>
      <p:sp>
        <p:nvSpPr>
          <p:cNvPr id="97" name="矩形 96"/>
          <p:cNvSpPr/>
          <p:nvPr/>
        </p:nvSpPr>
        <p:spPr>
          <a:xfrm>
            <a:off x="4248018" y="1062770"/>
            <a:ext cx="1188106" cy="13216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800" dirty="0">
                <a:solidFill>
                  <a:schemeClr val="tx1"/>
                </a:solidFill>
              </a:rPr>
              <a:t>維修空間</a:t>
            </a:r>
          </a:p>
        </p:txBody>
      </p:sp>
      <p:grpSp>
        <p:nvGrpSpPr>
          <p:cNvPr id="98" name="群組 97"/>
          <p:cNvGrpSpPr/>
          <p:nvPr/>
        </p:nvGrpSpPr>
        <p:grpSpPr>
          <a:xfrm>
            <a:off x="3930858" y="2464148"/>
            <a:ext cx="771866" cy="606974"/>
            <a:chOff x="8124596" y="4017423"/>
            <a:chExt cx="1853030" cy="1376921"/>
          </a:xfrm>
        </p:grpSpPr>
        <p:sp>
          <p:nvSpPr>
            <p:cNvPr id="99" name="矩形 98"/>
            <p:cNvSpPr/>
            <p:nvPr/>
          </p:nvSpPr>
          <p:spPr>
            <a:xfrm>
              <a:off x="8131527" y="4017423"/>
              <a:ext cx="1778933" cy="1340636"/>
            </a:xfrm>
            <a:prstGeom prst="rect">
              <a:avLst/>
            </a:prstGeom>
            <a:solidFill>
              <a:schemeClr val="accent5">
                <a:lumMod val="60000"/>
                <a:lumOff val="40000"/>
                <a:alpha val="69804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endParaRPr>
            </a:p>
          </p:txBody>
        </p:sp>
        <p:grpSp>
          <p:nvGrpSpPr>
            <p:cNvPr id="114" name="群組 113"/>
            <p:cNvGrpSpPr/>
            <p:nvPr/>
          </p:nvGrpSpPr>
          <p:grpSpPr>
            <a:xfrm flipH="1">
              <a:off x="8124596" y="4261150"/>
              <a:ext cx="1853030" cy="1133194"/>
              <a:chOff x="6982743" y="3517597"/>
              <a:chExt cx="2127863" cy="1132434"/>
            </a:xfrm>
          </p:grpSpPr>
          <p:grpSp>
            <p:nvGrpSpPr>
              <p:cNvPr id="115" name="群組 114"/>
              <p:cNvGrpSpPr/>
              <p:nvPr/>
            </p:nvGrpSpPr>
            <p:grpSpPr>
              <a:xfrm>
                <a:off x="6982743" y="3517597"/>
                <a:ext cx="1897308" cy="1132434"/>
                <a:chOff x="2821889" y="1638866"/>
                <a:chExt cx="1561789" cy="932173"/>
              </a:xfrm>
            </p:grpSpPr>
            <p:sp>
              <p:nvSpPr>
                <p:cNvPr id="132" name="圓角矩形 131"/>
                <p:cNvSpPr/>
                <p:nvPr/>
              </p:nvSpPr>
              <p:spPr>
                <a:xfrm rot="2235779">
                  <a:off x="3565263" y="1702497"/>
                  <a:ext cx="524373" cy="13683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3" name="圓角矩形 132"/>
                <p:cNvSpPr/>
                <p:nvPr/>
              </p:nvSpPr>
              <p:spPr>
                <a:xfrm rot="20092806">
                  <a:off x="3251271" y="1638866"/>
                  <a:ext cx="561732" cy="26841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8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4" name="圓角矩形 133"/>
                <p:cNvSpPr/>
                <p:nvPr/>
              </p:nvSpPr>
              <p:spPr>
                <a:xfrm rot="6601990">
                  <a:off x="2928349" y="1992968"/>
                  <a:ext cx="745297" cy="22029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5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5" name="矩形 134"/>
                <p:cNvSpPr/>
                <p:nvPr/>
              </p:nvSpPr>
              <p:spPr>
                <a:xfrm>
                  <a:off x="2821889" y="2277950"/>
                  <a:ext cx="495934" cy="2930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6" name="橢圓 135"/>
                <p:cNvSpPr/>
                <p:nvPr/>
              </p:nvSpPr>
              <p:spPr>
                <a:xfrm>
                  <a:off x="3161387" y="2333704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7" name="橢圓 136"/>
                <p:cNvSpPr/>
                <p:nvPr/>
              </p:nvSpPr>
              <p:spPr>
                <a:xfrm>
                  <a:off x="3349589" y="1831225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8" name="橢圓 137"/>
                <p:cNvSpPr/>
                <p:nvPr/>
              </p:nvSpPr>
              <p:spPr>
                <a:xfrm>
                  <a:off x="3670050" y="1665600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39" name="矩形 138"/>
                <p:cNvSpPr/>
                <p:nvPr/>
              </p:nvSpPr>
              <p:spPr>
                <a:xfrm>
                  <a:off x="3644642" y="1912264"/>
                  <a:ext cx="739036" cy="125211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40" name="橢圓 139"/>
                <p:cNvSpPr/>
                <p:nvPr/>
              </p:nvSpPr>
              <p:spPr>
                <a:xfrm>
                  <a:off x="3850155" y="1848819"/>
                  <a:ext cx="288526" cy="146508"/>
                </a:xfrm>
                <a:prstGeom prst="ellipse">
                  <a:avLst/>
                </a:prstGeom>
                <a:solidFill>
                  <a:srgbClr val="76CBC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  <p:sp>
              <p:nvSpPr>
                <p:cNvPr id="141" name="橢圓 140"/>
                <p:cNvSpPr/>
                <p:nvPr/>
              </p:nvSpPr>
              <p:spPr>
                <a:xfrm>
                  <a:off x="3958418" y="1890966"/>
                  <a:ext cx="72000" cy="72000"/>
                </a:xfrm>
                <a:prstGeom prst="ellipse">
                  <a:avLst/>
                </a:prstGeom>
                <a:solidFill>
                  <a:schemeClr val="tx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TW" altLang="en-US" sz="1100">
                    <a:latin typeface="Noto Sans TC" panose="020B0200000000000000" pitchFamily="34" charset="-120"/>
                    <a:ea typeface="Noto Sans TC" panose="020B0200000000000000" pitchFamily="34" charset="-120"/>
                  </a:endParaRPr>
                </a:p>
              </p:txBody>
            </p:sp>
          </p:grpSp>
          <p:sp>
            <p:nvSpPr>
              <p:cNvPr id="119" name="矩形 118"/>
              <p:cNvSpPr/>
              <p:nvPr/>
            </p:nvSpPr>
            <p:spPr>
              <a:xfrm flipH="1">
                <a:off x="7395176" y="4104566"/>
                <a:ext cx="1715430" cy="312648"/>
              </a:xfrm>
              <a:prstGeom prst="rect">
                <a:avLst/>
              </a:prstGeom>
              <a:solidFill>
                <a:schemeClr val="tx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TW" sz="1100" dirty="0">
                    <a:latin typeface="Noto Sans TC" panose="020B0200000000000000" pitchFamily="34" charset="-120"/>
                    <a:ea typeface="Noto Sans TC" panose="020B0200000000000000" pitchFamily="34" charset="-120"/>
                  </a:rPr>
                  <a:t>panel</a:t>
                </a:r>
                <a:endParaRPr lang="zh-TW" altLang="en-US" sz="1100" dirty="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  <p:sp>
            <p:nvSpPr>
              <p:cNvPr id="121" name="橢圓 120"/>
              <p:cNvSpPr/>
              <p:nvPr/>
            </p:nvSpPr>
            <p:spPr>
              <a:xfrm>
                <a:off x="8076932" y="3993994"/>
                <a:ext cx="282967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  <p:sp>
            <p:nvSpPr>
              <p:cNvPr id="123" name="橢圓 122"/>
              <p:cNvSpPr/>
              <p:nvPr/>
            </p:nvSpPr>
            <p:spPr>
              <a:xfrm>
                <a:off x="8508534" y="3993994"/>
                <a:ext cx="282967" cy="45719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100">
                  <a:latin typeface="Noto Sans TC" panose="020B0200000000000000" pitchFamily="34" charset="-120"/>
                  <a:ea typeface="Noto Sans TC" panose="020B0200000000000000" pitchFamily="34" charset="-120"/>
                </a:endParaRPr>
              </a:p>
            </p:txBody>
          </p:sp>
        </p:grpSp>
      </p:grpSp>
      <p:sp>
        <p:nvSpPr>
          <p:cNvPr id="142" name="文字方塊 141"/>
          <p:cNvSpPr txBox="1"/>
          <p:nvPr/>
        </p:nvSpPr>
        <p:spPr>
          <a:xfrm>
            <a:off x="3113974" y="2282787"/>
            <a:ext cx="563725" cy="2616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風刀</a:t>
            </a:r>
          </a:p>
        </p:txBody>
      </p:sp>
      <p:sp>
        <p:nvSpPr>
          <p:cNvPr id="107" name="文字方塊 106"/>
          <p:cNvSpPr txBox="1"/>
          <p:nvPr/>
        </p:nvSpPr>
        <p:spPr>
          <a:xfrm>
            <a:off x="1750713" y="327051"/>
            <a:ext cx="1109599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人工裝箱</a:t>
            </a:r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+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打帶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1.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底箱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2.Spacer</a:t>
            </a: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3.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面內檢</a:t>
            </a: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4.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蓋上蓋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5.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貼條碼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6.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打帶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  <a:p>
            <a:r>
              <a:rPr lang="en-US" altLang="zh-TW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7.</a:t>
            </a:r>
            <a:r>
              <a:rPr lang="zh-TW" altLang="en-US" sz="1100" dirty="0">
                <a:latin typeface="Noto Sans TC" panose="020B0200000000000000" pitchFamily="34" charset="-120"/>
                <a:ea typeface="Noto Sans TC" panose="020B0200000000000000" pitchFamily="34" charset="-120"/>
              </a:rPr>
              <a:t>堆疊</a:t>
            </a:r>
            <a:endParaRPr lang="en-US" altLang="zh-TW" sz="1100" dirty="0">
              <a:latin typeface="Noto Sans TC" panose="020B0200000000000000" pitchFamily="34" charset="-120"/>
              <a:ea typeface="Noto Sans TC" panose="020B0200000000000000" pitchFamily="34" charset="-120"/>
            </a:endParaRPr>
          </a:p>
        </p:txBody>
      </p:sp>
      <p:sp>
        <p:nvSpPr>
          <p:cNvPr id="2" name="矩形: 圓角 1">
            <a:extLst>
              <a:ext uri="{FF2B5EF4-FFF2-40B4-BE49-F238E27FC236}">
                <a16:creationId xmlns:a16="http://schemas.microsoft.com/office/drawing/2014/main" id="{E6A42E2A-FBBE-F076-981E-02F71857F3D4}"/>
              </a:ext>
            </a:extLst>
          </p:cNvPr>
          <p:cNvSpPr/>
          <p:nvPr/>
        </p:nvSpPr>
        <p:spPr>
          <a:xfrm>
            <a:off x="4063363" y="379266"/>
            <a:ext cx="2874150" cy="1370467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TW" altLang="en-US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包裝機</a:t>
            </a:r>
          </a:p>
        </p:txBody>
      </p:sp>
      <p:sp>
        <p:nvSpPr>
          <p:cNvPr id="4" name="矩形: 圓角 3">
            <a:extLst>
              <a:ext uri="{FF2B5EF4-FFF2-40B4-BE49-F238E27FC236}">
                <a16:creationId xmlns:a16="http://schemas.microsoft.com/office/drawing/2014/main" id="{75496963-4E18-DCBA-AB6D-F7C683997085}"/>
              </a:ext>
            </a:extLst>
          </p:cNvPr>
          <p:cNvSpPr/>
          <p:nvPr/>
        </p:nvSpPr>
        <p:spPr>
          <a:xfrm>
            <a:off x="6115312" y="1877959"/>
            <a:ext cx="2496385" cy="287202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1</a:t>
            </a:r>
            <a:endParaRPr lang="zh-TW" altLang="en-US" sz="2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9" name="矩形: 圓角 8">
            <a:extLst>
              <a:ext uri="{FF2B5EF4-FFF2-40B4-BE49-F238E27FC236}">
                <a16:creationId xmlns:a16="http://schemas.microsoft.com/office/drawing/2014/main" id="{1DE90407-ABFB-4A96-8932-BAB670BDD77C}"/>
              </a:ext>
            </a:extLst>
          </p:cNvPr>
          <p:cNvSpPr/>
          <p:nvPr/>
        </p:nvSpPr>
        <p:spPr>
          <a:xfrm>
            <a:off x="2627795" y="1878613"/>
            <a:ext cx="2496385" cy="2872025"/>
          </a:xfrm>
          <a:prstGeom prst="roundRect">
            <a:avLst/>
          </a:prstGeom>
          <a:solidFill>
            <a:schemeClr val="accent2">
              <a:lumMod val="20000"/>
              <a:lumOff val="80000"/>
              <a:alpha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sz="2100" dirty="0">
                <a:solidFill>
                  <a:schemeClr val="tx1">
                    <a:lumMod val="95000"/>
                    <a:lumOff val="5000"/>
                  </a:schemeClr>
                </a:solidFill>
              </a:rPr>
              <a:t>Line 2</a:t>
            </a:r>
            <a:endParaRPr lang="zh-TW" altLang="en-US" sz="21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graphicFrame>
        <p:nvGraphicFramePr>
          <p:cNvPr id="15" name="表格 14">
            <a:extLst>
              <a:ext uri="{FF2B5EF4-FFF2-40B4-BE49-F238E27FC236}">
                <a16:creationId xmlns:a16="http://schemas.microsoft.com/office/drawing/2014/main" id="{D799DAC3-DBE1-BA86-4A0D-03EF456DBB81}"/>
              </a:ext>
            </a:extLst>
          </p:cNvPr>
          <p:cNvGraphicFramePr>
            <a:graphicFrameLocks noGrp="1"/>
          </p:cNvGraphicFramePr>
          <p:nvPr/>
        </p:nvGraphicFramePr>
        <p:xfrm>
          <a:off x="183438" y="2366920"/>
          <a:ext cx="2294890" cy="177773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1474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74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0818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站點</a:t>
                      </a:r>
                      <a:endParaRPr lang="zh-TW" altLang="en-US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1100" b="1" i="0" u="none" strike="noStrike" dirty="0">
                          <a:solidFill>
                            <a:schemeClr val="bg1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價格</a:t>
                      </a:r>
                      <a:endParaRPr lang="en-US" altLang="zh-TW" sz="1100" b="1" i="0" u="none" strike="noStrike" dirty="0">
                        <a:solidFill>
                          <a:schemeClr val="bg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09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Line 1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352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563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Line 2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352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marL="0" marR="0" lvl="0" indent="0" algn="ctr" defTabSz="6858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TW" altLang="en-US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包裝機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200</a:t>
                      </a: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829">
                <a:tc>
                  <a:txBody>
                    <a:bodyPr/>
                    <a:lstStyle/>
                    <a:p>
                      <a:pPr algn="ctr" fontAlgn="ctr"/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zh-TW" sz="1000" b="1" i="0" u="none" strike="noStrike" dirty="0">
                        <a:solidFill>
                          <a:schemeClr val="tx1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0665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total</a:t>
                      </a:r>
                      <a:endParaRPr lang="zh-TW" altLang="en-US" sz="1000" b="1" i="0" u="none" strike="noStrike" dirty="0">
                        <a:solidFill>
                          <a:srgbClr val="000000"/>
                        </a:solidFill>
                        <a:effectLst/>
                        <a:latin typeface="Noto Sans TC" panose="020B0200000000000000" pitchFamily="34" charset="-120"/>
                        <a:ea typeface="Noto Sans TC" panose="020B0200000000000000" pitchFamily="34" charset="-120"/>
                      </a:endParaRP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TW" sz="1000" b="1" i="0" u="none" strike="noStrike" dirty="0">
                          <a:solidFill>
                            <a:srgbClr val="000000"/>
                          </a:solidFill>
                          <a:effectLst/>
                          <a:latin typeface="Noto Sans TC" panose="020B0200000000000000" pitchFamily="34" charset="-120"/>
                          <a:ea typeface="Noto Sans TC" panose="020B0200000000000000" pitchFamily="34" charset="-120"/>
                        </a:rPr>
                        <a:t>992W</a:t>
                      </a:r>
                    </a:p>
                  </a:txBody>
                  <a:tcPr marL="7144" marR="7144" marT="7144" marB="0" anchor="ctr"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6" name="文字方塊 15">
            <a:extLst>
              <a:ext uri="{FF2B5EF4-FFF2-40B4-BE49-F238E27FC236}">
                <a16:creationId xmlns:a16="http://schemas.microsoft.com/office/drawing/2014/main" id="{539D4317-5630-7CDC-9E31-64AB13A4CCB7}"/>
              </a:ext>
            </a:extLst>
          </p:cNvPr>
          <p:cNvSpPr txBox="1"/>
          <p:nvPr/>
        </p:nvSpPr>
        <p:spPr>
          <a:xfrm>
            <a:off x="-604805" y="4312939"/>
            <a:ext cx="3892615" cy="3000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ctr"/>
            <a:r>
              <a:rPr lang="en-US" altLang="zh-TW" sz="1350" b="1" dirty="0">
                <a:solidFill>
                  <a:srgbClr val="0000F7"/>
                </a:solidFill>
              </a:rPr>
              <a:t>1.1 </a:t>
            </a:r>
            <a:r>
              <a:rPr lang="zh-TW" altLang="en-US" sz="1350" b="1" dirty="0">
                <a:solidFill>
                  <a:srgbClr val="0000F7"/>
                </a:solidFill>
              </a:rPr>
              <a:t>年   </a:t>
            </a:r>
            <a:r>
              <a:rPr lang="en-US" altLang="zh-TW" sz="1350" b="1" dirty="0">
                <a:solidFill>
                  <a:srgbClr val="0000F7"/>
                </a:solidFill>
              </a:rPr>
              <a:t>(</a:t>
            </a:r>
            <a:r>
              <a:rPr lang="zh-TW" altLang="en-US" sz="1350" b="1" dirty="0">
                <a:solidFill>
                  <a:srgbClr val="0000F7"/>
                </a:solidFill>
              </a:rPr>
              <a:t> </a:t>
            </a:r>
            <a:r>
              <a:rPr lang="en-US" altLang="zh-TW" sz="1050" b="1" dirty="0">
                <a:solidFill>
                  <a:srgbClr val="0000F7"/>
                </a:solidFill>
              </a:rPr>
              <a:t>992</a:t>
            </a:r>
            <a:r>
              <a:rPr lang="zh-TW" altLang="en-US" sz="1350" b="1" dirty="0">
                <a:solidFill>
                  <a:srgbClr val="0000F7"/>
                </a:solidFill>
              </a:rPr>
              <a:t>*</a:t>
            </a:r>
            <a:r>
              <a:rPr lang="en-US" altLang="zh-TW" sz="1350" b="1" dirty="0">
                <a:solidFill>
                  <a:srgbClr val="0000F7"/>
                </a:solidFill>
              </a:rPr>
              <a:t>0.9/748</a:t>
            </a:r>
            <a:r>
              <a:rPr lang="zh-TW" altLang="en-US" sz="1350" b="1" dirty="0">
                <a:solidFill>
                  <a:srgbClr val="0000F7"/>
                </a:solidFill>
              </a:rPr>
              <a:t> </a:t>
            </a:r>
            <a:r>
              <a:rPr lang="en-US" altLang="zh-TW" sz="1350" b="1" dirty="0">
                <a:solidFill>
                  <a:srgbClr val="0000F7"/>
                </a:solidFill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47711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0BB1902-C229-3EA3-2782-509C39D290F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設備資產活化可行性</a:t>
            </a:r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599B43E2-F422-E82B-755D-477CF869E9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5520575"/>
              </p:ext>
            </p:extLst>
          </p:nvPr>
        </p:nvGraphicFramePr>
        <p:xfrm>
          <a:off x="182879" y="1065982"/>
          <a:ext cx="6728817" cy="374598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5713">
                  <a:extLst>
                    <a:ext uri="{9D8B030D-6E8A-4147-A177-3AD203B41FA5}">
                      <a16:colId xmlns:a16="http://schemas.microsoft.com/office/drawing/2014/main" val="2734243082"/>
                    </a:ext>
                  </a:extLst>
                </a:gridCol>
                <a:gridCol w="645107">
                  <a:extLst>
                    <a:ext uri="{9D8B030D-6E8A-4147-A177-3AD203B41FA5}">
                      <a16:colId xmlns:a16="http://schemas.microsoft.com/office/drawing/2014/main" val="1033261569"/>
                    </a:ext>
                  </a:extLst>
                </a:gridCol>
                <a:gridCol w="2137153">
                  <a:extLst>
                    <a:ext uri="{9D8B030D-6E8A-4147-A177-3AD203B41FA5}">
                      <a16:colId xmlns:a16="http://schemas.microsoft.com/office/drawing/2014/main" val="911709533"/>
                    </a:ext>
                  </a:extLst>
                </a:gridCol>
                <a:gridCol w="1105976">
                  <a:extLst>
                    <a:ext uri="{9D8B030D-6E8A-4147-A177-3AD203B41FA5}">
                      <a16:colId xmlns:a16="http://schemas.microsoft.com/office/drawing/2014/main" val="411029192"/>
                    </a:ext>
                  </a:extLst>
                </a:gridCol>
                <a:gridCol w="1884868">
                  <a:extLst>
                    <a:ext uri="{9D8B030D-6E8A-4147-A177-3AD203B41FA5}">
                      <a16:colId xmlns:a16="http://schemas.microsoft.com/office/drawing/2014/main" val="2012908757"/>
                    </a:ext>
                  </a:extLst>
                </a:gridCol>
              </a:tblGrid>
              <a:tr h="125474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類別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項次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項目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可再活化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備註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4573147"/>
                  </a:ext>
                </a:extLst>
              </a:tr>
              <a:tr h="174411">
                <a:tc rowSpan="1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撥片設備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TM12 Robot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6653774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PLC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8087257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HMI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8885502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電磁閥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0144703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三菱伺服驅動馬達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9712906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汽缸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910983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連接線與氣管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8981791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IPC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AMR500 資產活化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0435295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9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鋁擠架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0066648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10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板金固定件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0548852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11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加工固定件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492332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8064659"/>
                  </a:ext>
                </a:extLst>
              </a:tr>
              <a:tr h="125474">
                <a:tc rowSpan="4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AOI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2D reader相機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9375736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IPC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64667780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邊緣檢相機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7176830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8438363"/>
                  </a:ext>
                </a:extLst>
              </a:tr>
              <a:tr h="125474">
                <a:tc rowSpan="9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分流機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1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輸送帶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0466843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2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軀動馬達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5006808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3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電動缸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10375183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4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PLC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7429846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5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HMI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█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 dirty="0">
                          <a:effectLst/>
                          <a:latin typeface="+mj-ea"/>
                          <a:ea typeface="+mj-ea"/>
                        </a:rPr>
                        <a:t>HY資產活化</a:t>
                      </a: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2294995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6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鋁擠架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3456793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7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板金固定件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91915202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8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加工固定件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zh-TW" sz="900" u="none" strike="noStrike">
                          <a:effectLst/>
                          <a:latin typeface="+mj-ea"/>
                          <a:ea typeface="+mj-ea"/>
                        </a:rPr>
                        <a:t>□</a:t>
                      </a: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4856554"/>
                  </a:ext>
                </a:extLst>
              </a:tr>
              <a:tr h="125474">
                <a:tc v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5703" marR="5703" marT="5703" marB="0" anchor="ctr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97276501"/>
                  </a:ext>
                </a:extLst>
              </a:tr>
            </a:tbl>
          </a:graphicData>
        </a:graphic>
      </p:graphicFrame>
      <p:sp>
        <p:nvSpPr>
          <p:cNvPr id="5" name="文字方塊 4">
            <a:extLst>
              <a:ext uri="{FF2B5EF4-FFF2-40B4-BE49-F238E27FC236}">
                <a16:creationId xmlns:a16="http://schemas.microsoft.com/office/drawing/2014/main" id="{A80AEA7D-3C4A-90FE-0E99-38A5E2553257}"/>
              </a:ext>
            </a:extLst>
          </p:cNvPr>
          <p:cNvSpPr txBox="1"/>
          <p:nvPr/>
        </p:nvSpPr>
        <p:spPr>
          <a:xfrm>
            <a:off x="6911696" y="3747838"/>
            <a:ext cx="211976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rgbClr val="0000FF"/>
                </a:solidFill>
              </a:rPr>
              <a:t>除機構加工</a:t>
            </a:r>
            <a:r>
              <a:rPr lang="en-US" altLang="zh-TW" sz="1000" dirty="0">
                <a:solidFill>
                  <a:srgbClr val="0000FF"/>
                </a:solidFill>
              </a:rPr>
              <a:t>/</a:t>
            </a:r>
            <a:r>
              <a:rPr lang="zh-TW" altLang="en-US" sz="1000" dirty="0">
                <a:solidFill>
                  <a:srgbClr val="0000FF"/>
                </a:solidFill>
              </a:rPr>
              <a:t>固定件外其他料件可再利用</a:t>
            </a:r>
            <a:endParaRPr lang="en-US" altLang="zh-TW" sz="1000" dirty="0">
              <a:solidFill>
                <a:srgbClr val="0000FF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TW" altLang="en-US" sz="1000" dirty="0">
                <a:solidFill>
                  <a:srgbClr val="0000FF"/>
                </a:solidFill>
              </a:rPr>
              <a:t>大量使用</a:t>
            </a:r>
            <a:r>
              <a:rPr lang="en-US" altLang="zh-TW" sz="1000" dirty="0">
                <a:solidFill>
                  <a:srgbClr val="0000FF"/>
                </a:solidFill>
              </a:rPr>
              <a:t>HY</a:t>
            </a:r>
            <a:r>
              <a:rPr lang="zh-TW" altLang="en-US" sz="1000" dirty="0">
                <a:solidFill>
                  <a:srgbClr val="0000FF"/>
                </a:solidFill>
              </a:rPr>
              <a:t>活化資產</a:t>
            </a:r>
          </a:p>
        </p:txBody>
      </p:sp>
    </p:spTree>
    <p:extLst>
      <p:ext uri="{BB962C8B-B14F-4D97-AF65-F5344CB8AC3E}">
        <p14:creationId xmlns:p14="http://schemas.microsoft.com/office/powerpoint/2010/main" val="373147150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873654"/>
              </p:ext>
            </p:extLst>
          </p:nvPr>
        </p:nvGraphicFramePr>
        <p:xfrm>
          <a:off x="323528" y="267494"/>
          <a:ext cx="8316924" cy="3852425"/>
        </p:xfrm>
        <a:graphic>
          <a:graphicData uri="http://schemas.openxmlformats.org/drawingml/2006/table">
            <a:tbl>
              <a:tblPr/>
              <a:tblGrid>
                <a:gridCol w="28301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78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3056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8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玻璃剝片殘邊分離 </a:t>
                      </a:r>
                      <a:r>
                        <a:rPr lang="en-US" altLang="zh-TW" sz="18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POC </a:t>
                      </a:r>
                      <a:r>
                        <a:rPr lang="zh-TW" altLang="en-US" sz="18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驗證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2122">
                <a:tc gridSpan="2"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專案名稱：自動剝片 </a:t>
                      </a:r>
                      <a:r>
                        <a:rPr lang="en-US" altLang="zh-TW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POC </a:t>
                      </a:r>
                      <a:r>
                        <a:rPr lang="zh-TW" altLang="en-US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測試 </a:t>
                      </a:r>
                      <a:r>
                        <a:rPr lang="en-US" altLang="zh-TW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| </a:t>
                      </a:r>
                      <a:r>
                        <a:rPr lang="zh-TW" altLang="en-US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負責人：</a:t>
                      </a:r>
                      <a:r>
                        <a:rPr lang="en-US" altLang="zh-TW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Jason / </a:t>
                      </a:r>
                      <a:r>
                        <a:rPr lang="zh-TW" altLang="en-US" sz="1200" b="0" i="1" u="none" strike="noStrike" dirty="0">
                          <a:solidFill>
                            <a:srgbClr val="595959"/>
                          </a:solidFill>
                          <a:effectLst/>
                          <a:latin typeface="+mn-ea"/>
                          <a:ea typeface="+mn-ea"/>
                        </a:rPr>
                        <a:t>志偉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1" u="none" strike="noStrike">
                        <a:solidFill>
                          <a:srgbClr val="59595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1" u="none" strike="noStrike">
                        <a:solidFill>
                          <a:srgbClr val="595959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3820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N-Cut / COS POC </a:t>
                      </a:r>
                      <a:r>
                        <a:rPr lang="zh-TW" altLang="en-US" sz="12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驗證重點摘要與決策建議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</a:t>
                      </a:r>
                      <a:r>
                        <a:rPr lang="zh-TW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軸高度控制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Z 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軸微調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(±0.1</a:t>
                      </a:r>
                      <a:r>
                        <a:rPr 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mm) (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破片率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&lt; 1%, 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成功率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99%)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機構夾持</a:t>
                      </a:r>
                      <a:r>
                        <a:rPr lang="en-US" altLang="zh-TW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CDA</a:t>
                      </a:r>
                      <a:r>
                        <a:rPr lang="zh-TW" altLang="en-US" sz="1050" b="1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壓力控制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0.40 - 0.65 MPa (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破片率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&lt; 1%, 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成功率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99%)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關鍵失效模式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氣壓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0.30 MPa 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易造成玻璃邊緣微缺角；距離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&lt; 0 mm 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時滑脫率提升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後續正式設計建議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機構需具備自動微調功能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0" u="none" strike="noStrike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207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柔性爪</a:t>
                      </a:r>
                      <a:r>
                        <a:rPr lang="en-US" altLang="zh-TW" sz="1200" b="1" i="0" u="none" strike="noStrike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-</a:t>
                      </a:r>
                      <a:r>
                        <a:rPr 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Just Cut POC </a:t>
                      </a:r>
                      <a:r>
                        <a:rPr lang="zh-TW" altLang="en-US" sz="1200" b="1" i="0" u="none" strike="noStrike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驗證重點摘要</a:t>
                      </a: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endParaRPr lang="zh-TW" alt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7620" marR="7620" marT="762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最佳操作氣壓區間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0.20 - 0.25 MPa (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破片率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&lt; 1%, 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成功率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99%)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最佳接觸距離設定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+0.5 mm 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至 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+1.0 mm (</a:t>
                      </a:r>
                      <a:r>
                        <a:rPr lang="zh-TW" altLang="en-US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預緊力適中，貼合度最佳</a:t>
                      </a:r>
                      <a:r>
                        <a:rPr lang="en-US" altLang="zh-TW" sz="105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關鍵失效模式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氣壓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&gt; 0.30 MPa 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易造成玻璃邊緣微缺角；距離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&lt; 0 mm 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時滑脫率提升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40%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52122"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1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後續正式設計建議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6F1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b"/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機構需具備 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Z 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軸微調</a:t>
                      </a:r>
                      <a:r>
                        <a:rPr lang="en-US" altLang="zh-TW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(±0.2mm)</a:t>
                      </a:r>
                      <a:r>
                        <a:rPr lang="zh-TW" altLang="en-US" sz="105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與比例閥精密控壓能力，並增加氣壓緩衝</a:t>
                      </a:r>
                    </a:p>
                  </a:txBody>
                  <a:tcPr marL="7620" marR="7620" marT="7620" marB="0" anchor="b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2" name="矩形: 圓角 1">
            <a:extLst>
              <a:ext uri="{FF2B5EF4-FFF2-40B4-BE49-F238E27FC236}">
                <a16:creationId xmlns:a16="http://schemas.microsoft.com/office/drawing/2014/main" id="{4EE468B2-F5EA-F814-8755-C89AB7766376}"/>
              </a:ext>
            </a:extLst>
          </p:cNvPr>
          <p:cNvSpPr/>
          <p:nvPr/>
        </p:nvSpPr>
        <p:spPr>
          <a:xfrm>
            <a:off x="156754" y="1149531"/>
            <a:ext cx="8663718" cy="155448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3" name="矩形: 圓角 2">
            <a:extLst>
              <a:ext uri="{FF2B5EF4-FFF2-40B4-BE49-F238E27FC236}">
                <a16:creationId xmlns:a16="http://schemas.microsoft.com/office/drawing/2014/main" id="{E3063796-DC1D-BF75-8CFF-2FF10F5843A1}"/>
              </a:ext>
            </a:extLst>
          </p:cNvPr>
          <p:cNvSpPr/>
          <p:nvPr/>
        </p:nvSpPr>
        <p:spPr>
          <a:xfrm>
            <a:off x="150131" y="2808808"/>
            <a:ext cx="8663718" cy="1554480"/>
          </a:xfrm>
          <a:prstGeom prst="round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AF110B04-207B-D9FD-ECDA-96AA0C9071AD}"/>
              </a:ext>
            </a:extLst>
          </p:cNvPr>
          <p:cNvSpPr/>
          <p:nvPr/>
        </p:nvSpPr>
        <p:spPr>
          <a:xfrm>
            <a:off x="323528" y="1600200"/>
            <a:ext cx="871723" cy="2547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CE23192F-768B-6203-BF3C-D61CF929BFFE}"/>
              </a:ext>
            </a:extLst>
          </p:cNvPr>
          <p:cNvSpPr/>
          <p:nvPr/>
        </p:nvSpPr>
        <p:spPr>
          <a:xfrm>
            <a:off x="323528" y="1888672"/>
            <a:ext cx="1394238" cy="2547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3A54EDF7-8AD9-0B42-495D-BF805F8C8D1D}"/>
              </a:ext>
            </a:extLst>
          </p:cNvPr>
          <p:cNvSpPr txBox="1"/>
          <p:nvPr/>
        </p:nvSpPr>
        <p:spPr>
          <a:xfrm>
            <a:off x="1237928" y="1600200"/>
            <a:ext cx="1293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>
                <a:solidFill>
                  <a:srgbClr val="0000FF"/>
                </a:solidFill>
              </a:rPr>
              <a:t>關鍵參數 </a:t>
            </a:r>
            <a:r>
              <a:rPr lang="en-US" altLang="zh-TW" sz="1100" b="1" dirty="0">
                <a:solidFill>
                  <a:srgbClr val="0000FF"/>
                </a:solidFill>
              </a:rPr>
              <a:t>1</a:t>
            </a:r>
            <a:endParaRPr lang="zh-TW" altLang="en-US" sz="1100" b="1" dirty="0">
              <a:solidFill>
                <a:srgbClr val="0000FF"/>
              </a:solidFill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6E00F0DF-85B9-1641-28C7-66B2AFEC999D}"/>
              </a:ext>
            </a:extLst>
          </p:cNvPr>
          <p:cNvSpPr txBox="1"/>
          <p:nvPr/>
        </p:nvSpPr>
        <p:spPr>
          <a:xfrm>
            <a:off x="1717766" y="1890495"/>
            <a:ext cx="1293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>
                <a:solidFill>
                  <a:srgbClr val="0000FF"/>
                </a:solidFill>
              </a:rPr>
              <a:t>關鍵參數 </a:t>
            </a:r>
            <a:r>
              <a:rPr lang="en-US" altLang="zh-TW" sz="1100" b="1" dirty="0">
                <a:solidFill>
                  <a:srgbClr val="0000FF"/>
                </a:solidFill>
              </a:rPr>
              <a:t>2</a:t>
            </a:r>
            <a:endParaRPr lang="zh-TW" altLang="en-US" sz="1100" b="1" dirty="0">
              <a:solidFill>
                <a:srgbClr val="0000FF"/>
              </a:solidFill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863D45B-21DD-3CEF-23B8-54F51763FD93}"/>
              </a:ext>
            </a:extLst>
          </p:cNvPr>
          <p:cNvSpPr/>
          <p:nvPr/>
        </p:nvSpPr>
        <p:spPr>
          <a:xfrm>
            <a:off x="353142" y="3391989"/>
            <a:ext cx="1155618" cy="25472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DFCCC63D-5A1D-7A0D-2B3D-326FBE013FD6}"/>
              </a:ext>
            </a:extLst>
          </p:cNvPr>
          <p:cNvSpPr txBox="1"/>
          <p:nvPr/>
        </p:nvSpPr>
        <p:spPr>
          <a:xfrm>
            <a:off x="1508760" y="3375985"/>
            <a:ext cx="1293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100" b="1" dirty="0">
                <a:solidFill>
                  <a:srgbClr val="0000FF"/>
                </a:solidFill>
              </a:rPr>
              <a:t>關鍵參數 </a:t>
            </a:r>
            <a:r>
              <a:rPr lang="en-US" altLang="zh-TW" sz="1100" b="1" dirty="0">
                <a:solidFill>
                  <a:srgbClr val="0000FF"/>
                </a:solidFill>
              </a:rPr>
              <a:t>3</a:t>
            </a:r>
            <a:endParaRPr lang="zh-TW" altLang="en-US" sz="1100" b="1" dirty="0">
              <a:solidFill>
                <a:srgbClr val="0000FF"/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96EB75F-4CF4-5E6C-406B-F417680DE1BC}"/>
              </a:ext>
            </a:extLst>
          </p:cNvPr>
          <p:cNvSpPr txBox="1"/>
          <p:nvPr/>
        </p:nvSpPr>
        <p:spPr>
          <a:xfrm>
            <a:off x="3010989" y="2862180"/>
            <a:ext cx="1293223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100" b="1" dirty="0">
                <a:solidFill>
                  <a:srgbClr val="0000FF"/>
                </a:solidFill>
              </a:rPr>
              <a:t>8/11</a:t>
            </a:r>
            <a:r>
              <a:rPr lang="zh-TW" altLang="en-US" sz="1100" b="1" dirty="0">
                <a:solidFill>
                  <a:srgbClr val="0000FF"/>
                </a:solidFill>
              </a:rPr>
              <a:t> 到料</a:t>
            </a:r>
          </a:p>
        </p:txBody>
      </p:sp>
    </p:spTree>
    <p:extLst>
      <p:ext uri="{BB962C8B-B14F-4D97-AF65-F5344CB8AC3E}">
        <p14:creationId xmlns:p14="http://schemas.microsoft.com/office/powerpoint/2010/main" val="33173138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582803" y="853241"/>
            <a:ext cx="3060403" cy="2784242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0325" y="198120"/>
            <a:ext cx="8482972" cy="594698"/>
          </a:xfrm>
        </p:spPr>
        <p:txBody>
          <a:bodyPr>
            <a:normAutofit/>
          </a:bodyPr>
          <a:lstStyle/>
          <a:p>
            <a:r>
              <a:rPr lang="en-US" altLang="zh-TW" dirty="0"/>
              <a:t>COS/N-Cut</a:t>
            </a:r>
            <a:r>
              <a:rPr lang="zh-TW" altLang="en-US" dirty="0"/>
              <a:t>測試機改造</a:t>
            </a:r>
            <a:r>
              <a:rPr lang="en-US" altLang="zh-TW" dirty="0">
                <a:sym typeface="Wingdings" panose="05000000000000000000" pitchFamily="2" charset="2"/>
              </a:rPr>
              <a:t></a:t>
            </a:r>
            <a:r>
              <a:rPr lang="zh-TW" altLang="en-US" dirty="0">
                <a:sym typeface="Wingdings" panose="05000000000000000000" pitchFamily="2" charset="2"/>
              </a:rPr>
              <a:t> 增加</a:t>
            </a:r>
            <a:r>
              <a:rPr lang="en-US" altLang="zh-TW" dirty="0">
                <a:sym typeface="Wingdings" panose="05000000000000000000" pitchFamily="2" charset="2"/>
              </a:rPr>
              <a:t>Z</a:t>
            </a:r>
            <a:r>
              <a:rPr lang="zh-TW" altLang="en-US" dirty="0">
                <a:sym typeface="Wingdings" panose="05000000000000000000" pitchFamily="2" charset="2"/>
              </a:rPr>
              <a:t>軸手動滑台調整</a:t>
            </a:r>
            <a:endParaRPr lang="zh-TW" altLang="en-US" dirty="0"/>
          </a:p>
        </p:txBody>
      </p:sp>
      <p:sp>
        <p:nvSpPr>
          <p:cNvPr id="15" name="向右箭號 14"/>
          <p:cNvSpPr/>
          <p:nvPr/>
        </p:nvSpPr>
        <p:spPr>
          <a:xfrm>
            <a:off x="3874142" y="2074806"/>
            <a:ext cx="1332148" cy="252028"/>
          </a:xfrm>
          <a:prstGeom prst="right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3712616" y="1184496"/>
            <a:ext cx="15696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殘邊夾具改造</a:t>
            </a:r>
          </a:p>
        </p:txBody>
      </p:sp>
      <p:cxnSp>
        <p:nvCxnSpPr>
          <p:cNvPr id="20" name="直線單箭頭接點 19"/>
          <p:cNvCxnSpPr>
            <a:endCxn id="21" idx="0"/>
          </p:cNvCxnSpPr>
          <p:nvPr/>
        </p:nvCxnSpPr>
        <p:spPr>
          <a:xfrm flipH="1">
            <a:off x="5167372" y="2484936"/>
            <a:ext cx="521193" cy="4654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文字方塊 20"/>
          <p:cNvSpPr txBox="1"/>
          <p:nvPr/>
        </p:nvSpPr>
        <p:spPr>
          <a:xfrm>
            <a:off x="4203784" y="2950354"/>
            <a:ext cx="19271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  <a:ea typeface="+mn-ea"/>
              </a:rPr>
              <a:t>伸出汽缸</a:t>
            </a:r>
            <a:endParaRPr lang="en-US" altLang="zh-TW" sz="1400" dirty="0">
              <a:latin typeface="+mn-ea"/>
              <a:ea typeface="+mn-ea"/>
            </a:endParaRPr>
          </a:p>
          <a:p>
            <a:r>
              <a:rPr lang="zh-TW" altLang="en-US" sz="1400" dirty="0">
                <a:latin typeface="+mn-ea"/>
                <a:ea typeface="+mn-ea"/>
              </a:rPr>
              <a:t>往下移動</a:t>
            </a:r>
            <a:r>
              <a:rPr lang="en-US" altLang="zh-TW" sz="1400" dirty="0">
                <a:latin typeface="+mn-ea"/>
                <a:ea typeface="+mn-ea"/>
              </a:rPr>
              <a:t>10mm</a:t>
            </a: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22" name="文字方塊 21"/>
          <p:cNvSpPr txBox="1"/>
          <p:nvPr/>
        </p:nvSpPr>
        <p:spPr>
          <a:xfrm>
            <a:off x="7151914" y="3465326"/>
            <a:ext cx="199208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  <a:ea typeface="+mn-ea"/>
              </a:rPr>
              <a:t>增設手動調整滑台</a:t>
            </a:r>
            <a:endParaRPr lang="en-US" altLang="zh-TW" sz="1400" dirty="0">
              <a:latin typeface="+mn-ea"/>
              <a:ea typeface="+mn-ea"/>
            </a:endParaRPr>
          </a:p>
          <a:p>
            <a:r>
              <a:rPr lang="zh-TW" altLang="en-US" sz="1400" dirty="0">
                <a:solidFill>
                  <a:srgbClr val="0000FF"/>
                </a:solidFill>
                <a:latin typeface="+mn-ea"/>
                <a:ea typeface="+mn-ea"/>
              </a:rPr>
              <a:t>確保關鍵參數可量化</a:t>
            </a:r>
            <a:r>
              <a:rPr lang="zh-TW" altLang="en-US" sz="1400" dirty="0">
                <a:latin typeface="+mn-ea"/>
                <a:ea typeface="+mn-ea"/>
              </a:rPr>
              <a:t> </a:t>
            </a:r>
            <a:r>
              <a:rPr lang="en-US" altLang="zh-TW" sz="1400" dirty="0">
                <a:latin typeface="+mn-ea"/>
                <a:ea typeface="+mn-ea"/>
              </a:rPr>
              <a:t>(HY</a:t>
            </a:r>
            <a:r>
              <a:rPr lang="zh-TW" altLang="en-US" sz="1400" dirty="0">
                <a:latin typeface="+mn-ea"/>
                <a:ea typeface="+mn-ea"/>
              </a:rPr>
              <a:t>設備零件活化</a:t>
            </a:r>
            <a:r>
              <a:rPr lang="en-US" altLang="zh-TW" sz="1400" dirty="0">
                <a:latin typeface="+mn-ea"/>
                <a:ea typeface="+mn-ea"/>
              </a:rPr>
              <a:t>)</a:t>
            </a:r>
            <a:endParaRPr lang="zh-TW" altLang="en-US" sz="1400" dirty="0">
              <a:latin typeface="+mn-ea"/>
              <a:ea typeface="+mn-ea"/>
            </a:endParaRPr>
          </a:p>
        </p:txBody>
      </p:sp>
      <p:sp>
        <p:nvSpPr>
          <p:cNvPr id="24" name="文字方塊 23"/>
          <p:cNvSpPr txBox="1"/>
          <p:nvPr/>
        </p:nvSpPr>
        <p:spPr>
          <a:xfrm>
            <a:off x="251520" y="4182555"/>
            <a:ext cx="7109639" cy="64633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none" rtlCol="0">
            <a:spAutoFit/>
          </a:bodyPr>
          <a:lstStyle/>
          <a:p>
            <a:r>
              <a:rPr lang="zh-TW" altLang="en-US" dirty="0">
                <a:latin typeface="+mn-ea"/>
                <a:ea typeface="+mn-ea"/>
              </a:rPr>
              <a:t>目前測試機已完成第一階段測試，為改善剝片過程仍有貝殼紋問題</a:t>
            </a:r>
            <a:endParaRPr lang="en-US" altLang="zh-TW" dirty="0">
              <a:latin typeface="+mn-ea"/>
              <a:ea typeface="+mn-ea"/>
            </a:endParaRPr>
          </a:p>
          <a:p>
            <a:r>
              <a:rPr lang="zh-TW" altLang="en-US" dirty="0">
                <a:latin typeface="+mn-ea"/>
                <a:ea typeface="+mn-ea"/>
              </a:rPr>
              <a:t>故預計進行測試機改造，以獲取更多不同機構角度時剝片數據。</a:t>
            </a:r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4133" y="1015063"/>
            <a:ext cx="3283496" cy="2634217"/>
          </a:xfrm>
          <a:prstGeom prst="rect">
            <a:avLst/>
          </a:prstGeom>
        </p:spPr>
      </p:pic>
      <p:cxnSp>
        <p:nvCxnSpPr>
          <p:cNvPr id="19" name="直線單箭頭接點 18"/>
          <p:cNvCxnSpPr>
            <a:endCxn id="18" idx="1"/>
          </p:cNvCxnSpPr>
          <p:nvPr/>
        </p:nvCxnSpPr>
        <p:spPr>
          <a:xfrm flipV="1">
            <a:off x="1943708" y="1369162"/>
            <a:ext cx="1768908" cy="2725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線單箭頭接點 22"/>
          <p:cNvCxnSpPr/>
          <p:nvPr/>
        </p:nvCxnSpPr>
        <p:spPr>
          <a:xfrm flipV="1">
            <a:off x="2639906" y="1641698"/>
            <a:ext cx="1166433" cy="10759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7395755" y="2410096"/>
            <a:ext cx="1237542" cy="1055229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9635740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478148" y="331531"/>
            <a:ext cx="8482972" cy="584035"/>
          </a:xfrm>
        </p:spPr>
        <p:txBody>
          <a:bodyPr/>
          <a:lstStyle/>
          <a:p>
            <a:r>
              <a:rPr lang="zh-TW" altLang="en-US" dirty="0"/>
              <a:t>測試台現場改造</a:t>
            </a:r>
          </a:p>
        </p:txBody>
      </p:sp>
      <p:pic>
        <p:nvPicPr>
          <p:cNvPr id="7170" name="Picture 2" descr="6f3b3afe-3274-4f8e-bfd1-fe511468d5c4@auo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-181754" y="1320577"/>
            <a:ext cx="3057592" cy="22931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1" name="Picture 3" descr="4ebf340a-8140-4cbc-b65c-ffa54f870ff1@auo"/>
          <p:cNvPicPr>
            <a:picLocks noChangeAspect="1" noChangeArrowheads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5435082" y="936991"/>
            <a:ext cx="3060340" cy="24799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2" name="Picture 4" descr="f7db0af3-2de4-4839-b86d-f808863fad91@auo"/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 rot="5400000">
            <a:off x="2429106" y="1322935"/>
            <a:ext cx="3054897" cy="2291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文字方塊 3"/>
          <p:cNvSpPr txBox="1"/>
          <p:nvPr/>
        </p:nvSpPr>
        <p:spPr>
          <a:xfrm>
            <a:off x="200445" y="3995970"/>
            <a:ext cx="20981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  <a:ea typeface="+mn-ea"/>
              </a:rPr>
              <a:t>將殘邊夾具加工件二次加工改孔安裝手動滑台</a:t>
            </a:r>
            <a:endParaRPr lang="en-US" altLang="zh-TW" sz="1400" dirty="0">
              <a:latin typeface="+mn-ea"/>
              <a:ea typeface="+mn-ea"/>
            </a:endParaRPr>
          </a:p>
        </p:txBody>
      </p:sp>
      <p:sp>
        <p:nvSpPr>
          <p:cNvPr id="8" name="文字方塊 7"/>
          <p:cNvSpPr txBox="1"/>
          <p:nvPr/>
        </p:nvSpPr>
        <p:spPr>
          <a:xfrm>
            <a:off x="2810968" y="3995970"/>
            <a:ext cx="2445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1400" dirty="0">
                <a:latin typeface="+mn-ea"/>
                <a:ea typeface="+mn-ea"/>
              </a:rPr>
              <a:t>增加測試台腳座墊高，</a:t>
            </a:r>
            <a:endParaRPr lang="en-US" altLang="zh-TW" sz="1400" dirty="0">
              <a:latin typeface="+mn-ea"/>
              <a:ea typeface="+mn-ea"/>
            </a:endParaRPr>
          </a:p>
          <a:p>
            <a:r>
              <a:rPr lang="zh-TW" altLang="en-US" sz="1400" dirty="0">
                <a:latin typeface="+mn-ea"/>
                <a:ea typeface="+mn-ea"/>
              </a:rPr>
              <a:t>方便調整</a:t>
            </a:r>
            <a:r>
              <a:rPr lang="en-US" altLang="zh-TW" sz="1400" dirty="0">
                <a:latin typeface="+mn-ea"/>
                <a:ea typeface="+mn-ea"/>
              </a:rPr>
              <a:t>Z</a:t>
            </a:r>
            <a:r>
              <a:rPr lang="zh-TW" altLang="en-US" sz="1400" dirty="0">
                <a:latin typeface="+mn-ea"/>
                <a:ea typeface="+mn-ea"/>
              </a:rPr>
              <a:t>軸與觀察調整範圍</a:t>
            </a:r>
            <a:endParaRPr lang="en-US" altLang="zh-TW" sz="1400" dirty="0">
              <a:latin typeface="+mn-ea"/>
              <a:ea typeface="+mn-ea"/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5419470" y="3416965"/>
            <a:ext cx="24451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400" dirty="0">
                <a:latin typeface="+mn-ea"/>
                <a:ea typeface="+mn-ea"/>
              </a:rPr>
              <a:t>Z</a:t>
            </a:r>
            <a:r>
              <a:rPr lang="zh-TW" altLang="en-US" sz="1400" dirty="0">
                <a:latin typeface="+mn-ea"/>
                <a:ea typeface="+mn-ea"/>
              </a:rPr>
              <a:t>軸調整滑台安裝於推伸汽缸與夾具座之間，可調整範圍在</a:t>
            </a:r>
            <a:r>
              <a:rPr lang="en-US" altLang="zh-TW" sz="1400" dirty="0">
                <a:latin typeface="+mn-ea"/>
                <a:ea typeface="+mn-ea"/>
              </a:rPr>
              <a:t>10mm</a:t>
            </a:r>
            <a:r>
              <a:rPr lang="zh-TW" altLang="en-US" sz="1400" dirty="0">
                <a:latin typeface="+mn-ea"/>
                <a:ea typeface="+mn-ea"/>
              </a:rPr>
              <a:t>之間，尺規可讀取刻度為</a:t>
            </a:r>
            <a:r>
              <a:rPr lang="en-US" altLang="zh-TW" sz="1400" dirty="0">
                <a:latin typeface="+mn-ea"/>
                <a:ea typeface="+mn-ea"/>
              </a:rPr>
              <a:t>0.1mm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AE3CD9E3-21A4-8D28-CA1B-E41D2914BAB3}"/>
              </a:ext>
            </a:extLst>
          </p:cNvPr>
          <p:cNvSpPr/>
          <p:nvPr/>
        </p:nvSpPr>
        <p:spPr>
          <a:xfrm>
            <a:off x="6220098" y="1367425"/>
            <a:ext cx="1237542" cy="1525997"/>
          </a:xfrm>
          <a:prstGeom prst="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9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684792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47963" y="2283718"/>
          <a:ext cx="9037003" cy="2254425"/>
        </p:xfrm>
        <a:graphic>
          <a:graphicData uri="http://schemas.openxmlformats.org/drawingml/2006/table">
            <a:tbl>
              <a:tblPr/>
              <a:tblGrid>
                <a:gridCol w="22190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22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12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9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24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altLang="zh-TW" sz="20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Just Cut</a:t>
                      </a:r>
                      <a:r>
                        <a:rPr lang="en-US" sz="20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TW" altLang="en-US" sz="20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驗證階段測試排程規劃 </a:t>
                      </a:r>
                      <a:endParaRPr lang="en-US" sz="2000" b="1" i="0" u="none" strike="noStrike" dirty="0">
                        <a:solidFill>
                          <a:srgbClr val="1F497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階段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日期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主要工作項目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測試目標 </a:t>
                      </a:r>
                      <a:r>
                        <a:rPr lang="en-US" altLang="zh-TW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交付成果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負責人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狀態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：測試環境建構與設備基線校正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治具與硬體架設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固定治具、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TM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手臂、氣壓控制單元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硬體架設完成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：單變因基礎物理邊界量測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12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測試項目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：柔性爪自由膨脹與接觸距離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(Distance)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取得距離 </a:t>
                      </a: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vs </a:t>
                      </a: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變形量</a:t>
                      </a: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/</a:t>
                      </a: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接觸面積數據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：單變因基礎物理邊界量測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13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測試項目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B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：輸出氣體壓力關係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(Pressure)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確定最小剝離氣壓 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Pmin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與最大破片氣壓 </a:t>
                      </a:r>
                      <a:r>
                        <a:rPr lang="en-US" altLang="zh-TW" sz="9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Pmax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：多變因交叉驗證與極限邊界測試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DOE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矩陣測試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距離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x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氣壓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) &amp;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邊界極限測試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繪製 </a:t>
                      </a: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Process Window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操作關係圖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：數據分析、失效模式整理與結案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數據統計分析、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FMEA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失效整理、產出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POC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結案報告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完成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POC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驗證報告與正式機構設計建議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47963" y="411510"/>
          <a:ext cx="9037003" cy="1650697"/>
        </p:xfrm>
        <a:graphic>
          <a:graphicData uri="http://schemas.openxmlformats.org/drawingml/2006/table">
            <a:tbl>
              <a:tblPr/>
              <a:tblGrid>
                <a:gridCol w="20675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363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3231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823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823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43241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US" altLang="zh-TW" sz="20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COS/Normal Cut </a:t>
                      </a:r>
                      <a:r>
                        <a:rPr lang="zh-TW" altLang="en-US" sz="2000" b="1" i="0" u="none" strike="noStrike" dirty="0">
                          <a:solidFill>
                            <a:srgbClr val="1F497D"/>
                          </a:solidFill>
                          <a:effectLst/>
                          <a:latin typeface="+mn-ea"/>
                          <a:ea typeface="+mn-ea"/>
                        </a:rPr>
                        <a:t>夾具水平驗證階段測試排程規劃 </a:t>
                      </a:r>
                      <a:endParaRPr lang="en-US" sz="2000" b="1" i="0" u="none" strike="noStrike" dirty="0">
                        <a:solidFill>
                          <a:srgbClr val="1F497D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TW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zh-TW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階段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日期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主要工作項目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測試目標 </a:t>
                      </a:r>
                      <a:r>
                        <a:rPr lang="en-US" altLang="zh-TW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/ </a:t>
                      </a:r>
                      <a:r>
                        <a:rPr lang="zh-TW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交付成果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負責人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TW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ea"/>
                          <a:ea typeface="+mn-ea"/>
                        </a:rPr>
                        <a:t>狀態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：測試環境建構與設備基線校正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6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機構件加工改造，手動測試機構作動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硬體架設完成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：單變因基礎物理邊界量測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7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~8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測試項目 ：夾具水平手動調整紀錄剝片成功率</a:t>
                      </a:r>
                      <a:endParaRPr lang="en-US" altLang="zh-TW" sz="9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根據手動滑台刻度紀錄最佳裂片參數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864"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階段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：數據分析、整理與結案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8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月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14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日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數據統計分析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完成 </a:t>
                      </a:r>
                      <a:r>
                        <a:rPr lang="en-US" altLang="zh-TW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POC </a:t>
                      </a: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驗證報告與正式機構設計建議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l" fontAlgn="ctr">
                        <a:lnSpc>
                          <a:spcPct val="100000"/>
                        </a:lnSpc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Jason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marL="36000" algn="ctr" fontAlgn="ctr">
                        <a:lnSpc>
                          <a:spcPct val="100000"/>
                        </a:lnSpc>
                      </a:pPr>
                      <a:r>
                        <a:rPr lang="zh-TW" alt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未開始</a:t>
                      </a:r>
                    </a:p>
                  </a:txBody>
                  <a:tcPr marL="5258" marR="5258" marT="5258" marB="0" anchor="ctr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69774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AU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5087"/>
      </a:accent1>
      <a:accent2>
        <a:srgbClr val="64DCF0"/>
      </a:accent2>
      <a:accent3>
        <a:srgbClr val="FFE664"/>
      </a:accent3>
      <a:accent4>
        <a:srgbClr val="B491D7"/>
      </a:accent4>
      <a:accent5>
        <a:srgbClr val="87DC64"/>
      </a:accent5>
      <a:accent6>
        <a:srgbClr val="147891"/>
      </a:accent6>
      <a:hlink>
        <a:srgbClr val="64DCF0"/>
      </a:hlink>
      <a:folHlink>
        <a:srgbClr val="414141"/>
      </a:folHlink>
    </a:clrScheme>
    <a:fontScheme name="Custom 14">
      <a:majorFont>
        <a:latin typeface="Mabry Pro Medium"/>
        <a:ea typeface="Noto Sans TC Medium"/>
        <a:cs typeface="MabryPro-Bold"/>
      </a:majorFont>
      <a:minorFont>
        <a:latin typeface="Mabry Pro"/>
        <a:ea typeface="Noto Sans TC"/>
        <a:cs typeface="MabryPro-Bold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1">
            <a:lumMod val="75000"/>
          </a:schemeClr>
        </a:solidFill>
        <a:ln>
          <a:noFill/>
        </a:ln>
      </a:spPr>
      <a:bodyPr rtlCol="0" anchor="ctr"/>
      <a:lstStyle>
        <a:defPPr algn="ctr">
          <a:defRPr sz="900" b="1" dirty="0" smtClean="0">
            <a:solidFill>
              <a:schemeClr val="bg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FA83A81BE6128246A8E1BD226877348E" ma:contentTypeVersion="14" ma:contentTypeDescription="建立新的文件。" ma:contentTypeScope="" ma:versionID="b874c3a4e15cf930a8946f533cbbeaf2">
  <xsd:schema xmlns:xsd="http://www.w3.org/2001/XMLSchema" xmlns:xs="http://www.w3.org/2001/XMLSchema" xmlns:p="http://schemas.microsoft.com/office/2006/metadata/properties" xmlns:ns2="a27ddc0f-9669-49f3-a12a-cc001a66f1de" xmlns:ns3="b6e8c36a-55d8-45dd-90f3-70da28895b26" targetNamespace="http://schemas.microsoft.com/office/2006/metadata/properties" ma:root="true" ma:fieldsID="139a0e48709202f1fec78d54ba27a541" ns2:_="" ns3:_="">
    <xsd:import namespace="a27ddc0f-9669-49f3-a12a-cc001a66f1de"/>
    <xsd:import namespace="b6e8c36a-55d8-45dd-90f3-70da28895b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7ddc0f-9669-49f3-a12a-cc001a66f1d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影像標籤" ma:readOnly="false" ma:fieldId="{5cf76f15-5ced-4ddc-b409-7134ff3c332f}" ma:taxonomyMulti="true" ma:sspId="f09edea6-7d0e-4644-be29-98b7ac4f943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e8c36a-55d8-45dd-90f3-70da28895b26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9c300a49-b3fb-4617-b40e-cc0c15feb3ce}" ma:internalName="TaxCatchAll" ma:showField="CatchAllData" ma:web="b6e8c36a-55d8-45dd-90f3-70da28895b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27ddc0f-9669-49f3-a12a-cc001a66f1de">
      <Terms xmlns="http://schemas.microsoft.com/office/infopath/2007/PartnerControls"/>
    </lcf76f155ced4ddcb4097134ff3c332f>
    <TaxCatchAll xmlns="b6e8c36a-55d8-45dd-90f3-70da28895b26" xsi:nil="true"/>
  </documentManagement>
</p:properties>
</file>

<file path=customXml/itemProps1.xml><?xml version="1.0" encoding="utf-8"?>
<ds:datastoreItem xmlns:ds="http://schemas.openxmlformats.org/officeDocument/2006/customXml" ds:itemID="{653D4ABD-136F-4A9F-8002-4560072A95F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7ddc0f-9669-49f3-a12a-cc001a66f1de"/>
    <ds:schemaRef ds:uri="b6e8c36a-55d8-45dd-90f3-70da28895b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0809BD-475E-4A48-AFCC-0456FDB413B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5856086-76CD-48C0-8A28-0F1E89A264C9}">
  <ds:schemaRefs>
    <ds:schemaRef ds:uri="http://schemas.microsoft.com/office/2006/documentManagement/types"/>
    <ds:schemaRef ds:uri="http://purl.org/dc/elements/1.1/"/>
    <ds:schemaRef ds:uri="a27ddc0f-9669-49f3-a12a-cc001a66f1de"/>
    <ds:schemaRef ds:uri="http://purl.org/dc/dcmitype/"/>
    <ds:schemaRef ds:uri="http://purl.org/dc/terms/"/>
    <ds:schemaRef ds:uri="b6e8c36a-55d8-45dd-90f3-70da28895b26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39058</TotalTime>
  <Words>2458</Words>
  <Application>Microsoft Office PowerPoint</Application>
  <PresentationFormat>如螢幕大小 (16:9)</PresentationFormat>
  <Paragraphs>616</Paragraphs>
  <Slides>21</Slides>
  <Notes>2</Notes>
  <HiddenSlides>10</HiddenSlides>
  <MMClips>2</MMClips>
  <ScaleCrop>false</ScaleCrop>
  <HeadingPairs>
    <vt:vector size="8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內嵌 OLE 伺服程式</vt:lpstr>
      </vt:variant>
      <vt:variant>
        <vt:i4>1</vt:i4>
      </vt:variant>
      <vt:variant>
        <vt:lpstr>投影片標題</vt:lpstr>
      </vt:variant>
      <vt:variant>
        <vt:i4>21</vt:i4>
      </vt:variant>
    </vt:vector>
  </HeadingPairs>
  <TitlesOfParts>
    <vt:vector size="31" baseType="lpstr">
      <vt:lpstr>Mabry Pro</vt:lpstr>
      <vt:lpstr>Mabry Pro Medium</vt:lpstr>
      <vt:lpstr>Noto Sans TC</vt:lpstr>
      <vt:lpstr>微軟正黑體</vt:lpstr>
      <vt:lpstr>Arial</vt:lpstr>
      <vt:lpstr>Calibri</vt:lpstr>
      <vt:lpstr>Gill Sans MT</vt:lpstr>
      <vt:lpstr>Wingdings</vt:lpstr>
      <vt:lpstr>Office 佈景主題</vt:lpstr>
      <vt:lpstr>Worksheet</vt:lpstr>
      <vt:lpstr>自動撥片</vt:lpstr>
      <vt:lpstr>L5A CGL自動化省人專案</vt:lpstr>
      <vt:lpstr>PowerPoint 簡報</vt:lpstr>
      <vt:lpstr>PowerPoint 簡報</vt:lpstr>
      <vt:lpstr>剝片技術分類 - COS、N-Cut、J-Cut</vt:lpstr>
      <vt:lpstr>COS 測試開發</vt:lpstr>
      <vt:lpstr>N-Cut 夾持示意圖</vt:lpstr>
      <vt:lpstr>N-Cut 測試開發</vt:lpstr>
      <vt:lpstr>成本分析</vt:lpstr>
      <vt:lpstr>Cost down - 自動剝片硬體機構 </vt:lpstr>
      <vt:lpstr>Cost down – 分流機</vt:lpstr>
      <vt:lpstr>PowerPoint 簡報</vt:lpstr>
      <vt:lpstr>PowerPoint 簡報</vt:lpstr>
      <vt:lpstr>Cost down - AOI</vt:lpstr>
      <vt:lpstr>Cost Down – 系統整合 </vt:lpstr>
      <vt:lpstr>PowerPoint 簡報</vt:lpstr>
      <vt:lpstr>設備資產活化可行性</vt:lpstr>
      <vt:lpstr>PowerPoint 簡報</vt:lpstr>
      <vt:lpstr>COS/N-Cut測試機改造 增加Z軸手動滑台調整</vt:lpstr>
      <vt:lpstr>測試台現場改造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Weekly Meeting</dc:title>
  <dc:creator>Sam WC Wang 王偉臣</dc:creator>
  <cp:lastModifiedBy>偉臣 王</cp:lastModifiedBy>
  <cp:revision>1204</cp:revision>
  <dcterms:modified xsi:type="dcterms:W3CDTF">2026-10-26T13:58:48Z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0x010100FA83A81BE6128246A8E1BD226877348E</vt:lpwstr>
  </property>
  <property fmtid="{D5CDD505-2E9C-101B-9397-08002B2CF9AE}" pid="3" name="MediaServiceImageTags">
    <vt:lpwstr/>
  </property>
</Properties>
</file>