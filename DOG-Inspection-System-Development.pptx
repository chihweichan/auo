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3" r:id="rId5"/>
    <p:sldId id="257" r:id="rId6"/>
    <p:sldId id="264" r:id="rId7"/>
    <p:sldId id="262" r:id="rId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4660"/>
  </p:normalViewPr>
  <p:slideViewPr>
    <p:cSldViewPr snapToGrid="0">
      <p:cViewPr>
        <p:scale>
          <a:sx n="80" d="100"/>
          <a:sy n="80" d="100"/>
        </p:scale>
        <p:origin x="332" y="4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CB28191-B8AE-46AA-97C7-9E8C8B5A1484}"/>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1F9489F1-E6B6-4F65-AFC9-27D97845B0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DBBBA9B8-ECE6-4DD4-991C-6D25A8148062}"/>
              </a:ext>
            </a:extLst>
          </p:cNvPr>
          <p:cNvSpPr>
            <a:spLocks noGrp="1"/>
          </p:cNvSpPr>
          <p:nvPr>
            <p:ph type="dt" sz="half" idx="10"/>
          </p:nvPr>
        </p:nvSpPr>
        <p:spPr/>
        <p:txBody>
          <a:bodyPr/>
          <a:lstStyle/>
          <a:p>
            <a:fld id="{8C8B7CE7-9C49-44DA-85B3-A3B2C972DEAB}" type="datetimeFigureOut">
              <a:rPr lang="zh-TW" altLang="en-US" smtClean="0"/>
              <a:t>2025/9/11</a:t>
            </a:fld>
            <a:endParaRPr lang="zh-TW" altLang="en-US"/>
          </a:p>
        </p:txBody>
      </p:sp>
      <p:sp>
        <p:nvSpPr>
          <p:cNvPr id="5" name="頁尾版面配置區 4">
            <a:extLst>
              <a:ext uri="{FF2B5EF4-FFF2-40B4-BE49-F238E27FC236}">
                <a16:creationId xmlns:a16="http://schemas.microsoft.com/office/drawing/2014/main" id="{507CD8C8-D8F2-4C12-ABB1-1E71B9A1BDE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4837340-ADEC-4E4C-9919-1B03FEEFB7F0}"/>
              </a:ext>
            </a:extLst>
          </p:cNvPr>
          <p:cNvSpPr>
            <a:spLocks noGrp="1"/>
          </p:cNvSpPr>
          <p:nvPr>
            <p:ph type="sldNum" sz="quarter" idx="12"/>
          </p:nvPr>
        </p:nvSpPr>
        <p:spPr/>
        <p:txBody>
          <a:bodyPr/>
          <a:lstStyle/>
          <a:p>
            <a:fld id="{2042DA67-5AC3-473A-84F2-6ADA777F0CCC}" type="slidenum">
              <a:rPr lang="zh-TW" altLang="en-US" smtClean="0"/>
              <a:t>‹#›</a:t>
            </a:fld>
            <a:endParaRPr lang="zh-TW" altLang="en-US"/>
          </a:p>
        </p:txBody>
      </p:sp>
    </p:spTree>
    <p:extLst>
      <p:ext uri="{BB962C8B-B14F-4D97-AF65-F5344CB8AC3E}">
        <p14:creationId xmlns:p14="http://schemas.microsoft.com/office/powerpoint/2010/main" val="3710006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ADA5A7F-8BA0-44DF-BC06-A1C6F2BA54D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2C8CB87-FE0B-419A-8EA7-DF78F6C2E9ED}"/>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7E0494B-23BF-44F2-AB58-524B9AD77E94}"/>
              </a:ext>
            </a:extLst>
          </p:cNvPr>
          <p:cNvSpPr>
            <a:spLocks noGrp="1"/>
          </p:cNvSpPr>
          <p:nvPr>
            <p:ph type="dt" sz="half" idx="10"/>
          </p:nvPr>
        </p:nvSpPr>
        <p:spPr/>
        <p:txBody>
          <a:bodyPr/>
          <a:lstStyle/>
          <a:p>
            <a:fld id="{8C8B7CE7-9C49-44DA-85B3-A3B2C972DEAB}" type="datetimeFigureOut">
              <a:rPr lang="zh-TW" altLang="en-US" smtClean="0"/>
              <a:t>2025/9/11</a:t>
            </a:fld>
            <a:endParaRPr lang="zh-TW" altLang="en-US"/>
          </a:p>
        </p:txBody>
      </p:sp>
      <p:sp>
        <p:nvSpPr>
          <p:cNvPr id="5" name="頁尾版面配置區 4">
            <a:extLst>
              <a:ext uri="{FF2B5EF4-FFF2-40B4-BE49-F238E27FC236}">
                <a16:creationId xmlns:a16="http://schemas.microsoft.com/office/drawing/2014/main" id="{C7EE2BF2-A904-4B6E-AEDF-790E63F3302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854B46F-4876-409D-AF34-5FA2AB07B6C7}"/>
              </a:ext>
            </a:extLst>
          </p:cNvPr>
          <p:cNvSpPr>
            <a:spLocks noGrp="1"/>
          </p:cNvSpPr>
          <p:nvPr>
            <p:ph type="sldNum" sz="quarter" idx="12"/>
          </p:nvPr>
        </p:nvSpPr>
        <p:spPr/>
        <p:txBody>
          <a:bodyPr/>
          <a:lstStyle/>
          <a:p>
            <a:fld id="{2042DA67-5AC3-473A-84F2-6ADA777F0CCC}" type="slidenum">
              <a:rPr lang="zh-TW" altLang="en-US" smtClean="0"/>
              <a:t>‹#›</a:t>
            </a:fld>
            <a:endParaRPr lang="zh-TW" altLang="en-US"/>
          </a:p>
        </p:txBody>
      </p:sp>
    </p:spTree>
    <p:extLst>
      <p:ext uri="{BB962C8B-B14F-4D97-AF65-F5344CB8AC3E}">
        <p14:creationId xmlns:p14="http://schemas.microsoft.com/office/powerpoint/2010/main" val="47452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DE6067-A1AA-4894-91AD-6F398D7035D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662D8FC5-5547-4309-85D9-C29AE07CF8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0E658A87-6172-4A10-B8B2-092E329170DD}"/>
              </a:ext>
            </a:extLst>
          </p:cNvPr>
          <p:cNvSpPr>
            <a:spLocks noGrp="1"/>
          </p:cNvSpPr>
          <p:nvPr>
            <p:ph type="dt" sz="half" idx="10"/>
          </p:nvPr>
        </p:nvSpPr>
        <p:spPr/>
        <p:txBody>
          <a:bodyPr/>
          <a:lstStyle/>
          <a:p>
            <a:fld id="{8C8B7CE7-9C49-44DA-85B3-A3B2C972DEAB}" type="datetimeFigureOut">
              <a:rPr lang="zh-TW" altLang="en-US" smtClean="0"/>
              <a:t>2025/9/11</a:t>
            </a:fld>
            <a:endParaRPr lang="zh-TW" altLang="en-US"/>
          </a:p>
        </p:txBody>
      </p:sp>
      <p:sp>
        <p:nvSpPr>
          <p:cNvPr id="5" name="頁尾版面配置區 4">
            <a:extLst>
              <a:ext uri="{FF2B5EF4-FFF2-40B4-BE49-F238E27FC236}">
                <a16:creationId xmlns:a16="http://schemas.microsoft.com/office/drawing/2014/main" id="{B6E2A83E-253C-4572-AF14-E2EDCA59D57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07B6BC2-DCB4-4C11-8E56-C2D27F7290EF}"/>
              </a:ext>
            </a:extLst>
          </p:cNvPr>
          <p:cNvSpPr>
            <a:spLocks noGrp="1"/>
          </p:cNvSpPr>
          <p:nvPr>
            <p:ph type="sldNum" sz="quarter" idx="12"/>
          </p:nvPr>
        </p:nvSpPr>
        <p:spPr/>
        <p:txBody>
          <a:bodyPr/>
          <a:lstStyle/>
          <a:p>
            <a:fld id="{2042DA67-5AC3-473A-84F2-6ADA777F0CCC}" type="slidenum">
              <a:rPr lang="zh-TW" altLang="en-US" smtClean="0"/>
              <a:t>‹#›</a:t>
            </a:fld>
            <a:endParaRPr lang="zh-TW" altLang="en-US"/>
          </a:p>
        </p:txBody>
      </p:sp>
    </p:spTree>
    <p:extLst>
      <p:ext uri="{BB962C8B-B14F-4D97-AF65-F5344CB8AC3E}">
        <p14:creationId xmlns:p14="http://schemas.microsoft.com/office/powerpoint/2010/main" val="1925087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2CE7EF-DF99-4D79-9E46-49EC33E997A9}"/>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172EB031-BB1A-454D-9CA0-2F7AE5482668}"/>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22F833C-7B5E-4C2F-870F-207C69B34D4D}"/>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F2127C24-E019-4E1D-A1B2-4204F17F9D4D}"/>
              </a:ext>
            </a:extLst>
          </p:cNvPr>
          <p:cNvSpPr>
            <a:spLocks noGrp="1"/>
          </p:cNvSpPr>
          <p:nvPr>
            <p:ph type="dt" sz="half" idx="10"/>
          </p:nvPr>
        </p:nvSpPr>
        <p:spPr/>
        <p:txBody>
          <a:bodyPr/>
          <a:lstStyle/>
          <a:p>
            <a:fld id="{8C8B7CE7-9C49-44DA-85B3-A3B2C972DEAB}" type="datetimeFigureOut">
              <a:rPr lang="zh-TW" altLang="en-US" smtClean="0"/>
              <a:t>2025/9/11</a:t>
            </a:fld>
            <a:endParaRPr lang="zh-TW" altLang="en-US"/>
          </a:p>
        </p:txBody>
      </p:sp>
      <p:sp>
        <p:nvSpPr>
          <p:cNvPr id="6" name="頁尾版面配置區 5">
            <a:extLst>
              <a:ext uri="{FF2B5EF4-FFF2-40B4-BE49-F238E27FC236}">
                <a16:creationId xmlns:a16="http://schemas.microsoft.com/office/drawing/2014/main" id="{BC82BE29-42CF-4BE2-AA20-722B60050A5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F56C04F-1636-49AB-8446-233C98903BB6}"/>
              </a:ext>
            </a:extLst>
          </p:cNvPr>
          <p:cNvSpPr>
            <a:spLocks noGrp="1"/>
          </p:cNvSpPr>
          <p:nvPr>
            <p:ph type="sldNum" sz="quarter" idx="12"/>
          </p:nvPr>
        </p:nvSpPr>
        <p:spPr/>
        <p:txBody>
          <a:bodyPr/>
          <a:lstStyle/>
          <a:p>
            <a:fld id="{2042DA67-5AC3-473A-84F2-6ADA777F0CCC}" type="slidenum">
              <a:rPr lang="zh-TW" altLang="en-US" smtClean="0"/>
              <a:t>‹#›</a:t>
            </a:fld>
            <a:endParaRPr lang="zh-TW" altLang="en-US"/>
          </a:p>
        </p:txBody>
      </p:sp>
    </p:spTree>
    <p:extLst>
      <p:ext uri="{BB962C8B-B14F-4D97-AF65-F5344CB8AC3E}">
        <p14:creationId xmlns:p14="http://schemas.microsoft.com/office/powerpoint/2010/main" val="1446863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C4B11B-8C05-4C94-8D53-D084E59581A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26FE417-C410-486C-B461-9FC979A79C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08C0C4BF-9F63-4947-97E0-BB020AE9AC6D}"/>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BF37D700-B5A3-49FA-B25C-EC1A457391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23275D00-1DA9-43AA-B439-28E03DF6CA12}"/>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A82E7249-1A06-43FC-B7C9-BDA5BEE45572}"/>
              </a:ext>
            </a:extLst>
          </p:cNvPr>
          <p:cNvSpPr>
            <a:spLocks noGrp="1"/>
          </p:cNvSpPr>
          <p:nvPr>
            <p:ph type="dt" sz="half" idx="10"/>
          </p:nvPr>
        </p:nvSpPr>
        <p:spPr/>
        <p:txBody>
          <a:bodyPr/>
          <a:lstStyle/>
          <a:p>
            <a:fld id="{8C8B7CE7-9C49-44DA-85B3-A3B2C972DEAB}" type="datetimeFigureOut">
              <a:rPr lang="zh-TW" altLang="en-US" smtClean="0"/>
              <a:t>2025/9/11</a:t>
            </a:fld>
            <a:endParaRPr lang="zh-TW" altLang="en-US"/>
          </a:p>
        </p:txBody>
      </p:sp>
      <p:sp>
        <p:nvSpPr>
          <p:cNvPr id="8" name="頁尾版面配置區 7">
            <a:extLst>
              <a:ext uri="{FF2B5EF4-FFF2-40B4-BE49-F238E27FC236}">
                <a16:creationId xmlns:a16="http://schemas.microsoft.com/office/drawing/2014/main" id="{FCBC66AC-354E-4587-B526-10AE84FF4520}"/>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0BBDA809-7D2C-4D05-8D02-80438CB07288}"/>
              </a:ext>
            </a:extLst>
          </p:cNvPr>
          <p:cNvSpPr>
            <a:spLocks noGrp="1"/>
          </p:cNvSpPr>
          <p:nvPr>
            <p:ph type="sldNum" sz="quarter" idx="12"/>
          </p:nvPr>
        </p:nvSpPr>
        <p:spPr/>
        <p:txBody>
          <a:bodyPr/>
          <a:lstStyle/>
          <a:p>
            <a:fld id="{2042DA67-5AC3-473A-84F2-6ADA777F0CCC}" type="slidenum">
              <a:rPr lang="zh-TW" altLang="en-US" smtClean="0"/>
              <a:t>‹#›</a:t>
            </a:fld>
            <a:endParaRPr lang="zh-TW" altLang="en-US"/>
          </a:p>
        </p:txBody>
      </p:sp>
    </p:spTree>
    <p:extLst>
      <p:ext uri="{BB962C8B-B14F-4D97-AF65-F5344CB8AC3E}">
        <p14:creationId xmlns:p14="http://schemas.microsoft.com/office/powerpoint/2010/main" val="3553398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0F1EFC-2A58-4EF8-833C-84B5E7771CBB}"/>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993CF15E-C73F-4302-8011-972C7860695E}"/>
              </a:ext>
            </a:extLst>
          </p:cNvPr>
          <p:cNvSpPr>
            <a:spLocks noGrp="1"/>
          </p:cNvSpPr>
          <p:nvPr>
            <p:ph type="dt" sz="half" idx="10"/>
          </p:nvPr>
        </p:nvSpPr>
        <p:spPr/>
        <p:txBody>
          <a:bodyPr/>
          <a:lstStyle/>
          <a:p>
            <a:fld id="{8C8B7CE7-9C49-44DA-85B3-A3B2C972DEAB}" type="datetimeFigureOut">
              <a:rPr lang="zh-TW" altLang="en-US" smtClean="0"/>
              <a:t>2025/9/11</a:t>
            </a:fld>
            <a:endParaRPr lang="zh-TW" altLang="en-US"/>
          </a:p>
        </p:txBody>
      </p:sp>
      <p:sp>
        <p:nvSpPr>
          <p:cNvPr id="4" name="頁尾版面配置區 3">
            <a:extLst>
              <a:ext uri="{FF2B5EF4-FFF2-40B4-BE49-F238E27FC236}">
                <a16:creationId xmlns:a16="http://schemas.microsoft.com/office/drawing/2014/main" id="{5DAF18D8-95A7-4404-A619-FFE609611A72}"/>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143F3C52-A37B-4669-AB3A-D3AB44B9BB0E}"/>
              </a:ext>
            </a:extLst>
          </p:cNvPr>
          <p:cNvSpPr>
            <a:spLocks noGrp="1"/>
          </p:cNvSpPr>
          <p:nvPr>
            <p:ph type="sldNum" sz="quarter" idx="12"/>
          </p:nvPr>
        </p:nvSpPr>
        <p:spPr/>
        <p:txBody>
          <a:bodyPr/>
          <a:lstStyle/>
          <a:p>
            <a:fld id="{2042DA67-5AC3-473A-84F2-6ADA777F0CCC}" type="slidenum">
              <a:rPr lang="zh-TW" altLang="en-US" smtClean="0"/>
              <a:t>‹#›</a:t>
            </a:fld>
            <a:endParaRPr lang="zh-TW" altLang="en-US"/>
          </a:p>
        </p:txBody>
      </p:sp>
    </p:spTree>
    <p:extLst>
      <p:ext uri="{BB962C8B-B14F-4D97-AF65-F5344CB8AC3E}">
        <p14:creationId xmlns:p14="http://schemas.microsoft.com/office/powerpoint/2010/main" val="562672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E9E0C191-517F-434C-B1D3-FD0B125947F8}"/>
              </a:ext>
            </a:extLst>
          </p:cNvPr>
          <p:cNvSpPr>
            <a:spLocks noGrp="1"/>
          </p:cNvSpPr>
          <p:nvPr>
            <p:ph type="dt" sz="half" idx="10"/>
          </p:nvPr>
        </p:nvSpPr>
        <p:spPr/>
        <p:txBody>
          <a:bodyPr/>
          <a:lstStyle/>
          <a:p>
            <a:fld id="{8C8B7CE7-9C49-44DA-85B3-A3B2C972DEAB}" type="datetimeFigureOut">
              <a:rPr lang="zh-TW" altLang="en-US" smtClean="0"/>
              <a:t>2025/9/11</a:t>
            </a:fld>
            <a:endParaRPr lang="zh-TW" altLang="en-US"/>
          </a:p>
        </p:txBody>
      </p:sp>
      <p:sp>
        <p:nvSpPr>
          <p:cNvPr id="3" name="頁尾版面配置區 2">
            <a:extLst>
              <a:ext uri="{FF2B5EF4-FFF2-40B4-BE49-F238E27FC236}">
                <a16:creationId xmlns:a16="http://schemas.microsoft.com/office/drawing/2014/main" id="{201EBAA2-2D4A-4CEB-9638-AA3661F683FE}"/>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D43A764D-6B1A-43E5-A53D-599A2146A8DE}"/>
              </a:ext>
            </a:extLst>
          </p:cNvPr>
          <p:cNvSpPr>
            <a:spLocks noGrp="1"/>
          </p:cNvSpPr>
          <p:nvPr>
            <p:ph type="sldNum" sz="quarter" idx="12"/>
          </p:nvPr>
        </p:nvSpPr>
        <p:spPr/>
        <p:txBody>
          <a:bodyPr/>
          <a:lstStyle/>
          <a:p>
            <a:fld id="{2042DA67-5AC3-473A-84F2-6ADA777F0CCC}" type="slidenum">
              <a:rPr lang="zh-TW" altLang="en-US" smtClean="0"/>
              <a:t>‹#›</a:t>
            </a:fld>
            <a:endParaRPr lang="zh-TW" altLang="en-US"/>
          </a:p>
        </p:txBody>
      </p:sp>
    </p:spTree>
    <p:extLst>
      <p:ext uri="{BB962C8B-B14F-4D97-AF65-F5344CB8AC3E}">
        <p14:creationId xmlns:p14="http://schemas.microsoft.com/office/powerpoint/2010/main" val="4187229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6F1947-18B9-4017-9F8E-6101E4615C4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0AE7A91E-3A2D-49A9-A33B-5A08527F89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BF15C9BC-1F01-4441-815E-E023CF8BAE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FD2E2EA4-810C-47A6-B0D2-42F1BCDCB1B8}"/>
              </a:ext>
            </a:extLst>
          </p:cNvPr>
          <p:cNvSpPr>
            <a:spLocks noGrp="1"/>
          </p:cNvSpPr>
          <p:nvPr>
            <p:ph type="dt" sz="half" idx="10"/>
          </p:nvPr>
        </p:nvSpPr>
        <p:spPr/>
        <p:txBody>
          <a:bodyPr/>
          <a:lstStyle/>
          <a:p>
            <a:fld id="{8C8B7CE7-9C49-44DA-85B3-A3B2C972DEAB}" type="datetimeFigureOut">
              <a:rPr lang="zh-TW" altLang="en-US" smtClean="0"/>
              <a:t>2025/9/11</a:t>
            </a:fld>
            <a:endParaRPr lang="zh-TW" altLang="en-US"/>
          </a:p>
        </p:txBody>
      </p:sp>
      <p:sp>
        <p:nvSpPr>
          <p:cNvPr id="6" name="頁尾版面配置區 5">
            <a:extLst>
              <a:ext uri="{FF2B5EF4-FFF2-40B4-BE49-F238E27FC236}">
                <a16:creationId xmlns:a16="http://schemas.microsoft.com/office/drawing/2014/main" id="{AEFAA4D4-12EB-493B-BA39-C8DBB99BACB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F7B890A3-2918-430B-A3E8-5F91284D268A}"/>
              </a:ext>
            </a:extLst>
          </p:cNvPr>
          <p:cNvSpPr>
            <a:spLocks noGrp="1"/>
          </p:cNvSpPr>
          <p:nvPr>
            <p:ph type="sldNum" sz="quarter" idx="12"/>
          </p:nvPr>
        </p:nvSpPr>
        <p:spPr/>
        <p:txBody>
          <a:bodyPr/>
          <a:lstStyle/>
          <a:p>
            <a:fld id="{2042DA67-5AC3-473A-84F2-6ADA777F0CCC}" type="slidenum">
              <a:rPr lang="zh-TW" altLang="en-US" smtClean="0"/>
              <a:t>‹#›</a:t>
            </a:fld>
            <a:endParaRPr lang="zh-TW" altLang="en-US"/>
          </a:p>
        </p:txBody>
      </p:sp>
    </p:spTree>
    <p:extLst>
      <p:ext uri="{BB962C8B-B14F-4D97-AF65-F5344CB8AC3E}">
        <p14:creationId xmlns:p14="http://schemas.microsoft.com/office/powerpoint/2010/main" val="3140966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F16D5E-DCD4-4C55-8C0E-11BB032A8AE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5CEF0276-6B61-4BA2-88EF-AD3BC489A0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87261229-B116-4652-A1DA-333FE65BEC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DCBE372C-80F5-4EEF-8DAF-DD1835EB2D3D}"/>
              </a:ext>
            </a:extLst>
          </p:cNvPr>
          <p:cNvSpPr>
            <a:spLocks noGrp="1"/>
          </p:cNvSpPr>
          <p:nvPr>
            <p:ph type="dt" sz="half" idx="10"/>
          </p:nvPr>
        </p:nvSpPr>
        <p:spPr/>
        <p:txBody>
          <a:bodyPr/>
          <a:lstStyle/>
          <a:p>
            <a:fld id="{8C8B7CE7-9C49-44DA-85B3-A3B2C972DEAB}" type="datetimeFigureOut">
              <a:rPr lang="zh-TW" altLang="en-US" smtClean="0"/>
              <a:t>2025/9/11</a:t>
            </a:fld>
            <a:endParaRPr lang="zh-TW" altLang="en-US"/>
          </a:p>
        </p:txBody>
      </p:sp>
      <p:sp>
        <p:nvSpPr>
          <p:cNvPr id="6" name="頁尾版面配置區 5">
            <a:extLst>
              <a:ext uri="{FF2B5EF4-FFF2-40B4-BE49-F238E27FC236}">
                <a16:creationId xmlns:a16="http://schemas.microsoft.com/office/drawing/2014/main" id="{5217F752-91DC-4F5F-8600-E86BA9B27AC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CBD8AC7-B9B5-4939-BDFF-F98D2F874ACC}"/>
              </a:ext>
            </a:extLst>
          </p:cNvPr>
          <p:cNvSpPr>
            <a:spLocks noGrp="1"/>
          </p:cNvSpPr>
          <p:nvPr>
            <p:ph type="sldNum" sz="quarter" idx="12"/>
          </p:nvPr>
        </p:nvSpPr>
        <p:spPr/>
        <p:txBody>
          <a:bodyPr/>
          <a:lstStyle/>
          <a:p>
            <a:fld id="{2042DA67-5AC3-473A-84F2-6ADA777F0CCC}" type="slidenum">
              <a:rPr lang="zh-TW" altLang="en-US" smtClean="0"/>
              <a:t>‹#›</a:t>
            </a:fld>
            <a:endParaRPr lang="zh-TW" altLang="en-US"/>
          </a:p>
        </p:txBody>
      </p:sp>
    </p:spTree>
    <p:extLst>
      <p:ext uri="{BB962C8B-B14F-4D97-AF65-F5344CB8AC3E}">
        <p14:creationId xmlns:p14="http://schemas.microsoft.com/office/powerpoint/2010/main" val="3828605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2414BE-C097-4569-B170-CC38770DC2AE}"/>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22BA3AE9-D786-4F2C-8406-CF78ACA1CBF3}"/>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EDD08D1-614A-4EC5-BBC9-D6B0DA0A0531}"/>
              </a:ext>
            </a:extLst>
          </p:cNvPr>
          <p:cNvSpPr>
            <a:spLocks noGrp="1"/>
          </p:cNvSpPr>
          <p:nvPr>
            <p:ph type="dt" sz="half" idx="10"/>
          </p:nvPr>
        </p:nvSpPr>
        <p:spPr/>
        <p:txBody>
          <a:bodyPr/>
          <a:lstStyle/>
          <a:p>
            <a:fld id="{8C8B7CE7-9C49-44DA-85B3-A3B2C972DEAB}" type="datetimeFigureOut">
              <a:rPr lang="zh-TW" altLang="en-US" smtClean="0"/>
              <a:t>2025/9/11</a:t>
            </a:fld>
            <a:endParaRPr lang="zh-TW" altLang="en-US"/>
          </a:p>
        </p:txBody>
      </p:sp>
      <p:sp>
        <p:nvSpPr>
          <p:cNvPr id="5" name="頁尾版面配置區 4">
            <a:extLst>
              <a:ext uri="{FF2B5EF4-FFF2-40B4-BE49-F238E27FC236}">
                <a16:creationId xmlns:a16="http://schemas.microsoft.com/office/drawing/2014/main" id="{CF3955F7-C1BF-46F5-A015-28DF79A6618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B9FDFCD-6CD1-44B2-97BE-7BD7C03E49D4}"/>
              </a:ext>
            </a:extLst>
          </p:cNvPr>
          <p:cNvSpPr>
            <a:spLocks noGrp="1"/>
          </p:cNvSpPr>
          <p:nvPr>
            <p:ph type="sldNum" sz="quarter" idx="12"/>
          </p:nvPr>
        </p:nvSpPr>
        <p:spPr/>
        <p:txBody>
          <a:bodyPr/>
          <a:lstStyle/>
          <a:p>
            <a:fld id="{2042DA67-5AC3-473A-84F2-6ADA777F0CCC}" type="slidenum">
              <a:rPr lang="zh-TW" altLang="en-US" smtClean="0"/>
              <a:t>‹#›</a:t>
            </a:fld>
            <a:endParaRPr lang="zh-TW" altLang="en-US"/>
          </a:p>
        </p:txBody>
      </p:sp>
    </p:spTree>
    <p:extLst>
      <p:ext uri="{BB962C8B-B14F-4D97-AF65-F5344CB8AC3E}">
        <p14:creationId xmlns:p14="http://schemas.microsoft.com/office/powerpoint/2010/main" val="510432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44B4EE60-AE81-4E38-9EFE-8BD2BEE47870}"/>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7E608263-002D-469B-B951-4564A13303EE}"/>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536C719-A61B-4624-A0C4-D9777C922505}"/>
              </a:ext>
            </a:extLst>
          </p:cNvPr>
          <p:cNvSpPr>
            <a:spLocks noGrp="1"/>
          </p:cNvSpPr>
          <p:nvPr>
            <p:ph type="dt" sz="half" idx="10"/>
          </p:nvPr>
        </p:nvSpPr>
        <p:spPr/>
        <p:txBody>
          <a:bodyPr/>
          <a:lstStyle/>
          <a:p>
            <a:fld id="{8C8B7CE7-9C49-44DA-85B3-A3B2C972DEAB}" type="datetimeFigureOut">
              <a:rPr lang="zh-TW" altLang="en-US" smtClean="0"/>
              <a:t>2025/9/11</a:t>
            </a:fld>
            <a:endParaRPr lang="zh-TW" altLang="en-US"/>
          </a:p>
        </p:txBody>
      </p:sp>
      <p:sp>
        <p:nvSpPr>
          <p:cNvPr id="5" name="頁尾版面配置區 4">
            <a:extLst>
              <a:ext uri="{FF2B5EF4-FFF2-40B4-BE49-F238E27FC236}">
                <a16:creationId xmlns:a16="http://schemas.microsoft.com/office/drawing/2014/main" id="{E3486201-AD0E-4B6E-A05F-1198F7718B4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0B166B0-7FB9-46C1-A838-FD9B4B5AF2FA}"/>
              </a:ext>
            </a:extLst>
          </p:cNvPr>
          <p:cNvSpPr>
            <a:spLocks noGrp="1"/>
          </p:cNvSpPr>
          <p:nvPr>
            <p:ph type="sldNum" sz="quarter" idx="12"/>
          </p:nvPr>
        </p:nvSpPr>
        <p:spPr/>
        <p:txBody>
          <a:bodyPr/>
          <a:lstStyle/>
          <a:p>
            <a:fld id="{2042DA67-5AC3-473A-84F2-6ADA777F0CCC}" type="slidenum">
              <a:rPr lang="zh-TW" altLang="en-US" smtClean="0"/>
              <a:t>‹#›</a:t>
            </a:fld>
            <a:endParaRPr lang="zh-TW" altLang="en-US"/>
          </a:p>
        </p:txBody>
      </p:sp>
    </p:spTree>
    <p:extLst>
      <p:ext uri="{BB962C8B-B14F-4D97-AF65-F5344CB8AC3E}">
        <p14:creationId xmlns:p14="http://schemas.microsoft.com/office/powerpoint/2010/main" val="740222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68F1A3C5-48A5-414A-A636-BFDFA4B49A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20E76E4-365D-42BB-B2DB-D52337116A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41DACB5-20D8-46D0-BC68-D4A38C1526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8B7CE7-9C49-44DA-85B3-A3B2C972DEAB}" type="datetimeFigureOut">
              <a:rPr lang="zh-TW" altLang="en-US" smtClean="0"/>
              <a:t>2025/9/11</a:t>
            </a:fld>
            <a:endParaRPr lang="zh-TW" altLang="en-US"/>
          </a:p>
        </p:txBody>
      </p:sp>
      <p:sp>
        <p:nvSpPr>
          <p:cNvPr id="5" name="頁尾版面配置區 4">
            <a:extLst>
              <a:ext uri="{FF2B5EF4-FFF2-40B4-BE49-F238E27FC236}">
                <a16:creationId xmlns:a16="http://schemas.microsoft.com/office/drawing/2014/main" id="{17FC7763-DB65-4F46-A1B5-A2E69CE840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A8E837E7-422B-4188-BB8E-B92B5A2256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42DA67-5AC3-473A-84F2-6ADA777F0CCC}" type="slidenum">
              <a:rPr lang="zh-TW" altLang="en-US" smtClean="0"/>
              <a:t>‹#›</a:t>
            </a:fld>
            <a:endParaRPr lang="zh-TW" altLang="en-US"/>
          </a:p>
        </p:txBody>
      </p:sp>
    </p:spTree>
    <p:extLst>
      <p:ext uri="{BB962C8B-B14F-4D97-AF65-F5344CB8AC3E}">
        <p14:creationId xmlns:p14="http://schemas.microsoft.com/office/powerpoint/2010/main" val="42382755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9.png"/><Relationship Id="rId7"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7.png"/><Relationship Id="rId7"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7.png"/><Relationship Id="rId10" Type="http://schemas.openxmlformats.org/officeDocument/2006/relationships/image" Target="../media/image10.png"/><Relationship Id="rId4" Type="http://schemas.openxmlformats.org/officeDocument/2006/relationships/image" Target="../media/image6.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3.png"/><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7.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png"/><Relationship Id="rId17" Type="http://schemas.openxmlformats.org/officeDocument/2006/relationships/image" Target="../media/image52.png"/><Relationship Id="rId2" Type="http://schemas.openxmlformats.org/officeDocument/2006/relationships/image" Target="../media/image37.png"/><Relationship Id="rId16"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5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214F2F97-A825-4955-A5AB-358BD7056604}"/>
              </a:ext>
            </a:extLst>
          </p:cNvPr>
          <p:cNvSpPr/>
          <p:nvPr/>
        </p:nvSpPr>
        <p:spPr>
          <a:xfrm>
            <a:off x="485720" y="226249"/>
            <a:ext cx="9090303" cy="468630"/>
          </a:xfrm>
          <a:prstGeom prst="rect">
            <a:avLst/>
          </a:prstGeom>
          <a:noFill/>
          <a:ln/>
        </p:spPr>
        <p:txBody>
          <a:bodyPr wrap="none" lIns="0" tIns="0" rIns="0" bIns="0" rtlCol="0" anchor="t"/>
          <a:lstStyle/>
          <a:p>
            <a:pPr marL="0" indent="0" algn="l">
              <a:lnSpc>
                <a:spcPts val="3650"/>
              </a:lnSpc>
              <a:buNone/>
            </a:pPr>
            <a:r>
              <a:rPr lang="en-US" sz="2950" dirty="0">
                <a:solidFill>
                  <a:schemeClr val="bg2">
                    <a:lumMod val="10000"/>
                  </a:schemeClr>
                </a:solidFill>
                <a:latin typeface="Unbounded" pitchFamily="34" charset="0"/>
                <a:ea typeface="Unbounded" pitchFamily="34" charset="-122"/>
                <a:cs typeface="Unbounded" pitchFamily="34" charset="-120"/>
              </a:rPr>
              <a:t>Robotic </a:t>
            </a:r>
            <a:r>
              <a:rPr lang="en-US" sz="2950" dirty="0" err="1">
                <a:solidFill>
                  <a:schemeClr val="bg2">
                    <a:lumMod val="10000"/>
                  </a:schemeClr>
                </a:solidFill>
                <a:latin typeface="Unbounded" pitchFamily="34" charset="0"/>
                <a:ea typeface="Unbounded" pitchFamily="34" charset="-122"/>
                <a:cs typeface="Unbounded" pitchFamily="34" charset="-120"/>
              </a:rPr>
              <a:t>c</a:t>
            </a:r>
            <a:r>
              <a:rPr lang="en-US" altLang="zh-TW" sz="2950" dirty="0" err="1">
                <a:solidFill>
                  <a:schemeClr val="bg2">
                    <a:lumMod val="10000"/>
                  </a:schemeClr>
                </a:solidFill>
                <a:latin typeface="Unbounded" pitchFamily="34" charset="0"/>
                <a:ea typeface="Unbounded" pitchFamily="34" charset="-122"/>
                <a:cs typeface="Unbounded" pitchFamily="34" charset="-120"/>
              </a:rPr>
              <a:t>yberd</a:t>
            </a:r>
            <a:r>
              <a:rPr lang="en-US" sz="2950" dirty="0" err="1">
                <a:solidFill>
                  <a:schemeClr val="bg2">
                    <a:lumMod val="10000"/>
                  </a:schemeClr>
                </a:solidFill>
                <a:latin typeface="Unbounded" pitchFamily="34" charset="0"/>
                <a:ea typeface="Unbounded" pitchFamily="34" charset="-122"/>
                <a:cs typeface="Unbounded" pitchFamily="34" charset="-120"/>
              </a:rPr>
              <a:t>og</a:t>
            </a:r>
            <a:r>
              <a:rPr lang="en-US" sz="2950" dirty="0">
                <a:solidFill>
                  <a:schemeClr val="bg2">
                    <a:lumMod val="10000"/>
                  </a:schemeClr>
                </a:solidFill>
                <a:latin typeface="Unbounded" pitchFamily="34" charset="0"/>
                <a:ea typeface="Unbounded" pitchFamily="34" charset="-122"/>
                <a:cs typeface="Unbounded" pitchFamily="34" charset="-120"/>
              </a:rPr>
              <a:t> Patrol System Development</a:t>
            </a:r>
            <a:endParaRPr lang="en-US" sz="2950" dirty="0">
              <a:solidFill>
                <a:schemeClr val="bg2">
                  <a:lumMod val="10000"/>
                </a:schemeClr>
              </a:solidFill>
            </a:endParaRPr>
          </a:p>
        </p:txBody>
      </p:sp>
      <p:sp>
        <p:nvSpPr>
          <p:cNvPr id="5" name="object 2">
            <a:extLst>
              <a:ext uri="{FF2B5EF4-FFF2-40B4-BE49-F238E27FC236}">
                <a16:creationId xmlns:a16="http://schemas.microsoft.com/office/drawing/2014/main" id="{805A5080-40C8-4880-9299-ADBC6AC10FEB}"/>
              </a:ext>
            </a:extLst>
          </p:cNvPr>
          <p:cNvSpPr/>
          <p:nvPr/>
        </p:nvSpPr>
        <p:spPr>
          <a:xfrm>
            <a:off x="485720" y="694879"/>
            <a:ext cx="914400" cy="38100"/>
          </a:xfrm>
          <a:custGeom>
            <a:avLst/>
            <a:gdLst/>
            <a:ahLst/>
            <a:cxnLst/>
            <a:rect l="l" t="t" r="r" b="b"/>
            <a:pathLst>
              <a:path w="914400" h="38100">
                <a:moveTo>
                  <a:pt x="897875" y="38099"/>
                </a:moveTo>
                <a:lnTo>
                  <a:pt x="16523" y="38099"/>
                </a:lnTo>
                <a:lnTo>
                  <a:pt x="14093" y="37616"/>
                </a:lnTo>
                <a:lnTo>
                  <a:pt x="0" y="21576"/>
                </a:lnTo>
                <a:lnTo>
                  <a:pt x="0" y="19049"/>
                </a:lnTo>
                <a:lnTo>
                  <a:pt x="0" y="16523"/>
                </a:lnTo>
                <a:lnTo>
                  <a:pt x="16523" y="0"/>
                </a:lnTo>
                <a:lnTo>
                  <a:pt x="897875" y="0"/>
                </a:lnTo>
                <a:lnTo>
                  <a:pt x="914399" y="16523"/>
                </a:lnTo>
                <a:lnTo>
                  <a:pt x="914399" y="21576"/>
                </a:lnTo>
                <a:lnTo>
                  <a:pt x="900305" y="37616"/>
                </a:lnTo>
                <a:lnTo>
                  <a:pt x="897875" y="38099"/>
                </a:lnTo>
                <a:close/>
              </a:path>
            </a:pathLst>
          </a:custGeom>
          <a:solidFill>
            <a:srgbClr val="21C45D"/>
          </a:solidFill>
        </p:spPr>
        <p:txBody>
          <a:bodyPr wrap="square" lIns="0" tIns="0" rIns="0" bIns="0" rtlCol="0"/>
          <a:lstStyle/>
          <a:p>
            <a:endParaRPr/>
          </a:p>
        </p:txBody>
      </p:sp>
      <p:sp>
        <p:nvSpPr>
          <p:cNvPr id="6" name="Text 2">
            <a:extLst>
              <a:ext uri="{FF2B5EF4-FFF2-40B4-BE49-F238E27FC236}">
                <a16:creationId xmlns:a16="http://schemas.microsoft.com/office/drawing/2014/main" id="{3134C2CA-A6AD-4946-86C1-2A69C4E3D21B}"/>
              </a:ext>
            </a:extLst>
          </p:cNvPr>
          <p:cNvSpPr/>
          <p:nvPr/>
        </p:nvSpPr>
        <p:spPr>
          <a:xfrm>
            <a:off x="408446" y="1000870"/>
            <a:ext cx="3074313" cy="281107"/>
          </a:xfrm>
          <a:prstGeom prst="rect">
            <a:avLst/>
          </a:prstGeom>
          <a:solidFill>
            <a:schemeClr val="accent3">
              <a:lumMod val="20000"/>
              <a:lumOff val="80000"/>
            </a:schemeClr>
          </a:solidFill>
          <a:ln/>
        </p:spPr>
        <p:txBody>
          <a:bodyPr wrap="none" lIns="0" tIns="0" rIns="0" bIns="0" rtlCol="0" anchor="t"/>
          <a:lstStyle/>
          <a:p>
            <a:pPr marL="0" indent="0" algn="l">
              <a:lnSpc>
                <a:spcPts val="2200"/>
              </a:lnSpc>
              <a:buNone/>
            </a:pPr>
            <a:r>
              <a:rPr lang="en-US" sz="1750" b="1" dirty="0">
                <a:solidFill>
                  <a:schemeClr val="tx1">
                    <a:lumMod val="95000"/>
                    <a:lumOff val="5000"/>
                  </a:schemeClr>
                </a:solidFill>
                <a:latin typeface="Unbounded" pitchFamily="34" charset="0"/>
                <a:ea typeface="Unbounded" pitchFamily="34" charset="-122"/>
                <a:cs typeface="Unbounded" pitchFamily="34" charset="-120"/>
              </a:rPr>
              <a:t>Core Technology Stack</a:t>
            </a:r>
            <a:endParaRPr lang="en-US" sz="1750" b="1" dirty="0">
              <a:solidFill>
                <a:schemeClr val="tx1">
                  <a:lumMod val="95000"/>
                  <a:lumOff val="5000"/>
                </a:schemeClr>
              </a:solidFill>
            </a:endParaRPr>
          </a:p>
        </p:txBody>
      </p:sp>
      <p:sp>
        <p:nvSpPr>
          <p:cNvPr id="10" name="Text 1">
            <a:extLst>
              <a:ext uri="{FF2B5EF4-FFF2-40B4-BE49-F238E27FC236}">
                <a16:creationId xmlns:a16="http://schemas.microsoft.com/office/drawing/2014/main" id="{B151CFBE-75C4-4EB1-9384-EB24A94B0632}"/>
              </a:ext>
            </a:extLst>
          </p:cNvPr>
          <p:cNvSpPr/>
          <p:nvPr/>
        </p:nvSpPr>
        <p:spPr>
          <a:xfrm>
            <a:off x="1078092" y="1442152"/>
            <a:ext cx="4615042" cy="1141239"/>
          </a:xfrm>
          <a:prstGeom prst="rect">
            <a:avLst/>
          </a:prstGeom>
          <a:solidFill>
            <a:srgbClr val="EAEAEA"/>
          </a:solidFill>
          <a:ln/>
        </p:spPr>
        <p:txBody>
          <a:bodyPr wrap="square" lIns="0" tIns="0" rIns="0" bIns="0" rtlCol="0" anchor="t"/>
          <a:lstStyle/>
          <a:p>
            <a:pPr marL="0" indent="0" algn="l">
              <a:lnSpc>
                <a:spcPts val="2100"/>
              </a:lnSpc>
              <a:buNone/>
            </a:pPr>
            <a:r>
              <a:rPr lang="en-US" sz="1650" dirty="0">
                <a:solidFill>
                  <a:srgbClr val="95CCDA"/>
                </a:solidFill>
                <a:latin typeface="Host Grotesk Medium" pitchFamily="34" charset="0"/>
                <a:ea typeface="Host Grotesk Medium" pitchFamily="34" charset="-122"/>
                <a:cs typeface="Host Grotesk Medium" pitchFamily="34" charset="-120"/>
              </a:rPr>
              <a:t>ROS2</a:t>
            </a:r>
            <a:r>
              <a:rPr lang="en-US" sz="1650" dirty="0">
                <a:solidFill>
                  <a:srgbClr val="2E3C4E"/>
                </a:solidFill>
                <a:latin typeface="Host Grotesk Medium" pitchFamily="34" charset="0"/>
                <a:ea typeface="Host Grotesk Medium" pitchFamily="34" charset="-122"/>
                <a:cs typeface="Host Grotesk Medium" pitchFamily="34" charset="-120"/>
              </a:rPr>
              <a:t> Distributed Framework</a:t>
            </a:r>
          </a:p>
          <a:p>
            <a:pPr>
              <a:lnSpc>
                <a:spcPts val="2100"/>
              </a:lnSpc>
            </a:pPr>
            <a:r>
              <a:rPr lang="en-US" altLang="zh-TW" sz="1100" dirty="0">
                <a:solidFill>
                  <a:srgbClr val="384653"/>
                </a:solidFill>
                <a:latin typeface="Roboto" pitchFamily="34" charset="0"/>
                <a:ea typeface="Roboto" pitchFamily="34" charset="-122"/>
                <a:cs typeface="Roboto" pitchFamily="34" charset="-120"/>
              </a:rPr>
              <a:t>Advanced distributed architecture decomposing complex functions into independent nodes, enabling high-efficiency communication and coordinated motion control through DDS middleware integration.</a:t>
            </a:r>
            <a:endParaRPr lang="en-US" altLang="zh-TW" sz="1100" dirty="0"/>
          </a:p>
          <a:p>
            <a:pPr marL="0" indent="0" algn="l">
              <a:lnSpc>
                <a:spcPts val="2100"/>
              </a:lnSpc>
              <a:buNone/>
            </a:pPr>
            <a:endParaRPr lang="en-US" sz="1650" dirty="0"/>
          </a:p>
        </p:txBody>
      </p:sp>
      <p:sp>
        <p:nvSpPr>
          <p:cNvPr id="13" name="Text 3">
            <a:extLst>
              <a:ext uri="{FF2B5EF4-FFF2-40B4-BE49-F238E27FC236}">
                <a16:creationId xmlns:a16="http://schemas.microsoft.com/office/drawing/2014/main" id="{9C753AF7-878E-4D0A-AB7B-496BD6BA3132}"/>
              </a:ext>
            </a:extLst>
          </p:cNvPr>
          <p:cNvSpPr/>
          <p:nvPr/>
        </p:nvSpPr>
        <p:spPr>
          <a:xfrm>
            <a:off x="1061821" y="2702292"/>
            <a:ext cx="2261824" cy="304798"/>
          </a:xfrm>
          <a:prstGeom prst="rect">
            <a:avLst/>
          </a:prstGeom>
          <a:noFill/>
          <a:ln/>
        </p:spPr>
        <p:txBody>
          <a:bodyPr wrap="none" lIns="0" tIns="0" rIns="0" bIns="0" rtlCol="0" anchor="t"/>
          <a:lstStyle/>
          <a:p>
            <a:pPr marL="0" indent="0" algn="l">
              <a:lnSpc>
                <a:spcPts val="2100"/>
              </a:lnSpc>
              <a:buNone/>
            </a:pPr>
            <a:r>
              <a:rPr lang="en-US" sz="1650" dirty="0">
                <a:solidFill>
                  <a:srgbClr val="C3643D"/>
                </a:solidFill>
                <a:latin typeface="Host Grotesk Medium" pitchFamily="34" charset="0"/>
                <a:ea typeface="Host Grotesk Medium" pitchFamily="34" charset="-122"/>
                <a:cs typeface="Host Grotesk Medium" pitchFamily="34" charset="-120"/>
              </a:rPr>
              <a:t>Navigation 2</a:t>
            </a:r>
            <a:r>
              <a:rPr lang="en-US" sz="1650" dirty="0">
                <a:solidFill>
                  <a:srgbClr val="2E3C4E"/>
                </a:solidFill>
                <a:latin typeface="Host Grotesk Medium" pitchFamily="34" charset="0"/>
                <a:ea typeface="Host Grotesk Medium" pitchFamily="34" charset="-122"/>
                <a:cs typeface="Host Grotesk Medium" pitchFamily="34" charset="-120"/>
              </a:rPr>
              <a:t> System</a:t>
            </a:r>
            <a:endParaRPr lang="en-US" sz="1650" dirty="0"/>
          </a:p>
        </p:txBody>
      </p:sp>
      <p:sp>
        <p:nvSpPr>
          <p:cNvPr id="14" name="Text 4">
            <a:extLst>
              <a:ext uri="{FF2B5EF4-FFF2-40B4-BE49-F238E27FC236}">
                <a16:creationId xmlns:a16="http://schemas.microsoft.com/office/drawing/2014/main" id="{909DF718-4E30-4FE0-BDE8-4B3EAC1E0DEE}"/>
              </a:ext>
            </a:extLst>
          </p:cNvPr>
          <p:cNvSpPr/>
          <p:nvPr/>
        </p:nvSpPr>
        <p:spPr>
          <a:xfrm>
            <a:off x="762590" y="3022773"/>
            <a:ext cx="2720169" cy="1332309"/>
          </a:xfrm>
          <a:prstGeom prst="rect">
            <a:avLst/>
          </a:prstGeom>
          <a:noFill/>
          <a:ln/>
        </p:spPr>
        <p:txBody>
          <a:bodyPr wrap="none" lIns="0" tIns="0" rIns="0" bIns="0" rtlCol="0" anchor="t"/>
          <a:lstStyle/>
          <a:p>
            <a:pPr marL="342900" indent="-342900" algn="l">
              <a:lnSpc>
                <a:spcPts val="1650"/>
              </a:lnSpc>
              <a:buSzPct val="100000"/>
              <a:buChar char="•"/>
            </a:pPr>
            <a:r>
              <a:rPr lang="en-US" sz="1100" dirty="0">
                <a:solidFill>
                  <a:srgbClr val="384653"/>
                </a:solidFill>
                <a:latin typeface="Roboto" pitchFamily="34" charset="0"/>
                <a:ea typeface="Roboto" pitchFamily="34" charset="-122"/>
                <a:cs typeface="Roboto" pitchFamily="34" charset="-120"/>
              </a:rPr>
              <a:t>Precision localization algorithms</a:t>
            </a:r>
          </a:p>
          <a:p>
            <a:pPr marL="342900" indent="-342900">
              <a:lnSpc>
                <a:spcPts val="1650"/>
              </a:lnSpc>
              <a:buSzPct val="100000"/>
              <a:buFontTx/>
              <a:buChar char="•"/>
            </a:pPr>
            <a:r>
              <a:rPr lang="en-US" altLang="zh-TW" sz="1100" dirty="0">
                <a:solidFill>
                  <a:srgbClr val="384653"/>
                </a:solidFill>
                <a:latin typeface="Roboto" pitchFamily="34" charset="0"/>
                <a:ea typeface="Roboto" pitchFamily="34" charset="-122"/>
                <a:cs typeface="Roboto" pitchFamily="34" charset="-120"/>
              </a:rPr>
              <a:t>Global path planning optimization</a:t>
            </a:r>
          </a:p>
          <a:p>
            <a:pPr marL="342900" indent="-342900">
              <a:lnSpc>
                <a:spcPts val="1650"/>
              </a:lnSpc>
              <a:buSzPct val="100000"/>
              <a:buFontTx/>
              <a:buChar char="•"/>
            </a:pPr>
            <a:r>
              <a:rPr lang="en-US" altLang="zh-TW" sz="1100" dirty="0">
                <a:solidFill>
                  <a:srgbClr val="384653"/>
                </a:solidFill>
                <a:latin typeface="Roboto" pitchFamily="34" charset="0"/>
                <a:ea typeface="Roboto" pitchFamily="34" charset="-122"/>
                <a:cs typeface="Roboto" pitchFamily="34" charset="-120"/>
              </a:rPr>
              <a:t>Dynamic obstacle avoidance</a:t>
            </a:r>
          </a:p>
          <a:p>
            <a:pPr marL="342900" indent="-342900">
              <a:lnSpc>
                <a:spcPts val="1650"/>
              </a:lnSpc>
              <a:buSzPct val="100000"/>
              <a:buFontTx/>
              <a:buChar char="•"/>
            </a:pPr>
            <a:r>
              <a:rPr lang="en-US" altLang="zh-TW" sz="1100" dirty="0">
                <a:solidFill>
                  <a:srgbClr val="384653"/>
                </a:solidFill>
                <a:latin typeface="Roboto" pitchFamily="34" charset="0"/>
                <a:ea typeface="Roboto" pitchFamily="34" charset="-122"/>
                <a:cs typeface="Roboto" pitchFamily="34" charset="-120"/>
              </a:rPr>
              <a:t>Real-time map management</a:t>
            </a:r>
          </a:p>
          <a:p>
            <a:pPr marL="342900" indent="-342900">
              <a:lnSpc>
                <a:spcPts val="1650"/>
              </a:lnSpc>
              <a:buSzPct val="100000"/>
              <a:buFontTx/>
              <a:buChar char="•"/>
            </a:pPr>
            <a:r>
              <a:rPr lang="en-US" altLang="zh-TW" sz="1100" dirty="0">
                <a:solidFill>
                  <a:srgbClr val="384653"/>
                </a:solidFill>
                <a:latin typeface="Roboto" pitchFamily="34" charset="0"/>
                <a:ea typeface="Roboto" pitchFamily="34" charset="-122"/>
                <a:cs typeface="Roboto" pitchFamily="34" charset="-120"/>
              </a:rPr>
              <a:t>Multi-waypoint navigation</a:t>
            </a:r>
            <a:endParaRPr lang="en-US" altLang="zh-TW" sz="1100" dirty="0"/>
          </a:p>
          <a:p>
            <a:pPr marL="342900" indent="-342900">
              <a:lnSpc>
                <a:spcPts val="1650"/>
              </a:lnSpc>
              <a:buSzPct val="100000"/>
              <a:buFontTx/>
              <a:buChar char="•"/>
            </a:pPr>
            <a:endParaRPr lang="en-US" altLang="zh-TW" sz="1100" dirty="0"/>
          </a:p>
          <a:p>
            <a:pPr marL="342900" indent="-342900">
              <a:lnSpc>
                <a:spcPts val="1650"/>
              </a:lnSpc>
              <a:buSzPct val="100000"/>
              <a:buFontTx/>
              <a:buChar char="•"/>
            </a:pPr>
            <a:endParaRPr lang="en-US" altLang="zh-TW" sz="1100" dirty="0"/>
          </a:p>
          <a:p>
            <a:pPr marL="342900" indent="-342900">
              <a:lnSpc>
                <a:spcPts val="1650"/>
              </a:lnSpc>
              <a:buSzPct val="100000"/>
              <a:buFontTx/>
              <a:buChar char="•"/>
            </a:pPr>
            <a:endParaRPr lang="en-US" altLang="zh-TW" sz="1100" dirty="0"/>
          </a:p>
          <a:p>
            <a:pPr marL="342900" indent="-342900" algn="l">
              <a:lnSpc>
                <a:spcPts val="1650"/>
              </a:lnSpc>
              <a:buSzPct val="100000"/>
              <a:buChar char="•"/>
            </a:pPr>
            <a:endParaRPr lang="en-US" sz="1100" dirty="0"/>
          </a:p>
        </p:txBody>
      </p:sp>
      <p:grpSp>
        <p:nvGrpSpPr>
          <p:cNvPr id="17" name="object 4">
            <a:extLst>
              <a:ext uri="{FF2B5EF4-FFF2-40B4-BE49-F238E27FC236}">
                <a16:creationId xmlns:a16="http://schemas.microsoft.com/office/drawing/2014/main" id="{EB637793-AAB4-42E7-876C-12D86CDD1802}"/>
              </a:ext>
            </a:extLst>
          </p:cNvPr>
          <p:cNvGrpSpPr/>
          <p:nvPr/>
        </p:nvGrpSpPr>
        <p:grpSpPr>
          <a:xfrm>
            <a:off x="352424" y="1345876"/>
            <a:ext cx="440767" cy="1066800"/>
            <a:chOff x="457199" y="1181099"/>
            <a:chExt cx="438149" cy="1066800"/>
          </a:xfrm>
        </p:grpSpPr>
        <p:sp>
          <p:nvSpPr>
            <p:cNvPr id="19" name="object 6">
              <a:extLst>
                <a:ext uri="{FF2B5EF4-FFF2-40B4-BE49-F238E27FC236}">
                  <a16:creationId xmlns:a16="http://schemas.microsoft.com/office/drawing/2014/main" id="{9C6FE94B-E949-4A19-A283-FD48555080D0}"/>
                </a:ext>
              </a:extLst>
            </p:cNvPr>
            <p:cNvSpPr/>
            <p:nvPr/>
          </p:nvSpPr>
          <p:spPr>
            <a:xfrm>
              <a:off x="457199" y="1181099"/>
              <a:ext cx="28575" cy="1066800"/>
            </a:xfrm>
            <a:custGeom>
              <a:avLst/>
              <a:gdLst/>
              <a:ahLst/>
              <a:cxnLst/>
              <a:rect l="l" t="t" r="r" b="b"/>
              <a:pathLst>
                <a:path w="28575" h="1066800">
                  <a:moveTo>
                    <a:pt x="28574" y="1066799"/>
                  </a:moveTo>
                  <a:lnTo>
                    <a:pt x="0" y="1066799"/>
                  </a:lnTo>
                  <a:lnTo>
                    <a:pt x="0" y="0"/>
                  </a:lnTo>
                  <a:lnTo>
                    <a:pt x="28574" y="0"/>
                  </a:lnTo>
                  <a:lnTo>
                    <a:pt x="28574" y="1066799"/>
                  </a:lnTo>
                  <a:close/>
                </a:path>
              </a:pathLst>
            </a:custGeom>
            <a:solidFill>
              <a:srgbClr val="4BAF4F"/>
            </a:solidFill>
          </p:spPr>
          <p:txBody>
            <a:bodyPr wrap="square" lIns="0" tIns="0" rIns="0" bIns="0" rtlCol="0"/>
            <a:lstStyle/>
            <a:p>
              <a:endParaRPr/>
            </a:p>
          </p:txBody>
        </p:sp>
        <p:pic>
          <p:nvPicPr>
            <p:cNvPr id="20" name="object 7">
              <a:extLst>
                <a:ext uri="{FF2B5EF4-FFF2-40B4-BE49-F238E27FC236}">
                  <a16:creationId xmlns:a16="http://schemas.microsoft.com/office/drawing/2014/main" id="{CA0952EF-B1E0-4960-BD68-A92C58A16C0F}"/>
                </a:ext>
              </a:extLst>
            </p:cNvPr>
            <p:cNvPicPr/>
            <p:nvPr/>
          </p:nvPicPr>
          <p:blipFill>
            <a:blip r:embed="rId2" cstate="print"/>
            <a:stretch>
              <a:fillRect/>
            </a:stretch>
          </p:blipFill>
          <p:spPr>
            <a:xfrm>
              <a:off x="638174" y="1333499"/>
              <a:ext cx="257174" cy="304799"/>
            </a:xfrm>
            <a:prstGeom prst="rect">
              <a:avLst/>
            </a:prstGeom>
          </p:spPr>
        </p:pic>
      </p:grpSp>
      <p:grpSp>
        <p:nvGrpSpPr>
          <p:cNvPr id="22" name="object 8">
            <a:extLst>
              <a:ext uri="{FF2B5EF4-FFF2-40B4-BE49-F238E27FC236}">
                <a16:creationId xmlns:a16="http://schemas.microsoft.com/office/drawing/2014/main" id="{85DD5390-42AC-4426-9090-728C0FFA93B2}"/>
              </a:ext>
            </a:extLst>
          </p:cNvPr>
          <p:cNvGrpSpPr/>
          <p:nvPr/>
        </p:nvGrpSpPr>
        <p:grpSpPr>
          <a:xfrm>
            <a:off x="352424" y="2594394"/>
            <a:ext cx="438149" cy="1638300"/>
            <a:chOff x="457199" y="2400299"/>
            <a:chExt cx="438149" cy="1638300"/>
          </a:xfrm>
        </p:grpSpPr>
        <p:sp>
          <p:nvSpPr>
            <p:cNvPr id="24" name="object 10">
              <a:extLst>
                <a:ext uri="{FF2B5EF4-FFF2-40B4-BE49-F238E27FC236}">
                  <a16:creationId xmlns:a16="http://schemas.microsoft.com/office/drawing/2014/main" id="{8B1F6BE8-8300-43AE-AC2D-D33E0A2FD7E7}"/>
                </a:ext>
              </a:extLst>
            </p:cNvPr>
            <p:cNvSpPr/>
            <p:nvPr/>
          </p:nvSpPr>
          <p:spPr>
            <a:xfrm>
              <a:off x="457199" y="2400299"/>
              <a:ext cx="28575" cy="1638300"/>
            </a:xfrm>
            <a:custGeom>
              <a:avLst/>
              <a:gdLst/>
              <a:ahLst/>
              <a:cxnLst/>
              <a:rect l="l" t="t" r="r" b="b"/>
              <a:pathLst>
                <a:path w="28575" h="1638300">
                  <a:moveTo>
                    <a:pt x="28574" y="1638299"/>
                  </a:moveTo>
                  <a:lnTo>
                    <a:pt x="0" y="1638299"/>
                  </a:lnTo>
                  <a:lnTo>
                    <a:pt x="0" y="0"/>
                  </a:lnTo>
                  <a:lnTo>
                    <a:pt x="28574" y="0"/>
                  </a:lnTo>
                  <a:lnTo>
                    <a:pt x="28574" y="1638299"/>
                  </a:lnTo>
                  <a:close/>
                </a:path>
              </a:pathLst>
            </a:custGeom>
            <a:solidFill>
              <a:srgbClr val="4BAF4F"/>
            </a:solidFill>
          </p:spPr>
          <p:txBody>
            <a:bodyPr wrap="square" lIns="0" tIns="0" rIns="0" bIns="0" rtlCol="0"/>
            <a:lstStyle/>
            <a:p>
              <a:endParaRPr/>
            </a:p>
          </p:txBody>
        </p:sp>
        <p:pic>
          <p:nvPicPr>
            <p:cNvPr id="25" name="object 11">
              <a:extLst>
                <a:ext uri="{FF2B5EF4-FFF2-40B4-BE49-F238E27FC236}">
                  <a16:creationId xmlns:a16="http://schemas.microsoft.com/office/drawing/2014/main" id="{91FC0292-87B9-4D9B-914A-9BA80AFC49EE}"/>
                </a:ext>
              </a:extLst>
            </p:cNvPr>
            <p:cNvPicPr/>
            <p:nvPr/>
          </p:nvPicPr>
          <p:blipFill>
            <a:blip r:embed="rId3" cstate="print"/>
            <a:stretch>
              <a:fillRect/>
            </a:stretch>
          </p:blipFill>
          <p:spPr>
            <a:xfrm>
              <a:off x="638174" y="2552699"/>
              <a:ext cx="257174" cy="304799"/>
            </a:xfrm>
            <a:prstGeom prst="rect">
              <a:avLst/>
            </a:prstGeom>
          </p:spPr>
        </p:pic>
      </p:grpSp>
      <p:grpSp>
        <p:nvGrpSpPr>
          <p:cNvPr id="28" name="object 13">
            <a:extLst>
              <a:ext uri="{FF2B5EF4-FFF2-40B4-BE49-F238E27FC236}">
                <a16:creationId xmlns:a16="http://schemas.microsoft.com/office/drawing/2014/main" id="{59E1B247-7C5A-4500-BA7B-8621046C7A5E}"/>
              </a:ext>
            </a:extLst>
          </p:cNvPr>
          <p:cNvGrpSpPr/>
          <p:nvPr/>
        </p:nvGrpSpPr>
        <p:grpSpPr>
          <a:xfrm>
            <a:off x="337775" y="4363907"/>
            <a:ext cx="409574" cy="1524000"/>
            <a:chOff x="457199" y="4190999"/>
            <a:chExt cx="409574" cy="1524000"/>
          </a:xfrm>
        </p:grpSpPr>
        <p:sp>
          <p:nvSpPr>
            <p:cNvPr id="30" name="object 15">
              <a:extLst>
                <a:ext uri="{FF2B5EF4-FFF2-40B4-BE49-F238E27FC236}">
                  <a16:creationId xmlns:a16="http://schemas.microsoft.com/office/drawing/2014/main" id="{F65FDA1E-98B5-44E3-ACB0-AC339479BC3C}"/>
                </a:ext>
              </a:extLst>
            </p:cNvPr>
            <p:cNvSpPr/>
            <p:nvPr/>
          </p:nvSpPr>
          <p:spPr>
            <a:xfrm>
              <a:off x="457199" y="4190999"/>
              <a:ext cx="28575" cy="1524000"/>
            </a:xfrm>
            <a:custGeom>
              <a:avLst/>
              <a:gdLst/>
              <a:ahLst/>
              <a:cxnLst/>
              <a:rect l="l" t="t" r="r" b="b"/>
              <a:pathLst>
                <a:path w="28575" h="1524000">
                  <a:moveTo>
                    <a:pt x="28574" y="1523999"/>
                  </a:moveTo>
                  <a:lnTo>
                    <a:pt x="0" y="1523999"/>
                  </a:lnTo>
                  <a:lnTo>
                    <a:pt x="0" y="0"/>
                  </a:lnTo>
                  <a:lnTo>
                    <a:pt x="28574" y="0"/>
                  </a:lnTo>
                  <a:lnTo>
                    <a:pt x="28574" y="1523999"/>
                  </a:lnTo>
                  <a:close/>
                </a:path>
              </a:pathLst>
            </a:custGeom>
            <a:solidFill>
              <a:srgbClr val="4BAF4F"/>
            </a:solidFill>
          </p:spPr>
          <p:txBody>
            <a:bodyPr wrap="square" lIns="0" tIns="0" rIns="0" bIns="0" rtlCol="0"/>
            <a:lstStyle/>
            <a:p>
              <a:endParaRPr/>
            </a:p>
          </p:txBody>
        </p:sp>
        <p:pic>
          <p:nvPicPr>
            <p:cNvPr id="31" name="object 16">
              <a:extLst>
                <a:ext uri="{FF2B5EF4-FFF2-40B4-BE49-F238E27FC236}">
                  <a16:creationId xmlns:a16="http://schemas.microsoft.com/office/drawing/2014/main" id="{943C8B90-894B-42DD-81A3-5FAFCD0A5D92}"/>
                </a:ext>
              </a:extLst>
            </p:cNvPr>
            <p:cNvPicPr/>
            <p:nvPr/>
          </p:nvPicPr>
          <p:blipFill>
            <a:blip r:embed="rId4" cstate="print"/>
            <a:stretch>
              <a:fillRect/>
            </a:stretch>
          </p:blipFill>
          <p:spPr>
            <a:xfrm>
              <a:off x="638174" y="4343399"/>
              <a:ext cx="228599" cy="304799"/>
            </a:xfrm>
            <a:prstGeom prst="rect">
              <a:avLst/>
            </a:prstGeom>
          </p:spPr>
        </p:pic>
      </p:grpSp>
      <p:sp>
        <p:nvSpPr>
          <p:cNvPr id="2" name="矩形 1">
            <a:extLst>
              <a:ext uri="{FF2B5EF4-FFF2-40B4-BE49-F238E27FC236}">
                <a16:creationId xmlns:a16="http://schemas.microsoft.com/office/drawing/2014/main" id="{1DBED333-B949-4943-95CF-B493344FB4C3}"/>
              </a:ext>
            </a:extLst>
          </p:cNvPr>
          <p:cNvSpPr/>
          <p:nvPr/>
        </p:nvSpPr>
        <p:spPr>
          <a:xfrm>
            <a:off x="919206" y="4492919"/>
            <a:ext cx="6096000" cy="369332"/>
          </a:xfrm>
          <a:prstGeom prst="rect">
            <a:avLst/>
          </a:prstGeom>
        </p:spPr>
        <p:txBody>
          <a:bodyPr>
            <a:spAutoFit/>
          </a:bodyPr>
          <a:lstStyle/>
          <a:p>
            <a:r>
              <a:rPr lang="en-US" altLang="zh-TW" dirty="0">
                <a:solidFill>
                  <a:schemeClr val="accent5">
                    <a:lumMod val="75000"/>
                  </a:schemeClr>
                </a:solidFill>
              </a:rPr>
              <a:t>Sensor</a:t>
            </a:r>
            <a:r>
              <a:rPr lang="en-US" altLang="zh-TW" dirty="0"/>
              <a:t> integration:</a:t>
            </a:r>
            <a:endParaRPr lang="zh-TW" altLang="en-US" dirty="0"/>
          </a:p>
        </p:txBody>
      </p:sp>
      <p:sp>
        <p:nvSpPr>
          <p:cNvPr id="3" name="矩形 2">
            <a:extLst>
              <a:ext uri="{FF2B5EF4-FFF2-40B4-BE49-F238E27FC236}">
                <a16:creationId xmlns:a16="http://schemas.microsoft.com/office/drawing/2014/main" id="{80049C71-F954-4B2D-8C49-00A95E69C785}"/>
              </a:ext>
            </a:extLst>
          </p:cNvPr>
          <p:cNvSpPr/>
          <p:nvPr/>
        </p:nvSpPr>
        <p:spPr>
          <a:xfrm>
            <a:off x="533399" y="4933800"/>
            <a:ext cx="5229225" cy="954107"/>
          </a:xfrm>
          <a:prstGeom prst="rect">
            <a:avLst/>
          </a:prstGeom>
        </p:spPr>
        <p:txBody>
          <a:bodyPr wrap="square">
            <a:spAutoFit/>
          </a:bodyPr>
          <a:lstStyle/>
          <a:p>
            <a:pPr marL="285750" indent="-285750">
              <a:buFont typeface="Arial" panose="020B0604020202020204" pitchFamily="34" charset="0"/>
              <a:buChar char="•"/>
            </a:pPr>
            <a:r>
              <a:rPr lang="en-US" altLang="zh-TW" sz="1400" dirty="0"/>
              <a:t>AUO IoT sensors and thermal imaging devices</a:t>
            </a:r>
          </a:p>
          <a:p>
            <a:pPr marL="285750" indent="-285750">
              <a:buFont typeface="Arial" panose="020B0604020202020204" pitchFamily="34" charset="0"/>
              <a:buChar char="•"/>
            </a:pPr>
            <a:r>
              <a:rPr lang="en-US" altLang="zh-TW" sz="1400" dirty="0"/>
              <a:t>Dynamic temperature scanning</a:t>
            </a:r>
          </a:p>
          <a:p>
            <a:pPr marL="285750" indent="-285750">
              <a:buFont typeface="Arial" panose="020B0604020202020204" pitchFamily="34" charset="0"/>
              <a:buChar char="•"/>
            </a:pPr>
            <a:r>
              <a:rPr lang="en-US" altLang="zh-TW" sz="1400" dirty="0"/>
              <a:t>Measurement of temperature, humidity, PM2.5, particles, and methane concentration</a:t>
            </a:r>
            <a:endParaRPr lang="zh-TW" altLang="en-US" sz="1400" dirty="0"/>
          </a:p>
        </p:txBody>
      </p:sp>
    </p:spTree>
    <p:extLst>
      <p:ext uri="{BB962C8B-B14F-4D97-AF65-F5344CB8AC3E}">
        <p14:creationId xmlns:p14="http://schemas.microsoft.com/office/powerpoint/2010/main" val="4029863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6" name="object 38">
            <a:extLst>
              <a:ext uri="{FF2B5EF4-FFF2-40B4-BE49-F238E27FC236}">
                <a16:creationId xmlns:a16="http://schemas.microsoft.com/office/drawing/2014/main" id="{DDA68C9C-0035-41F2-9D34-DEF71D8BE465}"/>
              </a:ext>
            </a:extLst>
          </p:cNvPr>
          <p:cNvGrpSpPr/>
          <p:nvPr/>
        </p:nvGrpSpPr>
        <p:grpSpPr>
          <a:xfrm>
            <a:off x="207877" y="5818398"/>
            <a:ext cx="11582396" cy="904265"/>
            <a:chOff x="304799" y="5981699"/>
            <a:chExt cx="11582400" cy="571500"/>
          </a:xfrm>
          <a:solidFill>
            <a:schemeClr val="accent2">
              <a:lumMod val="20000"/>
              <a:lumOff val="80000"/>
            </a:schemeClr>
          </a:solidFill>
        </p:grpSpPr>
        <p:sp>
          <p:nvSpPr>
            <p:cNvPr id="97" name="object 39">
              <a:extLst>
                <a:ext uri="{FF2B5EF4-FFF2-40B4-BE49-F238E27FC236}">
                  <a16:creationId xmlns:a16="http://schemas.microsoft.com/office/drawing/2014/main" id="{35ED5F36-5B2F-48F3-A330-E3041A52068B}"/>
                </a:ext>
              </a:extLst>
            </p:cNvPr>
            <p:cNvSpPr/>
            <p:nvPr/>
          </p:nvSpPr>
          <p:spPr>
            <a:xfrm>
              <a:off x="304799" y="5981699"/>
              <a:ext cx="11582400" cy="571500"/>
            </a:xfrm>
            <a:custGeom>
              <a:avLst/>
              <a:gdLst/>
              <a:ahLst/>
              <a:cxnLst/>
              <a:rect l="l" t="t" r="r" b="b"/>
              <a:pathLst>
                <a:path w="11582400" h="571500">
                  <a:moveTo>
                    <a:pt x="11529001" y="571499"/>
                  </a:moveTo>
                  <a:lnTo>
                    <a:pt x="53397" y="571499"/>
                  </a:lnTo>
                  <a:lnTo>
                    <a:pt x="49681" y="571133"/>
                  </a:lnTo>
                  <a:lnTo>
                    <a:pt x="14085" y="552106"/>
                  </a:lnTo>
                  <a:lnTo>
                    <a:pt x="0" y="518102"/>
                  </a:lnTo>
                  <a:lnTo>
                    <a:pt x="0" y="514349"/>
                  </a:lnTo>
                  <a:lnTo>
                    <a:pt x="0" y="53397"/>
                  </a:lnTo>
                  <a:lnTo>
                    <a:pt x="19392" y="14084"/>
                  </a:lnTo>
                  <a:lnTo>
                    <a:pt x="53397" y="0"/>
                  </a:lnTo>
                  <a:lnTo>
                    <a:pt x="11529001" y="0"/>
                  </a:lnTo>
                  <a:lnTo>
                    <a:pt x="11568312" y="19391"/>
                  </a:lnTo>
                  <a:lnTo>
                    <a:pt x="11582397" y="53397"/>
                  </a:lnTo>
                  <a:lnTo>
                    <a:pt x="11582397" y="518102"/>
                  </a:lnTo>
                  <a:lnTo>
                    <a:pt x="11563006" y="557414"/>
                  </a:lnTo>
                  <a:lnTo>
                    <a:pt x="11532717" y="571133"/>
                  </a:lnTo>
                  <a:lnTo>
                    <a:pt x="11529001" y="571499"/>
                  </a:lnTo>
                  <a:close/>
                </a:path>
              </a:pathLst>
            </a:custGeom>
            <a:grpFill/>
          </p:spPr>
          <p:txBody>
            <a:bodyPr wrap="square" lIns="0" tIns="0" rIns="0" bIns="0" rtlCol="0"/>
            <a:lstStyle/>
            <a:p>
              <a:endParaRPr/>
            </a:p>
          </p:txBody>
        </p:sp>
        <p:pic>
          <p:nvPicPr>
            <p:cNvPr id="98" name="object 40">
              <a:extLst>
                <a:ext uri="{FF2B5EF4-FFF2-40B4-BE49-F238E27FC236}">
                  <a16:creationId xmlns:a16="http://schemas.microsoft.com/office/drawing/2014/main" id="{BD980BA5-E640-42F8-9376-7588130A263F}"/>
                </a:ext>
              </a:extLst>
            </p:cNvPr>
            <p:cNvPicPr/>
            <p:nvPr/>
          </p:nvPicPr>
          <p:blipFill>
            <a:blip r:embed="rId2" cstate="print"/>
            <a:stretch>
              <a:fillRect/>
            </a:stretch>
          </p:blipFill>
          <p:spPr>
            <a:xfrm>
              <a:off x="358858" y="6134099"/>
              <a:ext cx="241215" cy="266699"/>
            </a:xfrm>
            <a:prstGeom prst="rect">
              <a:avLst/>
            </a:prstGeom>
            <a:grpFill/>
          </p:spPr>
        </p:pic>
      </p:grpSp>
      <p:sp>
        <p:nvSpPr>
          <p:cNvPr id="93" name="矩形: 圓角 92">
            <a:extLst>
              <a:ext uri="{FF2B5EF4-FFF2-40B4-BE49-F238E27FC236}">
                <a16:creationId xmlns:a16="http://schemas.microsoft.com/office/drawing/2014/main" id="{A804C6F7-F80F-41E6-9011-92F1E383F151}"/>
              </a:ext>
            </a:extLst>
          </p:cNvPr>
          <p:cNvSpPr/>
          <p:nvPr/>
        </p:nvSpPr>
        <p:spPr>
          <a:xfrm>
            <a:off x="442171" y="1576093"/>
            <a:ext cx="702760" cy="400446"/>
          </a:xfrm>
          <a:prstGeom prst="round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矩形: 圓角 90">
            <a:extLst>
              <a:ext uri="{FF2B5EF4-FFF2-40B4-BE49-F238E27FC236}">
                <a16:creationId xmlns:a16="http://schemas.microsoft.com/office/drawing/2014/main" id="{F801779E-2476-44E2-8B0C-2F380B7D5D73}"/>
              </a:ext>
            </a:extLst>
          </p:cNvPr>
          <p:cNvSpPr/>
          <p:nvPr/>
        </p:nvSpPr>
        <p:spPr>
          <a:xfrm>
            <a:off x="4477878" y="1510276"/>
            <a:ext cx="508468" cy="585914"/>
          </a:xfrm>
          <a:prstGeom prst="round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Text 0">
            <a:extLst>
              <a:ext uri="{FF2B5EF4-FFF2-40B4-BE49-F238E27FC236}">
                <a16:creationId xmlns:a16="http://schemas.microsoft.com/office/drawing/2014/main" id="{B4246666-C442-4920-B61A-E628383882CE}"/>
              </a:ext>
            </a:extLst>
          </p:cNvPr>
          <p:cNvSpPr/>
          <p:nvPr/>
        </p:nvSpPr>
        <p:spPr>
          <a:xfrm>
            <a:off x="558219" y="197217"/>
            <a:ext cx="4390192" cy="328732"/>
          </a:xfrm>
          <a:prstGeom prst="rect">
            <a:avLst/>
          </a:prstGeom>
          <a:noFill/>
          <a:ln/>
        </p:spPr>
        <p:txBody>
          <a:bodyPr wrap="none" lIns="0" tIns="0" rIns="0" bIns="0" rtlCol="0" anchor="t"/>
          <a:lstStyle/>
          <a:p>
            <a:pPr>
              <a:lnSpc>
                <a:spcPts val="2550"/>
              </a:lnSpc>
            </a:pPr>
            <a:r>
              <a:rPr lang="en-US" altLang="zh-TW" sz="2400" dirty="0"/>
              <a:t>Field applications of robotic dogs</a:t>
            </a:r>
            <a:endParaRPr lang="en-US" sz="2050" dirty="0"/>
          </a:p>
        </p:txBody>
      </p:sp>
      <p:sp>
        <p:nvSpPr>
          <p:cNvPr id="27" name="Shape 1">
            <a:extLst>
              <a:ext uri="{FF2B5EF4-FFF2-40B4-BE49-F238E27FC236}">
                <a16:creationId xmlns:a16="http://schemas.microsoft.com/office/drawing/2014/main" id="{CFEBA48F-067E-4F79-B051-54524A4607EE}"/>
              </a:ext>
            </a:extLst>
          </p:cNvPr>
          <p:cNvSpPr/>
          <p:nvPr/>
        </p:nvSpPr>
        <p:spPr>
          <a:xfrm>
            <a:off x="558219" y="824845"/>
            <a:ext cx="11328978" cy="571500"/>
          </a:xfrm>
          <a:prstGeom prst="roundRect">
            <a:avLst>
              <a:gd name="adj" fmla="val 7436"/>
            </a:avLst>
          </a:prstGeom>
          <a:solidFill>
            <a:srgbClr val="E9CFC9"/>
          </a:solidFill>
          <a:ln/>
        </p:spPr>
        <p:txBody>
          <a:bodyPr/>
          <a:lstStyle/>
          <a:p>
            <a:endParaRPr lang="zh-TW" altLang="en-US" dirty="0">
              <a:solidFill>
                <a:srgbClr val="FF0000"/>
              </a:solidFill>
            </a:endParaRPr>
          </a:p>
        </p:txBody>
      </p:sp>
      <p:pic>
        <p:nvPicPr>
          <p:cNvPr id="31" name="object 6">
            <a:extLst>
              <a:ext uri="{FF2B5EF4-FFF2-40B4-BE49-F238E27FC236}">
                <a16:creationId xmlns:a16="http://schemas.microsoft.com/office/drawing/2014/main" id="{B0C863B9-7253-4069-9AFB-54D65C7996DC}"/>
              </a:ext>
            </a:extLst>
          </p:cNvPr>
          <p:cNvPicPr/>
          <p:nvPr/>
        </p:nvPicPr>
        <p:blipFill>
          <a:blip r:embed="rId3" cstate="print"/>
          <a:stretch>
            <a:fillRect/>
          </a:stretch>
        </p:blipFill>
        <p:spPr>
          <a:xfrm>
            <a:off x="687951" y="906094"/>
            <a:ext cx="240039" cy="395559"/>
          </a:xfrm>
          <a:prstGeom prst="rect">
            <a:avLst/>
          </a:prstGeom>
        </p:spPr>
      </p:pic>
      <p:sp>
        <p:nvSpPr>
          <p:cNvPr id="5" name="矩形 4">
            <a:extLst>
              <a:ext uri="{FF2B5EF4-FFF2-40B4-BE49-F238E27FC236}">
                <a16:creationId xmlns:a16="http://schemas.microsoft.com/office/drawing/2014/main" id="{BCF35AE2-03CF-422D-BC9C-D74AEB9B65E0}"/>
              </a:ext>
            </a:extLst>
          </p:cNvPr>
          <p:cNvSpPr/>
          <p:nvPr/>
        </p:nvSpPr>
        <p:spPr>
          <a:xfrm>
            <a:off x="1127955" y="934777"/>
            <a:ext cx="10568905" cy="369332"/>
          </a:xfrm>
          <a:prstGeom prst="rect">
            <a:avLst/>
          </a:prstGeom>
        </p:spPr>
        <p:txBody>
          <a:bodyPr wrap="square">
            <a:spAutoFit/>
          </a:bodyPr>
          <a:lstStyle/>
          <a:p>
            <a:r>
              <a:rPr lang="zh-TW" altLang="en-US" dirty="0"/>
              <a:t>"</a:t>
            </a:r>
            <a:r>
              <a:rPr lang="en-US" altLang="zh-TW" dirty="0"/>
              <a:t>Safety and inspection requirements for the warehouse at AUO's L5A warehouse</a:t>
            </a:r>
            <a:r>
              <a:rPr lang="zh-TW" altLang="en-US" dirty="0"/>
              <a:t>."</a:t>
            </a:r>
          </a:p>
        </p:txBody>
      </p:sp>
      <p:sp>
        <p:nvSpPr>
          <p:cNvPr id="34" name="object 10">
            <a:extLst>
              <a:ext uri="{FF2B5EF4-FFF2-40B4-BE49-F238E27FC236}">
                <a16:creationId xmlns:a16="http://schemas.microsoft.com/office/drawing/2014/main" id="{CE03247D-1C4E-4721-94C7-F8C8C2EA9078}"/>
              </a:ext>
            </a:extLst>
          </p:cNvPr>
          <p:cNvSpPr/>
          <p:nvPr/>
        </p:nvSpPr>
        <p:spPr>
          <a:xfrm>
            <a:off x="223836" y="1683435"/>
            <a:ext cx="38100" cy="4038600"/>
          </a:xfrm>
          <a:custGeom>
            <a:avLst/>
            <a:gdLst/>
            <a:ahLst/>
            <a:cxnLst/>
            <a:rect l="l" t="t" r="r" b="b"/>
            <a:pathLst>
              <a:path w="38100" h="4038600">
                <a:moveTo>
                  <a:pt x="38099" y="4038599"/>
                </a:moveTo>
                <a:lnTo>
                  <a:pt x="0" y="4038599"/>
                </a:lnTo>
                <a:lnTo>
                  <a:pt x="0" y="0"/>
                </a:lnTo>
                <a:lnTo>
                  <a:pt x="38099" y="0"/>
                </a:lnTo>
                <a:lnTo>
                  <a:pt x="38099" y="4038599"/>
                </a:lnTo>
                <a:close/>
              </a:path>
            </a:pathLst>
          </a:custGeom>
          <a:solidFill>
            <a:srgbClr val="FF9800"/>
          </a:solidFill>
        </p:spPr>
        <p:txBody>
          <a:bodyPr wrap="square" lIns="0" tIns="0" rIns="0" bIns="0" rtlCol="0"/>
          <a:lstStyle/>
          <a:p>
            <a:endParaRPr/>
          </a:p>
        </p:txBody>
      </p:sp>
      <p:grpSp>
        <p:nvGrpSpPr>
          <p:cNvPr id="87" name="群組 86">
            <a:extLst>
              <a:ext uri="{FF2B5EF4-FFF2-40B4-BE49-F238E27FC236}">
                <a16:creationId xmlns:a16="http://schemas.microsoft.com/office/drawing/2014/main" id="{E4314317-BA1D-44E2-94ED-4B21252A7095}"/>
              </a:ext>
            </a:extLst>
          </p:cNvPr>
          <p:cNvGrpSpPr/>
          <p:nvPr/>
        </p:nvGrpSpPr>
        <p:grpSpPr>
          <a:xfrm>
            <a:off x="330104" y="2731985"/>
            <a:ext cx="3753202" cy="118195"/>
            <a:chOff x="452436" y="2864535"/>
            <a:chExt cx="3286125" cy="95250"/>
          </a:xfrm>
        </p:grpSpPr>
        <p:sp>
          <p:nvSpPr>
            <p:cNvPr id="37" name="object 13">
              <a:extLst>
                <a:ext uri="{FF2B5EF4-FFF2-40B4-BE49-F238E27FC236}">
                  <a16:creationId xmlns:a16="http://schemas.microsoft.com/office/drawing/2014/main" id="{6CC4333A-FE04-4141-BF00-ADBE653A844F}"/>
                </a:ext>
              </a:extLst>
            </p:cNvPr>
            <p:cNvSpPr/>
            <p:nvPr/>
          </p:nvSpPr>
          <p:spPr>
            <a:xfrm>
              <a:off x="452436" y="2864535"/>
              <a:ext cx="3286125" cy="95250"/>
            </a:xfrm>
            <a:custGeom>
              <a:avLst/>
              <a:gdLst/>
              <a:ahLst/>
              <a:cxnLst/>
              <a:rect l="l" t="t" r="r" b="b"/>
              <a:pathLst>
                <a:path w="3286125" h="95250">
                  <a:moveTo>
                    <a:pt x="3244815" y="95249"/>
                  </a:moveTo>
                  <a:lnTo>
                    <a:pt x="41309" y="95249"/>
                  </a:lnTo>
                  <a:lnTo>
                    <a:pt x="35234" y="94041"/>
                  </a:lnTo>
                  <a:lnTo>
                    <a:pt x="1208" y="60014"/>
                  </a:lnTo>
                  <a:lnTo>
                    <a:pt x="0" y="53939"/>
                  </a:lnTo>
                  <a:lnTo>
                    <a:pt x="0" y="47624"/>
                  </a:lnTo>
                  <a:lnTo>
                    <a:pt x="0" y="41309"/>
                  </a:lnTo>
                  <a:lnTo>
                    <a:pt x="23564" y="6041"/>
                  </a:lnTo>
                  <a:lnTo>
                    <a:pt x="41309" y="0"/>
                  </a:lnTo>
                  <a:lnTo>
                    <a:pt x="3244815" y="0"/>
                  </a:lnTo>
                  <a:lnTo>
                    <a:pt x="3280082" y="23564"/>
                  </a:lnTo>
                  <a:lnTo>
                    <a:pt x="3286124" y="41309"/>
                  </a:lnTo>
                  <a:lnTo>
                    <a:pt x="3286124" y="53939"/>
                  </a:lnTo>
                  <a:lnTo>
                    <a:pt x="3262559" y="89207"/>
                  </a:lnTo>
                  <a:lnTo>
                    <a:pt x="3250889" y="94041"/>
                  </a:lnTo>
                  <a:lnTo>
                    <a:pt x="3244815" y="95249"/>
                  </a:lnTo>
                  <a:close/>
                </a:path>
              </a:pathLst>
            </a:custGeom>
            <a:solidFill>
              <a:srgbClr val="DFDFDF"/>
            </a:solidFill>
          </p:spPr>
          <p:txBody>
            <a:bodyPr wrap="square" lIns="0" tIns="0" rIns="0" bIns="0" rtlCol="0"/>
            <a:lstStyle/>
            <a:p>
              <a:endParaRPr/>
            </a:p>
          </p:txBody>
        </p:sp>
        <p:sp>
          <p:nvSpPr>
            <p:cNvPr id="38" name="object 14">
              <a:extLst>
                <a:ext uri="{FF2B5EF4-FFF2-40B4-BE49-F238E27FC236}">
                  <a16:creationId xmlns:a16="http://schemas.microsoft.com/office/drawing/2014/main" id="{111CEE45-0F20-464F-AC04-00C57E8F4051}"/>
                </a:ext>
              </a:extLst>
            </p:cNvPr>
            <p:cNvSpPr/>
            <p:nvPr/>
          </p:nvSpPr>
          <p:spPr>
            <a:xfrm>
              <a:off x="452436" y="2864535"/>
              <a:ext cx="1314450" cy="95250"/>
            </a:xfrm>
            <a:custGeom>
              <a:avLst/>
              <a:gdLst/>
              <a:ahLst/>
              <a:cxnLst/>
              <a:rect l="l" t="t" r="r" b="b"/>
              <a:pathLst>
                <a:path w="1314450" h="95250">
                  <a:moveTo>
                    <a:pt x="1273140" y="95249"/>
                  </a:moveTo>
                  <a:lnTo>
                    <a:pt x="41309" y="95249"/>
                  </a:lnTo>
                  <a:lnTo>
                    <a:pt x="35234" y="94041"/>
                  </a:lnTo>
                  <a:lnTo>
                    <a:pt x="1208" y="60014"/>
                  </a:lnTo>
                  <a:lnTo>
                    <a:pt x="0" y="53939"/>
                  </a:lnTo>
                  <a:lnTo>
                    <a:pt x="0" y="47624"/>
                  </a:lnTo>
                  <a:lnTo>
                    <a:pt x="0" y="41309"/>
                  </a:lnTo>
                  <a:lnTo>
                    <a:pt x="23564" y="6041"/>
                  </a:lnTo>
                  <a:lnTo>
                    <a:pt x="41309" y="0"/>
                  </a:lnTo>
                  <a:lnTo>
                    <a:pt x="1273140" y="0"/>
                  </a:lnTo>
                  <a:lnTo>
                    <a:pt x="1308407" y="23564"/>
                  </a:lnTo>
                  <a:lnTo>
                    <a:pt x="1314449" y="41309"/>
                  </a:lnTo>
                  <a:lnTo>
                    <a:pt x="1314449" y="53939"/>
                  </a:lnTo>
                  <a:lnTo>
                    <a:pt x="1290884" y="89207"/>
                  </a:lnTo>
                  <a:lnTo>
                    <a:pt x="1279215" y="94041"/>
                  </a:lnTo>
                  <a:lnTo>
                    <a:pt x="1273140" y="95249"/>
                  </a:lnTo>
                  <a:close/>
                </a:path>
              </a:pathLst>
            </a:custGeom>
            <a:solidFill>
              <a:srgbClr val="FF9800"/>
            </a:solidFill>
          </p:spPr>
          <p:txBody>
            <a:bodyPr wrap="square" lIns="0" tIns="0" rIns="0" bIns="0" rtlCol="0"/>
            <a:lstStyle/>
            <a:p>
              <a:endParaRPr/>
            </a:p>
          </p:txBody>
        </p:sp>
      </p:grpSp>
      <p:sp>
        <p:nvSpPr>
          <p:cNvPr id="41" name="object 17">
            <a:extLst>
              <a:ext uri="{FF2B5EF4-FFF2-40B4-BE49-F238E27FC236}">
                <a16:creationId xmlns:a16="http://schemas.microsoft.com/office/drawing/2014/main" id="{86A1D319-9044-4506-8F8A-046814855C16}"/>
              </a:ext>
            </a:extLst>
          </p:cNvPr>
          <p:cNvSpPr txBox="1"/>
          <p:nvPr/>
        </p:nvSpPr>
        <p:spPr>
          <a:xfrm>
            <a:off x="380998" y="2142724"/>
            <a:ext cx="3667125" cy="570028"/>
          </a:xfrm>
          <a:prstGeom prst="rect">
            <a:avLst/>
          </a:prstGeom>
        </p:spPr>
        <p:txBody>
          <a:bodyPr vert="horz" wrap="square" lIns="0" tIns="15875" rIns="0" bIns="0" rtlCol="0">
            <a:spAutoFit/>
          </a:bodyPr>
          <a:lstStyle/>
          <a:p>
            <a:pPr marL="190500">
              <a:lnSpc>
                <a:spcPct val="100000"/>
              </a:lnSpc>
            </a:pPr>
            <a:r>
              <a:rPr lang="en-US" altLang="zh-TW" sz="1200" dirty="0"/>
              <a:t>Requirement: </a:t>
            </a:r>
          </a:p>
          <a:p>
            <a:pPr marL="361950" indent="-171450">
              <a:lnSpc>
                <a:spcPct val="100000"/>
              </a:lnSpc>
              <a:buFont typeface="Arial" panose="020B0604020202020204" pitchFamily="34" charset="0"/>
              <a:buChar char="•"/>
            </a:pPr>
            <a:r>
              <a:rPr lang="en-US" altLang="zh-TW" sz="1200" dirty="0"/>
              <a:t>Inspection of the PPBOX storage area </a:t>
            </a:r>
          </a:p>
          <a:p>
            <a:pPr marL="361950" indent="-171450">
              <a:lnSpc>
                <a:spcPct val="100000"/>
              </a:lnSpc>
              <a:buFont typeface="Arial" panose="020B0604020202020204" pitchFamily="34" charset="0"/>
              <a:buChar char="•"/>
            </a:pPr>
            <a:r>
              <a:rPr lang="en-US" altLang="zh-TW" sz="1200" dirty="0"/>
              <a:t>Inspection of the forklift charging zone</a:t>
            </a:r>
            <a:endParaRPr sz="1200" dirty="0">
              <a:latin typeface="PMingLiU"/>
              <a:cs typeface="PMingLiU"/>
            </a:endParaRPr>
          </a:p>
        </p:txBody>
      </p:sp>
      <p:sp>
        <p:nvSpPr>
          <p:cNvPr id="43" name="object 19">
            <a:extLst>
              <a:ext uri="{FF2B5EF4-FFF2-40B4-BE49-F238E27FC236}">
                <a16:creationId xmlns:a16="http://schemas.microsoft.com/office/drawing/2014/main" id="{614E9447-5557-429C-9BA9-D4E0BFD51E72}"/>
              </a:ext>
            </a:extLst>
          </p:cNvPr>
          <p:cNvSpPr/>
          <p:nvPr/>
        </p:nvSpPr>
        <p:spPr>
          <a:xfrm>
            <a:off x="5187500" y="1556567"/>
            <a:ext cx="2837311" cy="791159"/>
          </a:xfrm>
          <a:custGeom>
            <a:avLst/>
            <a:gdLst/>
            <a:ahLst/>
            <a:cxnLst/>
            <a:rect l="l" t="t" r="r" b="b"/>
            <a:pathLst>
              <a:path w="3714750" h="4038600">
                <a:moveTo>
                  <a:pt x="3714749" y="4038599"/>
                </a:moveTo>
                <a:lnTo>
                  <a:pt x="0" y="4038599"/>
                </a:lnTo>
                <a:lnTo>
                  <a:pt x="0" y="0"/>
                </a:lnTo>
                <a:lnTo>
                  <a:pt x="3714749" y="0"/>
                </a:lnTo>
                <a:lnTo>
                  <a:pt x="3714749" y="4038599"/>
                </a:lnTo>
                <a:close/>
              </a:path>
            </a:pathLst>
          </a:custGeom>
          <a:solidFill>
            <a:srgbClr val="FFFFFF"/>
          </a:solidFill>
        </p:spPr>
        <p:txBody>
          <a:bodyPr wrap="square" lIns="0" tIns="0" rIns="0" bIns="0" rtlCol="0"/>
          <a:lstStyle/>
          <a:p>
            <a:r>
              <a:rPr lang="en-US" altLang="zh-TW" dirty="0"/>
              <a:t>Autonomous inspection and </a:t>
            </a:r>
          </a:p>
          <a:p>
            <a:r>
              <a:rPr lang="en-US" altLang="zh-TW" dirty="0"/>
              <a:t>self-charging</a:t>
            </a:r>
            <a:endParaRPr dirty="0"/>
          </a:p>
        </p:txBody>
      </p:sp>
      <p:sp>
        <p:nvSpPr>
          <p:cNvPr id="44" name="object 20">
            <a:extLst>
              <a:ext uri="{FF2B5EF4-FFF2-40B4-BE49-F238E27FC236}">
                <a16:creationId xmlns:a16="http://schemas.microsoft.com/office/drawing/2014/main" id="{9887D6FB-53CC-40AC-9470-2AD356C08268}"/>
              </a:ext>
            </a:extLst>
          </p:cNvPr>
          <p:cNvSpPr/>
          <p:nvPr/>
        </p:nvSpPr>
        <p:spPr>
          <a:xfrm>
            <a:off x="4238624" y="1714499"/>
            <a:ext cx="38100" cy="4038600"/>
          </a:xfrm>
          <a:custGeom>
            <a:avLst/>
            <a:gdLst/>
            <a:ahLst/>
            <a:cxnLst/>
            <a:rect l="l" t="t" r="r" b="b"/>
            <a:pathLst>
              <a:path w="38100" h="4038600">
                <a:moveTo>
                  <a:pt x="38099" y="4038599"/>
                </a:moveTo>
                <a:lnTo>
                  <a:pt x="0" y="4038599"/>
                </a:lnTo>
                <a:lnTo>
                  <a:pt x="0" y="0"/>
                </a:lnTo>
                <a:lnTo>
                  <a:pt x="38099" y="0"/>
                </a:lnTo>
                <a:lnTo>
                  <a:pt x="38099" y="4038599"/>
                </a:lnTo>
                <a:close/>
              </a:path>
            </a:pathLst>
          </a:custGeom>
          <a:solidFill>
            <a:srgbClr val="FF9800"/>
          </a:solidFill>
        </p:spPr>
        <p:txBody>
          <a:bodyPr wrap="square" lIns="0" tIns="0" rIns="0" bIns="0" rtlCol="0"/>
          <a:lstStyle/>
          <a:p>
            <a:endParaRPr/>
          </a:p>
        </p:txBody>
      </p:sp>
      <p:pic>
        <p:nvPicPr>
          <p:cNvPr id="46" name="object 22">
            <a:extLst>
              <a:ext uri="{FF2B5EF4-FFF2-40B4-BE49-F238E27FC236}">
                <a16:creationId xmlns:a16="http://schemas.microsoft.com/office/drawing/2014/main" id="{214227EC-F98E-441C-9336-839474BA4B7A}"/>
              </a:ext>
            </a:extLst>
          </p:cNvPr>
          <p:cNvPicPr/>
          <p:nvPr/>
        </p:nvPicPr>
        <p:blipFill>
          <a:blip r:embed="rId4" cstate="print"/>
          <a:stretch>
            <a:fillRect/>
          </a:stretch>
        </p:blipFill>
        <p:spPr>
          <a:xfrm>
            <a:off x="4598906" y="1814314"/>
            <a:ext cx="257174" cy="304799"/>
          </a:xfrm>
          <a:prstGeom prst="rect">
            <a:avLst/>
          </a:prstGeom>
        </p:spPr>
      </p:pic>
      <p:grpSp>
        <p:nvGrpSpPr>
          <p:cNvPr id="88" name="群組 87">
            <a:extLst>
              <a:ext uri="{FF2B5EF4-FFF2-40B4-BE49-F238E27FC236}">
                <a16:creationId xmlns:a16="http://schemas.microsoft.com/office/drawing/2014/main" id="{D4467E20-ADF4-4CC1-963D-F10F064D281C}"/>
              </a:ext>
            </a:extLst>
          </p:cNvPr>
          <p:cNvGrpSpPr/>
          <p:nvPr/>
        </p:nvGrpSpPr>
        <p:grpSpPr>
          <a:xfrm>
            <a:off x="4472608" y="2718999"/>
            <a:ext cx="3295650" cy="95250"/>
            <a:chOff x="4467224" y="2895599"/>
            <a:chExt cx="3295650" cy="95250"/>
          </a:xfrm>
        </p:grpSpPr>
        <p:sp>
          <p:nvSpPr>
            <p:cNvPr id="47" name="object 23">
              <a:extLst>
                <a:ext uri="{FF2B5EF4-FFF2-40B4-BE49-F238E27FC236}">
                  <a16:creationId xmlns:a16="http://schemas.microsoft.com/office/drawing/2014/main" id="{D02931F7-0CB2-421A-80B8-87BA5BFCA6DC}"/>
                </a:ext>
              </a:extLst>
            </p:cNvPr>
            <p:cNvSpPr/>
            <p:nvPr/>
          </p:nvSpPr>
          <p:spPr>
            <a:xfrm>
              <a:off x="4467224" y="2895599"/>
              <a:ext cx="3295650" cy="95250"/>
            </a:xfrm>
            <a:custGeom>
              <a:avLst/>
              <a:gdLst/>
              <a:ahLst/>
              <a:cxnLst/>
              <a:rect l="l" t="t" r="r" b="b"/>
              <a:pathLst>
                <a:path w="3295650" h="95250">
                  <a:moveTo>
                    <a:pt x="3254340" y="95249"/>
                  </a:moveTo>
                  <a:lnTo>
                    <a:pt x="41309" y="95249"/>
                  </a:lnTo>
                  <a:lnTo>
                    <a:pt x="35234" y="94041"/>
                  </a:lnTo>
                  <a:lnTo>
                    <a:pt x="1208" y="60014"/>
                  </a:lnTo>
                  <a:lnTo>
                    <a:pt x="0" y="53939"/>
                  </a:lnTo>
                  <a:lnTo>
                    <a:pt x="0" y="47624"/>
                  </a:lnTo>
                  <a:lnTo>
                    <a:pt x="0" y="41309"/>
                  </a:lnTo>
                  <a:lnTo>
                    <a:pt x="23564" y="6041"/>
                  </a:lnTo>
                  <a:lnTo>
                    <a:pt x="41309" y="0"/>
                  </a:lnTo>
                  <a:lnTo>
                    <a:pt x="3254340" y="0"/>
                  </a:lnTo>
                  <a:lnTo>
                    <a:pt x="3289606" y="23564"/>
                  </a:lnTo>
                  <a:lnTo>
                    <a:pt x="3295649" y="41309"/>
                  </a:lnTo>
                  <a:lnTo>
                    <a:pt x="3295649" y="53939"/>
                  </a:lnTo>
                  <a:lnTo>
                    <a:pt x="3272084" y="89207"/>
                  </a:lnTo>
                  <a:lnTo>
                    <a:pt x="3260414" y="94041"/>
                  </a:lnTo>
                  <a:lnTo>
                    <a:pt x="3254340" y="95249"/>
                  </a:lnTo>
                  <a:close/>
                </a:path>
              </a:pathLst>
            </a:custGeom>
            <a:solidFill>
              <a:srgbClr val="DFDFDF"/>
            </a:solidFill>
          </p:spPr>
          <p:txBody>
            <a:bodyPr wrap="square" lIns="0" tIns="0" rIns="0" bIns="0" rtlCol="0"/>
            <a:lstStyle/>
            <a:p>
              <a:endParaRPr/>
            </a:p>
          </p:txBody>
        </p:sp>
        <p:sp>
          <p:nvSpPr>
            <p:cNvPr id="48" name="object 24">
              <a:extLst>
                <a:ext uri="{FF2B5EF4-FFF2-40B4-BE49-F238E27FC236}">
                  <a16:creationId xmlns:a16="http://schemas.microsoft.com/office/drawing/2014/main" id="{261EBD28-C8A6-4B45-9CCB-7B794C99B943}"/>
                </a:ext>
              </a:extLst>
            </p:cNvPr>
            <p:cNvSpPr/>
            <p:nvPr/>
          </p:nvSpPr>
          <p:spPr>
            <a:xfrm>
              <a:off x="4467224" y="2895599"/>
              <a:ext cx="990600" cy="95250"/>
            </a:xfrm>
            <a:custGeom>
              <a:avLst/>
              <a:gdLst/>
              <a:ahLst/>
              <a:cxnLst/>
              <a:rect l="l" t="t" r="r" b="b"/>
              <a:pathLst>
                <a:path w="990600" h="95250">
                  <a:moveTo>
                    <a:pt x="949290" y="95249"/>
                  </a:moveTo>
                  <a:lnTo>
                    <a:pt x="41309" y="95249"/>
                  </a:lnTo>
                  <a:lnTo>
                    <a:pt x="35234" y="94041"/>
                  </a:lnTo>
                  <a:lnTo>
                    <a:pt x="1208" y="60014"/>
                  </a:lnTo>
                  <a:lnTo>
                    <a:pt x="0" y="53939"/>
                  </a:lnTo>
                  <a:lnTo>
                    <a:pt x="0" y="47624"/>
                  </a:lnTo>
                  <a:lnTo>
                    <a:pt x="0" y="41309"/>
                  </a:lnTo>
                  <a:lnTo>
                    <a:pt x="23564" y="6041"/>
                  </a:lnTo>
                  <a:lnTo>
                    <a:pt x="41309" y="0"/>
                  </a:lnTo>
                  <a:lnTo>
                    <a:pt x="949290" y="0"/>
                  </a:lnTo>
                  <a:lnTo>
                    <a:pt x="984557" y="23564"/>
                  </a:lnTo>
                  <a:lnTo>
                    <a:pt x="990599" y="41309"/>
                  </a:lnTo>
                  <a:lnTo>
                    <a:pt x="990599" y="53939"/>
                  </a:lnTo>
                  <a:lnTo>
                    <a:pt x="967034" y="89207"/>
                  </a:lnTo>
                  <a:lnTo>
                    <a:pt x="955365" y="94041"/>
                  </a:lnTo>
                  <a:lnTo>
                    <a:pt x="949290" y="95249"/>
                  </a:lnTo>
                  <a:close/>
                </a:path>
              </a:pathLst>
            </a:custGeom>
            <a:solidFill>
              <a:srgbClr val="FF9800"/>
            </a:solidFill>
          </p:spPr>
          <p:txBody>
            <a:bodyPr wrap="square" lIns="0" tIns="0" rIns="0" bIns="0" rtlCol="0"/>
            <a:lstStyle/>
            <a:p>
              <a:endParaRPr/>
            </a:p>
          </p:txBody>
        </p:sp>
      </p:grpSp>
      <p:sp>
        <p:nvSpPr>
          <p:cNvPr id="51" name="object 27">
            <a:extLst>
              <a:ext uri="{FF2B5EF4-FFF2-40B4-BE49-F238E27FC236}">
                <a16:creationId xmlns:a16="http://schemas.microsoft.com/office/drawing/2014/main" id="{718FAA99-786A-4555-BB3E-5FB0C2DFA2C6}"/>
              </a:ext>
            </a:extLst>
          </p:cNvPr>
          <p:cNvSpPr txBox="1"/>
          <p:nvPr/>
        </p:nvSpPr>
        <p:spPr>
          <a:xfrm>
            <a:off x="4260530" y="2174059"/>
            <a:ext cx="3676650" cy="570028"/>
          </a:xfrm>
          <a:prstGeom prst="rect">
            <a:avLst/>
          </a:prstGeom>
        </p:spPr>
        <p:txBody>
          <a:bodyPr vert="horz" wrap="square" lIns="0" tIns="15875" rIns="0" bIns="0" rtlCol="0">
            <a:spAutoFit/>
          </a:bodyPr>
          <a:lstStyle/>
          <a:p>
            <a:pPr marL="193040"/>
            <a:r>
              <a:rPr lang="en-US" altLang="zh-TW" sz="1200" dirty="0"/>
              <a:t>Requirement: </a:t>
            </a:r>
          </a:p>
          <a:p>
            <a:pPr marL="364490" indent="-171450">
              <a:lnSpc>
                <a:spcPct val="100000"/>
              </a:lnSpc>
              <a:buFont typeface="Arial" panose="020B0604020202020204" pitchFamily="34" charset="0"/>
              <a:buChar char="•"/>
            </a:pPr>
            <a:r>
              <a:rPr lang="en-US" altLang="zh-TW" sz="1200" dirty="0"/>
              <a:t>Autonomous patrol scheduling with self-charging</a:t>
            </a:r>
          </a:p>
          <a:p>
            <a:pPr marL="364490" indent="-171450">
              <a:lnSpc>
                <a:spcPct val="100000"/>
              </a:lnSpc>
              <a:buFont typeface="Arial" panose="020B0604020202020204" pitchFamily="34" charset="0"/>
              <a:buChar char="•"/>
            </a:pPr>
            <a:r>
              <a:rPr lang="en-US" altLang="zh-TW" sz="1200" dirty="0"/>
              <a:t>Navigation and localization in complex environments</a:t>
            </a:r>
            <a:endParaRPr sz="1200" dirty="0">
              <a:latin typeface="PMingLiU"/>
              <a:cs typeface="PMingLiU"/>
            </a:endParaRPr>
          </a:p>
        </p:txBody>
      </p:sp>
      <p:sp>
        <p:nvSpPr>
          <p:cNvPr id="54" name="object 30">
            <a:extLst>
              <a:ext uri="{FF2B5EF4-FFF2-40B4-BE49-F238E27FC236}">
                <a16:creationId xmlns:a16="http://schemas.microsoft.com/office/drawing/2014/main" id="{49D0D9A7-5553-4B3C-84C9-E2442A2E246A}"/>
              </a:ext>
            </a:extLst>
          </p:cNvPr>
          <p:cNvSpPr/>
          <p:nvPr/>
        </p:nvSpPr>
        <p:spPr>
          <a:xfrm>
            <a:off x="8181974" y="1714499"/>
            <a:ext cx="38100" cy="4038600"/>
          </a:xfrm>
          <a:custGeom>
            <a:avLst/>
            <a:gdLst/>
            <a:ahLst/>
            <a:cxnLst/>
            <a:rect l="l" t="t" r="r" b="b"/>
            <a:pathLst>
              <a:path w="38100" h="4038600">
                <a:moveTo>
                  <a:pt x="38099" y="4038599"/>
                </a:moveTo>
                <a:lnTo>
                  <a:pt x="0" y="4038599"/>
                </a:lnTo>
                <a:lnTo>
                  <a:pt x="0" y="0"/>
                </a:lnTo>
                <a:lnTo>
                  <a:pt x="38099" y="0"/>
                </a:lnTo>
                <a:lnTo>
                  <a:pt x="38099" y="4038599"/>
                </a:lnTo>
                <a:close/>
              </a:path>
            </a:pathLst>
          </a:custGeom>
          <a:solidFill>
            <a:srgbClr val="FF9800"/>
          </a:solidFill>
        </p:spPr>
        <p:txBody>
          <a:bodyPr wrap="square" lIns="0" tIns="0" rIns="0" bIns="0" rtlCol="0"/>
          <a:lstStyle/>
          <a:p>
            <a:endParaRPr/>
          </a:p>
        </p:txBody>
      </p:sp>
      <p:grpSp>
        <p:nvGrpSpPr>
          <p:cNvPr id="75" name="群組 74">
            <a:extLst>
              <a:ext uri="{FF2B5EF4-FFF2-40B4-BE49-F238E27FC236}">
                <a16:creationId xmlns:a16="http://schemas.microsoft.com/office/drawing/2014/main" id="{827AFE1E-4F09-4DA9-ACA7-BDEF9602B6F0}"/>
              </a:ext>
            </a:extLst>
          </p:cNvPr>
          <p:cNvGrpSpPr/>
          <p:nvPr/>
        </p:nvGrpSpPr>
        <p:grpSpPr>
          <a:xfrm>
            <a:off x="8410574" y="1556567"/>
            <a:ext cx="571500" cy="571500"/>
            <a:chOff x="8410574" y="1904999"/>
            <a:chExt cx="571500" cy="571500"/>
          </a:xfrm>
        </p:grpSpPr>
        <p:sp>
          <p:nvSpPr>
            <p:cNvPr id="55" name="object 31">
              <a:extLst>
                <a:ext uri="{FF2B5EF4-FFF2-40B4-BE49-F238E27FC236}">
                  <a16:creationId xmlns:a16="http://schemas.microsoft.com/office/drawing/2014/main" id="{F72BFDEF-A30A-4B17-A327-8F5334215B5C}"/>
                </a:ext>
              </a:extLst>
            </p:cNvPr>
            <p:cNvSpPr/>
            <p:nvPr/>
          </p:nvSpPr>
          <p:spPr>
            <a:xfrm>
              <a:off x="8410574" y="1904999"/>
              <a:ext cx="571500" cy="571500"/>
            </a:xfrm>
            <a:custGeom>
              <a:avLst/>
              <a:gdLst/>
              <a:ahLst/>
              <a:cxnLst/>
              <a:rect l="l" t="t" r="r" b="b"/>
              <a:pathLst>
                <a:path w="571500" h="571500">
                  <a:moveTo>
                    <a:pt x="285749" y="571499"/>
                  </a:moveTo>
                  <a:lnTo>
                    <a:pt x="243821" y="568407"/>
                  </a:lnTo>
                  <a:lnTo>
                    <a:pt x="202800" y="559195"/>
                  </a:lnTo>
                  <a:lnTo>
                    <a:pt x="163574" y="544065"/>
                  </a:lnTo>
                  <a:lnTo>
                    <a:pt x="126993" y="523342"/>
                  </a:lnTo>
                  <a:lnTo>
                    <a:pt x="93851" y="497476"/>
                  </a:lnTo>
                  <a:lnTo>
                    <a:pt x="64861" y="467027"/>
                  </a:lnTo>
                  <a:lnTo>
                    <a:pt x="40653" y="432654"/>
                  </a:lnTo>
                  <a:lnTo>
                    <a:pt x="21750" y="395101"/>
                  </a:lnTo>
                  <a:lnTo>
                    <a:pt x="8563" y="355181"/>
                  </a:lnTo>
                  <a:lnTo>
                    <a:pt x="1376" y="313758"/>
                  </a:lnTo>
                  <a:lnTo>
                    <a:pt x="0" y="285749"/>
                  </a:lnTo>
                  <a:lnTo>
                    <a:pt x="344" y="271728"/>
                  </a:lnTo>
                  <a:lnTo>
                    <a:pt x="5490" y="230002"/>
                  </a:lnTo>
                  <a:lnTo>
                    <a:pt x="16703" y="189483"/>
                  </a:lnTo>
                  <a:lnTo>
                    <a:pt x="33740" y="151048"/>
                  </a:lnTo>
                  <a:lnTo>
                    <a:pt x="56232" y="115528"/>
                  </a:lnTo>
                  <a:lnTo>
                    <a:pt x="83693" y="83694"/>
                  </a:lnTo>
                  <a:lnTo>
                    <a:pt x="115528" y="56233"/>
                  </a:lnTo>
                  <a:lnTo>
                    <a:pt x="151047" y="33740"/>
                  </a:lnTo>
                  <a:lnTo>
                    <a:pt x="189482" y="16703"/>
                  </a:lnTo>
                  <a:lnTo>
                    <a:pt x="230002" y="5490"/>
                  </a:lnTo>
                  <a:lnTo>
                    <a:pt x="271729" y="344"/>
                  </a:lnTo>
                  <a:lnTo>
                    <a:pt x="285749" y="0"/>
                  </a:lnTo>
                  <a:lnTo>
                    <a:pt x="299771" y="344"/>
                  </a:lnTo>
                  <a:lnTo>
                    <a:pt x="341496" y="5490"/>
                  </a:lnTo>
                  <a:lnTo>
                    <a:pt x="382015" y="16703"/>
                  </a:lnTo>
                  <a:lnTo>
                    <a:pt x="420451" y="33740"/>
                  </a:lnTo>
                  <a:lnTo>
                    <a:pt x="455970" y="56233"/>
                  </a:lnTo>
                  <a:lnTo>
                    <a:pt x="487805" y="83694"/>
                  </a:lnTo>
                  <a:lnTo>
                    <a:pt x="515266" y="115528"/>
                  </a:lnTo>
                  <a:lnTo>
                    <a:pt x="537759" y="151048"/>
                  </a:lnTo>
                  <a:lnTo>
                    <a:pt x="554796" y="189483"/>
                  </a:lnTo>
                  <a:lnTo>
                    <a:pt x="566009" y="230002"/>
                  </a:lnTo>
                  <a:lnTo>
                    <a:pt x="571156" y="271728"/>
                  </a:lnTo>
                  <a:lnTo>
                    <a:pt x="571499" y="285749"/>
                  </a:lnTo>
                  <a:lnTo>
                    <a:pt x="571156" y="299771"/>
                  </a:lnTo>
                  <a:lnTo>
                    <a:pt x="566009" y="341496"/>
                  </a:lnTo>
                  <a:lnTo>
                    <a:pt x="554796" y="382016"/>
                  </a:lnTo>
                  <a:lnTo>
                    <a:pt x="537759" y="420451"/>
                  </a:lnTo>
                  <a:lnTo>
                    <a:pt x="515266" y="455971"/>
                  </a:lnTo>
                  <a:lnTo>
                    <a:pt x="487805" y="487805"/>
                  </a:lnTo>
                  <a:lnTo>
                    <a:pt x="455970" y="515266"/>
                  </a:lnTo>
                  <a:lnTo>
                    <a:pt x="420451" y="537758"/>
                  </a:lnTo>
                  <a:lnTo>
                    <a:pt x="382015" y="554796"/>
                  </a:lnTo>
                  <a:lnTo>
                    <a:pt x="341496" y="566008"/>
                  </a:lnTo>
                  <a:lnTo>
                    <a:pt x="299771" y="571155"/>
                  </a:lnTo>
                  <a:lnTo>
                    <a:pt x="285749" y="571499"/>
                  </a:lnTo>
                  <a:close/>
                </a:path>
              </a:pathLst>
            </a:custGeom>
            <a:solidFill>
              <a:srgbClr val="DFDFDF"/>
            </a:solidFill>
          </p:spPr>
          <p:txBody>
            <a:bodyPr wrap="square" lIns="0" tIns="0" rIns="0" bIns="0" rtlCol="0"/>
            <a:lstStyle/>
            <a:p>
              <a:endParaRPr/>
            </a:p>
          </p:txBody>
        </p:sp>
        <p:pic>
          <p:nvPicPr>
            <p:cNvPr id="56" name="object 32">
              <a:extLst>
                <a:ext uri="{FF2B5EF4-FFF2-40B4-BE49-F238E27FC236}">
                  <a16:creationId xmlns:a16="http://schemas.microsoft.com/office/drawing/2014/main" id="{A401C33F-C4EA-41D7-BBEB-1FB3133CAC79}"/>
                </a:ext>
              </a:extLst>
            </p:cNvPr>
            <p:cNvPicPr/>
            <p:nvPr/>
          </p:nvPicPr>
          <p:blipFill>
            <a:blip r:embed="rId5" cstate="print"/>
            <a:stretch>
              <a:fillRect/>
            </a:stretch>
          </p:blipFill>
          <p:spPr>
            <a:xfrm>
              <a:off x="8553449" y="2038349"/>
              <a:ext cx="285749" cy="304799"/>
            </a:xfrm>
            <a:prstGeom prst="rect">
              <a:avLst/>
            </a:prstGeom>
          </p:spPr>
        </p:pic>
      </p:grpSp>
      <p:grpSp>
        <p:nvGrpSpPr>
          <p:cNvPr id="89" name="群組 88">
            <a:extLst>
              <a:ext uri="{FF2B5EF4-FFF2-40B4-BE49-F238E27FC236}">
                <a16:creationId xmlns:a16="http://schemas.microsoft.com/office/drawing/2014/main" id="{0B0D6370-C621-4B07-A532-731B7CB9EDB8}"/>
              </a:ext>
            </a:extLst>
          </p:cNvPr>
          <p:cNvGrpSpPr/>
          <p:nvPr/>
        </p:nvGrpSpPr>
        <p:grpSpPr>
          <a:xfrm>
            <a:off x="8329320" y="2754930"/>
            <a:ext cx="3286125" cy="95250"/>
            <a:chOff x="8410573" y="2895599"/>
            <a:chExt cx="3286125" cy="95250"/>
          </a:xfrm>
        </p:grpSpPr>
        <p:sp>
          <p:nvSpPr>
            <p:cNvPr id="57" name="object 33">
              <a:extLst>
                <a:ext uri="{FF2B5EF4-FFF2-40B4-BE49-F238E27FC236}">
                  <a16:creationId xmlns:a16="http://schemas.microsoft.com/office/drawing/2014/main" id="{D40F9DF8-B179-47D0-9445-580FA1DF941C}"/>
                </a:ext>
              </a:extLst>
            </p:cNvPr>
            <p:cNvSpPr/>
            <p:nvPr/>
          </p:nvSpPr>
          <p:spPr>
            <a:xfrm>
              <a:off x="8410573" y="2895599"/>
              <a:ext cx="3286125" cy="95250"/>
            </a:xfrm>
            <a:custGeom>
              <a:avLst/>
              <a:gdLst/>
              <a:ahLst/>
              <a:cxnLst/>
              <a:rect l="l" t="t" r="r" b="b"/>
              <a:pathLst>
                <a:path w="3286125" h="95250">
                  <a:moveTo>
                    <a:pt x="3244815" y="95249"/>
                  </a:moveTo>
                  <a:lnTo>
                    <a:pt x="41309" y="95249"/>
                  </a:lnTo>
                  <a:lnTo>
                    <a:pt x="35233" y="94041"/>
                  </a:lnTo>
                  <a:lnTo>
                    <a:pt x="1208" y="60014"/>
                  </a:lnTo>
                  <a:lnTo>
                    <a:pt x="0" y="53939"/>
                  </a:lnTo>
                  <a:lnTo>
                    <a:pt x="0" y="47624"/>
                  </a:lnTo>
                  <a:lnTo>
                    <a:pt x="0" y="41309"/>
                  </a:lnTo>
                  <a:lnTo>
                    <a:pt x="23564" y="6041"/>
                  </a:lnTo>
                  <a:lnTo>
                    <a:pt x="41309" y="0"/>
                  </a:lnTo>
                  <a:lnTo>
                    <a:pt x="3244815" y="0"/>
                  </a:lnTo>
                  <a:lnTo>
                    <a:pt x="3280081" y="23564"/>
                  </a:lnTo>
                  <a:lnTo>
                    <a:pt x="3286124" y="41309"/>
                  </a:lnTo>
                  <a:lnTo>
                    <a:pt x="3286124" y="53939"/>
                  </a:lnTo>
                  <a:lnTo>
                    <a:pt x="3262559" y="89207"/>
                  </a:lnTo>
                  <a:lnTo>
                    <a:pt x="3250890" y="94041"/>
                  </a:lnTo>
                  <a:lnTo>
                    <a:pt x="3244815" y="95249"/>
                  </a:lnTo>
                  <a:close/>
                </a:path>
              </a:pathLst>
            </a:custGeom>
            <a:solidFill>
              <a:srgbClr val="DFDFDF"/>
            </a:solidFill>
          </p:spPr>
          <p:txBody>
            <a:bodyPr wrap="square" lIns="0" tIns="0" rIns="0" bIns="0" rtlCol="0"/>
            <a:lstStyle/>
            <a:p>
              <a:endParaRPr/>
            </a:p>
          </p:txBody>
        </p:sp>
        <p:sp>
          <p:nvSpPr>
            <p:cNvPr id="58" name="object 34">
              <a:extLst>
                <a:ext uri="{FF2B5EF4-FFF2-40B4-BE49-F238E27FC236}">
                  <a16:creationId xmlns:a16="http://schemas.microsoft.com/office/drawing/2014/main" id="{C27C01AC-4653-4FAF-BCFE-E4CD11862326}"/>
                </a:ext>
              </a:extLst>
            </p:cNvPr>
            <p:cNvSpPr/>
            <p:nvPr/>
          </p:nvSpPr>
          <p:spPr>
            <a:xfrm>
              <a:off x="8410573" y="2895599"/>
              <a:ext cx="1152525" cy="95250"/>
            </a:xfrm>
            <a:custGeom>
              <a:avLst/>
              <a:gdLst/>
              <a:ahLst/>
              <a:cxnLst/>
              <a:rect l="l" t="t" r="r" b="b"/>
              <a:pathLst>
                <a:path w="1152525" h="95250">
                  <a:moveTo>
                    <a:pt x="1111215" y="95249"/>
                  </a:moveTo>
                  <a:lnTo>
                    <a:pt x="41309" y="95249"/>
                  </a:lnTo>
                  <a:lnTo>
                    <a:pt x="35233" y="94041"/>
                  </a:lnTo>
                  <a:lnTo>
                    <a:pt x="1208" y="60014"/>
                  </a:lnTo>
                  <a:lnTo>
                    <a:pt x="0" y="53939"/>
                  </a:lnTo>
                  <a:lnTo>
                    <a:pt x="0" y="47624"/>
                  </a:lnTo>
                  <a:lnTo>
                    <a:pt x="0" y="41309"/>
                  </a:lnTo>
                  <a:lnTo>
                    <a:pt x="23564" y="6041"/>
                  </a:lnTo>
                  <a:lnTo>
                    <a:pt x="41309" y="0"/>
                  </a:lnTo>
                  <a:lnTo>
                    <a:pt x="1111215" y="0"/>
                  </a:lnTo>
                  <a:lnTo>
                    <a:pt x="1146482" y="23564"/>
                  </a:lnTo>
                  <a:lnTo>
                    <a:pt x="1152524" y="41309"/>
                  </a:lnTo>
                  <a:lnTo>
                    <a:pt x="1152524" y="53939"/>
                  </a:lnTo>
                  <a:lnTo>
                    <a:pt x="1128959" y="89207"/>
                  </a:lnTo>
                  <a:lnTo>
                    <a:pt x="1117289" y="94041"/>
                  </a:lnTo>
                  <a:lnTo>
                    <a:pt x="1111215" y="95249"/>
                  </a:lnTo>
                  <a:close/>
                </a:path>
              </a:pathLst>
            </a:custGeom>
            <a:solidFill>
              <a:srgbClr val="FF9800"/>
            </a:solidFill>
          </p:spPr>
          <p:txBody>
            <a:bodyPr wrap="square" lIns="0" tIns="0" rIns="0" bIns="0" rtlCol="0"/>
            <a:lstStyle/>
            <a:p>
              <a:endParaRPr/>
            </a:p>
          </p:txBody>
        </p:sp>
      </p:grpSp>
      <p:sp>
        <p:nvSpPr>
          <p:cNvPr id="71" name="矩形 70">
            <a:extLst>
              <a:ext uri="{FF2B5EF4-FFF2-40B4-BE49-F238E27FC236}">
                <a16:creationId xmlns:a16="http://schemas.microsoft.com/office/drawing/2014/main" id="{FF6B495F-5C3F-4FA8-BC71-C172398C3E11}"/>
              </a:ext>
            </a:extLst>
          </p:cNvPr>
          <p:cNvSpPr/>
          <p:nvPr/>
        </p:nvSpPr>
        <p:spPr>
          <a:xfrm>
            <a:off x="2980415" y="2723147"/>
            <a:ext cx="1478610" cy="261610"/>
          </a:xfrm>
          <a:prstGeom prst="rect">
            <a:avLst/>
          </a:prstGeom>
        </p:spPr>
        <p:txBody>
          <a:bodyPr wrap="none">
            <a:spAutoFit/>
          </a:bodyPr>
          <a:lstStyle/>
          <a:p>
            <a:pPr marR="179705" algn="r">
              <a:lnSpc>
                <a:spcPct val="100000"/>
              </a:lnSpc>
              <a:spcBef>
                <a:spcPts val="5"/>
              </a:spcBef>
            </a:pPr>
            <a:r>
              <a:rPr lang="en-US" altLang="zh-TW" sz="1100" dirty="0"/>
              <a:t>Current capabilities</a:t>
            </a:r>
            <a:endParaRPr lang="en-US" altLang="zh-TW" sz="1100" dirty="0">
              <a:latin typeface="PMingLiU"/>
              <a:cs typeface="PMingLiU"/>
            </a:endParaRPr>
          </a:p>
        </p:txBody>
      </p:sp>
      <p:sp>
        <p:nvSpPr>
          <p:cNvPr id="76" name="文字方塊 75">
            <a:extLst>
              <a:ext uri="{FF2B5EF4-FFF2-40B4-BE49-F238E27FC236}">
                <a16:creationId xmlns:a16="http://schemas.microsoft.com/office/drawing/2014/main" id="{65283A88-44BA-4642-86E3-FB394ED6FCAF}"/>
              </a:ext>
            </a:extLst>
          </p:cNvPr>
          <p:cNvSpPr txBox="1"/>
          <p:nvPr/>
        </p:nvSpPr>
        <p:spPr>
          <a:xfrm>
            <a:off x="9124949" y="1689917"/>
            <a:ext cx="2865699" cy="369332"/>
          </a:xfrm>
          <a:prstGeom prst="rect">
            <a:avLst/>
          </a:prstGeom>
          <a:noFill/>
        </p:spPr>
        <p:txBody>
          <a:bodyPr wrap="square" rtlCol="0">
            <a:spAutoFit/>
          </a:bodyPr>
          <a:lstStyle/>
          <a:p>
            <a:r>
              <a:rPr lang="en-US" altLang="zh-TW" dirty="0"/>
              <a:t>Environmental safety</a:t>
            </a:r>
            <a:endParaRPr lang="en-US" altLang="zh-TW" b="1" dirty="0">
              <a:latin typeface="PMingLiU"/>
              <a:cs typeface="PMingLiU"/>
            </a:endParaRPr>
          </a:p>
        </p:txBody>
      </p:sp>
      <p:sp>
        <p:nvSpPr>
          <p:cNvPr id="77" name="矩形 76">
            <a:extLst>
              <a:ext uri="{FF2B5EF4-FFF2-40B4-BE49-F238E27FC236}">
                <a16:creationId xmlns:a16="http://schemas.microsoft.com/office/drawing/2014/main" id="{418BDFBD-B9A8-4F73-8EC5-E5880E93A0FD}"/>
              </a:ext>
            </a:extLst>
          </p:cNvPr>
          <p:cNvSpPr/>
          <p:nvPr/>
        </p:nvSpPr>
        <p:spPr>
          <a:xfrm>
            <a:off x="1243979" y="1586603"/>
            <a:ext cx="2781531" cy="369332"/>
          </a:xfrm>
          <a:prstGeom prst="rect">
            <a:avLst/>
          </a:prstGeom>
        </p:spPr>
        <p:txBody>
          <a:bodyPr wrap="none">
            <a:spAutoFit/>
          </a:bodyPr>
          <a:lstStyle/>
          <a:p>
            <a:r>
              <a:rPr lang="en-US" altLang="zh-TW" dirty="0"/>
              <a:t>Thermal imaging inspection</a:t>
            </a:r>
            <a:endParaRPr lang="zh-TW" altLang="en-US" dirty="0"/>
          </a:p>
        </p:txBody>
      </p:sp>
      <p:pic>
        <p:nvPicPr>
          <p:cNvPr id="78" name="object 18">
            <a:extLst>
              <a:ext uri="{FF2B5EF4-FFF2-40B4-BE49-F238E27FC236}">
                <a16:creationId xmlns:a16="http://schemas.microsoft.com/office/drawing/2014/main" id="{E9BC5687-D00D-410B-AB93-86A5F0F3FF9E}"/>
              </a:ext>
            </a:extLst>
          </p:cNvPr>
          <p:cNvPicPr/>
          <p:nvPr/>
        </p:nvPicPr>
        <p:blipFill>
          <a:blip r:embed="rId6" cstate="print"/>
          <a:stretch>
            <a:fillRect/>
          </a:stretch>
        </p:blipFill>
        <p:spPr>
          <a:xfrm>
            <a:off x="552122" y="1603024"/>
            <a:ext cx="247060" cy="281426"/>
          </a:xfrm>
          <a:prstGeom prst="rect">
            <a:avLst/>
          </a:prstGeom>
        </p:spPr>
      </p:pic>
      <p:sp>
        <p:nvSpPr>
          <p:cNvPr id="84" name="object 27">
            <a:extLst>
              <a:ext uri="{FF2B5EF4-FFF2-40B4-BE49-F238E27FC236}">
                <a16:creationId xmlns:a16="http://schemas.microsoft.com/office/drawing/2014/main" id="{48A28546-E5DA-4B66-8A06-15CF90A8943A}"/>
              </a:ext>
            </a:extLst>
          </p:cNvPr>
          <p:cNvSpPr txBox="1"/>
          <p:nvPr/>
        </p:nvSpPr>
        <p:spPr>
          <a:xfrm>
            <a:off x="8250483" y="2136548"/>
            <a:ext cx="3874841" cy="754694"/>
          </a:xfrm>
          <a:prstGeom prst="rect">
            <a:avLst/>
          </a:prstGeom>
        </p:spPr>
        <p:txBody>
          <a:bodyPr vert="horz" wrap="square" lIns="0" tIns="15875" rIns="0" bIns="0" rtlCol="0">
            <a:spAutoFit/>
          </a:bodyPr>
          <a:lstStyle/>
          <a:p>
            <a:pPr marL="193040"/>
            <a:r>
              <a:rPr lang="en-US" altLang="zh-TW" sz="1200" dirty="0">
                <a:ea typeface="Noto Sans TC" panose="020B0200000000000000" pitchFamily="34" charset="-120"/>
              </a:rPr>
              <a:t>Requirement: </a:t>
            </a:r>
            <a:endParaRPr lang="en-US" altLang="zh-TW" sz="1200" spc="-165" dirty="0">
              <a:solidFill>
                <a:srgbClr val="414141"/>
              </a:solidFill>
              <a:ea typeface="Noto Sans TC" panose="020B0200000000000000" pitchFamily="34" charset="-120"/>
              <a:cs typeface="SimSun"/>
            </a:endParaRPr>
          </a:p>
          <a:p>
            <a:pPr marL="364490" indent="-171450">
              <a:buFont typeface="Arial" panose="020B0604020202020204" pitchFamily="34" charset="0"/>
              <a:buChar char="•"/>
            </a:pPr>
            <a:r>
              <a:rPr lang="en-US" altLang="zh-TW" sz="1200" dirty="0">
                <a:ea typeface="Noto Sans TC" panose="020B0200000000000000" pitchFamily="34" charset="-120"/>
              </a:rPr>
              <a:t>Real-time personnel detection and verification</a:t>
            </a:r>
          </a:p>
          <a:p>
            <a:pPr marL="364490" indent="-171450">
              <a:buFont typeface="Arial" panose="020B0604020202020204" pitchFamily="34" charset="0"/>
              <a:buChar char="•"/>
            </a:pPr>
            <a:r>
              <a:rPr lang="zh-TW" altLang="en-US" sz="1200" dirty="0"/>
              <a:t>Obstacle  detection in walk ways</a:t>
            </a:r>
          </a:p>
          <a:p>
            <a:pPr marL="364490" indent="-171450">
              <a:buFont typeface="Arial" panose="020B0604020202020204" pitchFamily="34" charset="0"/>
              <a:buChar char="•"/>
            </a:pPr>
            <a:endParaRPr lang="en-US" altLang="zh-TW" sz="1200" spc="-165" dirty="0">
              <a:solidFill>
                <a:srgbClr val="414141"/>
              </a:solidFill>
              <a:ea typeface="Noto Sans TC" panose="020B0200000000000000" pitchFamily="34" charset="-120"/>
              <a:cs typeface="SimSun"/>
            </a:endParaRPr>
          </a:p>
        </p:txBody>
      </p:sp>
      <p:sp>
        <p:nvSpPr>
          <p:cNvPr id="85" name="矩形 84">
            <a:extLst>
              <a:ext uri="{FF2B5EF4-FFF2-40B4-BE49-F238E27FC236}">
                <a16:creationId xmlns:a16="http://schemas.microsoft.com/office/drawing/2014/main" id="{38B4F81F-8251-4CDF-8BBD-A5E982DDE12F}"/>
              </a:ext>
            </a:extLst>
          </p:cNvPr>
          <p:cNvSpPr/>
          <p:nvPr/>
        </p:nvSpPr>
        <p:spPr>
          <a:xfrm>
            <a:off x="6647540" y="2796035"/>
            <a:ext cx="1478610" cy="261610"/>
          </a:xfrm>
          <a:prstGeom prst="rect">
            <a:avLst/>
          </a:prstGeom>
        </p:spPr>
        <p:txBody>
          <a:bodyPr wrap="none">
            <a:spAutoFit/>
          </a:bodyPr>
          <a:lstStyle/>
          <a:p>
            <a:pPr marR="179705" algn="r">
              <a:lnSpc>
                <a:spcPct val="100000"/>
              </a:lnSpc>
              <a:spcBef>
                <a:spcPts val="5"/>
              </a:spcBef>
            </a:pPr>
            <a:r>
              <a:rPr lang="en-US" altLang="zh-TW" sz="1100" dirty="0"/>
              <a:t>Current capabilities</a:t>
            </a:r>
            <a:endParaRPr lang="en-US" altLang="zh-TW" sz="1100" dirty="0">
              <a:latin typeface="PMingLiU"/>
              <a:cs typeface="PMingLiU"/>
            </a:endParaRPr>
          </a:p>
        </p:txBody>
      </p:sp>
      <p:sp>
        <p:nvSpPr>
          <p:cNvPr id="86" name="矩形 85">
            <a:extLst>
              <a:ext uri="{FF2B5EF4-FFF2-40B4-BE49-F238E27FC236}">
                <a16:creationId xmlns:a16="http://schemas.microsoft.com/office/drawing/2014/main" id="{31826A1B-65C9-44A1-923D-FC051C375669}"/>
              </a:ext>
            </a:extLst>
          </p:cNvPr>
          <p:cNvSpPr/>
          <p:nvPr/>
        </p:nvSpPr>
        <p:spPr>
          <a:xfrm>
            <a:off x="10475243" y="2812419"/>
            <a:ext cx="1478610" cy="261610"/>
          </a:xfrm>
          <a:prstGeom prst="rect">
            <a:avLst/>
          </a:prstGeom>
        </p:spPr>
        <p:txBody>
          <a:bodyPr wrap="none">
            <a:spAutoFit/>
          </a:bodyPr>
          <a:lstStyle/>
          <a:p>
            <a:pPr marR="179705" algn="r">
              <a:lnSpc>
                <a:spcPct val="100000"/>
              </a:lnSpc>
              <a:spcBef>
                <a:spcPts val="5"/>
              </a:spcBef>
            </a:pPr>
            <a:r>
              <a:rPr lang="en-US" altLang="zh-TW" sz="1100" dirty="0"/>
              <a:t>Current capabilities</a:t>
            </a:r>
            <a:endParaRPr lang="en-US" altLang="zh-TW" sz="1100" dirty="0">
              <a:latin typeface="PMingLiU"/>
              <a:cs typeface="PMingLiU"/>
            </a:endParaRPr>
          </a:p>
        </p:txBody>
      </p:sp>
      <p:pic>
        <p:nvPicPr>
          <p:cNvPr id="90" name="Image 2" descr="preencoded.png">
            <a:extLst>
              <a:ext uri="{FF2B5EF4-FFF2-40B4-BE49-F238E27FC236}">
                <a16:creationId xmlns:a16="http://schemas.microsoft.com/office/drawing/2014/main" id="{2BDFACDD-27A7-474C-B741-B2A796B256DB}"/>
              </a:ext>
            </a:extLst>
          </p:cNvPr>
          <p:cNvPicPr>
            <a:picLocks noChangeAspect="1"/>
          </p:cNvPicPr>
          <p:nvPr/>
        </p:nvPicPr>
        <p:blipFill>
          <a:blip r:embed="rId7"/>
          <a:stretch>
            <a:fillRect/>
          </a:stretch>
        </p:blipFill>
        <p:spPr>
          <a:xfrm>
            <a:off x="4618206" y="1544046"/>
            <a:ext cx="249068" cy="282794"/>
          </a:xfrm>
          <a:prstGeom prst="rect">
            <a:avLst/>
          </a:prstGeom>
        </p:spPr>
      </p:pic>
      <p:pic>
        <p:nvPicPr>
          <p:cNvPr id="92" name="圖片 91">
            <a:extLst>
              <a:ext uri="{FF2B5EF4-FFF2-40B4-BE49-F238E27FC236}">
                <a16:creationId xmlns:a16="http://schemas.microsoft.com/office/drawing/2014/main" id="{DC1FEB1C-0E07-4CE7-B79F-9228B499C304}"/>
              </a:ext>
            </a:extLst>
          </p:cNvPr>
          <p:cNvPicPr>
            <a:picLocks noChangeAspect="1"/>
          </p:cNvPicPr>
          <p:nvPr/>
        </p:nvPicPr>
        <p:blipFill>
          <a:blip r:embed="rId8"/>
          <a:stretch>
            <a:fillRect/>
          </a:stretch>
        </p:blipFill>
        <p:spPr>
          <a:xfrm>
            <a:off x="880308" y="1598061"/>
            <a:ext cx="225572" cy="304826"/>
          </a:xfrm>
          <a:prstGeom prst="rect">
            <a:avLst/>
          </a:prstGeom>
        </p:spPr>
      </p:pic>
      <p:sp>
        <p:nvSpPr>
          <p:cNvPr id="99" name="object 41">
            <a:extLst>
              <a:ext uri="{FF2B5EF4-FFF2-40B4-BE49-F238E27FC236}">
                <a16:creationId xmlns:a16="http://schemas.microsoft.com/office/drawing/2014/main" id="{A433C50B-11AF-4CE9-A584-16306D489E6B}"/>
              </a:ext>
            </a:extLst>
          </p:cNvPr>
          <p:cNvSpPr txBox="1"/>
          <p:nvPr/>
        </p:nvSpPr>
        <p:spPr>
          <a:xfrm>
            <a:off x="655346" y="5882405"/>
            <a:ext cx="11134724" cy="754053"/>
          </a:xfrm>
          <a:prstGeom prst="rect">
            <a:avLst/>
          </a:prstGeom>
        </p:spPr>
        <p:txBody>
          <a:bodyPr vert="horz" wrap="square" lIns="0" tIns="15240" rIns="0" bIns="0" rtlCol="0">
            <a:spAutoFit/>
          </a:bodyPr>
          <a:lstStyle/>
          <a:p>
            <a:r>
              <a:rPr lang="en-US" altLang="zh-TW" sz="1200" b="1" dirty="0">
                <a:solidFill>
                  <a:schemeClr val="accent2">
                    <a:lumMod val="75000"/>
                  </a:schemeClr>
                </a:solidFill>
              </a:rPr>
              <a:t>Summary:</a:t>
            </a:r>
            <a:br>
              <a:rPr lang="en-US" altLang="zh-TW" sz="1200" b="1" dirty="0">
                <a:solidFill>
                  <a:schemeClr val="accent2">
                    <a:lumMod val="75000"/>
                  </a:schemeClr>
                </a:solidFill>
              </a:rPr>
            </a:br>
            <a:r>
              <a:rPr lang="en-US" altLang="zh-TW" sz="1200" b="1" dirty="0">
                <a:solidFill>
                  <a:schemeClr val="accent2">
                    <a:lumMod val="75000"/>
                  </a:schemeClr>
                </a:solidFill>
              </a:rPr>
              <a:t>The current </a:t>
            </a:r>
            <a:r>
              <a:rPr lang="en-US" altLang="zh-TW" sz="1200" b="1" dirty="0" err="1">
                <a:solidFill>
                  <a:schemeClr val="accent2">
                    <a:lumMod val="75000"/>
                  </a:schemeClr>
                </a:solidFill>
              </a:rPr>
              <a:t>Cyberdog</a:t>
            </a:r>
            <a:r>
              <a:rPr lang="en-US" altLang="zh-TW" sz="1200" b="1" dirty="0">
                <a:solidFill>
                  <a:schemeClr val="accent2">
                    <a:lumMod val="75000"/>
                  </a:schemeClr>
                </a:solidFill>
              </a:rPr>
              <a:t> robotic system faces several limitations in environmental safety inspection, including insufficient identification accuracy, limited autonomous task execution, and inadequate personnel recognition. To address these challenges and meet the operational requirements of AUO's L5A facility, efforts are underway to evaluate next-generation robotic dogs and develop enhanced AI algorithms.</a:t>
            </a:r>
          </a:p>
        </p:txBody>
      </p:sp>
    </p:spTree>
    <p:extLst>
      <p:ext uri="{BB962C8B-B14F-4D97-AF65-F5344CB8AC3E}">
        <p14:creationId xmlns:p14="http://schemas.microsoft.com/office/powerpoint/2010/main" val="1292795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群組 3">
            <a:extLst>
              <a:ext uri="{FF2B5EF4-FFF2-40B4-BE49-F238E27FC236}">
                <a16:creationId xmlns:a16="http://schemas.microsoft.com/office/drawing/2014/main" id="{EAD0F960-39FA-4D84-80E5-E34D2765B89C}"/>
              </a:ext>
            </a:extLst>
          </p:cNvPr>
          <p:cNvGrpSpPr/>
          <p:nvPr/>
        </p:nvGrpSpPr>
        <p:grpSpPr>
          <a:xfrm>
            <a:off x="401392" y="230589"/>
            <a:ext cx="11438100" cy="6331674"/>
            <a:chOff x="709315" y="819965"/>
            <a:chExt cx="11334681" cy="6724906"/>
          </a:xfrm>
        </p:grpSpPr>
        <p:sp>
          <p:nvSpPr>
            <p:cNvPr id="5" name="Text 0">
              <a:extLst>
                <a:ext uri="{FF2B5EF4-FFF2-40B4-BE49-F238E27FC236}">
                  <a16:creationId xmlns:a16="http://schemas.microsoft.com/office/drawing/2014/main" id="{865998AF-37C7-4F64-96FF-2C5EA0330BD8}"/>
                </a:ext>
              </a:extLst>
            </p:cNvPr>
            <p:cNvSpPr/>
            <p:nvPr/>
          </p:nvSpPr>
          <p:spPr>
            <a:xfrm>
              <a:off x="758666" y="819965"/>
              <a:ext cx="4311253" cy="411718"/>
            </a:xfrm>
            <a:prstGeom prst="rect">
              <a:avLst/>
            </a:prstGeom>
            <a:noFill/>
            <a:ln/>
          </p:spPr>
          <p:txBody>
            <a:bodyPr wrap="none" lIns="0" tIns="0" rIns="0" bIns="0" rtlCol="0" anchor="t"/>
            <a:lstStyle/>
            <a:p>
              <a:pPr marL="0" indent="0" algn="l">
                <a:lnSpc>
                  <a:spcPts val="3200"/>
                </a:lnSpc>
                <a:buNone/>
              </a:pPr>
              <a:r>
                <a:rPr lang="en-US" sz="3200" dirty="0">
                  <a:solidFill>
                    <a:srgbClr val="2E3C4E"/>
                  </a:solidFill>
                  <a:latin typeface="Noto Sans TC" panose="020B0200000000000000" pitchFamily="34" charset="-120"/>
                  <a:ea typeface="Noto Sans TC" panose="020B0200000000000000" pitchFamily="34" charset="-120"/>
                  <a:cs typeface="Host Grotesk Medium" pitchFamily="34" charset="-120"/>
                </a:rPr>
                <a:t>Future Technology Roadmap</a:t>
              </a:r>
              <a:endParaRPr lang="en-US" sz="3200" dirty="0">
                <a:latin typeface="Noto Sans TC" panose="020B0200000000000000" pitchFamily="34" charset="-120"/>
                <a:ea typeface="Noto Sans TC" panose="020B0200000000000000" pitchFamily="34" charset="-120"/>
              </a:endParaRPr>
            </a:p>
          </p:txBody>
        </p:sp>
        <p:sp>
          <p:nvSpPr>
            <p:cNvPr id="6" name="Shape 1">
              <a:extLst>
                <a:ext uri="{FF2B5EF4-FFF2-40B4-BE49-F238E27FC236}">
                  <a16:creationId xmlns:a16="http://schemas.microsoft.com/office/drawing/2014/main" id="{15FD0102-37AC-4CAB-80FA-3697F08FFBF1}"/>
                </a:ext>
              </a:extLst>
            </p:cNvPr>
            <p:cNvSpPr/>
            <p:nvPr/>
          </p:nvSpPr>
          <p:spPr>
            <a:xfrm>
              <a:off x="709374" y="1326118"/>
              <a:ext cx="11334622" cy="744141"/>
            </a:xfrm>
            <a:prstGeom prst="roundRect">
              <a:avLst>
                <a:gd name="adj" fmla="val 7436"/>
              </a:avLst>
            </a:prstGeom>
            <a:solidFill>
              <a:srgbClr val="E9CFC9"/>
            </a:solidFill>
            <a:ln/>
          </p:spPr>
        </p:sp>
        <p:pic>
          <p:nvPicPr>
            <p:cNvPr id="7" name="Image 1" descr="preencoded.png">
              <a:extLst>
                <a:ext uri="{FF2B5EF4-FFF2-40B4-BE49-F238E27FC236}">
                  <a16:creationId xmlns:a16="http://schemas.microsoft.com/office/drawing/2014/main" id="{D82AAF5A-5D2B-4583-A46A-1E22547322EF}"/>
                </a:ext>
              </a:extLst>
            </p:cNvPr>
            <p:cNvPicPr>
              <a:picLocks noChangeAspect="1"/>
            </p:cNvPicPr>
            <p:nvPr/>
          </p:nvPicPr>
          <p:blipFill>
            <a:blip r:embed="rId2"/>
            <a:stretch>
              <a:fillRect/>
            </a:stretch>
          </p:blipFill>
          <p:spPr>
            <a:xfrm>
              <a:off x="758666" y="1566367"/>
              <a:ext cx="279598" cy="223599"/>
            </a:xfrm>
            <a:prstGeom prst="rect">
              <a:avLst/>
            </a:prstGeom>
          </p:spPr>
        </p:pic>
        <p:sp>
          <p:nvSpPr>
            <p:cNvPr id="8" name="Text 2">
              <a:extLst>
                <a:ext uri="{FF2B5EF4-FFF2-40B4-BE49-F238E27FC236}">
                  <a16:creationId xmlns:a16="http://schemas.microsoft.com/office/drawing/2014/main" id="{6A7DC6BB-7571-4811-84A3-778265E4894B}"/>
                </a:ext>
              </a:extLst>
            </p:cNvPr>
            <p:cNvSpPr/>
            <p:nvPr/>
          </p:nvSpPr>
          <p:spPr>
            <a:xfrm>
              <a:off x="1137404" y="1490663"/>
              <a:ext cx="10591060" cy="477322"/>
            </a:xfrm>
            <a:prstGeom prst="rect">
              <a:avLst/>
            </a:prstGeom>
            <a:noFill/>
            <a:ln/>
          </p:spPr>
          <p:txBody>
            <a:bodyPr wrap="square" lIns="0" tIns="0" rIns="0" bIns="0" rtlCol="0" anchor="t"/>
            <a:lstStyle/>
            <a:p>
              <a:pPr marL="0" indent="0" algn="l">
                <a:lnSpc>
                  <a:spcPts val="1550"/>
                </a:lnSpc>
                <a:buNone/>
              </a:pPr>
              <a:r>
                <a:rPr lang="en-US" sz="1200" b="1" dirty="0">
                  <a:solidFill>
                    <a:srgbClr val="000000"/>
                  </a:solidFill>
                  <a:latin typeface="Noto Sans TC" panose="020B0200000000000000" pitchFamily="34" charset="-120"/>
                  <a:ea typeface="Noto Sans TC" panose="020B0200000000000000" pitchFamily="34" charset="-120"/>
                  <a:cs typeface="Roboto" pitchFamily="34" charset="-120"/>
                </a:rPr>
                <a:t>Development Objective:</a:t>
              </a:r>
              <a:r>
                <a:rPr lang="en-US" sz="1200" dirty="0">
                  <a:solidFill>
                    <a:srgbClr val="000000"/>
                  </a:solidFill>
                  <a:latin typeface="Noto Sans TC" panose="020B0200000000000000" pitchFamily="34" charset="-120"/>
                  <a:ea typeface="Noto Sans TC" panose="020B0200000000000000" pitchFamily="34" charset="-120"/>
                  <a:cs typeface="Roboto" pitchFamily="34" charset="-120"/>
                </a:rPr>
                <a:t> Enhance autonomous operation capabilities, environmental perception, and data analysis to achieve more efficient and intelligent inspection missions with expanded application scenarios.</a:t>
              </a:r>
              <a:endParaRPr lang="en-US" sz="1200" dirty="0">
                <a:latin typeface="Noto Sans TC" panose="020B0200000000000000" pitchFamily="34" charset="-120"/>
                <a:ea typeface="Noto Sans TC" panose="020B0200000000000000" pitchFamily="34" charset="-120"/>
              </a:endParaRPr>
            </a:p>
          </p:txBody>
        </p:sp>
        <p:sp>
          <p:nvSpPr>
            <p:cNvPr id="9" name="Text 3">
              <a:extLst>
                <a:ext uri="{FF2B5EF4-FFF2-40B4-BE49-F238E27FC236}">
                  <a16:creationId xmlns:a16="http://schemas.microsoft.com/office/drawing/2014/main" id="{B8CA3848-2C3C-437B-A64B-C572137C261D}"/>
                </a:ext>
              </a:extLst>
            </p:cNvPr>
            <p:cNvSpPr/>
            <p:nvPr/>
          </p:nvSpPr>
          <p:spPr>
            <a:xfrm>
              <a:off x="709374" y="2350056"/>
              <a:ext cx="2246352" cy="247055"/>
            </a:xfrm>
            <a:prstGeom prst="rect">
              <a:avLst/>
            </a:prstGeom>
            <a:noFill/>
            <a:ln/>
          </p:spPr>
          <p:txBody>
            <a:bodyPr wrap="none" lIns="0" tIns="0" rIns="0" bIns="0" rtlCol="0" anchor="t"/>
            <a:lstStyle/>
            <a:p>
              <a:pPr marL="0" indent="0" algn="l">
                <a:lnSpc>
                  <a:spcPts val="1900"/>
                </a:lnSpc>
                <a:buNone/>
              </a:pPr>
              <a:r>
                <a:rPr lang="en-US" sz="1550" dirty="0">
                  <a:solidFill>
                    <a:srgbClr val="95CCDA"/>
                  </a:solidFill>
                  <a:latin typeface="Noto Sans TC" panose="020B0200000000000000" pitchFamily="34" charset="-120"/>
                  <a:ea typeface="Noto Sans TC" panose="020B0200000000000000" pitchFamily="34" charset="-120"/>
                  <a:cs typeface="Host Grotesk Medium" pitchFamily="34" charset="-120"/>
                </a:rPr>
                <a:t>Navigation Enhancement</a:t>
              </a:r>
              <a:endParaRPr lang="en-US" sz="1550" dirty="0">
                <a:latin typeface="Noto Sans TC" panose="020B0200000000000000" pitchFamily="34" charset="-120"/>
                <a:ea typeface="Noto Sans TC" panose="020B0200000000000000" pitchFamily="34" charset="-120"/>
              </a:endParaRPr>
            </a:p>
          </p:txBody>
        </p:sp>
        <p:pic>
          <p:nvPicPr>
            <p:cNvPr id="10" name="Image 2" descr="preencoded.png">
              <a:extLst>
                <a:ext uri="{FF2B5EF4-FFF2-40B4-BE49-F238E27FC236}">
                  <a16:creationId xmlns:a16="http://schemas.microsoft.com/office/drawing/2014/main" id="{3351B78A-EBED-4AFD-94E4-EDB32F0E079F}"/>
                </a:ext>
              </a:extLst>
            </p:cNvPr>
            <p:cNvPicPr>
              <a:picLocks noChangeAspect="1"/>
            </p:cNvPicPr>
            <p:nvPr/>
          </p:nvPicPr>
          <p:blipFill>
            <a:blip r:embed="rId3"/>
            <a:stretch>
              <a:fillRect/>
            </a:stretch>
          </p:blipFill>
          <p:spPr>
            <a:xfrm>
              <a:off x="709374" y="2645251"/>
              <a:ext cx="246816" cy="300357"/>
            </a:xfrm>
            <a:prstGeom prst="rect">
              <a:avLst/>
            </a:prstGeom>
          </p:spPr>
        </p:pic>
        <p:sp>
          <p:nvSpPr>
            <p:cNvPr id="11" name="Text 4">
              <a:extLst>
                <a:ext uri="{FF2B5EF4-FFF2-40B4-BE49-F238E27FC236}">
                  <a16:creationId xmlns:a16="http://schemas.microsoft.com/office/drawing/2014/main" id="{BEE41616-C04B-4EA9-A6ED-6694C641D5D8}"/>
                </a:ext>
              </a:extLst>
            </p:cNvPr>
            <p:cNvSpPr/>
            <p:nvPr/>
          </p:nvSpPr>
          <p:spPr>
            <a:xfrm>
              <a:off x="709374" y="3093720"/>
              <a:ext cx="2333863" cy="197644"/>
            </a:xfrm>
            <a:prstGeom prst="rect">
              <a:avLst/>
            </a:prstGeom>
            <a:noFill/>
            <a:ln/>
          </p:spPr>
          <p:txBody>
            <a:bodyPr wrap="none" lIns="0" tIns="0" rIns="0" bIns="0" rtlCol="0" anchor="t"/>
            <a:lstStyle/>
            <a:p>
              <a:pPr marL="342900" indent="-342900" algn="l">
                <a:lnSpc>
                  <a:spcPts val="1550"/>
                </a:lnSpc>
                <a:buSzPct val="100000"/>
                <a:buChar char="•"/>
              </a:pPr>
              <a:r>
                <a:rPr lang="en-US" sz="1000" dirty="0">
                  <a:solidFill>
                    <a:srgbClr val="384653"/>
                  </a:solidFill>
                  <a:latin typeface="Noto Sans TC" panose="020B0200000000000000" pitchFamily="34" charset="-120"/>
                  <a:ea typeface="Noto Sans TC" panose="020B0200000000000000" pitchFamily="34" charset="-120"/>
                  <a:cs typeface="Roboto" pitchFamily="34" charset="-120"/>
                </a:rPr>
                <a:t>High-precision SLAM integration</a:t>
              </a:r>
              <a:endParaRPr lang="en-US" sz="1000" dirty="0">
                <a:latin typeface="Noto Sans TC" panose="020B0200000000000000" pitchFamily="34" charset="-120"/>
                <a:ea typeface="Noto Sans TC" panose="020B0200000000000000" pitchFamily="34" charset="-120"/>
              </a:endParaRPr>
            </a:p>
          </p:txBody>
        </p:sp>
        <p:sp>
          <p:nvSpPr>
            <p:cNvPr id="12" name="Text 5">
              <a:extLst>
                <a:ext uri="{FF2B5EF4-FFF2-40B4-BE49-F238E27FC236}">
                  <a16:creationId xmlns:a16="http://schemas.microsoft.com/office/drawing/2014/main" id="{FA560F9F-49EF-4E44-87C2-ED2336420E92}"/>
                </a:ext>
              </a:extLst>
            </p:cNvPr>
            <p:cNvSpPr/>
            <p:nvPr/>
          </p:nvSpPr>
          <p:spPr>
            <a:xfrm>
              <a:off x="709374" y="3337441"/>
              <a:ext cx="2333863" cy="395288"/>
            </a:xfrm>
            <a:prstGeom prst="rect">
              <a:avLst/>
            </a:prstGeom>
            <a:noFill/>
            <a:ln/>
          </p:spPr>
          <p:txBody>
            <a:bodyPr wrap="square" lIns="0" tIns="0" rIns="0" bIns="0" rtlCol="0" anchor="t"/>
            <a:lstStyle/>
            <a:p>
              <a:pPr marL="342900" indent="-342900" algn="l">
                <a:lnSpc>
                  <a:spcPts val="1550"/>
                </a:lnSpc>
                <a:buSzPct val="100000"/>
                <a:buChar char="•"/>
              </a:pPr>
              <a:r>
                <a:rPr lang="en-US" sz="1000" dirty="0">
                  <a:solidFill>
                    <a:srgbClr val="384653"/>
                  </a:solidFill>
                  <a:latin typeface="Noto Sans TC" panose="020B0200000000000000" pitchFamily="34" charset="-120"/>
                  <a:ea typeface="Noto Sans TC" panose="020B0200000000000000" pitchFamily="34" charset="-120"/>
                  <a:cs typeface="Roboto" pitchFamily="34" charset="-120"/>
                </a:rPr>
                <a:t>Advanced dynamic obstacle avoidance</a:t>
              </a:r>
              <a:endParaRPr lang="en-US" sz="1000" dirty="0">
                <a:latin typeface="Noto Sans TC" panose="020B0200000000000000" pitchFamily="34" charset="-120"/>
                <a:ea typeface="Noto Sans TC" panose="020B0200000000000000" pitchFamily="34" charset="-120"/>
              </a:endParaRPr>
            </a:p>
          </p:txBody>
        </p:sp>
        <p:sp>
          <p:nvSpPr>
            <p:cNvPr id="13" name="Text 6">
              <a:extLst>
                <a:ext uri="{FF2B5EF4-FFF2-40B4-BE49-F238E27FC236}">
                  <a16:creationId xmlns:a16="http://schemas.microsoft.com/office/drawing/2014/main" id="{FA4C5582-827B-450B-B50F-A2B3A3AD878C}"/>
                </a:ext>
              </a:extLst>
            </p:cNvPr>
            <p:cNvSpPr/>
            <p:nvPr/>
          </p:nvSpPr>
          <p:spPr>
            <a:xfrm>
              <a:off x="709374" y="3778806"/>
              <a:ext cx="2333863" cy="197644"/>
            </a:xfrm>
            <a:prstGeom prst="rect">
              <a:avLst/>
            </a:prstGeom>
            <a:noFill/>
            <a:ln/>
          </p:spPr>
          <p:txBody>
            <a:bodyPr wrap="none" lIns="0" tIns="0" rIns="0" bIns="0" rtlCol="0" anchor="t"/>
            <a:lstStyle/>
            <a:p>
              <a:pPr marL="342900" indent="-342900" algn="l">
                <a:lnSpc>
                  <a:spcPts val="1550"/>
                </a:lnSpc>
                <a:buSzPct val="100000"/>
                <a:buChar char="•"/>
              </a:pPr>
              <a:r>
                <a:rPr lang="en-US" sz="1000" dirty="0">
                  <a:solidFill>
                    <a:srgbClr val="384653"/>
                  </a:solidFill>
                  <a:latin typeface="Noto Sans TC" panose="020B0200000000000000" pitchFamily="34" charset="-120"/>
                  <a:ea typeface="Noto Sans TC" panose="020B0200000000000000" pitchFamily="34" charset="-120"/>
                  <a:cs typeface="Roboto" pitchFamily="34" charset="-120"/>
                </a:rPr>
                <a:t>Multi-floor autonomous navigation</a:t>
              </a:r>
              <a:endParaRPr lang="en-US" sz="1000" dirty="0">
                <a:latin typeface="Noto Sans TC" panose="020B0200000000000000" pitchFamily="34" charset="-120"/>
                <a:ea typeface="Noto Sans TC" panose="020B0200000000000000" pitchFamily="34" charset="-120"/>
              </a:endParaRPr>
            </a:p>
          </p:txBody>
        </p:sp>
        <p:sp>
          <p:nvSpPr>
            <p:cNvPr id="14" name="Text 7">
              <a:extLst>
                <a:ext uri="{FF2B5EF4-FFF2-40B4-BE49-F238E27FC236}">
                  <a16:creationId xmlns:a16="http://schemas.microsoft.com/office/drawing/2014/main" id="{40B0547B-9ADD-4E80-9DB4-CB7ED755967D}"/>
                </a:ext>
              </a:extLst>
            </p:cNvPr>
            <p:cNvSpPr/>
            <p:nvPr/>
          </p:nvSpPr>
          <p:spPr>
            <a:xfrm>
              <a:off x="709374" y="4022527"/>
              <a:ext cx="2333863" cy="395288"/>
            </a:xfrm>
            <a:prstGeom prst="rect">
              <a:avLst/>
            </a:prstGeom>
            <a:noFill/>
            <a:ln/>
          </p:spPr>
          <p:txBody>
            <a:bodyPr wrap="square" lIns="0" tIns="0" rIns="0" bIns="0" rtlCol="0" anchor="t"/>
            <a:lstStyle/>
            <a:p>
              <a:pPr marL="342900" indent="-342900" algn="l">
                <a:lnSpc>
                  <a:spcPts val="1550"/>
                </a:lnSpc>
                <a:buSzPct val="100000"/>
                <a:buChar char="•"/>
              </a:pPr>
              <a:r>
                <a:rPr lang="en-US" sz="1000" dirty="0">
                  <a:solidFill>
                    <a:srgbClr val="384653"/>
                  </a:solidFill>
                  <a:latin typeface="Noto Sans TC" panose="020B0200000000000000" pitchFamily="34" charset="-120"/>
                  <a:ea typeface="Noto Sans TC" panose="020B0200000000000000" pitchFamily="34" charset="-120"/>
                  <a:cs typeface="Roboto" pitchFamily="34" charset="-120"/>
                </a:rPr>
                <a:t>Collaborative multi-robotic dog coordination</a:t>
              </a:r>
              <a:endParaRPr lang="en-US" sz="1000" dirty="0">
                <a:latin typeface="Noto Sans TC" panose="020B0200000000000000" pitchFamily="34" charset="-120"/>
                <a:ea typeface="Noto Sans TC" panose="020B0200000000000000" pitchFamily="34" charset="-120"/>
              </a:endParaRPr>
            </a:p>
          </p:txBody>
        </p:sp>
        <p:sp>
          <p:nvSpPr>
            <p:cNvPr id="15" name="Text 8">
              <a:extLst>
                <a:ext uri="{FF2B5EF4-FFF2-40B4-BE49-F238E27FC236}">
                  <a16:creationId xmlns:a16="http://schemas.microsoft.com/office/drawing/2014/main" id="{2EC1793F-1B45-40F9-89B3-B60CE892B132}"/>
                </a:ext>
              </a:extLst>
            </p:cNvPr>
            <p:cNvSpPr/>
            <p:nvPr/>
          </p:nvSpPr>
          <p:spPr>
            <a:xfrm>
              <a:off x="3372326" y="2350056"/>
              <a:ext cx="1976318" cy="247055"/>
            </a:xfrm>
            <a:prstGeom prst="rect">
              <a:avLst/>
            </a:prstGeom>
            <a:noFill/>
            <a:ln/>
          </p:spPr>
          <p:txBody>
            <a:bodyPr wrap="none" lIns="0" tIns="0" rIns="0" bIns="0" rtlCol="0" anchor="t"/>
            <a:lstStyle/>
            <a:p>
              <a:pPr marL="0" indent="0" algn="l">
                <a:lnSpc>
                  <a:spcPts val="1900"/>
                </a:lnSpc>
                <a:buNone/>
              </a:pPr>
              <a:r>
                <a:rPr lang="en-US" sz="1550" dirty="0">
                  <a:solidFill>
                    <a:srgbClr val="C3643D"/>
                  </a:solidFill>
                  <a:latin typeface="Noto Sans TC" panose="020B0200000000000000" pitchFamily="34" charset="-120"/>
                  <a:ea typeface="Noto Sans TC" panose="020B0200000000000000" pitchFamily="34" charset="-120"/>
                  <a:cs typeface="Host Grotesk Medium" pitchFamily="34" charset="-120"/>
                </a:rPr>
                <a:t>Sensor Integration</a:t>
              </a:r>
              <a:endParaRPr lang="en-US" sz="1550" dirty="0">
                <a:latin typeface="Noto Sans TC" panose="020B0200000000000000" pitchFamily="34" charset="-120"/>
                <a:ea typeface="Noto Sans TC" panose="020B0200000000000000" pitchFamily="34" charset="-120"/>
              </a:endParaRPr>
            </a:p>
          </p:txBody>
        </p:sp>
        <p:pic>
          <p:nvPicPr>
            <p:cNvPr id="16" name="Image 3" descr="preencoded.png">
              <a:extLst>
                <a:ext uri="{FF2B5EF4-FFF2-40B4-BE49-F238E27FC236}">
                  <a16:creationId xmlns:a16="http://schemas.microsoft.com/office/drawing/2014/main" id="{B802ED58-3241-4BA0-923F-1A18277385E3}"/>
                </a:ext>
              </a:extLst>
            </p:cNvPr>
            <p:cNvPicPr>
              <a:picLocks noChangeAspect="1"/>
            </p:cNvPicPr>
            <p:nvPr/>
          </p:nvPicPr>
          <p:blipFill>
            <a:blip r:embed="rId4"/>
            <a:stretch>
              <a:fillRect/>
            </a:stretch>
          </p:blipFill>
          <p:spPr>
            <a:xfrm>
              <a:off x="3372326" y="2645251"/>
              <a:ext cx="246816" cy="300357"/>
            </a:xfrm>
            <a:prstGeom prst="rect">
              <a:avLst/>
            </a:prstGeom>
          </p:spPr>
        </p:pic>
        <p:sp>
          <p:nvSpPr>
            <p:cNvPr id="17" name="Text 9">
              <a:extLst>
                <a:ext uri="{FF2B5EF4-FFF2-40B4-BE49-F238E27FC236}">
                  <a16:creationId xmlns:a16="http://schemas.microsoft.com/office/drawing/2014/main" id="{66F83136-D9D8-4A7F-BE89-FB1957E0E239}"/>
                </a:ext>
              </a:extLst>
            </p:cNvPr>
            <p:cNvSpPr/>
            <p:nvPr/>
          </p:nvSpPr>
          <p:spPr>
            <a:xfrm>
              <a:off x="3372326" y="3093720"/>
              <a:ext cx="2333863" cy="197644"/>
            </a:xfrm>
            <a:prstGeom prst="rect">
              <a:avLst/>
            </a:prstGeom>
            <a:noFill/>
            <a:ln/>
          </p:spPr>
          <p:txBody>
            <a:bodyPr wrap="none" lIns="0" tIns="0" rIns="0" bIns="0" rtlCol="0" anchor="t"/>
            <a:lstStyle/>
            <a:p>
              <a:pPr marL="342900" indent="-342900" algn="l">
                <a:lnSpc>
                  <a:spcPts val="1550"/>
                </a:lnSpc>
                <a:buSzPct val="100000"/>
                <a:buChar char="•"/>
              </a:pPr>
              <a:r>
                <a:rPr lang="en-US" sz="1000" dirty="0">
                  <a:solidFill>
                    <a:srgbClr val="384653"/>
                  </a:solidFill>
                  <a:latin typeface="Noto Sans TC" panose="020B0200000000000000" pitchFamily="34" charset="-120"/>
                  <a:ea typeface="Noto Sans TC" panose="020B0200000000000000" pitchFamily="34" charset="-120"/>
                  <a:cs typeface="Roboto" pitchFamily="34" charset="-120"/>
                </a:rPr>
                <a:t>AI-powered thermal analysis</a:t>
              </a:r>
              <a:endParaRPr lang="en-US" sz="1000" dirty="0">
                <a:latin typeface="Noto Sans TC" panose="020B0200000000000000" pitchFamily="34" charset="-120"/>
                <a:ea typeface="Noto Sans TC" panose="020B0200000000000000" pitchFamily="34" charset="-120"/>
              </a:endParaRPr>
            </a:p>
          </p:txBody>
        </p:sp>
        <p:sp>
          <p:nvSpPr>
            <p:cNvPr id="18" name="Text 10">
              <a:extLst>
                <a:ext uri="{FF2B5EF4-FFF2-40B4-BE49-F238E27FC236}">
                  <a16:creationId xmlns:a16="http://schemas.microsoft.com/office/drawing/2014/main" id="{6D8D60F9-66E0-4CC5-A926-B13FC72D1AF7}"/>
                </a:ext>
              </a:extLst>
            </p:cNvPr>
            <p:cNvSpPr/>
            <p:nvPr/>
          </p:nvSpPr>
          <p:spPr>
            <a:xfrm>
              <a:off x="3372326" y="3337441"/>
              <a:ext cx="2333863" cy="197644"/>
            </a:xfrm>
            <a:prstGeom prst="rect">
              <a:avLst/>
            </a:prstGeom>
            <a:noFill/>
            <a:ln/>
          </p:spPr>
          <p:txBody>
            <a:bodyPr wrap="none" lIns="0" tIns="0" rIns="0" bIns="0" rtlCol="0" anchor="t"/>
            <a:lstStyle/>
            <a:p>
              <a:pPr marL="342900" indent="-342900" algn="l">
                <a:lnSpc>
                  <a:spcPts val="1550"/>
                </a:lnSpc>
                <a:buSzPct val="100000"/>
                <a:buChar char="•"/>
              </a:pPr>
              <a:r>
                <a:rPr lang="en-US" sz="1000" dirty="0">
                  <a:solidFill>
                    <a:srgbClr val="384653"/>
                  </a:solidFill>
                  <a:latin typeface="Noto Sans TC" panose="020B0200000000000000" pitchFamily="34" charset="-120"/>
                  <a:ea typeface="Noto Sans TC" panose="020B0200000000000000" pitchFamily="34" charset="-120"/>
                  <a:cs typeface="Roboto" pitchFamily="34" charset="-120"/>
                </a:rPr>
                <a:t>Automated leak detection systems</a:t>
              </a:r>
              <a:endParaRPr lang="en-US" sz="1000" dirty="0">
                <a:latin typeface="Noto Sans TC" panose="020B0200000000000000" pitchFamily="34" charset="-120"/>
                <a:ea typeface="Noto Sans TC" panose="020B0200000000000000" pitchFamily="34" charset="-120"/>
              </a:endParaRPr>
            </a:p>
          </p:txBody>
        </p:sp>
        <p:sp>
          <p:nvSpPr>
            <p:cNvPr id="19" name="Text 11">
              <a:extLst>
                <a:ext uri="{FF2B5EF4-FFF2-40B4-BE49-F238E27FC236}">
                  <a16:creationId xmlns:a16="http://schemas.microsoft.com/office/drawing/2014/main" id="{42AB0FFE-BBB0-4A3F-9C54-7990073729E3}"/>
                </a:ext>
              </a:extLst>
            </p:cNvPr>
            <p:cNvSpPr/>
            <p:nvPr/>
          </p:nvSpPr>
          <p:spPr>
            <a:xfrm>
              <a:off x="3372326" y="3581162"/>
              <a:ext cx="2333863" cy="197644"/>
            </a:xfrm>
            <a:prstGeom prst="rect">
              <a:avLst/>
            </a:prstGeom>
            <a:noFill/>
            <a:ln/>
          </p:spPr>
          <p:txBody>
            <a:bodyPr wrap="none" lIns="0" tIns="0" rIns="0" bIns="0" rtlCol="0" anchor="t"/>
            <a:lstStyle/>
            <a:p>
              <a:pPr marL="342900" indent="-342900" algn="l">
                <a:lnSpc>
                  <a:spcPts val="1550"/>
                </a:lnSpc>
                <a:buSzPct val="100000"/>
                <a:buChar char="•"/>
              </a:pPr>
              <a:r>
                <a:rPr lang="en-US" sz="1000" dirty="0">
                  <a:solidFill>
                    <a:srgbClr val="384653"/>
                  </a:solidFill>
                  <a:latin typeface="Noto Sans TC" panose="020B0200000000000000" pitchFamily="34" charset="-120"/>
                  <a:ea typeface="Noto Sans TC" panose="020B0200000000000000" pitchFamily="34" charset="-120"/>
                  <a:cs typeface="Roboto" pitchFamily="34" charset="-120"/>
                </a:rPr>
                <a:t>Digital gauge reading capability</a:t>
              </a:r>
              <a:endParaRPr lang="en-US" sz="1000" dirty="0">
                <a:latin typeface="Noto Sans TC" panose="020B0200000000000000" pitchFamily="34" charset="-120"/>
                <a:ea typeface="Noto Sans TC" panose="020B0200000000000000" pitchFamily="34" charset="-120"/>
              </a:endParaRPr>
            </a:p>
          </p:txBody>
        </p:sp>
        <p:sp>
          <p:nvSpPr>
            <p:cNvPr id="20" name="Text 12">
              <a:extLst>
                <a:ext uri="{FF2B5EF4-FFF2-40B4-BE49-F238E27FC236}">
                  <a16:creationId xmlns:a16="http://schemas.microsoft.com/office/drawing/2014/main" id="{8E34A749-DB32-4AAB-A3E9-196DAFA4A994}"/>
                </a:ext>
              </a:extLst>
            </p:cNvPr>
            <p:cNvSpPr/>
            <p:nvPr/>
          </p:nvSpPr>
          <p:spPr>
            <a:xfrm>
              <a:off x="3372326" y="3824883"/>
              <a:ext cx="2333863" cy="197644"/>
            </a:xfrm>
            <a:prstGeom prst="rect">
              <a:avLst/>
            </a:prstGeom>
            <a:noFill/>
            <a:ln/>
          </p:spPr>
          <p:txBody>
            <a:bodyPr wrap="none" lIns="0" tIns="0" rIns="0" bIns="0" rtlCol="0" anchor="t"/>
            <a:lstStyle/>
            <a:p>
              <a:pPr marL="342900" indent="-342900" algn="l">
                <a:lnSpc>
                  <a:spcPts val="1550"/>
                </a:lnSpc>
                <a:buSzPct val="100000"/>
                <a:buChar char="•"/>
              </a:pPr>
              <a:r>
                <a:rPr lang="en-US" sz="1000" dirty="0">
                  <a:solidFill>
                    <a:srgbClr val="384653"/>
                  </a:solidFill>
                  <a:latin typeface="Noto Sans TC" panose="020B0200000000000000" pitchFamily="34" charset="-120"/>
                  <a:ea typeface="Noto Sans TC" panose="020B0200000000000000" pitchFamily="34" charset="-120"/>
                  <a:cs typeface="Roboto" pitchFamily="34" charset="-120"/>
                </a:rPr>
                <a:t>Multi-sensor data fusion</a:t>
              </a:r>
              <a:endParaRPr lang="en-US" sz="1000" dirty="0">
                <a:latin typeface="Noto Sans TC" panose="020B0200000000000000" pitchFamily="34" charset="-120"/>
                <a:ea typeface="Noto Sans TC" panose="020B0200000000000000" pitchFamily="34" charset="-120"/>
              </a:endParaRPr>
            </a:p>
          </p:txBody>
        </p:sp>
        <p:sp>
          <p:nvSpPr>
            <p:cNvPr id="21" name="Text 13">
              <a:extLst>
                <a:ext uri="{FF2B5EF4-FFF2-40B4-BE49-F238E27FC236}">
                  <a16:creationId xmlns:a16="http://schemas.microsoft.com/office/drawing/2014/main" id="{D021A18B-6E9A-4892-AA2C-0E6EC5A860C9}"/>
                </a:ext>
              </a:extLst>
            </p:cNvPr>
            <p:cNvSpPr/>
            <p:nvPr/>
          </p:nvSpPr>
          <p:spPr>
            <a:xfrm>
              <a:off x="6035278" y="2350056"/>
              <a:ext cx="1976318" cy="247055"/>
            </a:xfrm>
            <a:prstGeom prst="rect">
              <a:avLst/>
            </a:prstGeom>
            <a:noFill/>
            <a:ln/>
          </p:spPr>
          <p:txBody>
            <a:bodyPr wrap="none" lIns="0" tIns="0" rIns="0" bIns="0" rtlCol="0" anchor="t"/>
            <a:lstStyle/>
            <a:p>
              <a:pPr marL="0" indent="0" algn="l">
                <a:lnSpc>
                  <a:spcPts val="1900"/>
                </a:lnSpc>
                <a:buNone/>
              </a:pPr>
              <a:r>
                <a:rPr lang="en-US" sz="1550" dirty="0">
                  <a:solidFill>
                    <a:srgbClr val="64B8CE"/>
                  </a:solidFill>
                  <a:latin typeface="Noto Sans TC" panose="020B0200000000000000" pitchFamily="34" charset="-120"/>
                  <a:ea typeface="Noto Sans TC" panose="020B0200000000000000" pitchFamily="34" charset="-120"/>
                  <a:cs typeface="Host Grotesk Medium" pitchFamily="34" charset="-120"/>
                </a:rPr>
                <a:t>Platform Integration</a:t>
              </a:r>
              <a:endParaRPr lang="en-US" sz="1550" dirty="0">
                <a:latin typeface="Noto Sans TC" panose="020B0200000000000000" pitchFamily="34" charset="-120"/>
                <a:ea typeface="Noto Sans TC" panose="020B0200000000000000" pitchFamily="34" charset="-120"/>
              </a:endParaRPr>
            </a:p>
          </p:txBody>
        </p:sp>
        <p:pic>
          <p:nvPicPr>
            <p:cNvPr id="22" name="Image 4" descr="preencoded.png">
              <a:extLst>
                <a:ext uri="{FF2B5EF4-FFF2-40B4-BE49-F238E27FC236}">
                  <a16:creationId xmlns:a16="http://schemas.microsoft.com/office/drawing/2014/main" id="{D9DB3ACD-01B1-4A7D-8F10-018FC0AE619A}"/>
                </a:ext>
              </a:extLst>
            </p:cNvPr>
            <p:cNvPicPr>
              <a:picLocks noChangeAspect="1"/>
            </p:cNvPicPr>
            <p:nvPr/>
          </p:nvPicPr>
          <p:blipFill>
            <a:blip r:embed="rId5"/>
            <a:stretch>
              <a:fillRect/>
            </a:stretch>
          </p:blipFill>
          <p:spPr>
            <a:xfrm>
              <a:off x="6035278" y="2592880"/>
              <a:ext cx="317156" cy="355108"/>
            </a:xfrm>
            <a:prstGeom prst="rect">
              <a:avLst/>
            </a:prstGeom>
          </p:spPr>
        </p:pic>
        <p:sp>
          <p:nvSpPr>
            <p:cNvPr id="23" name="Text 14">
              <a:extLst>
                <a:ext uri="{FF2B5EF4-FFF2-40B4-BE49-F238E27FC236}">
                  <a16:creationId xmlns:a16="http://schemas.microsoft.com/office/drawing/2014/main" id="{1753C4C5-9501-4F7C-8A91-9337622F1773}"/>
                </a:ext>
              </a:extLst>
            </p:cNvPr>
            <p:cNvSpPr/>
            <p:nvPr/>
          </p:nvSpPr>
          <p:spPr>
            <a:xfrm>
              <a:off x="6035278" y="3096101"/>
              <a:ext cx="2414349" cy="197644"/>
            </a:xfrm>
            <a:prstGeom prst="rect">
              <a:avLst/>
            </a:prstGeom>
            <a:noFill/>
            <a:ln/>
          </p:spPr>
          <p:txBody>
            <a:bodyPr wrap="none" lIns="0" tIns="0" rIns="0" bIns="0" rtlCol="0" anchor="t"/>
            <a:lstStyle/>
            <a:p>
              <a:pPr marL="342900" indent="-342900" algn="l">
                <a:lnSpc>
                  <a:spcPts val="1550"/>
                </a:lnSpc>
                <a:buSzPct val="100000"/>
                <a:buChar char="•"/>
              </a:pPr>
              <a:r>
                <a:rPr lang="en-US" sz="1000" dirty="0">
                  <a:solidFill>
                    <a:srgbClr val="384653"/>
                  </a:solidFill>
                  <a:latin typeface="Noto Sans TC" panose="020B0200000000000000" pitchFamily="34" charset="-120"/>
                  <a:ea typeface="Noto Sans TC" panose="020B0200000000000000" pitchFamily="34" charset="-120"/>
                  <a:cs typeface="Roboto" pitchFamily="34" charset="-120"/>
                </a:rPr>
                <a:t>Cloud-based management platform</a:t>
              </a:r>
              <a:endParaRPr lang="en-US" sz="1000" dirty="0">
                <a:latin typeface="Noto Sans TC" panose="020B0200000000000000" pitchFamily="34" charset="-120"/>
                <a:ea typeface="Noto Sans TC" panose="020B0200000000000000" pitchFamily="34" charset="-120"/>
              </a:endParaRPr>
            </a:p>
          </p:txBody>
        </p:sp>
        <p:sp>
          <p:nvSpPr>
            <p:cNvPr id="24" name="Text 15">
              <a:extLst>
                <a:ext uri="{FF2B5EF4-FFF2-40B4-BE49-F238E27FC236}">
                  <a16:creationId xmlns:a16="http://schemas.microsoft.com/office/drawing/2014/main" id="{2811E55D-353F-44F5-9F27-D4332ECC921A}"/>
                </a:ext>
              </a:extLst>
            </p:cNvPr>
            <p:cNvSpPr/>
            <p:nvPr/>
          </p:nvSpPr>
          <p:spPr>
            <a:xfrm>
              <a:off x="6035278" y="3339822"/>
              <a:ext cx="2414349" cy="197644"/>
            </a:xfrm>
            <a:prstGeom prst="rect">
              <a:avLst/>
            </a:prstGeom>
            <a:noFill/>
            <a:ln/>
          </p:spPr>
          <p:txBody>
            <a:bodyPr wrap="none" lIns="0" tIns="0" rIns="0" bIns="0" rtlCol="0" anchor="t"/>
            <a:lstStyle/>
            <a:p>
              <a:pPr marL="342900" indent="-342900" algn="l">
                <a:lnSpc>
                  <a:spcPts val="1550"/>
                </a:lnSpc>
                <a:buSzPct val="100000"/>
                <a:buChar char="•"/>
              </a:pPr>
              <a:r>
                <a:rPr lang="en-US" sz="1000" dirty="0">
                  <a:solidFill>
                    <a:srgbClr val="384653"/>
                  </a:solidFill>
                  <a:latin typeface="Noto Sans TC" panose="020B0200000000000000" pitchFamily="34" charset="-120"/>
                  <a:ea typeface="Noto Sans TC" panose="020B0200000000000000" pitchFamily="34" charset="-120"/>
                  <a:cs typeface="Roboto" pitchFamily="34" charset="-120"/>
                </a:rPr>
                <a:t>Multi-robot task scheduling</a:t>
              </a:r>
              <a:endParaRPr lang="en-US" sz="1000" dirty="0">
                <a:latin typeface="Noto Sans TC" panose="020B0200000000000000" pitchFamily="34" charset="-120"/>
                <a:ea typeface="Noto Sans TC" panose="020B0200000000000000" pitchFamily="34" charset="-120"/>
              </a:endParaRPr>
            </a:p>
          </p:txBody>
        </p:sp>
        <p:sp>
          <p:nvSpPr>
            <p:cNvPr id="25" name="Text 16">
              <a:extLst>
                <a:ext uri="{FF2B5EF4-FFF2-40B4-BE49-F238E27FC236}">
                  <a16:creationId xmlns:a16="http://schemas.microsoft.com/office/drawing/2014/main" id="{4F947EF5-18B5-4188-8617-AF4052C647E5}"/>
                </a:ext>
              </a:extLst>
            </p:cNvPr>
            <p:cNvSpPr/>
            <p:nvPr/>
          </p:nvSpPr>
          <p:spPr>
            <a:xfrm>
              <a:off x="6035278" y="3583543"/>
              <a:ext cx="2414349" cy="197644"/>
            </a:xfrm>
            <a:prstGeom prst="rect">
              <a:avLst/>
            </a:prstGeom>
            <a:noFill/>
            <a:ln/>
          </p:spPr>
          <p:txBody>
            <a:bodyPr wrap="none" lIns="0" tIns="0" rIns="0" bIns="0" rtlCol="0" anchor="t"/>
            <a:lstStyle/>
            <a:p>
              <a:pPr marL="342900" indent="-342900" algn="l">
                <a:lnSpc>
                  <a:spcPts val="1550"/>
                </a:lnSpc>
                <a:buSzPct val="100000"/>
                <a:buChar char="•"/>
              </a:pPr>
              <a:r>
                <a:rPr lang="en-US" sz="1000" dirty="0">
                  <a:solidFill>
                    <a:srgbClr val="384653"/>
                  </a:solidFill>
                  <a:latin typeface="Noto Sans TC" panose="020B0200000000000000" pitchFamily="34" charset="-120"/>
                  <a:ea typeface="Noto Sans TC" panose="020B0200000000000000" pitchFamily="34" charset="-120"/>
                  <a:cs typeface="Roboto" pitchFamily="34" charset="-120"/>
                </a:rPr>
                <a:t>Predictive analytics engine</a:t>
              </a:r>
              <a:endParaRPr lang="en-US" sz="1000" dirty="0">
                <a:latin typeface="Noto Sans TC" panose="020B0200000000000000" pitchFamily="34" charset="-120"/>
                <a:ea typeface="Noto Sans TC" panose="020B0200000000000000" pitchFamily="34" charset="-120"/>
              </a:endParaRPr>
            </a:p>
          </p:txBody>
        </p:sp>
        <p:sp>
          <p:nvSpPr>
            <p:cNvPr id="26" name="Text 17">
              <a:extLst>
                <a:ext uri="{FF2B5EF4-FFF2-40B4-BE49-F238E27FC236}">
                  <a16:creationId xmlns:a16="http://schemas.microsoft.com/office/drawing/2014/main" id="{E7E7A58A-F066-4E0E-A056-31526E2A15ED}"/>
                </a:ext>
              </a:extLst>
            </p:cNvPr>
            <p:cNvSpPr/>
            <p:nvPr/>
          </p:nvSpPr>
          <p:spPr>
            <a:xfrm>
              <a:off x="6035278" y="3827264"/>
              <a:ext cx="2414349" cy="197644"/>
            </a:xfrm>
            <a:prstGeom prst="rect">
              <a:avLst/>
            </a:prstGeom>
            <a:noFill/>
            <a:ln/>
          </p:spPr>
          <p:txBody>
            <a:bodyPr wrap="none" lIns="0" tIns="0" rIns="0" bIns="0" rtlCol="0" anchor="t"/>
            <a:lstStyle/>
            <a:p>
              <a:pPr marL="342900" indent="-342900" algn="l">
                <a:lnSpc>
                  <a:spcPts val="1550"/>
                </a:lnSpc>
                <a:buSzPct val="100000"/>
                <a:buChar char="•"/>
              </a:pPr>
              <a:r>
                <a:rPr lang="en-US" sz="1000" dirty="0">
                  <a:solidFill>
                    <a:srgbClr val="384653"/>
                  </a:solidFill>
                  <a:latin typeface="Noto Sans TC" panose="020B0200000000000000" pitchFamily="34" charset="-120"/>
                  <a:ea typeface="Noto Sans TC" panose="020B0200000000000000" pitchFamily="34" charset="-120"/>
                  <a:cs typeface="Roboto" pitchFamily="34" charset="-120"/>
                </a:rPr>
                <a:t>Standardized API integration</a:t>
              </a:r>
              <a:endParaRPr lang="en-US" sz="1000" dirty="0">
                <a:latin typeface="Noto Sans TC" panose="020B0200000000000000" pitchFamily="34" charset="-120"/>
                <a:ea typeface="Noto Sans TC" panose="020B0200000000000000" pitchFamily="34" charset="-120"/>
              </a:endParaRPr>
            </a:p>
          </p:txBody>
        </p:sp>
        <p:sp>
          <p:nvSpPr>
            <p:cNvPr id="27" name="Shape 18">
              <a:extLst>
                <a:ext uri="{FF2B5EF4-FFF2-40B4-BE49-F238E27FC236}">
                  <a16:creationId xmlns:a16="http://schemas.microsoft.com/office/drawing/2014/main" id="{3FFC868F-DA6A-4F1A-9B2C-462B6E7FDDAB}"/>
                </a:ext>
              </a:extLst>
            </p:cNvPr>
            <p:cNvSpPr/>
            <p:nvPr/>
          </p:nvSpPr>
          <p:spPr>
            <a:xfrm>
              <a:off x="857488" y="4612005"/>
              <a:ext cx="15240" cy="2900720"/>
            </a:xfrm>
            <a:prstGeom prst="roundRect">
              <a:avLst>
                <a:gd name="adj" fmla="val 363110"/>
              </a:avLst>
            </a:prstGeom>
            <a:solidFill>
              <a:srgbClr val="BFD3D8"/>
            </a:solidFill>
            <a:ln/>
          </p:spPr>
        </p:sp>
        <p:sp>
          <p:nvSpPr>
            <p:cNvPr id="28" name="Shape 19">
              <a:extLst>
                <a:ext uri="{FF2B5EF4-FFF2-40B4-BE49-F238E27FC236}">
                  <a16:creationId xmlns:a16="http://schemas.microsoft.com/office/drawing/2014/main" id="{DD31D08E-B1B9-46DD-89C8-9C67EDD1651F}"/>
                </a:ext>
              </a:extLst>
            </p:cNvPr>
            <p:cNvSpPr/>
            <p:nvPr/>
          </p:nvSpPr>
          <p:spPr>
            <a:xfrm>
              <a:off x="990421" y="4752499"/>
              <a:ext cx="395168" cy="15240"/>
            </a:xfrm>
            <a:prstGeom prst="roundRect">
              <a:avLst>
                <a:gd name="adj" fmla="val 363110"/>
              </a:avLst>
            </a:prstGeom>
            <a:solidFill>
              <a:srgbClr val="BFD3D8"/>
            </a:solidFill>
            <a:ln/>
          </p:spPr>
        </p:sp>
        <p:sp>
          <p:nvSpPr>
            <p:cNvPr id="29" name="Shape 20">
              <a:extLst>
                <a:ext uri="{FF2B5EF4-FFF2-40B4-BE49-F238E27FC236}">
                  <a16:creationId xmlns:a16="http://schemas.microsoft.com/office/drawing/2014/main" id="{16302C8A-9E96-486C-B6C6-C98563CE1AD7}"/>
                </a:ext>
              </a:extLst>
            </p:cNvPr>
            <p:cNvSpPr/>
            <p:nvPr/>
          </p:nvSpPr>
          <p:spPr>
            <a:xfrm>
              <a:off x="709315" y="4612005"/>
              <a:ext cx="296347" cy="296347"/>
            </a:xfrm>
            <a:prstGeom prst="roundRect">
              <a:avLst>
                <a:gd name="adj" fmla="val 18673"/>
              </a:avLst>
            </a:prstGeom>
            <a:solidFill>
              <a:srgbClr val="D9EDF2"/>
            </a:solidFill>
            <a:ln w="7620">
              <a:solidFill>
                <a:srgbClr val="BFD3D8"/>
              </a:solidFill>
              <a:prstDash val="solid"/>
            </a:ln>
          </p:spPr>
        </p:sp>
        <p:sp>
          <p:nvSpPr>
            <p:cNvPr id="30" name="Text 21">
              <a:extLst>
                <a:ext uri="{FF2B5EF4-FFF2-40B4-BE49-F238E27FC236}">
                  <a16:creationId xmlns:a16="http://schemas.microsoft.com/office/drawing/2014/main" id="{EDF7D853-F722-46AE-BA9B-53EDE9307623}"/>
                </a:ext>
              </a:extLst>
            </p:cNvPr>
            <p:cNvSpPr/>
            <p:nvPr/>
          </p:nvSpPr>
          <p:spPr>
            <a:xfrm>
              <a:off x="758666" y="4636651"/>
              <a:ext cx="197525" cy="246936"/>
            </a:xfrm>
            <a:prstGeom prst="rect">
              <a:avLst/>
            </a:prstGeom>
            <a:noFill/>
            <a:ln/>
          </p:spPr>
          <p:txBody>
            <a:bodyPr wrap="none" lIns="0" tIns="0" rIns="0" bIns="0" rtlCol="0" anchor="t"/>
            <a:lstStyle/>
            <a:p>
              <a:pPr marL="0" indent="0" algn="ctr">
                <a:lnSpc>
                  <a:spcPts val="1550"/>
                </a:lnSpc>
                <a:buNone/>
              </a:pPr>
              <a:r>
                <a:rPr lang="en-US" sz="1550" dirty="0">
                  <a:solidFill>
                    <a:srgbClr val="384653"/>
                  </a:solidFill>
                  <a:latin typeface="Noto Sans TC" panose="020B0200000000000000" pitchFamily="34" charset="-120"/>
                  <a:ea typeface="Noto Sans TC" panose="020B0200000000000000" pitchFamily="34" charset="-120"/>
                  <a:cs typeface="Host Grotesk Medium" pitchFamily="34" charset="-120"/>
                </a:rPr>
                <a:t>1</a:t>
              </a:r>
              <a:endParaRPr lang="en-US" sz="1550" dirty="0">
                <a:latin typeface="Noto Sans TC" panose="020B0200000000000000" pitchFamily="34" charset="-120"/>
                <a:ea typeface="Noto Sans TC" panose="020B0200000000000000" pitchFamily="34" charset="-120"/>
              </a:endParaRPr>
            </a:p>
          </p:txBody>
        </p:sp>
        <p:sp>
          <p:nvSpPr>
            <p:cNvPr id="31" name="Text 22">
              <a:extLst>
                <a:ext uri="{FF2B5EF4-FFF2-40B4-BE49-F238E27FC236}">
                  <a16:creationId xmlns:a16="http://schemas.microsoft.com/office/drawing/2014/main" id="{6FCF9D71-0208-4C60-8ABD-E67C4ACD2482}"/>
                </a:ext>
              </a:extLst>
            </p:cNvPr>
            <p:cNvSpPr/>
            <p:nvPr/>
          </p:nvSpPr>
          <p:spPr>
            <a:xfrm>
              <a:off x="1516380" y="4657249"/>
              <a:ext cx="1913573" cy="205740"/>
            </a:xfrm>
            <a:prstGeom prst="rect">
              <a:avLst/>
            </a:prstGeom>
            <a:noFill/>
            <a:ln/>
          </p:spPr>
          <p:txBody>
            <a:bodyPr wrap="none" lIns="0" tIns="0" rIns="0" bIns="0" rtlCol="0" anchor="t"/>
            <a:lstStyle/>
            <a:p>
              <a:pPr marL="0" indent="0" algn="l">
                <a:lnSpc>
                  <a:spcPts val="1600"/>
                </a:lnSpc>
                <a:buNone/>
              </a:pPr>
              <a:r>
                <a:rPr lang="en-US" sz="1250" dirty="0">
                  <a:solidFill>
                    <a:srgbClr val="384653"/>
                  </a:solidFill>
                  <a:latin typeface="Noto Sans TC" panose="020B0200000000000000" pitchFamily="34" charset="-120"/>
                  <a:ea typeface="Noto Sans TC" panose="020B0200000000000000" pitchFamily="34" charset="-120"/>
                  <a:cs typeface="Host Grotesk Medium" pitchFamily="34" charset="-120"/>
                </a:rPr>
                <a:t>Phase 1: Core Integration</a:t>
              </a:r>
              <a:endParaRPr lang="en-US" sz="1250" dirty="0">
                <a:latin typeface="Noto Sans TC" panose="020B0200000000000000" pitchFamily="34" charset="-120"/>
                <a:ea typeface="Noto Sans TC" panose="020B0200000000000000" pitchFamily="34" charset="-120"/>
              </a:endParaRPr>
            </a:p>
          </p:txBody>
        </p:sp>
        <p:sp>
          <p:nvSpPr>
            <p:cNvPr id="32" name="Text 23">
              <a:extLst>
                <a:ext uri="{FF2B5EF4-FFF2-40B4-BE49-F238E27FC236}">
                  <a16:creationId xmlns:a16="http://schemas.microsoft.com/office/drawing/2014/main" id="{1575F27B-BF89-4B7F-9F21-820416BB17E1}"/>
                </a:ext>
              </a:extLst>
            </p:cNvPr>
            <p:cNvSpPr/>
            <p:nvPr/>
          </p:nvSpPr>
          <p:spPr>
            <a:xfrm>
              <a:off x="1516380" y="4941926"/>
              <a:ext cx="2537993" cy="354331"/>
            </a:xfrm>
            <a:prstGeom prst="rect">
              <a:avLst/>
            </a:prstGeom>
            <a:noFill/>
            <a:ln/>
          </p:spPr>
          <p:txBody>
            <a:bodyPr wrap="none" lIns="0" tIns="0" rIns="0" bIns="0" rtlCol="0" anchor="t"/>
            <a:lstStyle/>
            <a:p>
              <a:pPr marL="0" indent="0" algn="l">
                <a:lnSpc>
                  <a:spcPts val="1550"/>
                </a:lnSpc>
                <a:buNone/>
              </a:pPr>
              <a:r>
                <a:rPr lang="en-US" sz="1000" dirty="0">
                  <a:solidFill>
                    <a:srgbClr val="384653"/>
                  </a:solidFill>
                  <a:latin typeface="Noto Sans TC" panose="020B0200000000000000" pitchFamily="34" charset="-120"/>
                  <a:ea typeface="Noto Sans TC" panose="020B0200000000000000" pitchFamily="34" charset="-120"/>
                  <a:cs typeface="Roboto" pitchFamily="34" charset="-120"/>
                </a:rPr>
                <a:t>ROS2 foundation with Navigation 2 and thermal imaging capabilities</a:t>
              </a:r>
              <a:endParaRPr lang="en-US" sz="1000" dirty="0">
                <a:latin typeface="Noto Sans TC" panose="020B0200000000000000" pitchFamily="34" charset="-120"/>
                <a:ea typeface="Noto Sans TC" panose="020B0200000000000000" pitchFamily="34" charset="-120"/>
              </a:endParaRPr>
            </a:p>
          </p:txBody>
        </p:sp>
        <p:sp>
          <p:nvSpPr>
            <p:cNvPr id="33" name="Shape 24">
              <a:extLst>
                <a:ext uri="{FF2B5EF4-FFF2-40B4-BE49-F238E27FC236}">
                  <a16:creationId xmlns:a16="http://schemas.microsoft.com/office/drawing/2014/main" id="{27F5403A-6196-48BF-BC5C-A848B9BF25DA}"/>
                </a:ext>
              </a:extLst>
            </p:cNvPr>
            <p:cNvSpPr/>
            <p:nvPr/>
          </p:nvSpPr>
          <p:spPr>
            <a:xfrm>
              <a:off x="990421" y="5543550"/>
              <a:ext cx="395168" cy="15240"/>
            </a:xfrm>
            <a:prstGeom prst="roundRect">
              <a:avLst>
                <a:gd name="adj" fmla="val 363110"/>
              </a:avLst>
            </a:prstGeom>
            <a:solidFill>
              <a:srgbClr val="BFD3D8"/>
            </a:solidFill>
            <a:ln/>
          </p:spPr>
        </p:sp>
        <p:sp>
          <p:nvSpPr>
            <p:cNvPr id="34" name="Shape 25">
              <a:extLst>
                <a:ext uri="{FF2B5EF4-FFF2-40B4-BE49-F238E27FC236}">
                  <a16:creationId xmlns:a16="http://schemas.microsoft.com/office/drawing/2014/main" id="{FBB6CFD4-8956-46D3-BE99-2009931EFD17}"/>
                </a:ext>
              </a:extLst>
            </p:cNvPr>
            <p:cNvSpPr/>
            <p:nvPr/>
          </p:nvSpPr>
          <p:spPr>
            <a:xfrm>
              <a:off x="709315" y="5403056"/>
              <a:ext cx="296347" cy="296347"/>
            </a:xfrm>
            <a:prstGeom prst="roundRect">
              <a:avLst>
                <a:gd name="adj" fmla="val 18673"/>
              </a:avLst>
            </a:prstGeom>
            <a:solidFill>
              <a:srgbClr val="D9EDF2"/>
            </a:solidFill>
            <a:ln w="7620">
              <a:solidFill>
                <a:srgbClr val="BFD3D8"/>
              </a:solidFill>
              <a:prstDash val="solid"/>
            </a:ln>
          </p:spPr>
        </p:sp>
        <p:sp>
          <p:nvSpPr>
            <p:cNvPr id="35" name="Text 26">
              <a:extLst>
                <a:ext uri="{FF2B5EF4-FFF2-40B4-BE49-F238E27FC236}">
                  <a16:creationId xmlns:a16="http://schemas.microsoft.com/office/drawing/2014/main" id="{922F913C-ECB6-4309-81F5-A3FDA44D6F48}"/>
                </a:ext>
              </a:extLst>
            </p:cNvPr>
            <p:cNvSpPr/>
            <p:nvPr/>
          </p:nvSpPr>
          <p:spPr>
            <a:xfrm>
              <a:off x="758666" y="5427702"/>
              <a:ext cx="197525" cy="246936"/>
            </a:xfrm>
            <a:prstGeom prst="rect">
              <a:avLst/>
            </a:prstGeom>
            <a:noFill/>
            <a:ln/>
          </p:spPr>
          <p:txBody>
            <a:bodyPr wrap="none" lIns="0" tIns="0" rIns="0" bIns="0" rtlCol="0" anchor="t"/>
            <a:lstStyle/>
            <a:p>
              <a:pPr marL="0" indent="0" algn="ctr">
                <a:lnSpc>
                  <a:spcPts val="1550"/>
                </a:lnSpc>
                <a:buNone/>
              </a:pPr>
              <a:r>
                <a:rPr lang="en-US" sz="1550" dirty="0">
                  <a:solidFill>
                    <a:srgbClr val="384653"/>
                  </a:solidFill>
                  <a:latin typeface="Noto Sans TC" panose="020B0200000000000000" pitchFamily="34" charset="-120"/>
                  <a:ea typeface="Noto Sans TC" panose="020B0200000000000000" pitchFamily="34" charset="-120"/>
                  <a:cs typeface="Host Grotesk Medium" pitchFamily="34" charset="-120"/>
                </a:rPr>
                <a:t>2</a:t>
              </a:r>
              <a:endParaRPr lang="en-US" sz="1550" dirty="0">
                <a:latin typeface="Noto Sans TC" panose="020B0200000000000000" pitchFamily="34" charset="-120"/>
                <a:ea typeface="Noto Sans TC" panose="020B0200000000000000" pitchFamily="34" charset="-120"/>
              </a:endParaRPr>
            </a:p>
          </p:txBody>
        </p:sp>
        <p:sp>
          <p:nvSpPr>
            <p:cNvPr id="36" name="Text 27">
              <a:extLst>
                <a:ext uri="{FF2B5EF4-FFF2-40B4-BE49-F238E27FC236}">
                  <a16:creationId xmlns:a16="http://schemas.microsoft.com/office/drawing/2014/main" id="{7CE9865B-73B5-483D-9FCD-A7BB1633D6D6}"/>
                </a:ext>
              </a:extLst>
            </p:cNvPr>
            <p:cNvSpPr/>
            <p:nvPr/>
          </p:nvSpPr>
          <p:spPr>
            <a:xfrm>
              <a:off x="1516380" y="5448300"/>
              <a:ext cx="1932265" cy="205740"/>
            </a:xfrm>
            <a:prstGeom prst="rect">
              <a:avLst/>
            </a:prstGeom>
            <a:noFill/>
            <a:ln/>
          </p:spPr>
          <p:txBody>
            <a:bodyPr wrap="none" lIns="0" tIns="0" rIns="0" bIns="0" rtlCol="0" anchor="t"/>
            <a:lstStyle/>
            <a:p>
              <a:pPr marL="0" indent="0" algn="l">
                <a:lnSpc>
                  <a:spcPts val="1600"/>
                </a:lnSpc>
                <a:buNone/>
              </a:pPr>
              <a:r>
                <a:rPr lang="en-US" sz="1250" dirty="0">
                  <a:solidFill>
                    <a:srgbClr val="384653"/>
                  </a:solidFill>
                  <a:latin typeface="Noto Sans TC" panose="020B0200000000000000" pitchFamily="34" charset="-120"/>
                  <a:ea typeface="Noto Sans TC" panose="020B0200000000000000" pitchFamily="34" charset="-120"/>
                  <a:cs typeface="Host Grotesk Medium" pitchFamily="34" charset="-120"/>
                </a:rPr>
                <a:t>Phase 2: AI Enhancement</a:t>
              </a:r>
              <a:endParaRPr lang="en-US" sz="1250" dirty="0">
                <a:latin typeface="Noto Sans TC" panose="020B0200000000000000" pitchFamily="34" charset="-120"/>
                <a:ea typeface="Noto Sans TC" panose="020B0200000000000000" pitchFamily="34" charset="-120"/>
              </a:endParaRPr>
            </a:p>
          </p:txBody>
        </p:sp>
        <p:sp>
          <p:nvSpPr>
            <p:cNvPr id="37" name="Text 28">
              <a:extLst>
                <a:ext uri="{FF2B5EF4-FFF2-40B4-BE49-F238E27FC236}">
                  <a16:creationId xmlns:a16="http://schemas.microsoft.com/office/drawing/2014/main" id="{5B69A110-FCB8-4EE4-B883-2CD83343C0ED}"/>
                </a:ext>
              </a:extLst>
            </p:cNvPr>
            <p:cNvSpPr/>
            <p:nvPr/>
          </p:nvSpPr>
          <p:spPr>
            <a:xfrm>
              <a:off x="1516381" y="5732978"/>
              <a:ext cx="3959117" cy="303610"/>
            </a:xfrm>
            <a:prstGeom prst="rect">
              <a:avLst/>
            </a:prstGeom>
            <a:noFill/>
            <a:ln/>
          </p:spPr>
          <p:txBody>
            <a:bodyPr wrap="none" lIns="0" tIns="0" rIns="0" bIns="0" rtlCol="0" anchor="t"/>
            <a:lstStyle/>
            <a:p>
              <a:pPr marL="0" indent="0" algn="l">
                <a:lnSpc>
                  <a:spcPts val="1550"/>
                </a:lnSpc>
                <a:buNone/>
              </a:pPr>
              <a:r>
                <a:rPr lang="en-US" sz="1000" dirty="0">
                  <a:solidFill>
                    <a:srgbClr val="384653"/>
                  </a:solidFill>
                  <a:latin typeface="Noto Sans TC" panose="020B0200000000000000" pitchFamily="34" charset="-120"/>
                  <a:ea typeface="Noto Sans TC" panose="020B0200000000000000" pitchFamily="34" charset="-120"/>
                  <a:cs typeface="Roboto" pitchFamily="34" charset="-120"/>
                </a:rPr>
                <a:t>Advanced computer vision and predictive maintenance algorithms</a:t>
              </a:r>
              <a:endParaRPr lang="en-US" sz="1000" dirty="0">
                <a:latin typeface="Noto Sans TC" panose="020B0200000000000000" pitchFamily="34" charset="-120"/>
                <a:ea typeface="Noto Sans TC" panose="020B0200000000000000" pitchFamily="34" charset="-120"/>
              </a:endParaRPr>
            </a:p>
          </p:txBody>
        </p:sp>
        <p:sp>
          <p:nvSpPr>
            <p:cNvPr id="38" name="Shape 29">
              <a:extLst>
                <a:ext uri="{FF2B5EF4-FFF2-40B4-BE49-F238E27FC236}">
                  <a16:creationId xmlns:a16="http://schemas.microsoft.com/office/drawing/2014/main" id="{CAA53F27-F0F8-4FF9-BFBE-01A8A577208E}"/>
                </a:ext>
              </a:extLst>
            </p:cNvPr>
            <p:cNvSpPr/>
            <p:nvPr/>
          </p:nvSpPr>
          <p:spPr>
            <a:xfrm>
              <a:off x="990421" y="6334601"/>
              <a:ext cx="395168" cy="15240"/>
            </a:xfrm>
            <a:prstGeom prst="roundRect">
              <a:avLst>
                <a:gd name="adj" fmla="val 363110"/>
              </a:avLst>
            </a:prstGeom>
            <a:solidFill>
              <a:srgbClr val="BFD3D8"/>
            </a:solidFill>
            <a:ln/>
          </p:spPr>
        </p:sp>
        <p:sp>
          <p:nvSpPr>
            <p:cNvPr id="39" name="Shape 30">
              <a:extLst>
                <a:ext uri="{FF2B5EF4-FFF2-40B4-BE49-F238E27FC236}">
                  <a16:creationId xmlns:a16="http://schemas.microsoft.com/office/drawing/2014/main" id="{550E4E42-B01E-4955-A275-7C912D9FBD19}"/>
                </a:ext>
              </a:extLst>
            </p:cNvPr>
            <p:cNvSpPr/>
            <p:nvPr/>
          </p:nvSpPr>
          <p:spPr>
            <a:xfrm>
              <a:off x="709315" y="6194108"/>
              <a:ext cx="296347" cy="296347"/>
            </a:xfrm>
            <a:prstGeom prst="roundRect">
              <a:avLst>
                <a:gd name="adj" fmla="val 18673"/>
              </a:avLst>
            </a:prstGeom>
            <a:solidFill>
              <a:srgbClr val="D9EDF2"/>
            </a:solidFill>
            <a:ln w="7620">
              <a:solidFill>
                <a:srgbClr val="BFD3D8"/>
              </a:solidFill>
              <a:prstDash val="solid"/>
            </a:ln>
          </p:spPr>
        </p:sp>
        <p:sp>
          <p:nvSpPr>
            <p:cNvPr id="40" name="Text 31">
              <a:extLst>
                <a:ext uri="{FF2B5EF4-FFF2-40B4-BE49-F238E27FC236}">
                  <a16:creationId xmlns:a16="http://schemas.microsoft.com/office/drawing/2014/main" id="{1E521E79-428A-4F1F-8BC6-A5E97EA565B1}"/>
                </a:ext>
              </a:extLst>
            </p:cNvPr>
            <p:cNvSpPr/>
            <p:nvPr/>
          </p:nvSpPr>
          <p:spPr>
            <a:xfrm>
              <a:off x="758666" y="6218753"/>
              <a:ext cx="197525" cy="246936"/>
            </a:xfrm>
            <a:prstGeom prst="rect">
              <a:avLst/>
            </a:prstGeom>
            <a:noFill/>
            <a:ln/>
          </p:spPr>
          <p:txBody>
            <a:bodyPr wrap="none" lIns="0" tIns="0" rIns="0" bIns="0" rtlCol="0" anchor="t"/>
            <a:lstStyle/>
            <a:p>
              <a:pPr marL="0" indent="0" algn="ctr">
                <a:lnSpc>
                  <a:spcPts val="1550"/>
                </a:lnSpc>
                <a:buNone/>
              </a:pPr>
              <a:r>
                <a:rPr lang="en-US" sz="1550" dirty="0">
                  <a:solidFill>
                    <a:srgbClr val="384653"/>
                  </a:solidFill>
                  <a:latin typeface="Noto Sans TC" panose="020B0200000000000000" pitchFamily="34" charset="-120"/>
                  <a:ea typeface="Noto Sans TC" panose="020B0200000000000000" pitchFamily="34" charset="-120"/>
                  <a:cs typeface="Host Grotesk Medium" pitchFamily="34" charset="-120"/>
                </a:rPr>
                <a:t>3</a:t>
              </a:r>
              <a:endParaRPr lang="en-US" sz="1550" dirty="0">
                <a:latin typeface="Noto Sans TC" panose="020B0200000000000000" pitchFamily="34" charset="-120"/>
                <a:ea typeface="Noto Sans TC" panose="020B0200000000000000" pitchFamily="34" charset="-120"/>
              </a:endParaRPr>
            </a:p>
          </p:txBody>
        </p:sp>
        <p:sp>
          <p:nvSpPr>
            <p:cNvPr id="41" name="Text 32">
              <a:extLst>
                <a:ext uri="{FF2B5EF4-FFF2-40B4-BE49-F238E27FC236}">
                  <a16:creationId xmlns:a16="http://schemas.microsoft.com/office/drawing/2014/main" id="{98FEAFB4-171C-4798-8A71-1C732AE7CA42}"/>
                </a:ext>
              </a:extLst>
            </p:cNvPr>
            <p:cNvSpPr/>
            <p:nvPr/>
          </p:nvSpPr>
          <p:spPr>
            <a:xfrm>
              <a:off x="1516380" y="6239351"/>
              <a:ext cx="2167176" cy="205740"/>
            </a:xfrm>
            <a:prstGeom prst="rect">
              <a:avLst/>
            </a:prstGeom>
            <a:noFill/>
            <a:ln/>
          </p:spPr>
          <p:txBody>
            <a:bodyPr wrap="none" lIns="0" tIns="0" rIns="0" bIns="0" rtlCol="0" anchor="t"/>
            <a:lstStyle/>
            <a:p>
              <a:pPr marL="0" indent="0" algn="l">
                <a:lnSpc>
                  <a:spcPts val="1600"/>
                </a:lnSpc>
                <a:buNone/>
              </a:pPr>
              <a:r>
                <a:rPr lang="en-US" sz="1250" dirty="0">
                  <a:solidFill>
                    <a:srgbClr val="384653"/>
                  </a:solidFill>
                  <a:latin typeface="Noto Sans TC" panose="020B0200000000000000" pitchFamily="34" charset="-120"/>
                  <a:ea typeface="Noto Sans TC" panose="020B0200000000000000" pitchFamily="34" charset="-120"/>
                  <a:cs typeface="Host Grotesk Medium" pitchFamily="34" charset="-120"/>
                </a:rPr>
                <a:t>Phase 3: Platform Unification</a:t>
              </a:r>
              <a:endParaRPr lang="en-US" sz="1250" dirty="0">
                <a:latin typeface="Noto Sans TC" panose="020B0200000000000000" pitchFamily="34" charset="-120"/>
                <a:ea typeface="Noto Sans TC" panose="020B0200000000000000" pitchFamily="34" charset="-120"/>
              </a:endParaRPr>
            </a:p>
          </p:txBody>
        </p:sp>
        <p:sp>
          <p:nvSpPr>
            <p:cNvPr id="42" name="Text 33">
              <a:extLst>
                <a:ext uri="{FF2B5EF4-FFF2-40B4-BE49-F238E27FC236}">
                  <a16:creationId xmlns:a16="http://schemas.microsoft.com/office/drawing/2014/main" id="{29B5FD61-5289-436B-B251-11B7C6A33F10}"/>
                </a:ext>
              </a:extLst>
            </p:cNvPr>
            <p:cNvSpPr/>
            <p:nvPr/>
          </p:nvSpPr>
          <p:spPr>
            <a:xfrm>
              <a:off x="1516381" y="6524030"/>
              <a:ext cx="3478876" cy="229790"/>
            </a:xfrm>
            <a:prstGeom prst="rect">
              <a:avLst/>
            </a:prstGeom>
            <a:noFill/>
            <a:ln/>
          </p:spPr>
          <p:txBody>
            <a:bodyPr wrap="none" lIns="0" tIns="0" rIns="0" bIns="0" rtlCol="0" anchor="t"/>
            <a:lstStyle/>
            <a:p>
              <a:pPr marL="0" indent="0" algn="l">
                <a:lnSpc>
                  <a:spcPts val="1550"/>
                </a:lnSpc>
                <a:buNone/>
              </a:pPr>
              <a:r>
                <a:rPr lang="en-US" sz="1000" dirty="0">
                  <a:solidFill>
                    <a:srgbClr val="384653"/>
                  </a:solidFill>
                  <a:latin typeface="Noto Sans TC" panose="020B0200000000000000" pitchFamily="34" charset="-120"/>
                  <a:ea typeface="Noto Sans TC" panose="020B0200000000000000" pitchFamily="34" charset="-120"/>
                  <a:cs typeface="Roboto" pitchFamily="34" charset="-120"/>
                </a:rPr>
                <a:t>Cloud-based management with multi-robot coordination</a:t>
              </a:r>
              <a:endParaRPr lang="en-US" sz="1000" dirty="0">
                <a:latin typeface="Noto Sans TC" panose="020B0200000000000000" pitchFamily="34" charset="-120"/>
                <a:ea typeface="Noto Sans TC" panose="020B0200000000000000" pitchFamily="34" charset="-120"/>
              </a:endParaRPr>
            </a:p>
          </p:txBody>
        </p:sp>
        <p:sp>
          <p:nvSpPr>
            <p:cNvPr id="43" name="Shape 34">
              <a:extLst>
                <a:ext uri="{FF2B5EF4-FFF2-40B4-BE49-F238E27FC236}">
                  <a16:creationId xmlns:a16="http://schemas.microsoft.com/office/drawing/2014/main" id="{F82E6AC3-9FA6-4250-859B-AC9CCA4D13BA}"/>
                </a:ext>
              </a:extLst>
            </p:cNvPr>
            <p:cNvSpPr/>
            <p:nvPr/>
          </p:nvSpPr>
          <p:spPr>
            <a:xfrm>
              <a:off x="990421" y="7125653"/>
              <a:ext cx="395168" cy="15240"/>
            </a:xfrm>
            <a:prstGeom prst="roundRect">
              <a:avLst>
                <a:gd name="adj" fmla="val 363110"/>
              </a:avLst>
            </a:prstGeom>
            <a:solidFill>
              <a:srgbClr val="BFD3D8"/>
            </a:solidFill>
            <a:ln/>
          </p:spPr>
        </p:sp>
        <p:sp>
          <p:nvSpPr>
            <p:cNvPr id="44" name="Shape 35">
              <a:extLst>
                <a:ext uri="{FF2B5EF4-FFF2-40B4-BE49-F238E27FC236}">
                  <a16:creationId xmlns:a16="http://schemas.microsoft.com/office/drawing/2014/main" id="{EB9E8286-AA67-43A9-81A6-97939C666F71}"/>
                </a:ext>
              </a:extLst>
            </p:cNvPr>
            <p:cNvSpPr/>
            <p:nvPr/>
          </p:nvSpPr>
          <p:spPr>
            <a:xfrm>
              <a:off x="709315" y="6985159"/>
              <a:ext cx="296347" cy="296347"/>
            </a:xfrm>
            <a:prstGeom prst="roundRect">
              <a:avLst>
                <a:gd name="adj" fmla="val 18673"/>
              </a:avLst>
            </a:prstGeom>
            <a:solidFill>
              <a:srgbClr val="D9EDF2"/>
            </a:solidFill>
            <a:ln w="7620">
              <a:solidFill>
                <a:srgbClr val="BFD3D8"/>
              </a:solidFill>
              <a:prstDash val="solid"/>
            </a:ln>
          </p:spPr>
        </p:sp>
        <p:sp>
          <p:nvSpPr>
            <p:cNvPr id="45" name="Text 36">
              <a:extLst>
                <a:ext uri="{FF2B5EF4-FFF2-40B4-BE49-F238E27FC236}">
                  <a16:creationId xmlns:a16="http://schemas.microsoft.com/office/drawing/2014/main" id="{73BFEDE9-3839-429D-9818-D133CC5BC3BA}"/>
                </a:ext>
              </a:extLst>
            </p:cNvPr>
            <p:cNvSpPr/>
            <p:nvPr/>
          </p:nvSpPr>
          <p:spPr>
            <a:xfrm>
              <a:off x="758666" y="7009805"/>
              <a:ext cx="197525" cy="246936"/>
            </a:xfrm>
            <a:prstGeom prst="rect">
              <a:avLst/>
            </a:prstGeom>
            <a:noFill/>
            <a:ln/>
          </p:spPr>
          <p:txBody>
            <a:bodyPr wrap="none" lIns="0" tIns="0" rIns="0" bIns="0" rtlCol="0" anchor="t"/>
            <a:lstStyle/>
            <a:p>
              <a:pPr marL="0" indent="0" algn="ctr">
                <a:lnSpc>
                  <a:spcPts val="1550"/>
                </a:lnSpc>
                <a:buNone/>
              </a:pPr>
              <a:r>
                <a:rPr lang="en-US" sz="1550" dirty="0">
                  <a:solidFill>
                    <a:srgbClr val="384653"/>
                  </a:solidFill>
                  <a:latin typeface="Noto Sans TC" panose="020B0200000000000000" pitchFamily="34" charset="-120"/>
                  <a:ea typeface="Noto Sans TC" panose="020B0200000000000000" pitchFamily="34" charset="-120"/>
                  <a:cs typeface="Host Grotesk Medium" pitchFamily="34" charset="-120"/>
                </a:rPr>
                <a:t>4</a:t>
              </a:r>
              <a:endParaRPr lang="en-US" sz="1550" dirty="0">
                <a:latin typeface="Noto Sans TC" panose="020B0200000000000000" pitchFamily="34" charset="-120"/>
                <a:ea typeface="Noto Sans TC" panose="020B0200000000000000" pitchFamily="34" charset="-120"/>
              </a:endParaRPr>
            </a:p>
          </p:txBody>
        </p:sp>
        <p:sp>
          <p:nvSpPr>
            <p:cNvPr id="46" name="Text 37">
              <a:extLst>
                <a:ext uri="{FF2B5EF4-FFF2-40B4-BE49-F238E27FC236}">
                  <a16:creationId xmlns:a16="http://schemas.microsoft.com/office/drawing/2014/main" id="{AB3438CF-7955-4B14-B41A-6F2438743B56}"/>
                </a:ext>
              </a:extLst>
            </p:cNvPr>
            <p:cNvSpPr/>
            <p:nvPr/>
          </p:nvSpPr>
          <p:spPr>
            <a:xfrm>
              <a:off x="1516380" y="7030403"/>
              <a:ext cx="2042398" cy="205740"/>
            </a:xfrm>
            <a:prstGeom prst="rect">
              <a:avLst/>
            </a:prstGeom>
            <a:noFill/>
            <a:ln/>
          </p:spPr>
          <p:txBody>
            <a:bodyPr wrap="none" lIns="0" tIns="0" rIns="0" bIns="0" rtlCol="0" anchor="t"/>
            <a:lstStyle/>
            <a:p>
              <a:pPr marL="0" indent="0" algn="l">
                <a:lnSpc>
                  <a:spcPts val="1600"/>
                </a:lnSpc>
                <a:buNone/>
              </a:pPr>
              <a:r>
                <a:rPr lang="en-US" sz="1250" dirty="0">
                  <a:solidFill>
                    <a:srgbClr val="384653"/>
                  </a:solidFill>
                  <a:latin typeface="Noto Sans TC" panose="020B0200000000000000" pitchFamily="34" charset="-120"/>
                  <a:ea typeface="Noto Sans TC" panose="020B0200000000000000" pitchFamily="34" charset="-120"/>
                  <a:cs typeface="Host Grotesk Medium" pitchFamily="34" charset="-120"/>
                </a:rPr>
                <a:t>Phase 4: Expansion</a:t>
              </a:r>
              <a:endParaRPr lang="en-US" sz="1250" dirty="0">
                <a:latin typeface="Noto Sans TC" panose="020B0200000000000000" pitchFamily="34" charset="-120"/>
                <a:ea typeface="Noto Sans TC" panose="020B0200000000000000" pitchFamily="34" charset="-120"/>
              </a:endParaRPr>
            </a:p>
          </p:txBody>
        </p:sp>
        <p:sp>
          <p:nvSpPr>
            <p:cNvPr id="47" name="Text 38">
              <a:extLst>
                <a:ext uri="{FF2B5EF4-FFF2-40B4-BE49-F238E27FC236}">
                  <a16:creationId xmlns:a16="http://schemas.microsoft.com/office/drawing/2014/main" id="{E247C58C-7E61-4CCF-8ABE-6D41A23C8040}"/>
                </a:ext>
              </a:extLst>
            </p:cNvPr>
            <p:cNvSpPr/>
            <p:nvPr/>
          </p:nvSpPr>
          <p:spPr>
            <a:xfrm>
              <a:off x="1516381" y="7315081"/>
              <a:ext cx="3478876" cy="229790"/>
            </a:xfrm>
            <a:prstGeom prst="rect">
              <a:avLst/>
            </a:prstGeom>
            <a:noFill/>
            <a:ln/>
          </p:spPr>
          <p:txBody>
            <a:bodyPr wrap="none" lIns="0" tIns="0" rIns="0" bIns="0" rtlCol="0" anchor="t"/>
            <a:lstStyle/>
            <a:p>
              <a:pPr marL="0" indent="0" algn="l">
                <a:lnSpc>
                  <a:spcPts val="1550"/>
                </a:lnSpc>
                <a:buNone/>
              </a:pPr>
              <a:r>
                <a:rPr lang="en-US" sz="1000" dirty="0">
                  <a:solidFill>
                    <a:srgbClr val="384653"/>
                  </a:solidFill>
                  <a:latin typeface="Noto Sans TC" panose="020B0200000000000000" pitchFamily="34" charset="-120"/>
                  <a:ea typeface="Noto Sans TC" panose="020B0200000000000000" pitchFamily="34" charset="-120"/>
                  <a:cs typeface="Roboto" pitchFamily="34" charset="-120"/>
                </a:rPr>
                <a:t>Standardized solutions for diverse industrial applications</a:t>
              </a:r>
              <a:endParaRPr lang="en-US" sz="1000" dirty="0">
                <a:latin typeface="Noto Sans TC" panose="020B0200000000000000" pitchFamily="34" charset="-120"/>
                <a:ea typeface="Noto Sans TC" panose="020B0200000000000000" pitchFamily="34" charset="-120"/>
              </a:endParaRPr>
            </a:p>
          </p:txBody>
        </p:sp>
      </p:grpSp>
      <p:pic>
        <p:nvPicPr>
          <p:cNvPr id="1026" name="Picture 2" descr="Spot 參觀配備工業檢測設備的食品飲料工廠">
            <a:extLst>
              <a:ext uri="{FF2B5EF4-FFF2-40B4-BE49-F238E27FC236}">
                <a16:creationId xmlns:a16="http://schemas.microsoft.com/office/drawing/2014/main" id="{199F73B5-8C9C-42BD-897C-52DD24D5DA2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06720" y="3998247"/>
            <a:ext cx="4942425" cy="2584476"/>
          </a:xfrm>
          <a:prstGeom prst="rect">
            <a:avLst/>
          </a:prstGeom>
          <a:noFill/>
          <a:extLst>
            <a:ext uri="{909E8E84-426E-40DD-AFC4-6F175D3DCCD1}">
              <a14:hiddenFill xmlns:a14="http://schemas.microsoft.com/office/drawing/2010/main">
                <a:solidFill>
                  <a:srgbClr val="FFFFFF"/>
                </a:solidFill>
              </a14:hiddenFill>
            </a:ext>
          </a:extLst>
        </p:spPr>
      </p:pic>
      <p:pic>
        <p:nvPicPr>
          <p:cNvPr id="48" name="圖片 47">
            <a:extLst>
              <a:ext uri="{FF2B5EF4-FFF2-40B4-BE49-F238E27FC236}">
                <a16:creationId xmlns:a16="http://schemas.microsoft.com/office/drawing/2014/main" id="{7AB37052-9D9D-4D1C-8BAB-7DC9D3CD3A7E}"/>
              </a:ext>
            </a:extLst>
          </p:cNvPr>
          <p:cNvPicPr>
            <a:picLocks noChangeAspect="1"/>
          </p:cNvPicPr>
          <p:nvPr/>
        </p:nvPicPr>
        <p:blipFill>
          <a:blip r:embed="rId7"/>
          <a:stretch>
            <a:fillRect/>
          </a:stretch>
        </p:blipFill>
        <p:spPr>
          <a:xfrm>
            <a:off x="8329235" y="1724548"/>
            <a:ext cx="3461373" cy="1947258"/>
          </a:xfrm>
          <a:prstGeom prst="rect">
            <a:avLst/>
          </a:prstGeom>
        </p:spPr>
      </p:pic>
      <p:pic>
        <p:nvPicPr>
          <p:cNvPr id="49" name="圖片 48">
            <a:extLst>
              <a:ext uri="{FF2B5EF4-FFF2-40B4-BE49-F238E27FC236}">
                <a16:creationId xmlns:a16="http://schemas.microsoft.com/office/drawing/2014/main" id="{04A11C08-3A53-493A-82C8-500A0E55C8E8}"/>
              </a:ext>
            </a:extLst>
          </p:cNvPr>
          <p:cNvPicPr>
            <a:picLocks noChangeAspect="1"/>
          </p:cNvPicPr>
          <p:nvPr/>
        </p:nvPicPr>
        <p:blipFill>
          <a:blip r:embed="rId8"/>
          <a:stretch>
            <a:fillRect/>
          </a:stretch>
        </p:blipFill>
        <p:spPr>
          <a:xfrm>
            <a:off x="9566864" y="3982930"/>
            <a:ext cx="2359495" cy="2615107"/>
          </a:xfrm>
          <a:prstGeom prst="rect">
            <a:avLst/>
          </a:prstGeom>
        </p:spPr>
      </p:pic>
    </p:spTree>
    <p:extLst>
      <p:ext uri="{BB962C8B-B14F-4D97-AF65-F5344CB8AC3E}">
        <p14:creationId xmlns:p14="http://schemas.microsoft.com/office/powerpoint/2010/main" val="2687728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3" name="矩形: 圓角 92">
            <a:extLst>
              <a:ext uri="{FF2B5EF4-FFF2-40B4-BE49-F238E27FC236}">
                <a16:creationId xmlns:a16="http://schemas.microsoft.com/office/drawing/2014/main" id="{A804C6F7-F80F-41E6-9011-92F1E383F151}"/>
              </a:ext>
            </a:extLst>
          </p:cNvPr>
          <p:cNvSpPr/>
          <p:nvPr/>
        </p:nvSpPr>
        <p:spPr>
          <a:xfrm>
            <a:off x="442171" y="1576093"/>
            <a:ext cx="702760" cy="400446"/>
          </a:xfrm>
          <a:prstGeom prst="round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矩形: 圓角 90">
            <a:extLst>
              <a:ext uri="{FF2B5EF4-FFF2-40B4-BE49-F238E27FC236}">
                <a16:creationId xmlns:a16="http://schemas.microsoft.com/office/drawing/2014/main" id="{F801779E-2476-44E2-8B0C-2F380B7D5D73}"/>
              </a:ext>
            </a:extLst>
          </p:cNvPr>
          <p:cNvSpPr/>
          <p:nvPr/>
        </p:nvSpPr>
        <p:spPr>
          <a:xfrm>
            <a:off x="4477878" y="1510276"/>
            <a:ext cx="508468" cy="585914"/>
          </a:xfrm>
          <a:prstGeom prst="round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Text 0">
            <a:extLst>
              <a:ext uri="{FF2B5EF4-FFF2-40B4-BE49-F238E27FC236}">
                <a16:creationId xmlns:a16="http://schemas.microsoft.com/office/drawing/2014/main" id="{B4246666-C442-4920-B61A-E628383882CE}"/>
              </a:ext>
            </a:extLst>
          </p:cNvPr>
          <p:cNvSpPr/>
          <p:nvPr/>
        </p:nvSpPr>
        <p:spPr>
          <a:xfrm>
            <a:off x="558219" y="197217"/>
            <a:ext cx="4390192" cy="328732"/>
          </a:xfrm>
          <a:prstGeom prst="rect">
            <a:avLst/>
          </a:prstGeom>
          <a:noFill/>
          <a:ln/>
        </p:spPr>
        <p:txBody>
          <a:bodyPr wrap="none" lIns="0" tIns="0" rIns="0" bIns="0" rtlCol="0" anchor="t"/>
          <a:lstStyle/>
          <a:p>
            <a:pPr>
              <a:lnSpc>
                <a:spcPts val="2550"/>
              </a:lnSpc>
            </a:pPr>
            <a:r>
              <a:rPr lang="en-US" altLang="zh-TW" sz="2400" dirty="0"/>
              <a:t>Field applications of robotic dogs</a:t>
            </a:r>
            <a:endParaRPr lang="en-US" sz="2050" dirty="0"/>
          </a:p>
        </p:txBody>
      </p:sp>
      <p:sp>
        <p:nvSpPr>
          <p:cNvPr id="27" name="Shape 1">
            <a:extLst>
              <a:ext uri="{FF2B5EF4-FFF2-40B4-BE49-F238E27FC236}">
                <a16:creationId xmlns:a16="http://schemas.microsoft.com/office/drawing/2014/main" id="{CFEBA48F-067E-4F79-B051-54524A4607EE}"/>
              </a:ext>
            </a:extLst>
          </p:cNvPr>
          <p:cNvSpPr/>
          <p:nvPr/>
        </p:nvSpPr>
        <p:spPr>
          <a:xfrm>
            <a:off x="558219" y="824845"/>
            <a:ext cx="11328978" cy="571500"/>
          </a:xfrm>
          <a:prstGeom prst="roundRect">
            <a:avLst>
              <a:gd name="adj" fmla="val 7436"/>
            </a:avLst>
          </a:prstGeom>
          <a:solidFill>
            <a:srgbClr val="E9CFC9"/>
          </a:solidFill>
          <a:ln/>
        </p:spPr>
        <p:txBody>
          <a:bodyPr/>
          <a:lstStyle/>
          <a:p>
            <a:endParaRPr lang="zh-TW" altLang="en-US" dirty="0">
              <a:solidFill>
                <a:srgbClr val="FF0000"/>
              </a:solidFill>
            </a:endParaRPr>
          </a:p>
        </p:txBody>
      </p:sp>
      <p:pic>
        <p:nvPicPr>
          <p:cNvPr id="31" name="object 6">
            <a:extLst>
              <a:ext uri="{FF2B5EF4-FFF2-40B4-BE49-F238E27FC236}">
                <a16:creationId xmlns:a16="http://schemas.microsoft.com/office/drawing/2014/main" id="{B0C863B9-7253-4069-9AFB-54D65C7996DC}"/>
              </a:ext>
            </a:extLst>
          </p:cNvPr>
          <p:cNvPicPr/>
          <p:nvPr/>
        </p:nvPicPr>
        <p:blipFill>
          <a:blip r:embed="rId2" cstate="print"/>
          <a:stretch>
            <a:fillRect/>
          </a:stretch>
        </p:blipFill>
        <p:spPr>
          <a:xfrm>
            <a:off x="687951" y="906094"/>
            <a:ext cx="240039" cy="395559"/>
          </a:xfrm>
          <a:prstGeom prst="rect">
            <a:avLst/>
          </a:prstGeom>
        </p:spPr>
      </p:pic>
      <p:sp>
        <p:nvSpPr>
          <p:cNvPr id="5" name="矩形 4">
            <a:extLst>
              <a:ext uri="{FF2B5EF4-FFF2-40B4-BE49-F238E27FC236}">
                <a16:creationId xmlns:a16="http://schemas.microsoft.com/office/drawing/2014/main" id="{BCF35AE2-03CF-422D-BC9C-D74AEB9B65E0}"/>
              </a:ext>
            </a:extLst>
          </p:cNvPr>
          <p:cNvSpPr/>
          <p:nvPr/>
        </p:nvSpPr>
        <p:spPr>
          <a:xfrm>
            <a:off x="1127955" y="934777"/>
            <a:ext cx="10568905" cy="369332"/>
          </a:xfrm>
          <a:prstGeom prst="rect">
            <a:avLst/>
          </a:prstGeom>
        </p:spPr>
        <p:txBody>
          <a:bodyPr wrap="square">
            <a:spAutoFit/>
          </a:bodyPr>
          <a:lstStyle/>
          <a:p>
            <a:r>
              <a:rPr lang="zh-TW" altLang="en-US" dirty="0"/>
              <a:t>"</a:t>
            </a:r>
            <a:r>
              <a:rPr lang="en-US" altLang="zh-TW" dirty="0"/>
              <a:t>Safety and inspection requirements for the warehouse at AUO's L5A warehouse</a:t>
            </a:r>
            <a:r>
              <a:rPr lang="zh-TW" altLang="en-US" dirty="0"/>
              <a:t>."</a:t>
            </a:r>
          </a:p>
        </p:txBody>
      </p:sp>
      <p:sp>
        <p:nvSpPr>
          <p:cNvPr id="34" name="object 10">
            <a:extLst>
              <a:ext uri="{FF2B5EF4-FFF2-40B4-BE49-F238E27FC236}">
                <a16:creationId xmlns:a16="http://schemas.microsoft.com/office/drawing/2014/main" id="{CE03247D-1C4E-4721-94C7-F8C8C2EA9078}"/>
              </a:ext>
            </a:extLst>
          </p:cNvPr>
          <p:cNvSpPr/>
          <p:nvPr/>
        </p:nvSpPr>
        <p:spPr>
          <a:xfrm>
            <a:off x="223836" y="1683435"/>
            <a:ext cx="38100" cy="4038600"/>
          </a:xfrm>
          <a:custGeom>
            <a:avLst/>
            <a:gdLst/>
            <a:ahLst/>
            <a:cxnLst/>
            <a:rect l="l" t="t" r="r" b="b"/>
            <a:pathLst>
              <a:path w="38100" h="4038600">
                <a:moveTo>
                  <a:pt x="38099" y="4038599"/>
                </a:moveTo>
                <a:lnTo>
                  <a:pt x="0" y="4038599"/>
                </a:lnTo>
                <a:lnTo>
                  <a:pt x="0" y="0"/>
                </a:lnTo>
                <a:lnTo>
                  <a:pt x="38099" y="0"/>
                </a:lnTo>
                <a:lnTo>
                  <a:pt x="38099" y="4038599"/>
                </a:lnTo>
                <a:close/>
              </a:path>
            </a:pathLst>
          </a:custGeom>
          <a:solidFill>
            <a:srgbClr val="FF9800"/>
          </a:solidFill>
        </p:spPr>
        <p:txBody>
          <a:bodyPr wrap="square" lIns="0" tIns="0" rIns="0" bIns="0" rtlCol="0"/>
          <a:lstStyle/>
          <a:p>
            <a:endParaRPr/>
          </a:p>
        </p:txBody>
      </p:sp>
      <p:grpSp>
        <p:nvGrpSpPr>
          <p:cNvPr id="87" name="群組 86">
            <a:extLst>
              <a:ext uri="{FF2B5EF4-FFF2-40B4-BE49-F238E27FC236}">
                <a16:creationId xmlns:a16="http://schemas.microsoft.com/office/drawing/2014/main" id="{E4314317-BA1D-44E2-94ED-4B21252A7095}"/>
              </a:ext>
            </a:extLst>
          </p:cNvPr>
          <p:cNvGrpSpPr/>
          <p:nvPr/>
        </p:nvGrpSpPr>
        <p:grpSpPr>
          <a:xfrm>
            <a:off x="380998" y="2731985"/>
            <a:ext cx="3286125" cy="95250"/>
            <a:chOff x="452436" y="2864535"/>
            <a:chExt cx="3286125" cy="95250"/>
          </a:xfrm>
        </p:grpSpPr>
        <p:sp>
          <p:nvSpPr>
            <p:cNvPr id="37" name="object 13">
              <a:extLst>
                <a:ext uri="{FF2B5EF4-FFF2-40B4-BE49-F238E27FC236}">
                  <a16:creationId xmlns:a16="http://schemas.microsoft.com/office/drawing/2014/main" id="{6CC4333A-FE04-4141-BF00-ADBE653A844F}"/>
                </a:ext>
              </a:extLst>
            </p:cNvPr>
            <p:cNvSpPr/>
            <p:nvPr/>
          </p:nvSpPr>
          <p:spPr>
            <a:xfrm>
              <a:off x="452436" y="2864535"/>
              <a:ext cx="3286125" cy="95250"/>
            </a:xfrm>
            <a:custGeom>
              <a:avLst/>
              <a:gdLst/>
              <a:ahLst/>
              <a:cxnLst/>
              <a:rect l="l" t="t" r="r" b="b"/>
              <a:pathLst>
                <a:path w="3286125" h="95250">
                  <a:moveTo>
                    <a:pt x="3244815" y="95249"/>
                  </a:moveTo>
                  <a:lnTo>
                    <a:pt x="41309" y="95249"/>
                  </a:lnTo>
                  <a:lnTo>
                    <a:pt x="35234" y="94041"/>
                  </a:lnTo>
                  <a:lnTo>
                    <a:pt x="1208" y="60014"/>
                  </a:lnTo>
                  <a:lnTo>
                    <a:pt x="0" y="53939"/>
                  </a:lnTo>
                  <a:lnTo>
                    <a:pt x="0" y="47624"/>
                  </a:lnTo>
                  <a:lnTo>
                    <a:pt x="0" y="41309"/>
                  </a:lnTo>
                  <a:lnTo>
                    <a:pt x="23564" y="6041"/>
                  </a:lnTo>
                  <a:lnTo>
                    <a:pt x="41309" y="0"/>
                  </a:lnTo>
                  <a:lnTo>
                    <a:pt x="3244815" y="0"/>
                  </a:lnTo>
                  <a:lnTo>
                    <a:pt x="3280082" y="23564"/>
                  </a:lnTo>
                  <a:lnTo>
                    <a:pt x="3286124" y="41309"/>
                  </a:lnTo>
                  <a:lnTo>
                    <a:pt x="3286124" y="53939"/>
                  </a:lnTo>
                  <a:lnTo>
                    <a:pt x="3262559" y="89207"/>
                  </a:lnTo>
                  <a:lnTo>
                    <a:pt x="3250889" y="94041"/>
                  </a:lnTo>
                  <a:lnTo>
                    <a:pt x="3244815" y="95249"/>
                  </a:lnTo>
                  <a:close/>
                </a:path>
              </a:pathLst>
            </a:custGeom>
            <a:solidFill>
              <a:srgbClr val="DFDFDF"/>
            </a:solidFill>
          </p:spPr>
          <p:txBody>
            <a:bodyPr wrap="square" lIns="0" tIns="0" rIns="0" bIns="0" rtlCol="0"/>
            <a:lstStyle/>
            <a:p>
              <a:endParaRPr/>
            </a:p>
          </p:txBody>
        </p:sp>
        <p:sp>
          <p:nvSpPr>
            <p:cNvPr id="38" name="object 14">
              <a:extLst>
                <a:ext uri="{FF2B5EF4-FFF2-40B4-BE49-F238E27FC236}">
                  <a16:creationId xmlns:a16="http://schemas.microsoft.com/office/drawing/2014/main" id="{111CEE45-0F20-464F-AC04-00C57E8F4051}"/>
                </a:ext>
              </a:extLst>
            </p:cNvPr>
            <p:cNvSpPr/>
            <p:nvPr/>
          </p:nvSpPr>
          <p:spPr>
            <a:xfrm>
              <a:off x="452436" y="2864535"/>
              <a:ext cx="1314450" cy="95250"/>
            </a:xfrm>
            <a:custGeom>
              <a:avLst/>
              <a:gdLst/>
              <a:ahLst/>
              <a:cxnLst/>
              <a:rect l="l" t="t" r="r" b="b"/>
              <a:pathLst>
                <a:path w="1314450" h="95250">
                  <a:moveTo>
                    <a:pt x="1273140" y="95249"/>
                  </a:moveTo>
                  <a:lnTo>
                    <a:pt x="41309" y="95249"/>
                  </a:lnTo>
                  <a:lnTo>
                    <a:pt x="35234" y="94041"/>
                  </a:lnTo>
                  <a:lnTo>
                    <a:pt x="1208" y="60014"/>
                  </a:lnTo>
                  <a:lnTo>
                    <a:pt x="0" y="53939"/>
                  </a:lnTo>
                  <a:lnTo>
                    <a:pt x="0" y="47624"/>
                  </a:lnTo>
                  <a:lnTo>
                    <a:pt x="0" y="41309"/>
                  </a:lnTo>
                  <a:lnTo>
                    <a:pt x="23564" y="6041"/>
                  </a:lnTo>
                  <a:lnTo>
                    <a:pt x="41309" y="0"/>
                  </a:lnTo>
                  <a:lnTo>
                    <a:pt x="1273140" y="0"/>
                  </a:lnTo>
                  <a:lnTo>
                    <a:pt x="1308407" y="23564"/>
                  </a:lnTo>
                  <a:lnTo>
                    <a:pt x="1314449" y="41309"/>
                  </a:lnTo>
                  <a:lnTo>
                    <a:pt x="1314449" y="53939"/>
                  </a:lnTo>
                  <a:lnTo>
                    <a:pt x="1290884" y="89207"/>
                  </a:lnTo>
                  <a:lnTo>
                    <a:pt x="1279215" y="94041"/>
                  </a:lnTo>
                  <a:lnTo>
                    <a:pt x="1273140" y="95249"/>
                  </a:lnTo>
                  <a:close/>
                </a:path>
              </a:pathLst>
            </a:custGeom>
            <a:solidFill>
              <a:srgbClr val="FF9800"/>
            </a:solidFill>
          </p:spPr>
          <p:txBody>
            <a:bodyPr wrap="square" lIns="0" tIns="0" rIns="0" bIns="0" rtlCol="0"/>
            <a:lstStyle/>
            <a:p>
              <a:endParaRPr/>
            </a:p>
          </p:txBody>
        </p:sp>
      </p:grpSp>
      <p:sp>
        <p:nvSpPr>
          <p:cNvPr id="39" name="object 15">
            <a:extLst>
              <a:ext uri="{FF2B5EF4-FFF2-40B4-BE49-F238E27FC236}">
                <a16:creationId xmlns:a16="http://schemas.microsoft.com/office/drawing/2014/main" id="{F2AFF1E2-07F5-4B1F-B049-C08FA5505CEA}"/>
              </a:ext>
            </a:extLst>
          </p:cNvPr>
          <p:cNvSpPr/>
          <p:nvPr/>
        </p:nvSpPr>
        <p:spPr>
          <a:xfrm>
            <a:off x="514350" y="5362777"/>
            <a:ext cx="3286125" cy="419100"/>
          </a:xfrm>
          <a:custGeom>
            <a:avLst/>
            <a:gdLst/>
            <a:ahLst/>
            <a:cxnLst/>
            <a:rect l="l" t="t" r="r" b="b"/>
            <a:pathLst>
              <a:path w="3286125" h="419100">
                <a:moveTo>
                  <a:pt x="3232727" y="419099"/>
                </a:moveTo>
                <a:lnTo>
                  <a:pt x="53397" y="419099"/>
                </a:lnTo>
                <a:lnTo>
                  <a:pt x="49680" y="418733"/>
                </a:lnTo>
                <a:lnTo>
                  <a:pt x="14085" y="399706"/>
                </a:lnTo>
                <a:lnTo>
                  <a:pt x="0" y="365702"/>
                </a:lnTo>
                <a:lnTo>
                  <a:pt x="0" y="361949"/>
                </a:lnTo>
                <a:lnTo>
                  <a:pt x="0" y="53397"/>
                </a:lnTo>
                <a:lnTo>
                  <a:pt x="19392" y="14084"/>
                </a:lnTo>
                <a:lnTo>
                  <a:pt x="53397" y="0"/>
                </a:lnTo>
                <a:lnTo>
                  <a:pt x="3232727" y="0"/>
                </a:lnTo>
                <a:lnTo>
                  <a:pt x="3272039" y="19391"/>
                </a:lnTo>
                <a:lnTo>
                  <a:pt x="3286124" y="53397"/>
                </a:lnTo>
                <a:lnTo>
                  <a:pt x="3286124" y="365702"/>
                </a:lnTo>
                <a:lnTo>
                  <a:pt x="3266732" y="405014"/>
                </a:lnTo>
                <a:lnTo>
                  <a:pt x="3236443" y="418733"/>
                </a:lnTo>
                <a:lnTo>
                  <a:pt x="3232727" y="419099"/>
                </a:lnTo>
                <a:close/>
              </a:path>
            </a:pathLst>
          </a:custGeom>
          <a:solidFill>
            <a:srgbClr val="FFECD5"/>
          </a:solidFill>
        </p:spPr>
        <p:txBody>
          <a:bodyPr wrap="square" lIns="0" tIns="0" rIns="0" bIns="0" rtlCol="0"/>
          <a:lstStyle/>
          <a:p>
            <a:endParaRPr/>
          </a:p>
        </p:txBody>
      </p:sp>
      <p:pic>
        <p:nvPicPr>
          <p:cNvPr id="40" name="object 16">
            <a:extLst>
              <a:ext uri="{FF2B5EF4-FFF2-40B4-BE49-F238E27FC236}">
                <a16:creationId xmlns:a16="http://schemas.microsoft.com/office/drawing/2014/main" id="{EFDED81D-5597-4BA7-AEEE-A4F2AC85BAC3}"/>
              </a:ext>
            </a:extLst>
          </p:cNvPr>
          <p:cNvPicPr/>
          <p:nvPr/>
        </p:nvPicPr>
        <p:blipFill>
          <a:blip r:embed="rId3" cstate="print"/>
          <a:stretch>
            <a:fillRect/>
          </a:stretch>
        </p:blipFill>
        <p:spPr>
          <a:xfrm>
            <a:off x="619124" y="5493722"/>
            <a:ext cx="133349" cy="133349"/>
          </a:xfrm>
          <a:prstGeom prst="rect">
            <a:avLst/>
          </a:prstGeom>
        </p:spPr>
      </p:pic>
      <p:sp>
        <p:nvSpPr>
          <p:cNvPr id="41" name="object 17">
            <a:extLst>
              <a:ext uri="{FF2B5EF4-FFF2-40B4-BE49-F238E27FC236}">
                <a16:creationId xmlns:a16="http://schemas.microsoft.com/office/drawing/2014/main" id="{86A1D319-9044-4506-8F8A-046814855C16}"/>
              </a:ext>
            </a:extLst>
          </p:cNvPr>
          <p:cNvSpPr txBox="1"/>
          <p:nvPr/>
        </p:nvSpPr>
        <p:spPr>
          <a:xfrm>
            <a:off x="380998" y="2142724"/>
            <a:ext cx="3667125" cy="570028"/>
          </a:xfrm>
          <a:prstGeom prst="rect">
            <a:avLst/>
          </a:prstGeom>
        </p:spPr>
        <p:txBody>
          <a:bodyPr vert="horz" wrap="square" lIns="0" tIns="15875" rIns="0" bIns="0" rtlCol="0">
            <a:spAutoFit/>
          </a:bodyPr>
          <a:lstStyle/>
          <a:p>
            <a:pPr marL="190500">
              <a:lnSpc>
                <a:spcPct val="100000"/>
              </a:lnSpc>
            </a:pPr>
            <a:r>
              <a:rPr lang="en-US" altLang="zh-TW" sz="1200" dirty="0"/>
              <a:t>Requirement: </a:t>
            </a:r>
          </a:p>
          <a:p>
            <a:pPr marL="361950" indent="-171450">
              <a:lnSpc>
                <a:spcPct val="100000"/>
              </a:lnSpc>
              <a:buFont typeface="Arial" panose="020B0604020202020204" pitchFamily="34" charset="0"/>
              <a:buChar char="•"/>
            </a:pPr>
            <a:r>
              <a:rPr lang="en-US" altLang="zh-TW" sz="1200" dirty="0"/>
              <a:t>Inspection of the PPBOX storage area </a:t>
            </a:r>
          </a:p>
          <a:p>
            <a:pPr marL="361950" indent="-171450">
              <a:lnSpc>
                <a:spcPct val="100000"/>
              </a:lnSpc>
              <a:buFont typeface="Arial" panose="020B0604020202020204" pitchFamily="34" charset="0"/>
              <a:buChar char="•"/>
            </a:pPr>
            <a:r>
              <a:rPr lang="en-US" altLang="zh-TW" sz="1200" dirty="0"/>
              <a:t>Inspection of the forklift charging zone</a:t>
            </a:r>
            <a:endParaRPr sz="1200" dirty="0">
              <a:latin typeface="PMingLiU"/>
              <a:cs typeface="PMingLiU"/>
            </a:endParaRPr>
          </a:p>
        </p:txBody>
      </p:sp>
      <p:sp>
        <p:nvSpPr>
          <p:cNvPr id="43" name="object 19">
            <a:extLst>
              <a:ext uri="{FF2B5EF4-FFF2-40B4-BE49-F238E27FC236}">
                <a16:creationId xmlns:a16="http://schemas.microsoft.com/office/drawing/2014/main" id="{614E9447-5557-429C-9BA9-D4E0BFD51E72}"/>
              </a:ext>
            </a:extLst>
          </p:cNvPr>
          <p:cNvSpPr/>
          <p:nvPr/>
        </p:nvSpPr>
        <p:spPr>
          <a:xfrm>
            <a:off x="5187500" y="1556567"/>
            <a:ext cx="2837311" cy="791159"/>
          </a:xfrm>
          <a:custGeom>
            <a:avLst/>
            <a:gdLst/>
            <a:ahLst/>
            <a:cxnLst/>
            <a:rect l="l" t="t" r="r" b="b"/>
            <a:pathLst>
              <a:path w="3714750" h="4038600">
                <a:moveTo>
                  <a:pt x="3714749" y="4038599"/>
                </a:moveTo>
                <a:lnTo>
                  <a:pt x="0" y="4038599"/>
                </a:lnTo>
                <a:lnTo>
                  <a:pt x="0" y="0"/>
                </a:lnTo>
                <a:lnTo>
                  <a:pt x="3714749" y="0"/>
                </a:lnTo>
                <a:lnTo>
                  <a:pt x="3714749" y="4038599"/>
                </a:lnTo>
                <a:close/>
              </a:path>
            </a:pathLst>
          </a:custGeom>
          <a:solidFill>
            <a:srgbClr val="FFFFFF"/>
          </a:solidFill>
        </p:spPr>
        <p:txBody>
          <a:bodyPr wrap="square" lIns="0" tIns="0" rIns="0" bIns="0" rtlCol="0"/>
          <a:lstStyle/>
          <a:p>
            <a:r>
              <a:rPr lang="en-US" altLang="zh-TW" dirty="0"/>
              <a:t>Autonomous inspection and </a:t>
            </a:r>
          </a:p>
          <a:p>
            <a:r>
              <a:rPr lang="en-US" altLang="zh-TW" dirty="0"/>
              <a:t>self-charging</a:t>
            </a:r>
            <a:endParaRPr dirty="0"/>
          </a:p>
        </p:txBody>
      </p:sp>
      <p:sp>
        <p:nvSpPr>
          <p:cNvPr id="44" name="object 20">
            <a:extLst>
              <a:ext uri="{FF2B5EF4-FFF2-40B4-BE49-F238E27FC236}">
                <a16:creationId xmlns:a16="http://schemas.microsoft.com/office/drawing/2014/main" id="{9887D6FB-53CC-40AC-9470-2AD356C08268}"/>
              </a:ext>
            </a:extLst>
          </p:cNvPr>
          <p:cNvSpPr/>
          <p:nvPr/>
        </p:nvSpPr>
        <p:spPr>
          <a:xfrm>
            <a:off x="4238624" y="1714499"/>
            <a:ext cx="38100" cy="4038600"/>
          </a:xfrm>
          <a:custGeom>
            <a:avLst/>
            <a:gdLst/>
            <a:ahLst/>
            <a:cxnLst/>
            <a:rect l="l" t="t" r="r" b="b"/>
            <a:pathLst>
              <a:path w="38100" h="4038600">
                <a:moveTo>
                  <a:pt x="38099" y="4038599"/>
                </a:moveTo>
                <a:lnTo>
                  <a:pt x="0" y="4038599"/>
                </a:lnTo>
                <a:lnTo>
                  <a:pt x="0" y="0"/>
                </a:lnTo>
                <a:lnTo>
                  <a:pt x="38099" y="0"/>
                </a:lnTo>
                <a:lnTo>
                  <a:pt x="38099" y="4038599"/>
                </a:lnTo>
                <a:close/>
              </a:path>
            </a:pathLst>
          </a:custGeom>
          <a:solidFill>
            <a:srgbClr val="FF9800"/>
          </a:solidFill>
        </p:spPr>
        <p:txBody>
          <a:bodyPr wrap="square" lIns="0" tIns="0" rIns="0" bIns="0" rtlCol="0"/>
          <a:lstStyle/>
          <a:p>
            <a:endParaRPr/>
          </a:p>
        </p:txBody>
      </p:sp>
      <p:pic>
        <p:nvPicPr>
          <p:cNvPr id="46" name="object 22">
            <a:extLst>
              <a:ext uri="{FF2B5EF4-FFF2-40B4-BE49-F238E27FC236}">
                <a16:creationId xmlns:a16="http://schemas.microsoft.com/office/drawing/2014/main" id="{214227EC-F98E-441C-9336-839474BA4B7A}"/>
              </a:ext>
            </a:extLst>
          </p:cNvPr>
          <p:cNvPicPr/>
          <p:nvPr/>
        </p:nvPicPr>
        <p:blipFill>
          <a:blip r:embed="rId4" cstate="print"/>
          <a:stretch>
            <a:fillRect/>
          </a:stretch>
        </p:blipFill>
        <p:spPr>
          <a:xfrm>
            <a:off x="4598906" y="1814314"/>
            <a:ext cx="257174" cy="304799"/>
          </a:xfrm>
          <a:prstGeom prst="rect">
            <a:avLst/>
          </a:prstGeom>
        </p:spPr>
      </p:pic>
      <p:grpSp>
        <p:nvGrpSpPr>
          <p:cNvPr id="88" name="群組 87">
            <a:extLst>
              <a:ext uri="{FF2B5EF4-FFF2-40B4-BE49-F238E27FC236}">
                <a16:creationId xmlns:a16="http://schemas.microsoft.com/office/drawing/2014/main" id="{D4467E20-ADF4-4CC1-963D-F10F064D281C}"/>
              </a:ext>
            </a:extLst>
          </p:cNvPr>
          <p:cNvGrpSpPr/>
          <p:nvPr/>
        </p:nvGrpSpPr>
        <p:grpSpPr>
          <a:xfrm>
            <a:off x="4472608" y="2718999"/>
            <a:ext cx="3295650" cy="95250"/>
            <a:chOff x="4467224" y="2895599"/>
            <a:chExt cx="3295650" cy="95250"/>
          </a:xfrm>
        </p:grpSpPr>
        <p:sp>
          <p:nvSpPr>
            <p:cNvPr id="47" name="object 23">
              <a:extLst>
                <a:ext uri="{FF2B5EF4-FFF2-40B4-BE49-F238E27FC236}">
                  <a16:creationId xmlns:a16="http://schemas.microsoft.com/office/drawing/2014/main" id="{D02931F7-0CB2-421A-80B8-87BA5BFCA6DC}"/>
                </a:ext>
              </a:extLst>
            </p:cNvPr>
            <p:cNvSpPr/>
            <p:nvPr/>
          </p:nvSpPr>
          <p:spPr>
            <a:xfrm>
              <a:off x="4467224" y="2895599"/>
              <a:ext cx="3295650" cy="95250"/>
            </a:xfrm>
            <a:custGeom>
              <a:avLst/>
              <a:gdLst/>
              <a:ahLst/>
              <a:cxnLst/>
              <a:rect l="l" t="t" r="r" b="b"/>
              <a:pathLst>
                <a:path w="3295650" h="95250">
                  <a:moveTo>
                    <a:pt x="3254340" y="95249"/>
                  </a:moveTo>
                  <a:lnTo>
                    <a:pt x="41309" y="95249"/>
                  </a:lnTo>
                  <a:lnTo>
                    <a:pt x="35234" y="94041"/>
                  </a:lnTo>
                  <a:lnTo>
                    <a:pt x="1208" y="60014"/>
                  </a:lnTo>
                  <a:lnTo>
                    <a:pt x="0" y="53939"/>
                  </a:lnTo>
                  <a:lnTo>
                    <a:pt x="0" y="47624"/>
                  </a:lnTo>
                  <a:lnTo>
                    <a:pt x="0" y="41309"/>
                  </a:lnTo>
                  <a:lnTo>
                    <a:pt x="23564" y="6041"/>
                  </a:lnTo>
                  <a:lnTo>
                    <a:pt x="41309" y="0"/>
                  </a:lnTo>
                  <a:lnTo>
                    <a:pt x="3254340" y="0"/>
                  </a:lnTo>
                  <a:lnTo>
                    <a:pt x="3289606" y="23564"/>
                  </a:lnTo>
                  <a:lnTo>
                    <a:pt x="3295649" y="41309"/>
                  </a:lnTo>
                  <a:lnTo>
                    <a:pt x="3295649" y="53939"/>
                  </a:lnTo>
                  <a:lnTo>
                    <a:pt x="3272084" y="89207"/>
                  </a:lnTo>
                  <a:lnTo>
                    <a:pt x="3260414" y="94041"/>
                  </a:lnTo>
                  <a:lnTo>
                    <a:pt x="3254340" y="95249"/>
                  </a:lnTo>
                  <a:close/>
                </a:path>
              </a:pathLst>
            </a:custGeom>
            <a:solidFill>
              <a:srgbClr val="DFDFDF"/>
            </a:solidFill>
          </p:spPr>
          <p:txBody>
            <a:bodyPr wrap="square" lIns="0" tIns="0" rIns="0" bIns="0" rtlCol="0"/>
            <a:lstStyle/>
            <a:p>
              <a:endParaRPr/>
            </a:p>
          </p:txBody>
        </p:sp>
        <p:sp>
          <p:nvSpPr>
            <p:cNvPr id="48" name="object 24">
              <a:extLst>
                <a:ext uri="{FF2B5EF4-FFF2-40B4-BE49-F238E27FC236}">
                  <a16:creationId xmlns:a16="http://schemas.microsoft.com/office/drawing/2014/main" id="{261EBD28-C8A6-4B45-9CCB-7B794C99B943}"/>
                </a:ext>
              </a:extLst>
            </p:cNvPr>
            <p:cNvSpPr/>
            <p:nvPr/>
          </p:nvSpPr>
          <p:spPr>
            <a:xfrm>
              <a:off x="4467224" y="2895599"/>
              <a:ext cx="990600" cy="95250"/>
            </a:xfrm>
            <a:custGeom>
              <a:avLst/>
              <a:gdLst/>
              <a:ahLst/>
              <a:cxnLst/>
              <a:rect l="l" t="t" r="r" b="b"/>
              <a:pathLst>
                <a:path w="990600" h="95250">
                  <a:moveTo>
                    <a:pt x="949290" y="95249"/>
                  </a:moveTo>
                  <a:lnTo>
                    <a:pt x="41309" y="95249"/>
                  </a:lnTo>
                  <a:lnTo>
                    <a:pt x="35234" y="94041"/>
                  </a:lnTo>
                  <a:lnTo>
                    <a:pt x="1208" y="60014"/>
                  </a:lnTo>
                  <a:lnTo>
                    <a:pt x="0" y="53939"/>
                  </a:lnTo>
                  <a:lnTo>
                    <a:pt x="0" y="47624"/>
                  </a:lnTo>
                  <a:lnTo>
                    <a:pt x="0" y="41309"/>
                  </a:lnTo>
                  <a:lnTo>
                    <a:pt x="23564" y="6041"/>
                  </a:lnTo>
                  <a:lnTo>
                    <a:pt x="41309" y="0"/>
                  </a:lnTo>
                  <a:lnTo>
                    <a:pt x="949290" y="0"/>
                  </a:lnTo>
                  <a:lnTo>
                    <a:pt x="984557" y="23564"/>
                  </a:lnTo>
                  <a:lnTo>
                    <a:pt x="990599" y="41309"/>
                  </a:lnTo>
                  <a:lnTo>
                    <a:pt x="990599" y="53939"/>
                  </a:lnTo>
                  <a:lnTo>
                    <a:pt x="967034" y="89207"/>
                  </a:lnTo>
                  <a:lnTo>
                    <a:pt x="955365" y="94041"/>
                  </a:lnTo>
                  <a:lnTo>
                    <a:pt x="949290" y="95249"/>
                  </a:lnTo>
                  <a:close/>
                </a:path>
              </a:pathLst>
            </a:custGeom>
            <a:solidFill>
              <a:srgbClr val="FF9800"/>
            </a:solidFill>
          </p:spPr>
          <p:txBody>
            <a:bodyPr wrap="square" lIns="0" tIns="0" rIns="0" bIns="0" rtlCol="0"/>
            <a:lstStyle/>
            <a:p>
              <a:endParaRPr/>
            </a:p>
          </p:txBody>
        </p:sp>
      </p:grpSp>
      <p:sp>
        <p:nvSpPr>
          <p:cNvPr id="49" name="object 25">
            <a:extLst>
              <a:ext uri="{FF2B5EF4-FFF2-40B4-BE49-F238E27FC236}">
                <a16:creationId xmlns:a16="http://schemas.microsoft.com/office/drawing/2014/main" id="{9CBDD4B6-A0AF-4065-9482-F694A125FB74}"/>
              </a:ext>
            </a:extLst>
          </p:cNvPr>
          <p:cNvSpPr/>
          <p:nvPr/>
        </p:nvSpPr>
        <p:spPr>
          <a:xfrm>
            <a:off x="4371310" y="5298305"/>
            <a:ext cx="3716077" cy="483572"/>
          </a:xfrm>
          <a:custGeom>
            <a:avLst/>
            <a:gdLst/>
            <a:ahLst/>
            <a:cxnLst/>
            <a:rect l="l" t="t" r="r" b="b"/>
            <a:pathLst>
              <a:path w="3295650" h="419100">
                <a:moveTo>
                  <a:pt x="3242252" y="419099"/>
                </a:moveTo>
                <a:lnTo>
                  <a:pt x="53397" y="419099"/>
                </a:lnTo>
                <a:lnTo>
                  <a:pt x="49680" y="418733"/>
                </a:lnTo>
                <a:lnTo>
                  <a:pt x="14085" y="399706"/>
                </a:lnTo>
                <a:lnTo>
                  <a:pt x="0" y="365702"/>
                </a:lnTo>
                <a:lnTo>
                  <a:pt x="0" y="361949"/>
                </a:lnTo>
                <a:lnTo>
                  <a:pt x="0" y="53397"/>
                </a:lnTo>
                <a:lnTo>
                  <a:pt x="19392" y="14084"/>
                </a:lnTo>
                <a:lnTo>
                  <a:pt x="53397" y="0"/>
                </a:lnTo>
                <a:lnTo>
                  <a:pt x="3242252" y="0"/>
                </a:lnTo>
                <a:lnTo>
                  <a:pt x="3281563" y="19391"/>
                </a:lnTo>
                <a:lnTo>
                  <a:pt x="3295649" y="53397"/>
                </a:lnTo>
                <a:lnTo>
                  <a:pt x="3295649" y="365702"/>
                </a:lnTo>
                <a:lnTo>
                  <a:pt x="3276256" y="405014"/>
                </a:lnTo>
                <a:lnTo>
                  <a:pt x="3245968" y="418733"/>
                </a:lnTo>
                <a:lnTo>
                  <a:pt x="3242252" y="419099"/>
                </a:lnTo>
                <a:close/>
              </a:path>
            </a:pathLst>
          </a:custGeom>
          <a:solidFill>
            <a:srgbClr val="FFECD5"/>
          </a:solidFill>
        </p:spPr>
        <p:txBody>
          <a:bodyPr wrap="square" lIns="0" tIns="0" rIns="0" bIns="0" rtlCol="0"/>
          <a:lstStyle/>
          <a:p>
            <a:endParaRPr/>
          </a:p>
        </p:txBody>
      </p:sp>
      <p:pic>
        <p:nvPicPr>
          <p:cNvPr id="50" name="object 26">
            <a:extLst>
              <a:ext uri="{FF2B5EF4-FFF2-40B4-BE49-F238E27FC236}">
                <a16:creationId xmlns:a16="http://schemas.microsoft.com/office/drawing/2014/main" id="{B39DDE98-0775-4EBA-8E8B-74741CA40EDD}"/>
              </a:ext>
            </a:extLst>
          </p:cNvPr>
          <p:cNvPicPr/>
          <p:nvPr/>
        </p:nvPicPr>
        <p:blipFill>
          <a:blip r:embed="rId3" cstate="print"/>
          <a:stretch>
            <a:fillRect/>
          </a:stretch>
        </p:blipFill>
        <p:spPr>
          <a:xfrm>
            <a:off x="4581524" y="5516964"/>
            <a:ext cx="133349" cy="133349"/>
          </a:xfrm>
          <a:prstGeom prst="rect">
            <a:avLst/>
          </a:prstGeom>
        </p:spPr>
      </p:pic>
      <p:sp>
        <p:nvSpPr>
          <p:cNvPr id="51" name="object 27">
            <a:extLst>
              <a:ext uri="{FF2B5EF4-FFF2-40B4-BE49-F238E27FC236}">
                <a16:creationId xmlns:a16="http://schemas.microsoft.com/office/drawing/2014/main" id="{718FAA99-786A-4555-BB3E-5FB0C2DFA2C6}"/>
              </a:ext>
            </a:extLst>
          </p:cNvPr>
          <p:cNvSpPr txBox="1"/>
          <p:nvPr/>
        </p:nvSpPr>
        <p:spPr>
          <a:xfrm>
            <a:off x="4260530" y="2174059"/>
            <a:ext cx="3676650" cy="570028"/>
          </a:xfrm>
          <a:prstGeom prst="rect">
            <a:avLst/>
          </a:prstGeom>
        </p:spPr>
        <p:txBody>
          <a:bodyPr vert="horz" wrap="square" lIns="0" tIns="15875" rIns="0" bIns="0" rtlCol="0">
            <a:spAutoFit/>
          </a:bodyPr>
          <a:lstStyle/>
          <a:p>
            <a:pPr marL="193040"/>
            <a:r>
              <a:rPr lang="en-US" altLang="zh-TW" sz="1200" dirty="0"/>
              <a:t>Requirement: </a:t>
            </a:r>
          </a:p>
          <a:p>
            <a:pPr marL="364490" indent="-171450">
              <a:lnSpc>
                <a:spcPct val="100000"/>
              </a:lnSpc>
              <a:buFont typeface="Arial" panose="020B0604020202020204" pitchFamily="34" charset="0"/>
              <a:buChar char="•"/>
            </a:pPr>
            <a:r>
              <a:rPr lang="en-US" altLang="zh-TW" sz="1200" dirty="0"/>
              <a:t>Autonomous patrol scheduling with self-charging</a:t>
            </a:r>
          </a:p>
          <a:p>
            <a:pPr marL="364490" indent="-171450">
              <a:lnSpc>
                <a:spcPct val="100000"/>
              </a:lnSpc>
              <a:buFont typeface="Arial" panose="020B0604020202020204" pitchFamily="34" charset="0"/>
              <a:buChar char="•"/>
            </a:pPr>
            <a:r>
              <a:rPr lang="en-US" altLang="zh-TW" sz="1200" dirty="0"/>
              <a:t>Navigation and localization in complex environments</a:t>
            </a:r>
            <a:endParaRPr sz="1200" dirty="0">
              <a:latin typeface="PMingLiU"/>
              <a:cs typeface="PMingLiU"/>
            </a:endParaRPr>
          </a:p>
        </p:txBody>
      </p:sp>
      <p:sp>
        <p:nvSpPr>
          <p:cNvPr id="54" name="object 30">
            <a:extLst>
              <a:ext uri="{FF2B5EF4-FFF2-40B4-BE49-F238E27FC236}">
                <a16:creationId xmlns:a16="http://schemas.microsoft.com/office/drawing/2014/main" id="{49D0D9A7-5553-4B3C-84C9-E2442A2E246A}"/>
              </a:ext>
            </a:extLst>
          </p:cNvPr>
          <p:cNvSpPr/>
          <p:nvPr/>
        </p:nvSpPr>
        <p:spPr>
          <a:xfrm>
            <a:off x="8181974" y="1714499"/>
            <a:ext cx="38100" cy="4038600"/>
          </a:xfrm>
          <a:custGeom>
            <a:avLst/>
            <a:gdLst/>
            <a:ahLst/>
            <a:cxnLst/>
            <a:rect l="l" t="t" r="r" b="b"/>
            <a:pathLst>
              <a:path w="38100" h="4038600">
                <a:moveTo>
                  <a:pt x="38099" y="4038599"/>
                </a:moveTo>
                <a:lnTo>
                  <a:pt x="0" y="4038599"/>
                </a:lnTo>
                <a:lnTo>
                  <a:pt x="0" y="0"/>
                </a:lnTo>
                <a:lnTo>
                  <a:pt x="38099" y="0"/>
                </a:lnTo>
                <a:lnTo>
                  <a:pt x="38099" y="4038599"/>
                </a:lnTo>
                <a:close/>
              </a:path>
            </a:pathLst>
          </a:custGeom>
          <a:solidFill>
            <a:srgbClr val="FF9800"/>
          </a:solidFill>
        </p:spPr>
        <p:txBody>
          <a:bodyPr wrap="square" lIns="0" tIns="0" rIns="0" bIns="0" rtlCol="0"/>
          <a:lstStyle/>
          <a:p>
            <a:endParaRPr/>
          </a:p>
        </p:txBody>
      </p:sp>
      <p:grpSp>
        <p:nvGrpSpPr>
          <p:cNvPr id="75" name="群組 74">
            <a:extLst>
              <a:ext uri="{FF2B5EF4-FFF2-40B4-BE49-F238E27FC236}">
                <a16:creationId xmlns:a16="http://schemas.microsoft.com/office/drawing/2014/main" id="{827AFE1E-4F09-4DA9-ACA7-BDEF9602B6F0}"/>
              </a:ext>
            </a:extLst>
          </p:cNvPr>
          <p:cNvGrpSpPr/>
          <p:nvPr/>
        </p:nvGrpSpPr>
        <p:grpSpPr>
          <a:xfrm>
            <a:off x="8410574" y="1556567"/>
            <a:ext cx="571500" cy="571500"/>
            <a:chOff x="8410574" y="1904999"/>
            <a:chExt cx="571500" cy="571500"/>
          </a:xfrm>
        </p:grpSpPr>
        <p:sp>
          <p:nvSpPr>
            <p:cNvPr id="55" name="object 31">
              <a:extLst>
                <a:ext uri="{FF2B5EF4-FFF2-40B4-BE49-F238E27FC236}">
                  <a16:creationId xmlns:a16="http://schemas.microsoft.com/office/drawing/2014/main" id="{F72BFDEF-A30A-4B17-A327-8F5334215B5C}"/>
                </a:ext>
              </a:extLst>
            </p:cNvPr>
            <p:cNvSpPr/>
            <p:nvPr/>
          </p:nvSpPr>
          <p:spPr>
            <a:xfrm>
              <a:off x="8410574" y="1904999"/>
              <a:ext cx="571500" cy="571500"/>
            </a:xfrm>
            <a:custGeom>
              <a:avLst/>
              <a:gdLst/>
              <a:ahLst/>
              <a:cxnLst/>
              <a:rect l="l" t="t" r="r" b="b"/>
              <a:pathLst>
                <a:path w="571500" h="571500">
                  <a:moveTo>
                    <a:pt x="285749" y="571499"/>
                  </a:moveTo>
                  <a:lnTo>
                    <a:pt x="243821" y="568407"/>
                  </a:lnTo>
                  <a:lnTo>
                    <a:pt x="202800" y="559195"/>
                  </a:lnTo>
                  <a:lnTo>
                    <a:pt x="163574" y="544065"/>
                  </a:lnTo>
                  <a:lnTo>
                    <a:pt x="126993" y="523342"/>
                  </a:lnTo>
                  <a:lnTo>
                    <a:pt x="93851" y="497476"/>
                  </a:lnTo>
                  <a:lnTo>
                    <a:pt x="64861" y="467027"/>
                  </a:lnTo>
                  <a:lnTo>
                    <a:pt x="40653" y="432654"/>
                  </a:lnTo>
                  <a:lnTo>
                    <a:pt x="21750" y="395101"/>
                  </a:lnTo>
                  <a:lnTo>
                    <a:pt x="8563" y="355181"/>
                  </a:lnTo>
                  <a:lnTo>
                    <a:pt x="1376" y="313758"/>
                  </a:lnTo>
                  <a:lnTo>
                    <a:pt x="0" y="285749"/>
                  </a:lnTo>
                  <a:lnTo>
                    <a:pt x="344" y="271728"/>
                  </a:lnTo>
                  <a:lnTo>
                    <a:pt x="5490" y="230002"/>
                  </a:lnTo>
                  <a:lnTo>
                    <a:pt x="16703" y="189483"/>
                  </a:lnTo>
                  <a:lnTo>
                    <a:pt x="33740" y="151048"/>
                  </a:lnTo>
                  <a:lnTo>
                    <a:pt x="56232" y="115528"/>
                  </a:lnTo>
                  <a:lnTo>
                    <a:pt x="83693" y="83694"/>
                  </a:lnTo>
                  <a:lnTo>
                    <a:pt x="115528" y="56233"/>
                  </a:lnTo>
                  <a:lnTo>
                    <a:pt x="151047" y="33740"/>
                  </a:lnTo>
                  <a:lnTo>
                    <a:pt x="189482" y="16703"/>
                  </a:lnTo>
                  <a:lnTo>
                    <a:pt x="230002" y="5490"/>
                  </a:lnTo>
                  <a:lnTo>
                    <a:pt x="271729" y="344"/>
                  </a:lnTo>
                  <a:lnTo>
                    <a:pt x="285749" y="0"/>
                  </a:lnTo>
                  <a:lnTo>
                    <a:pt x="299771" y="344"/>
                  </a:lnTo>
                  <a:lnTo>
                    <a:pt x="341496" y="5490"/>
                  </a:lnTo>
                  <a:lnTo>
                    <a:pt x="382015" y="16703"/>
                  </a:lnTo>
                  <a:lnTo>
                    <a:pt x="420451" y="33740"/>
                  </a:lnTo>
                  <a:lnTo>
                    <a:pt x="455970" y="56233"/>
                  </a:lnTo>
                  <a:lnTo>
                    <a:pt x="487805" y="83694"/>
                  </a:lnTo>
                  <a:lnTo>
                    <a:pt x="515266" y="115528"/>
                  </a:lnTo>
                  <a:lnTo>
                    <a:pt x="537759" y="151048"/>
                  </a:lnTo>
                  <a:lnTo>
                    <a:pt x="554796" y="189483"/>
                  </a:lnTo>
                  <a:lnTo>
                    <a:pt x="566009" y="230002"/>
                  </a:lnTo>
                  <a:lnTo>
                    <a:pt x="571156" y="271728"/>
                  </a:lnTo>
                  <a:lnTo>
                    <a:pt x="571499" y="285749"/>
                  </a:lnTo>
                  <a:lnTo>
                    <a:pt x="571156" y="299771"/>
                  </a:lnTo>
                  <a:lnTo>
                    <a:pt x="566009" y="341496"/>
                  </a:lnTo>
                  <a:lnTo>
                    <a:pt x="554796" y="382016"/>
                  </a:lnTo>
                  <a:lnTo>
                    <a:pt x="537759" y="420451"/>
                  </a:lnTo>
                  <a:lnTo>
                    <a:pt x="515266" y="455971"/>
                  </a:lnTo>
                  <a:lnTo>
                    <a:pt x="487805" y="487805"/>
                  </a:lnTo>
                  <a:lnTo>
                    <a:pt x="455970" y="515266"/>
                  </a:lnTo>
                  <a:lnTo>
                    <a:pt x="420451" y="537758"/>
                  </a:lnTo>
                  <a:lnTo>
                    <a:pt x="382015" y="554796"/>
                  </a:lnTo>
                  <a:lnTo>
                    <a:pt x="341496" y="566008"/>
                  </a:lnTo>
                  <a:lnTo>
                    <a:pt x="299771" y="571155"/>
                  </a:lnTo>
                  <a:lnTo>
                    <a:pt x="285749" y="571499"/>
                  </a:lnTo>
                  <a:close/>
                </a:path>
              </a:pathLst>
            </a:custGeom>
            <a:solidFill>
              <a:srgbClr val="DFDFDF"/>
            </a:solidFill>
          </p:spPr>
          <p:txBody>
            <a:bodyPr wrap="square" lIns="0" tIns="0" rIns="0" bIns="0" rtlCol="0"/>
            <a:lstStyle/>
            <a:p>
              <a:endParaRPr/>
            </a:p>
          </p:txBody>
        </p:sp>
        <p:pic>
          <p:nvPicPr>
            <p:cNvPr id="56" name="object 32">
              <a:extLst>
                <a:ext uri="{FF2B5EF4-FFF2-40B4-BE49-F238E27FC236}">
                  <a16:creationId xmlns:a16="http://schemas.microsoft.com/office/drawing/2014/main" id="{A401C33F-C4EA-41D7-BBEB-1FB3133CAC79}"/>
                </a:ext>
              </a:extLst>
            </p:cNvPr>
            <p:cNvPicPr/>
            <p:nvPr/>
          </p:nvPicPr>
          <p:blipFill>
            <a:blip r:embed="rId5" cstate="print"/>
            <a:stretch>
              <a:fillRect/>
            </a:stretch>
          </p:blipFill>
          <p:spPr>
            <a:xfrm>
              <a:off x="8553449" y="2038349"/>
              <a:ext cx="285749" cy="304799"/>
            </a:xfrm>
            <a:prstGeom prst="rect">
              <a:avLst/>
            </a:prstGeom>
          </p:spPr>
        </p:pic>
      </p:grpSp>
      <p:grpSp>
        <p:nvGrpSpPr>
          <p:cNvPr id="89" name="群組 88">
            <a:extLst>
              <a:ext uri="{FF2B5EF4-FFF2-40B4-BE49-F238E27FC236}">
                <a16:creationId xmlns:a16="http://schemas.microsoft.com/office/drawing/2014/main" id="{0B0D6370-C621-4B07-A532-731B7CB9EDB8}"/>
              </a:ext>
            </a:extLst>
          </p:cNvPr>
          <p:cNvGrpSpPr/>
          <p:nvPr/>
        </p:nvGrpSpPr>
        <p:grpSpPr>
          <a:xfrm>
            <a:off x="8329320" y="2754930"/>
            <a:ext cx="3286125" cy="95250"/>
            <a:chOff x="8410573" y="2895599"/>
            <a:chExt cx="3286125" cy="95250"/>
          </a:xfrm>
        </p:grpSpPr>
        <p:sp>
          <p:nvSpPr>
            <p:cNvPr id="57" name="object 33">
              <a:extLst>
                <a:ext uri="{FF2B5EF4-FFF2-40B4-BE49-F238E27FC236}">
                  <a16:creationId xmlns:a16="http://schemas.microsoft.com/office/drawing/2014/main" id="{D40F9DF8-B179-47D0-9445-580FA1DF941C}"/>
                </a:ext>
              </a:extLst>
            </p:cNvPr>
            <p:cNvSpPr/>
            <p:nvPr/>
          </p:nvSpPr>
          <p:spPr>
            <a:xfrm>
              <a:off x="8410573" y="2895599"/>
              <a:ext cx="3286125" cy="95250"/>
            </a:xfrm>
            <a:custGeom>
              <a:avLst/>
              <a:gdLst/>
              <a:ahLst/>
              <a:cxnLst/>
              <a:rect l="l" t="t" r="r" b="b"/>
              <a:pathLst>
                <a:path w="3286125" h="95250">
                  <a:moveTo>
                    <a:pt x="3244815" y="95249"/>
                  </a:moveTo>
                  <a:lnTo>
                    <a:pt x="41309" y="95249"/>
                  </a:lnTo>
                  <a:lnTo>
                    <a:pt x="35233" y="94041"/>
                  </a:lnTo>
                  <a:lnTo>
                    <a:pt x="1208" y="60014"/>
                  </a:lnTo>
                  <a:lnTo>
                    <a:pt x="0" y="53939"/>
                  </a:lnTo>
                  <a:lnTo>
                    <a:pt x="0" y="47624"/>
                  </a:lnTo>
                  <a:lnTo>
                    <a:pt x="0" y="41309"/>
                  </a:lnTo>
                  <a:lnTo>
                    <a:pt x="23564" y="6041"/>
                  </a:lnTo>
                  <a:lnTo>
                    <a:pt x="41309" y="0"/>
                  </a:lnTo>
                  <a:lnTo>
                    <a:pt x="3244815" y="0"/>
                  </a:lnTo>
                  <a:lnTo>
                    <a:pt x="3280081" y="23564"/>
                  </a:lnTo>
                  <a:lnTo>
                    <a:pt x="3286124" y="41309"/>
                  </a:lnTo>
                  <a:lnTo>
                    <a:pt x="3286124" y="53939"/>
                  </a:lnTo>
                  <a:lnTo>
                    <a:pt x="3262559" y="89207"/>
                  </a:lnTo>
                  <a:lnTo>
                    <a:pt x="3250890" y="94041"/>
                  </a:lnTo>
                  <a:lnTo>
                    <a:pt x="3244815" y="95249"/>
                  </a:lnTo>
                  <a:close/>
                </a:path>
              </a:pathLst>
            </a:custGeom>
            <a:solidFill>
              <a:srgbClr val="DFDFDF"/>
            </a:solidFill>
          </p:spPr>
          <p:txBody>
            <a:bodyPr wrap="square" lIns="0" tIns="0" rIns="0" bIns="0" rtlCol="0"/>
            <a:lstStyle/>
            <a:p>
              <a:endParaRPr/>
            </a:p>
          </p:txBody>
        </p:sp>
        <p:sp>
          <p:nvSpPr>
            <p:cNvPr id="58" name="object 34">
              <a:extLst>
                <a:ext uri="{FF2B5EF4-FFF2-40B4-BE49-F238E27FC236}">
                  <a16:creationId xmlns:a16="http://schemas.microsoft.com/office/drawing/2014/main" id="{C27C01AC-4653-4FAF-BCFE-E4CD11862326}"/>
                </a:ext>
              </a:extLst>
            </p:cNvPr>
            <p:cNvSpPr/>
            <p:nvPr/>
          </p:nvSpPr>
          <p:spPr>
            <a:xfrm>
              <a:off x="8410573" y="2895599"/>
              <a:ext cx="1152525" cy="95250"/>
            </a:xfrm>
            <a:custGeom>
              <a:avLst/>
              <a:gdLst/>
              <a:ahLst/>
              <a:cxnLst/>
              <a:rect l="l" t="t" r="r" b="b"/>
              <a:pathLst>
                <a:path w="1152525" h="95250">
                  <a:moveTo>
                    <a:pt x="1111215" y="95249"/>
                  </a:moveTo>
                  <a:lnTo>
                    <a:pt x="41309" y="95249"/>
                  </a:lnTo>
                  <a:lnTo>
                    <a:pt x="35233" y="94041"/>
                  </a:lnTo>
                  <a:lnTo>
                    <a:pt x="1208" y="60014"/>
                  </a:lnTo>
                  <a:lnTo>
                    <a:pt x="0" y="53939"/>
                  </a:lnTo>
                  <a:lnTo>
                    <a:pt x="0" y="47624"/>
                  </a:lnTo>
                  <a:lnTo>
                    <a:pt x="0" y="41309"/>
                  </a:lnTo>
                  <a:lnTo>
                    <a:pt x="23564" y="6041"/>
                  </a:lnTo>
                  <a:lnTo>
                    <a:pt x="41309" y="0"/>
                  </a:lnTo>
                  <a:lnTo>
                    <a:pt x="1111215" y="0"/>
                  </a:lnTo>
                  <a:lnTo>
                    <a:pt x="1146482" y="23564"/>
                  </a:lnTo>
                  <a:lnTo>
                    <a:pt x="1152524" y="41309"/>
                  </a:lnTo>
                  <a:lnTo>
                    <a:pt x="1152524" y="53939"/>
                  </a:lnTo>
                  <a:lnTo>
                    <a:pt x="1128959" y="89207"/>
                  </a:lnTo>
                  <a:lnTo>
                    <a:pt x="1117289" y="94041"/>
                  </a:lnTo>
                  <a:lnTo>
                    <a:pt x="1111215" y="95249"/>
                  </a:lnTo>
                  <a:close/>
                </a:path>
              </a:pathLst>
            </a:custGeom>
            <a:solidFill>
              <a:srgbClr val="FF9800"/>
            </a:solidFill>
          </p:spPr>
          <p:txBody>
            <a:bodyPr wrap="square" lIns="0" tIns="0" rIns="0" bIns="0" rtlCol="0"/>
            <a:lstStyle/>
            <a:p>
              <a:endParaRPr/>
            </a:p>
          </p:txBody>
        </p:sp>
      </p:grpSp>
      <p:sp>
        <p:nvSpPr>
          <p:cNvPr id="59" name="object 35">
            <a:extLst>
              <a:ext uri="{FF2B5EF4-FFF2-40B4-BE49-F238E27FC236}">
                <a16:creationId xmlns:a16="http://schemas.microsoft.com/office/drawing/2014/main" id="{37A5E8AE-A334-4703-AB70-4AE25D5D9922}"/>
              </a:ext>
            </a:extLst>
          </p:cNvPr>
          <p:cNvSpPr/>
          <p:nvPr/>
        </p:nvSpPr>
        <p:spPr>
          <a:xfrm>
            <a:off x="8410574" y="5429746"/>
            <a:ext cx="3286125" cy="419100"/>
          </a:xfrm>
          <a:custGeom>
            <a:avLst/>
            <a:gdLst/>
            <a:ahLst/>
            <a:cxnLst/>
            <a:rect l="l" t="t" r="r" b="b"/>
            <a:pathLst>
              <a:path w="3286125" h="419100">
                <a:moveTo>
                  <a:pt x="3232726" y="419099"/>
                </a:moveTo>
                <a:lnTo>
                  <a:pt x="53397" y="419099"/>
                </a:lnTo>
                <a:lnTo>
                  <a:pt x="49680" y="418733"/>
                </a:lnTo>
                <a:lnTo>
                  <a:pt x="14084" y="399706"/>
                </a:lnTo>
                <a:lnTo>
                  <a:pt x="0" y="365702"/>
                </a:lnTo>
                <a:lnTo>
                  <a:pt x="0" y="361949"/>
                </a:lnTo>
                <a:lnTo>
                  <a:pt x="0" y="53397"/>
                </a:lnTo>
                <a:lnTo>
                  <a:pt x="19390" y="14084"/>
                </a:lnTo>
                <a:lnTo>
                  <a:pt x="53397" y="0"/>
                </a:lnTo>
                <a:lnTo>
                  <a:pt x="3232726" y="0"/>
                </a:lnTo>
                <a:lnTo>
                  <a:pt x="3272038" y="19391"/>
                </a:lnTo>
                <a:lnTo>
                  <a:pt x="3286124" y="53397"/>
                </a:lnTo>
                <a:lnTo>
                  <a:pt x="3286124" y="365702"/>
                </a:lnTo>
                <a:lnTo>
                  <a:pt x="3266731" y="405014"/>
                </a:lnTo>
                <a:lnTo>
                  <a:pt x="3236442" y="418733"/>
                </a:lnTo>
                <a:lnTo>
                  <a:pt x="3232726" y="419099"/>
                </a:lnTo>
                <a:close/>
              </a:path>
            </a:pathLst>
          </a:custGeom>
          <a:solidFill>
            <a:srgbClr val="FFECD5"/>
          </a:solidFill>
        </p:spPr>
        <p:txBody>
          <a:bodyPr wrap="square" lIns="0" tIns="0" rIns="0" bIns="0" rtlCol="0"/>
          <a:lstStyle/>
          <a:p>
            <a:endParaRPr/>
          </a:p>
        </p:txBody>
      </p:sp>
      <p:pic>
        <p:nvPicPr>
          <p:cNvPr id="60" name="object 36">
            <a:extLst>
              <a:ext uri="{FF2B5EF4-FFF2-40B4-BE49-F238E27FC236}">
                <a16:creationId xmlns:a16="http://schemas.microsoft.com/office/drawing/2014/main" id="{0CEB4AD4-349A-4707-ADE5-A5DC8CF0E6BA}"/>
              </a:ext>
            </a:extLst>
          </p:cNvPr>
          <p:cNvPicPr/>
          <p:nvPr/>
        </p:nvPicPr>
        <p:blipFill>
          <a:blip r:embed="rId6" cstate="print"/>
          <a:stretch>
            <a:fillRect/>
          </a:stretch>
        </p:blipFill>
        <p:spPr>
          <a:xfrm>
            <a:off x="8534399" y="5572621"/>
            <a:ext cx="123824" cy="133349"/>
          </a:xfrm>
          <a:prstGeom prst="rect">
            <a:avLst/>
          </a:prstGeom>
        </p:spPr>
      </p:pic>
      <p:grpSp>
        <p:nvGrpSpPr>
          <p:cNvPr id="62" name="object 38">
            <a:extLst>
              <a:ext uri="{FF2B5EF4-FFF2-40B4-BE49-F238E27FC236}">
                <a16:creationId xmlns:a16="http://schemas.microsoft.com/office/drawing/2014/main" id="{24F20F1E-B9FC-4C03-98C3-7D26FD109389}"/>
              </a:ext>
            </a:extLst>
          </p:cNvPr>
          <p:cNvGrpSpPr/>
          <p:nvPr/>
        </p:nvGrpSpPr>
        <p:grpSpPr>
          <a:xfrm>
            <a:off x="304801" y="5857481"/>
            <a:ext cx="11582396" cy="904265"/>
            <a:chOff x="304799" y="5981699"/>
            <a:chExt cx="11582400" cy="571500"/>
          </a:xfrm>
          <a:solidFill>
            <a:schemeClr val="accent2">
              <a:lumMod val="20000"/>
              <a:lumOff val="80000"/>
            </a:schemeClr>
          </a:solidFill>
        </p:grpSpPr>
        <p:sp>
          <p:nvSpPr>
            <p:cNvPr id="63" name="object 39">
              <a:extLst>
                <a:ext uri="{FF2B5EF4-FFF2-40B4-BE49-F238E27FC236}">
                  <a16:creationId xmlns:a16="http://schemas.microsoft.com/office/drawing/2014/main" id="{1F2B9155-4B33-4F54-91F2-F8A6878DE424}"/>
                </a:ext>
              </a:extLst>
            </p:cNvPr>
            <p:cNvSpPr/>
            <p:nvPr/>
          </p:nvSpPr>
          <p:spPr>
            <a:xfrm>
              <a:off x="304799" y="5981699"/>
              <a:ext cx="11582400" cy="571500"/>
            </a:xfrm>
            <a:custGeom>
              <a:avLst/>
              <a:gdLst/>
              <a:ahLst/>
              <a:cxnLst/>
              <a:rect l="l" t="t" r="r" b="b"/>
              <a:pathLst>
                <a:path w="11582400" h="571500">
                  <a:moveTo>
                    <a:pt x="11529001" y="571499"/>
                  </a:moveTo>
                  <a:lnTo>
                    <a:pt x="53397" y="571499"/>
                  </a:lnTo>
                  <a:lnTo>
                    <a:pt x="49681" y="571133"/>
                  </a:lnTo>
                  <a:lnTo>
                    <a:pt x="14085" y="552106"/>
                  </a:lnTo>
                  <a:lnTo>
                    <a:pt x="0" y="518102"/>
                  </a:lnTo>
                  <a:lnTo>
                    <a:pt x="0" y="514349"/>
                  </a:lnTo>
                  <a:lnTo>
                    <a:pt x="0" y="53397"/>
                  </a:lnTo>
                  <a:lnTo>
                    <a:pt x="19392" y="14084"/>
                  </a:lnTo>
                  <a:lnTo>
                    <a:pt x="53397" y="0"/>
                  </a:lnTo>
                  <a:lnTo>
                    <a:pt x="11529001" y="0"/>
                  </a:lnTo>
                  <a:lnTo>
                    <a:pt x="11568312" y="19391"/>
                  </a:lnTo>
                  <a:lnTo>
                    <a:pt x="11582397" y="53397"/>
                  </a:lnTo>
                  <a:lnTo>
                    <a:pt x="11582397" y="518102"/>
                  </a:lnTo>
                  <a:lnTo>
                    <a:pt x="11563006" y="557414"/>
                  </a:lnTo>
                  <a:lnTo>
                    <a:pt x="11532717" y="571133"/>
                  </a:lnTo>
                  <a:lnTo>
                    <a:pt x="11529001" y="571499"/>
                  </a:lnTo>
                  <a:close/>
                </a:path>
              </a:pathLst>
            </a:custGeom>
            <a:grpFill/>
          </p:spPr>
          <p:txBody>
            <a:bodyPr wrap="square" lIns="0" tIns="0" rIns="0" bIns="0" rtlCol="0"/>
            <a:lstStyle/>
            <a:p>
              <a:endParaRPr/>
            </a:p>
          </p:txBody>
        </p:sp>
        <p:pic>
          <p:nvPicPr>
            <p:cNvPr id="64" name="object 40">
              <a:extLst>
                <a:ext uri="{FF2B5EF4-FFF2-40B4-BE49-F238E27FC236}">
                  <a16:creationId xmlns:a16="http://schemas.microsoft.com/office/drawing/2014/main" id="{D31EF526-44E7-4809-BF89-0B975A4966E9}"/>
                </a:ext>
              </a:extLst>
            </p:cNvPr>
            <p:cNvPicPr/>
            <p:nvPr/>
          </p:nvPicPr>
          <p:blipFill>
            <a:blip r:embed="rId7" cstate="print"/>
            <a:stretch>
              <a:fillRect/>
            </a:stretch>
          </p:blipFill>
          <p:spPr>
            <a:xfrm>
              <a:off x="457199" y="6134099"/>
              <a:ext cx="142874" cy="266699"/>
            </a:xfrm>
            <a:prstGeom prst="rect">
              <a:avLst/>
            </a:prstGeom>
            <a:grpFill/>
          </p:spPr>
        </p:pic>
      </p:grpSp>
      <p:sp>
        <p:nvSpPr>
          <p:cNvPr id="65" name="object 41">
            <a:extLst>
              <a:ext uri="{FF2B5EF4-FFF2-40B4-BE49-F238E27FC236}">
                <a16:creationId xmlns:a16="http://schemas.microsoft.com/office/drawing/2014/main" id="{5C135ABF-DE90-4F4F-863B-2CFEBA726760}"/>
              </a:ext>
            </a:extLst>
          </p:cNvPr>
          <p:cNvSpPr txBox="1"/>
          <p:nvPr/>
        </p:nvSpPr>
        <p:spPr>
          <a:xfrm>
            <a:off x="752473" y="5888817"/>
            <a:ext cx="11134724" cy="754053"/>
          </a:xfrm>
          <a:prstGeom prst="rect">
            <a:avLst/>
          </a:prstGeom>
        </p:spPr>
        <p:txBody>
          <a:bodyPr vert="horz" wrap="square" lIns="0" tIns="15240" rIns="0" bIns="0" rtlCol="0">
            <a:spAutoFit/>
          </a:bodyPr>
          <a:lstStyle/>
          <a:p>
            <a:r>
              <a:rPr lang="en-US" altLang="zh-TW" sz="1200" b="1" dirty="0">
                <a:solidFill>
                  <a:schemeClr val="accent2">
                    <a:lumMod val="75000"/>
                  </a:schemeClr>
                </a:solidFill>
              </a:rPr>
              <a:t>Summary:</a:t>
            </a:r>
            <a:br>
              <a:rPr lang="en-US" altLang="zh-TW" sz="1200" b="1" dirty="0">
                <a:solidFill>
                  <a:schemeClr val="accent2">
                    <a:lumMod val="75000"/>
                  </a:schemeClr>
                </a:solidFill>
              </a:rPr>
            </a:br>
            <a:r>
              <a:rPr lang="en-US" altLang="zh-TW" sz="1200" b="1" dirty="0">
                <a:solidFill>
                  <a:schemeClr val="accent2">
                    <a:lumMod val="75000"/>
                  </a:schemeClr>
                </a:solidFill>
              </a:rPr>
              <a:t>The current </a:t>
            </a:r>
            <a:r>
              <a:rPr lang="en-US" altLang="zh-TW" sz="1200" b="1" dirty="0" err="1">
                <a:solidFill>
                  <a:schemeClr val="accent2">
                    <a:lumMod val="75000"/>
                  </a:schemeClr>
                </a:solidFill>
              </a:rPr>
              <a:t>Cyberdog</a:t>
            </a:r>
            <a:r>
              <a:rPr lang="en-US" altLang="zh-TW" sz="1200" b="1" dirty="0">
                <a:solidFill>
                  <a:schemeClr val="accent2">
                    <a:lumMod val="75000"/>
                  </a:schemeClr>
                </a:solidFill>
              </a:rPr>
              <a:t> robotic system faces several limitations in environmental safety inspection, including insufficient identification accuracy, limited autonomous task execution, and inadequate personnel recognition. To address these challenges and meet the operational requirements of AUO's L5A facility, efforts are underway to evaluate next-generation robotic dogs and develop enhanced AI algorithms.</a:t>
            </a:r>
          </a:p>
        </p:txBody>
      </p:sp>
      <p:sp>
        <p:nvSpPr>
          <p:cNvPr id="67" name="Rectangle 5">
            <a:extLst>
              <a:ext uri="{FF2B5EF4-FFF2-40B4-BE49-F238E27FC236}">
                <a16:creationId xmlns:a16="http://schemas.microsoft.com/office/drawing/2014/main" id="{3DF3A46B-5F2D-41DE-9D2B-BF106CD2DFD8}"/>
              </a:ext>
            </a:extLst>
          </p:cNvPr>
          <p:cNvSpPr>
            <a:spLocks noChangeArrowheads="1"/>
          </p:cNvSpPr>
          <p:nvPr/>
        </p:nvSpPr>
        <p:spPr bwMode="auto">
          <a:xfrm>
            <a:off x="8705183" y="5447173"/>
            <a:ext cx="318201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zh-TW" altLang="zh-TW" sz="1050" i="0" u="none" strike="noStrike" cap="none" normalizeH="0" baseline="0" dirty="0">
                <a:ln>
                  <a:noFill/>
                </a:ln>
                <a:solidFill>
                  <a:schemeClr val="accent2">
                    <a:lumMod val="75000"/>
                  </a:schemeClr>
                </a:solidFill>
                <a:effectLst/>
                <a:latin typeface="Arial" panose="020B0604020202020204" pitchFamily="34" charset="0"/>
              </a:rPr>
              <a:t>"Current system cannot reliably identify human presence during patrol operations." </a:t>
            </a:r>
          </a:p>
        </p:txBody>
      </p:sp>
      <p:sp>
        <p:nvSpPr>
          <p:cNvPr id="71" name="矩形 70">
            <a:extLst>
              <a:ext uri="{FF2B5EF4-FFF2-40B4-BE49-F238E27FC236}">
                <a16:creationId xmlns:a16="http://schemas.microsoft.com/office/drawing/2014/main" id="{FF6B495F-5C3F-4FA8-BC71-C172398C3E11}"/>
              </a:ext>
            </a:extLst>
          </p:cNvPr>
          <p:cNvSpPr/>
          <p:nvPr/>
        </p:nvSpPr>
        <p:spPr>
          <a:xfrm>
            <a:off x="2980415" y="2723147"/>
            <a:ext cx="1478610" cy="261610"/>
          </a:xfrm>
          <a:prstGeom prst="rect">
            <a:avLst/>
          </a:prstGeom>
        </p:spPr>
        <p:txBody>
          <a:bodyPr wrap="none">
            <a:spAutoFit/>
          </a:bodyPr>
          <a:lstStyle/>
          <a:p>
            <a:pPr marR="179705" algn="r">
              <a:lnSpc>
                <a:spcPct val="100000"/>
              </a:lnSpc>
              <a:spcBef>
                <a:spcPts val="5"/>
              </a:spcBef>
            </a:pPr>
            <a:r>
              <a:rPr lang="en-US" altLang="zh-TW" sz="1100" dirty="0"/>
              <a:t>Current capabilities</a:t>
            </a:r>
            <a:endParaRPr lang="en-US" altLang="zh-TW" sz="1100" dirty="0">
              <a:latin typeface="PMingLiU"/>
              <a:cs typeface="PMingLiU"/>
            </a:endParaRPr>
          </a:p>
        </p:txBody>
      </p:sp>
      <p:sp>
        <p:nvSpPr>
          <p:cNvPr id="73" name="矩形 72">
            <a:extLst>
              <a:ext uri="{FF2B5EF4-FFF2-40B4-BE49-F238E27FC236}">
                <a16:creationId xmlns:a16="http://schemas.microsoft.com/office/drawing/2014/main" id="{C70FC1ED-6CD7-4644-B637-121ABF84DACC}"/>
              </a:ext>
            </a:extLst>
          </p:cNvPr>
          <p:cNvSpPr/>
          <p:nvPr/>
        </p:nvSpPr>
        <p:spPr>
          <a:xfrm>
            <a:off x="736841" y="5320212"/>
            <a:ext cx="2967037" cy="461665"/>
          </a:xfrm>
          <a:prstGeom prst="rect">
            <a:avLst/>
          </a:prstGeom>
        </p:spPr>
        <p:txBody>
          <a:bodyPr wrap="square">
            <a:spAutoFit/>
          </a:bodyPr>
          <a:lstStyle/>
          <a:p>
            <a:r>
              <a:rPr lang="en-US" altLang="zh-TW" sz="1200" dirty="0">
                <a:solidFill>
                  <a:schemeClr val="accent2">
                    <a:lumMod val="75000"/>
                  </a:schemeClr>
                </a:solidFill>
              </a:rPr>
              <a:t>Current system cannot reliably classify routine objects versus anomalies</a:t>
            </a:r>
            <a:endParaRPr lang="zh-TW" altLang="en-US" sz="1200" dirty="0">
              <a:solidFill>
                <a:schemeClr val="accent2">
                  <a:lumMod val="75000"/>
                </a:schemeClr>
              </a:solidFill>
            </a:endParaRPr>
          </a:p>
        </p:txBody>
      </p:sp>
      <p:sp>
        <p:nvSpPr>
          <p:cNvPr id="76" name="文字方塊 75">
            <a:extLst>
              <a:ext uri="{FF2B5EF4-FFF2-40B4-BE49-F238E27FC236}">
                <a16:creationId xmlns:a16="http://schemas.microsoft.com/office/drawing/2014/main" id="{65283A88-44BA-4642-86E3-FB394ED6FCAF}"/>
              </a:ext>
            </a:extLst>
          </p:cNvPr>
          <p:cNvSpPr txBox="1"/>
          <p:nvPr/>
        </p:nvSpPr>
        <p:spPr>
          <a:xfrm>
            <a:off x="9124949" y="1689917"/>
            <a:ext cx="2865699" cy="369332"/>
          </a:xfrm>
          <a:prstGeom prst="rect">
            <a:avLst/>
          </a:prstGeom>
          <a:noFill/>
        </p:spPr>
        <p:txBody>
          <a:bodyPr wrap="square" rtlCol="0">
            <a:spAutoFit/>
          </a:bodyPr>
          <a:lstStyle/>
          <a:p>
            <a:r>
              <a:rPr lang="en-US" altLang="zh-TW" dirty="0"/>
              <a:t>Environmental safety</a:t>
            </a:r>
            <a:endParaRPr lang="en-US" altLang="zh-TW" b="1" dirty="0">
              <a:latin typeface="PMingLiU"/>
              <a:cs typeface="PMingLiU"/>
            </a:endParaRPr>
          </a:p>
        </p:txBody>
      </p:sp>
      <p:sp>
        <p:nvSpPr>
          <p:cNvPr id="77" name="矩形 76">
            <a:extLst>
              <a:ext uri="{FF2B5EF4-FFF2-40B4-BE49-F238E27FC236}">
                <a16:creationId xmlns:a16="http://schemas.microsoft.com/office/drawing/2014/main" id="{418BDFBD-B9A8-4F73-8EC5-E5880E93A0FD}"/>
              </a:ext>
            </a:extLst>
          </p:cNvPr>
          <p:cNvSpPr/>
          <p:nvPr/>
        </p:nvSpPr>
        <p:spPr>
          <a:xfrm>
            <a:off x="1243979" y="1586603"/>
            <a:ext cx="2781531" cy="369332"/>
          </a:xfrm>
          <a:prstGeom prst="rect">
            <a:avLst/>
          </a:prstGeom>
        </p:spPr>
        <p:txBody>
          <a:bodyPr wrap="none">
            <a:spAutoFit/>
          </a:bodyPr>
          <a:lstStyle/>
          <a:p>
            <a:r>
              <a:rPr lang="en-US" altLang="zh-TW" dirty="0"/>
              <a:t>Thermal imaging inspection</a:t>
            </a:r>
            <a:endParaRPr lang="zh-TW" altLang="en-US" dirty="0"/>
          </a:p>
        </p:txBody>
      </p:sp>
      <p:pic>
        <p:nvPicPr>
          <p:cNvPr id="78" name="object 18">
            <a:extLst>
              <a:ext uri="{FF2B5EF4-FFF2-40B4-BE49-F238E27FC236}">
                <a16:creationId xmlns:a16="http://schemas.microsoft.com/office/drawing/2014/main" id="{E9BC5687-D00D-410B-AB93-86A5F0F3FF9E}"/>
              </a:ext>
            </a:extLst>
          </p:cNvPr>
          <p:cNvPicPr/>
          <p:nvPr/>
        </p:nvPicPr>
        <p:blipFill>
          <a:blip r:embed="rId8" cstate="print"/>
          <a:stretch>
            <a:fillRect/>
          </a:stretch>
        </p:blipFill>
        <p:spPr>
          <a:xfrm>
            <a:off x="552122" y="1603024"/>
            <a:ext cx="247060" cy="281426"/>
          </a:xfrm>
          <a:prstGeom prst="rect">
            <a:avLst/>
          </a:prstGeom>
        </p:spPr>
      </p:pic>
      <p:sp>
        <p:nvSpPr>
          <p:cNvPr id="84" name="object 27">
            <a:extLst>
              <a:ext uri="{FF2B5EF4-FFF2-40B4-BE49-F238E27FC236}">
                <a16:creationId xmlns:a16="http://schemas.microsoft.com/office/drawing/2014/main" id="{48A28546-E5DA-4B66-8A06-15CF90A8943A}"/>
              </a:ext>
            </a:extLst>
          </p:cNvPr>
          <p:cNvSpPr txBox="1"/>
          <p:nvPr/>
        </p:nvSpPr>
        <p:spPr>
          <a:xfrm>
            <a:off x="8250483" y="2136548"/>
            <a:ext cx="3874841" cy="754694"/>
          </a:xfrm>
          <a:prstGeom prst="rect">
            <a:avLst/>
          </a:prstGeom>
        </p:spPr>
        <p:txBody>
          <a:bodyPr vert="horz" wrap="square" lIns="0" tIns="15875" rIns="0" bIns="0" rtlCol="0">
            <a:spAutoFit/>
          </a:bodyPr>
          <a:lstStyle/>
          <a:p>
            <a:pPr marL="193040"/>
            <a:r>
              <a:rPr lang="en-US" altLang="zh-TW" sz="1200" dirty="0">
                <a:ea typeface="Noto Sans TC" panose="020B0200000000000000" pitchFamily="34" charset="-120"/>
              </a:rPr>
              <a:t>Requirement: </a:t>
            </a:r>
            <a:endParaRPr lang="en-US" altLang="zh-TW" sz="1200" spc="-165" dirty="0">
              <a:solidFill>
                <a:srgbClr val="414141"/>
              </a:solidFill>
              <a:ea typeface="Noto Sans TC" panose="020B0200000000000000" pitchFamily="34" charset="-120"/>
              <a:cs typeface="SimSun"/>
            </a:endParaRPr>
          </a:p>
          <a:p>
            <a:pPr marL="364490" indent="-171450">
              <a:buFont typeface="Arial" panose="020B0604020202020204" pitchFamily="34" charset="0"/>
              <a:buChar char="•"/>
            </a:pPr>
            <a:r>
              <a:rPr lang="en-US" altLang="zh-TW" sz="1200" dirty="0">
                <a:ea typeface="Noto Sans TC" panose="020B0200000000000000" pitchFamily="34" charset="-120"/>
              </a:rPr>
              <a:t>Real-time personnel detection and verification</a:t>
            </a:r>
          </a:p>
          <a:p>
            <a:pPr marL="364490" indent="-171450">
              <a:buFont typeface="Arial" panose="020B0604020202020204" pitchFamily="34" charset="0"/>
              <a:buChar char="•"/>
            </a:pPr>
            <a:r>
              <a:rPr lang="zh-TW" altLang="en-US" sz="1200" dirty="0"/>
              <a:t>Obstacle  detection in walk ways</a:t>
            </a:r>
          </a:p>
          <a:p>
            <a:pPr marL="364490" indent="-171450">
              <a:buFont typeface="Arial" panose="020B0604020202020204" pitchFamily="34" charset="0"/>
              <a:buChar char="•"/>
            </a:pPr>
            <a:endParaRPr lang="en-US" altLang="zh-TW" sz="1200" spc="-165" dirty="0">
              <a:solidFill>
                <a:srgbClr val="414141"/>
              </a:solidFill>
              <a:ea typeface="Noto Sans TC" panose="020B0200000000000000" pitchFamily="34" charset="-120"/>
              <a:cs typeface="SimSun"/>
            </a:endParaRPr>
          </a:p>
        </p:txBody>
      </p:sp>
      <p:sp>
        <p:nvSpPr>
          <p:cNvPr id="85" name="矩形 84">
            <a:extLst>
              <a:ext uri="{FF2B5EF4-FFF2-40B4-BE49-F238E27FC236}">
                <a16:creationId xmlns:a16="http://schemas.microsoft.com/office/drawing/2014/main" id="{38B4F81F-8251-4CDF-8BBD-A5E982DDE12F}"/>
              </a:ext>
            </a:extLst>
          </p:cNvPr>
          <p:cNvSpPr/>
          <p:nvPr/>
        </p:nvSpPr>
        <p:spPr>
          <a:xfrm>
            <a:off x="6647540" y="2796035"/>
            <a:ext cx="1478610" cy="261610"/>
          </a:xfrm>
          <a:prstGeom prst="rect">
            <a:avLst/>
          </a:prstGeom>
        </p:spPr>
        <p:txBody>
          <a:bodyPr wrap="none">
            <a:spAutoFit/>
          </a:bodyPr>
          <a:lstStyle/>
          <a:p>
            <a:pPr marR="179705" algn="r">
              <a:lnSpc>
                <a:spcPct val="100000"/>
              </a:lnSpc>
              <a:spcBef>
                <a:spcPts val="5"/>
              </a:spcBef>
            </a:pPr>
            <a:r>
              <a:rPr lang="en-US" altLang="zh-TW" sz="1100" dirty="0"/>
              <a:t>Current capabilities</a:t>
            </a:r>
            <a:endParaRPr lang="en-US" altLang="zh-TW" sz="1100" dirty="0">
              <a:latin typeface="PMingLiU"/>
              <a:cs typeface="PMingLiU"/>
            </a:endParaRPr>
          </a:p>
        </p:txBody>
      </p:sp>
      <p:sp>
        <p:nvSpPr>
          <p:cNvPr id="86" name="矩形 85">
            <a:extLst>
              <a:ext uri="{FF2B5EF4-FFF2-40B4-BE49-F238E27FC236}">
                <a16:creationId xmlns:a16="http://schemas.microsoft.com/office/drawing/2014/main" id="{31826A1B-65C9-44A1-923D-FC051C375669}"/>
              </a:ext>
            </a:extLst>
          </p:cNvPr>
          <p:cNvSpPr/>
          <p:nvPr/>
        </p:nvSpPr>
        <p:spPr>
          <a:xfrm>
            <a:off x="10475243" y="2812419"/>
            <a:ext cx="1478610" cy="261610"/>
          </a:xfrm>
          <a:prstGeom prst="rect">
            <a:avLst/>
          </a:prstGeom>
        </p:spPr>
        <p:txBody>
          <a:bodyPr wrap="none">
            <a:spAutoFit/>
          </a:bodyPr>
          <a:lstStyle/>
          <a:p>
            <a:pPr marR="179705" algn="r">
              <a:lnSpc>
                <a:spcPct val="100000"/>
              </a:lnSpc>
              <a:spcBef>
                <a:spcPts val="5"/>
              </a:spcBef>
            </a:pPr>
            <a:r>
              <a:rPr lang="en-US" altLang="zh-TW" sz="1100" dirty="0"/>
              <a:t>Current capabilities</a:t>
            </a:r>
            <a:endParaRPr lang="en-US" altLang="zh-TW" sz="1100" dirty="0">
              <a:latin typeface="PMingLiU"/>
              <a:cs typeface="PMingLiU"/>
            </a:endParaRPr>
          </a:p>
        </p:txBody>
      </p:sp>
      <p:pic>
        <p:nvPicPr>
          <p:cNvPr id="90" name="Image 2" descr="preencoded.png">
            <a:extLst>
              <a:ext uri="{FF2B5EF4-FFF2-40B4-BE49-F238E27FC236}">
                <a16:creationId xmlns:a16="http://schemas.microsoft.com/office/drawing/2014/main" id="{2BDFACDD-27A7-474C-B741-B2A796B256DB}"/>
              </a:ext>
            </a:extLst>
          </p:cNvPr>
          <p:cNvPicPr>
            <a:picLocks noChangeAspect="1"/>
          </p:cNvPicPr>
          <p:nvPr/>
        </p:nvPicPr>
        <p:blipFill>
          <a:blip r:embed="rId9"/>
          <a:stretch>
            <a:fillRect/>
          </a:stretch>
        </p:blipFill>
        <p:spPr>
          <a:xfrm>
            <a:off x="4618206" y="1544046"/>
            <a:ext cx="249068" cy="282794"/>
          </a:xfrm>
          <a:prstGeom prst="rect">
            <a:avLst/>
          </a:prstGeom>
        </p:spPr>
      </p:pic>
      <p:pic>
        <p:nvPicPr>
          <p:cNvPr id="92" name="圖片 91">
            <a:extLst>
              <a:ext uri="{FF2B5EF4-FFF2-40B4-BE49-F238E27FC236}">
                <a16:creationId xmlns:a16="http://schemas.microsoft.com/office/drawing/2014/main" id="{DC1FEB1C-0E07-4CE7-B79F-9228B499C304}"/>
              </a:ext>
            </a:extLst>
          </p:cNvPr>
          <p:cNvPicPr>
            <a:picLocks noChangeAspect="1"/>
          </p:cNvPicPr>
          <p:nvPr/>
        </p:nvPicPr>
        <p:blipFill>
          <a:blip r:embed="rId10"/>
          <a:stretch>
            <a:fillRect/>
          </a:stretch>
        </p:blipFill>
        <p:spPr>
          <a:xfrm>
            <a:off x="880308" y="1598061"/>
            <a:ext cx="225572" cy="304826"/>
          </a:xfrm>
          <a:prstGeom prst="rect">
            <a:avLst/>
          </a:prstGeom>
        </p:spPr>
      </p:pic>
      <p:sp>
        <p:nvSpPr>
          <p:cNvPr id="95" name="矩形 94">
            <a:extLst>
              <a:ext uri="{FF2B5EF4-FFF2-40B4-BE49-F238E27FC236}">
                <a16:creationId xmlns:a16="http://schemas.microsoft.com/office/drawing/2014/main" id="{67A7A42C-4018-40F9-847A-2110F92FC8BA}"/>
              </a:ext>
            </a:extLst>
          </p:cNvPr>
          <p:cNvSpPr/>
          <p:nvPr/>
        </p:nvSpPr>
        <p:spPr>
          <a:xfrm>
            <a:off x="4714873" y="5382794"/>
            <a:ext cx="3648741" cy="415498"/>
          </a:xfrm>
          <a:prstGeom prst="rect">
            <a:avLst/>
          </a:prstGeom>
        </p:spPr>
        <p:txBody>
          <a:bodyPr wrap="square">
            <a:spAutoFit/>
          </a:bodyPr>
          <a:lstStyle/>
          <a:p>
            <a:r>
              <a:rPr lang="en-US" altLang="zh-TW" sz="1050" dirty="0">
                <a:solidFill>
                  <a:schemeClr val="accent2">
                    <a:lumMod val="75000"/>
                  </a:schemeClr>
                </a:solidFill>
              </a:rPr>
              <a:t>Current algorithm is unable to accurately perform localization and execute scheduled autonomous charging tasks.</a:t>
            </a:r>
            <a:endParaRPr lang="zh-TW" altLang="en-US" sz="1050" dirty="0">
              <a:solidFill>
                <a:schemeClr val="accent2">
                  <a:lumMod val="75000"/>
                </a:schemeClr>
              </a:solidFill>
            </a:endParaRPr>
          </a:p>
        </p:txBody>
      </p:sp>
    </p:spTree>
    <p:extLst>
      <p:ext uri="{BB962C8B-B14F-4D97-AF65-F5344CB8AC3E}">
        <p14:creationId xmlns:p14="http://schemas.microsoft.com/office/powerpoint/2010/main" val="3842441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object 2">
            <a:extLst>
              <a:ext uri="{FF2B5EF4-FFF2-40B4-BE49-F238E27FC236}">
                <a16:creationId xmlns:a16="http://schemas.microsoft.com/office/drawing/2014/main" id="{4776050F-B652-46E7-8E69-18B7BCEC921F}"/>
              </a:ext>
            </a:extLst>
          </p:cNvPr>
          <p:cNvSpPr/>
          <p:nvPr/>
        </p:nvSpPr>
        <p:spPr>
          <a:xfrm>
            <a:off x="0" y="0"/>
            <a:ext cx="11990070" cy="6856730"/>
          </a:xfrm>
          <a:custGeom>
            <a:avLst/>
            <a:gdLst/>
            <a:ahLst/>
            <a:cxnLst/>
            <a:rect l="l" t="t" r="r" b="b"/>
            <a:pathLst>
              <a:path w="11990070" h="6856730">
                <a:moveTo>
                  <a:pt x="11989510" y="6856501"/>
                </a:moveTo>
                <a:lnTo>
                  <a:pt x="0" y="6856501"/>
                </a:lnTo>
                <a:lnTo>
                  <a:pt x="0" y="0"/>
                </a:lnTo>
                <a:lnTo>
                  <a:pt x="11989510" y="0"/>
                </a:lnTo>
                <a:lnTo>
                  <a:pt x="11989510" y="6856501"/>
                </a:lnTo>
                <a:close/>
              </a:path>
            </a:pathLst>
          </a:custGeom>
          <a:solidFill>
            <a:srgbClr val="111726"/>
          </a:solidFill>
        </p:spPr>
        <p:txBody>
          <a:bodyPr wrap="square" lIns="0" tIns="0" rIns="0" bIns="0" rtlCol="0"/>
          <a:lstStyle/>
          <a:p>
            <a:endParaRPr/>
          </a:p>
        </p:txBody>
      </p:sp>
      <p:sp>
        <p:nvSpPr>
          <p:cNvPr id="2" name="object 2"/>
          <p:cNvSpPr/>
          <p:nvPr/>
        </p:nvSpPr>
        <p:spPr>
          <a:xfrm>
            <a:off x="457199" y="914399"/>
            <a:ext cx="914400" cy="38100"/>
          </a:xfrm>
          <a:custGeom>
            <a:avLst/>
            <a:gdLst/>
            <a:ahLst/>
            <a:cxnLst/>
            <a:rect l="l" t="t" r="r" b="b"/>
            <a:pathLst>
              <a:path w="914400" h="38100">
                <a:moveTo>
                  <a:pt x="897875" y="38099"/>
                </a:moveTo>
                <a:lnTo>
                  <a:pt x="16523" y="38099"/>
                </a:lnTo>
                <a:lnTo>
                  <a:pt x="14093" y="37616"/>
                </a:lnTo>
                <a:lnTo>
                  <a:pt x="0" y="21576"/>
                </a:lnTo>
                <a:lnTo>
                  <a:pt x="0" y="19049"/>
                </a:lnTo>
                <a:lnTo>
                  <a:pt x="0" y="16523"/>
                </a:lnTo>
                <a:lnTo>
                  <a:pt x="16523" y="0"/>
                </a:lnTo>
                <a:lnTo>
                  <a:pt x="897875" y="0"/>
                </a:lnTo>
                <a:lnTo>
                  <a:pt x="914399" y="16523"/>
                </a:lnTo>
                <a:lnTo>
                  <a:pt x="914399" y="21576"/>
                </a:lnTo>
                <a:lnTo>
                  <a:pt x="900305" y="37616"/>
                </a:lnTo>
                <a:lnTo>
                  <a:pt x="897875" y="38099"/>
                </a:lnTo>
                <a:close/>
              </a:path>
            </a:pathLst>
          </a:custGeom>
          <a:solidFill>
            <a:srgbClr val="21C45D"/>
          </a:solidFill>
        </p:spPr>
        <p:txBody>
          <a:bodyPr wrap="square" lIns="0" tIns="0" rIns="0" bIns="0" rtlCol="0"/>
          <a:lstStyle/>
          <a:p>
            <a:endParaRPr/>
          </a:p>
        </p:txBody>
      </p:sp>
      <p:sp>
        <p:nvSpPr>
          <p:cNvPr id="3" name="object 3"/>
          <p:cNvSpPr txBox="1">
            <a:spLocks noGrp="1"/>
          </p:cNvSpPr>
          <p:nvPr>
            <p:ph type="title"/>
          </p:nvPr>
        </p:nvSpPr>
        <p:spPr>
          <a:xfrm>
            <a:off x="485774" y="120509"/>
            <a:ext cx="10515600" cy="1325563"/>
          </a:xfrm>
          <a:prstGeom prst="rect">
            <a:avLst/>
          </a:prstGeom>
        </p:spPr>
        <p:txBody>
          <a:bodyPr vert="horz" wrap="square" lIns="0" tIns="12065" rIns="0" bIns="0" rtlCol="0">
            <a:spAutoFit/>
          </a:bodyPr>
          <a:lstStyle/>
          <a:p>
            <a:pPr marL="19685">
              <a:lnSpc>
                <a:spcPct val="100000"/>
              </a:lnSpc>
              <a:spcBef>
                <a:spcPts val="95"/>
              </a:spcBef>
            </a:pPr>
            <a:r>
              <a:rPr spc="-315" dirty="0">
                <a:solidFill>
                  <a:schemeClr val="bg1"/>
                </a:solidFill>
              </a:rPr>
              <a:t>機</a:t>
            </a:r>
            <a:r>
              <a:rPr sz="2900" spc="-210" dirty="0">
                <a:solidFill>
                  <a:schemeClr val="bg1"/>
                </a:solidFill>
                <a:latin typeface="PMingLiU"/>
                <a:cs typeface="PMingLiU"/>
              </a:rPr>
              <a:t>器</a:t>
            </a:r>
            <a:r>
              <a:rPr sz="2950" spc="-270" dirty="0">
                <a:solidFill>
                  <a:schemeClr val="bg1"/>
                </a:solidFill>
              </a:rPr>
              <a:t>狗</a:t>
            </a:r>
            <a:r>
              <a:rPr spc="-300" dirty="0">
                <a:solidFill>
                  <a:schemeClr val="bg1"/>
                </a:solidFill>
                <a:latin typeface="PMingLiU"/>
                <a:cs typeface="PMingLiU"/>
              </a:rPr>
              <a:t>巡</a:t>
            </a:r>
            <a:r>
              <a:rPr spc="-315" dirty="0">
                <a:solidFill>
                  <a:schemeClr val="bg1"/>
                </a:solidFill>
              </a:rPr>
              <a:t>檢功</a:t>
            </a:r>
            <a:r>
              <a:rPr sz="3050" spc="-370" dirty="0">
                <a:solidFill>
                  <a:schemeClr val="bg1"/>
                </a:solidFill>
                <a:latin typeface="PMingLiU"/>
                <a:cs typeface="PMingLiU"/>
              </a:rPr>
              <a:t>能</a:t>
            </a:r>
            <a:r>
              <a:rPr spc="-300" dirty="0">
                <a:solidFill>
                  <a:schemeClr val="bg1"/>
                </a:solidFill>
              </a:rPr>
              <a:t>技</a:t>
            </a:r>
            <a:r>
              <a:rPr sz="2950" spc="-270" dirty="0">
                <a:solidFill>
                  <a:schemeClr val="bg1"/>
                </a:solidFill>
              </a:rPr>
              <a:t>術</a:t>
            </a:r>
            <a:r>
              <a:rPr sz="2900" spc="-229" dirty="0">
                <a:solidFill>
                  <a:schemeClr val="bg1"/>
                </a:solidFill>
                <a:latin typeface="PMingLiU"/>
                <a:cs typeface="PMingLiU"/>
              </a:rPr>
              <a:t>開</a:t>
            </a:r>
            <a:r>
              <a:rPr spc="-380" dirty="0">
                <a:solidFill>
                  <a:schemeClr val="bg1"/>
                </a:solidFill>
              </a:rPr>
              <a:t>發</a:t>
            </a:r>
            <a:endParaRPr sz="2900" dirty="0">
              <a:solidFill>
                <a:schemeClr val="bg1"/>
              </a:solidFill>
              <a:latin typeface="PMingLiU"/>
              <a:cs typeface="PMingLiU"/>
            </a:endParaRPr>
          </a:p>
        </p:txBody>
      </p:sp>
      <p:grpSp>
        <p:nvGrpSpPr>
          <p:cNvPr id="4" name="object 4"/>
          <p:cNvGrpSpPr/>
          <p:nvPr/>
        </p:nvGrpSpPr>
        <p:grpSpPr>
          <a:xfrm>
            <a:off x="457199" y="1181099"/>
            <a:ext cx="5410200" cy="1066800"/>
            <a:chOff x="457199" y="1181099"/>
            <a:chExt cx="5410200" cy="1066800"/>
          </a:xfrm>
        </p:grpSpPr>
        <p:sp>
          <p:nvSpPr>
            <p:cNvPr id="5" name="object 5"/>
            <p:cNvSpPr/>
            <p:nvPr/>
          </p:nvSpPr>
          <p:spPr>
            <a:xfrm>
              <a:off x="457199" y="1181099"/>
              <a:ext cx="5410200" cy="1066800"/>
            </a:xfrm>
            <a:custGeom>
              <a:avLst/>
              <a:gdLst/>
              <a:ahLst/>
              <a:cxnLst/>
              <a:rect l="l" t="t" r="r" b="b"/>
              <a:pathLst>
                <a:path w="5410200" h="1066800">
                  <a:moveTo>
                    <a:pt x="5410199" y="1066799"/>
                  </a:moveTo>
                  <a:lnTo>
                    <a:pt x="0" y="1066799"/>
                  </a:lnTo>
                  <a:lnTo>
                    <a:pt x="0" y="0"/>
                  </a:lnTo>
                  <a:lnTo>
                    <a:pt x="5410199" y="0"/>
                  </a:lnTo>
                  <a:lnTo>
                    <a:pt x="5410199" y="1066799"/>
                  </a:lnTo>
                  <a:close/>
                </a:path>
              </a:pathLst>
            </a:custGeom>
            <a:solidFill>
              <a:srgbClr val="FFFFFF">
                <a:alpha val="5099"/>
              </a:srgbClr>
            </a:solidFill>
          </p:spPr>
          <p:txBody>
            <a:bodyPr wrap="square" lIns="0" tIns="0" rIns="0" bIns="0" rtlCol="0"/>
            <a:lstStyle/>
            <a:p>
              <a:endParaRPr/>
            </a:p>
          </p:txBody>
        </p:sp>
        <p:sp>
          <p:nvSpPr>
            <p:cNvPr id="6" name="object 6"/>
            <p:cNvSpPr/>
            <p:nvPr/>
          </p:nvSpPr>
          <p:spPr>
            <a:xfrm>
              <a:off x="457199" y="1181099"/>
              <a:ext cx="28575" cy="1066800"/>
            </a:xfrm>
            <a:custGeom>
              <a:avLst/>
              <a:gdLst/>
              <a:ahLst/>
              <a:cxnLst/>
              <a:rect l="l" t="t" r="r" b="b"/>
              <a:pathLst>
                <a:path w="28575" h="1066800">
                  <a:moveTo>
                    <a:pt x="28574" y="1066799"/>
                  </a:moveTo>
                  <a:lnTo>
                    <a:pt x="0" y="1066799"/>
                  </a:lnTo>
                  <a:lnTo>
                    <a:pt x="0" y="0"/>
                  </a:lnTo>
                  <a:lnTo>
                    <a:pt x="28574" y="0"/>
                  </a:lnTo>
                  <a:lnTo>
                    <a:pt x="28574" y="1066799"/>
                  </a:lnTo>
                  <a:close/>
                </a:path>
              </a:pathLst>
            </a:custGeom>
            <a:solidFill>
              <a:srgbClr val="4BAF4F"/>
            </a:solidFill>
          </p:spPr>
          <p:txBody>
            <a:bodyPr wrap="square" lIns="0" tIns="0" rIns="0" bIns="0" rtlCol="0"/>
            <a:lstStyle/>
            <a:p>
              <a:endParaRPr/>
            </a:p>
          </p:txBody>
        </p:sp>
        <p:pic>
          <p:nvPicPr>
            <p:cNvPr id="7" name="object 7"/>
            <p:cNvPicPr/>
            <p:nvPr/>
          </p:nvPicPr>
          <p:blipFill>
            <a:blip r:embed="rId2" cstate="print"/>
            <a:stretch>
              <a:fillRect/>
            </a:stretch>
          </p:blipFill>
          <p:spPr>
            <a:xfrm>
              <a:off x="638174" y="1333499"/>
              <a:ext cx="257174" cy="304799"/>
            </a:xfrm>
            <a:prstGeom prst="rect">
              <a:avLst/>
            </a:prstGeom>
          </p:spPr>
        </p:pic>
      </p:grpSp>
      <p:grpSp>
        <p:nvGrpSpPr>
          <p:cNvPr id="8" name="object 8"/>
          <p:cNvGrpSpPr/>
          <p:nvPr/>
        </p:nvGrpSpPr>
        <p:grpSpPr>
          <a:xfrm>
            <a:off x="457199" y="2400299"/>
            <a:ext cx="5410200" cy="1638300"/>
            <a:chOff x="457199" y="2400299"/>
            <a:chExt cx="5410200" cy="1638300"/>
          </a:xfrm>
        </p:grpSpPr>
        <p:sp>
          <p:nvSpPr>
            <p:cNvPr id="9" name="object 9"/>
            <p:cNvSpPr/>
            <p:nvPr/>
          </p:nvSpPr>
          <p:spPr>
            <a:xfrm>
              <a:off x="457199" y="2400299"/>
              <a:ext cx="5410200" cy="1638300"/>
            </a:xfrm>
            <a:custGeom>
              <a:avLst/>
              <a:gdLst/>
              <a:ahLst/>
              <a:cxnLst/>
              <a:rect l="l" t="t" r="r" b="b"/>
              <a:pathLst>
                <a:path w="5410200" h="1638300">
                  <a:moveTo>
                    <a:pt x="5410199" y="1638299"/>
                  </a:moveTo>
                  <a:lnTo>
                    <a:pt x="0" y="1638299"/>
                  </a:lnTo>
                  <a:lnTo>
                    <a:pt x="0" y="0"/>
                  </a:lnTo>
                  <a:lnTo>
                    <a:pt x="5410199" y="0"/>
                  </a:lnTo>
                  <a:lnTo>
                    <a:pt x="5410199" y="1638299"/>
                  </a:lnTo>
                  <a:close/>
                </a:path>
              </a:pathLst>
            </a:custGeom>
            <a:solidFill>
              <a:srgbClr val="FFFFFF">
                <a:alpha val="5099"/>
              </a:srgbClr>
            </a:solidFill>
          </p:spPr>
          <p:txBody>
            <a:bodyPr wrap="square" lIns="0" tIns="0" rIns="0" bIns="0" rtlCol="0"/>
            <a:lstStyle/>
            <a:p>
              <a:endParaRPr/>
            </a:p>
          </p:txBody>
        </p:sp>
        <p:sp>
          <p:nvSpPr>
            <p:cNvPr id="10" name="object 10"/>
            <p:cNvSpPr/>
            <p:nvPr/>
          </p:nvSpPr>
          <p:spPr>
            <a:xfrm>
              <a:off x="457199" y="2400299"/>
              <a:ext cx="28575" cy="1638300"/>
            </a:xfrm>
            <a:custGeom>
              <a:avLst/>
              <a:gdLst/>
              <a:ahLst/>
              <a:cxnLst/>
              <a:rect l="l" t="t" r="r" b="b"/>
              <a:pathLst>
                <a:path w="28575" h="1638300">
                  <a:moveTo>
                    <a:pt x="28574" y="1638299"/>
                  </a:moveTo>
                  <a:lnTo>
                    <a:pt x="0" y="1638299"/>
                  </a:lnTo>
                  <a:lnTo>
                    <a:pt x="0" y="0"/>
                  </a:lnTo>
                  <a:lnTo>
                    <a:pt x="28574" y="0"/>
                  </a:lnTo>
                  <a:lnTo>
                    <a:pt x="28574" y="1638299"/>
                  </a:lnTo>
                  <a:close/>
                </a:path>
              </a:pathLst>
            </a:custGeom>
            <a:solidFill>
              <a:srgbClr val="4BAF4F"/>
            </a:solidFill>
          </p:spPr>
          <p:txBody>
            <a:bodyPr wrap="square" lIns="0" tIns="0" rIns="0" bIns="0" rtlCol="0"/>
            <a:lstStyle/>
            <a:p>
              <a:endParaRPr/>
            </a:p>
          </p:txBody>
        </p:sp>
        <p:pic>
          <p:nvPicPr>
            <p:cNvPr id="11" name="object 11"/>
            <p:cNvPicPr/>
            <p:nvPr/>
          </p:nvPicPr>
          <p:blipFill>
            <a:blip r:embed="rId3" cstate="print"/>
            <a:stretch>
              <a:fillRect/>
            </a:stretch>
          </p:blipFill>
          <p:spPr>
            <a:xfrm>
              <a:off x="638174" y="2552699"/>
              <a:ext cx="257174" cy="304799"/>
            </a:xfrm>
            <a:prstGeom prst="rect">
              <a:avLst/>
            </a:prstGeom>
          </p:spPr>
        </p:pic>
        <p:sp>
          <p:nvSpPr>
            <p:cNvPr id="12" name="object 12"/>
            <p:cNvSpPr/>
            <p:nvPr/>
          </p:nvSpPr>
          <p:spPr>
            <a:xfrm>
              <a:off x="800087" y="3019424"/>
              <a:ext cx="38100" cy="800100"/>
            </a:xfrm>
            <a:custGeom>
              <a:avLst/>
              <a:gdLst/>
              <a:ahLst/>
              <a:cxnLst/>
              <a:rect l="l" t="t" r="r" b="b"/>
              <a:pathLst>
                <a:path w="38100" h="800100">
                  <a:moveTo>
                    <a:pt x="38100" y="778535"/>
                  </a:moveTo>
                  <a:lnTo>
                    <a:pt x="21577" y="762000"/>
                  </a:lnTo>
                  <a:lnTo>
                    <a:pt x="16535" y="762000"/>
                  </a:lnTo>
                  <a:lnTo>
                    <a:pt x="0" y="778535"/>
                  </a:lnTo>
                  <a:lnTo>
                    <a:pt x="0" y="783577"/>
                  </a:lnTo>
                  <a:lnTo>
                    <a:pt x="16535" y="800100"/>
                  </a:lnTo>
                  <a:lnTo>
                    <a:pt x="21577" y="800100"/>
                  </a:lnTo>
                  <a:lnTo>
                    <a:pt x="38100" y="783577"/>
                  </a:lnTo>
                  <a:lnTo>
                    <a:pt x="38100" y="781050"/>
                  </a:lnTo>
                  <a:lnTo>
                    <a:pt x="38100" y="778535"/>
                  </a:lnTo>
                  <a:close/>
                </a:path>
                <a:path w="38100" h="800100">
                  <a:moveTo>
                    <a:pt x="38100" y="588035"/>
                  </a:moveTo>
                  <a:lnTo>
                    <a:pt x="21577" y="571500"/>
                  </a:lnTo>
                  <a:lnTo>
                    <a:pt x="16535" y="571500"/>
                  </a:lnTo>
                  <a:lnTo>
                    <a:pt x="0" y="588035"/>
                  </a:lnTo>
                  <a:lnTo>
                    <a:pt x="0" y="593077"/>
                  </a:lnTo>
                  <a:lnTo>
                    <a:pt x="16535" y="609600"/>
                  </a:lnTo>
                  <a:lnTo>
                    <a:pt x="21577" y="609600"/>
                  </a:lnTo>
                  <a:lnTo>
                    <a:pt x="38100" y="593077"/>
                  </a:lnTo>
                  <a:lnTo>
                    <a:pt x="38100" y="590550"/>
                  </a:lnTo>
                  <a:lnTo>
                    <a:pt x="38100" y="588035"/>
                  </a:lnTo>
                  <a:close/>
                </a:path>
                <a:path w="38100" h="800100">
                  <a:moveTo>
                    <a:pt x="38100" y="397535"/>
                  </a:moveTo>
                  <a:lnTo>
                    <a:pt x="21577" y="381000"/>
                  </a:lnTo>
                  <a:lnTo>
                    <a:pt x="16535" y="381000"/>
                  </a:lnTo>
                  <a:lnTo>
                    <a:pt x="0" y="397535"/>
                  </a:lnTo>
                  <a:lnTo>
                    <a:pt x="0" y="402577"/>
                  </a:lnTo>
                  <a:lnTo>
                    <a:pt x="16535" y="419100"/>
                  </a:lnTo>
                  <a:lnTo>
                    <a:pt x="21577" y="419100"/>
                  </a:lnTo>
                  <a:lnTo>
                    <a:pt x="38100" y="402577"/>
                  </a:lnTo>
                  <a:lnTo>
                    <a:pt x="38100" y="400050"/>
                  </a:lnTo>
                  <a:lnTo>
                    <a:pt x="38100" y="397535"/>
                  </a:lnTo>
                  <a:close/>
                </a:path>
                <a:path w="38100" h="800100">
                  <a:moveTo>
                    <a:pt x="38100" y="207035"/>
                  </a:moveTo>
                  <a:lnTo>
                    <a:pt x="21577" y="190500"/>
                  </a:lnTo>
                  <a:lnTo>
                    <a:pt x="16535" y="190500"/>
                  </a:lnTo>
                  <a:lnTo>
                    <a:pt x="0" y="207035"/>
                  </a:lnTo>
                  <a:lnTo>
                    <a:pt x="0" y="212077"/>
                  </a:lnTo>
                  <a:lnTo>
                    <a:pt x="16535" y="228600"/>
                  </a:lnTo>
                  <a:lnTo>
                    <a:pt x="21577" y="228600"/>
                  </a:lnTo>
                  <a:lnTo>
                    <a:pt x="38100" y="212077"/>
                  </a:lnTo>
                  <a:lnTo>
                    <a:pt x="38100" y="209550"/>
                  </a:lnTo>
                  <a:lnTo>
                    <a:pt x="38100" y="207035"/>
                  </a:lnTo>
                  <a:close/>
                </a:path>
                <a:path w="38100" h="800100">
                  <a:moveTo>
                    <a:pt x="38100" y="16535"/>
                  </a:moveTo>
                  <a:lnTo>
                    <a:pt x="21577" y="0"/>
                  </a:lnTo>
                  <a:lnTo>
                    <a:pt x="16535" y="0"/>
                  </a:lnTo>
                  <a:lnTo>
                    <a:pt x="0" y="16535"/>
                  </a:lnTo>
                  <a:lnTo>
                    <a:pt x="0" y="21577"/>
                  </a:lnTo>
                  <a:lnTo>
                    <a:pt x="16535" y="38100"/>
                  </a:lnTo>
                  <a:lnTo>
                    <a:pt x="21577" y="38100"/>
                  </a:lnTo>
                  <a:lnTo>
                    <a:pt x="38100" y="21577"/>
                  </a:lnTo>
                  <a:lnTo>
                    <a:pt x="38100" y="19050"/>
                  </a:lnTo>
                  <a:lnTo>
                    <a:pt x="38100" y="16535"/>
                  </a:lnTo>
                  <a:close/>
                </a:path>
              </a:pathLst>
            </a:custGeom>
            <a:solidFill>
              <a:srgbClr val="D0D5DA"/>
            </a:solidFill>
          </p:spPr>
          <p:txBody>
            <a:bodyPr wrap="square" lIns="0" tIns="0" rIns="0" bIns="0" rtlCol="0"/>
            <a:lstStyle/>
            <a:p>
              <a:endParaRPr/>
            </a:p>
          </p:txBody>
        </p:sp>
      </p:grpSp>
      <p:grpSp>
        <p:nvGrpSpPr>
          <p:cNvPr id="13" name="object 13"/>
          <p:cNvGrpSpPr/>
          <p:nvPr/>
        </p:nvGrpSpPr>
        <p:grpSpPr>
          <a:xfrm>
            <a:off x="457199" y="4190999"/>
            <a:ext cx="5410200" cy="1524000"/>
            <a:chOff x="457199" y="4190999"/>
            <a:chExt cx="5410200" cy="1524000"/>
          </a:xfrm>
        </p:grpSpPr>
        <p:sp>
          <p:nvSpPr>
            <p:cNvPr id="14" name="object 14"/>
            <p:cNvSpPr/>
            <p:nvPr/>
          </p:nvSpPr>
          <p:spPr>
            <a:xfrm>
              <a:off x="457199" y="4190999"/>
              <a:ext cx="5410200" cy="1524000"/>
            </a:xfrm>
            <a:custGeom>
              <a:avLst/>
              <a:gdLst/>
              <a:ahLst/>
              <a:cxnLst/>
              <a:rect l="l" t="t" r="r" b="b"/>
              <a:pathLst>
                <a:path w="5410200" h="1524000">
                  <a:moveTo>
                    <a:pt x="5410199" y="1523999"/>
                  </a:moveTo>
                  <a:lnTo>
                    <a:pt x="0" y="1523999"/>
                  </a:lnTo>
                  <a:lnTo>
                    <a:pt x="0" y="0"/>
                  </a:lnTo>
                  <a:lnTo>
                    <a:pt x="5410199" y="0"/>
                  </a:lnTo>
                  <a:lnTo>
                    <a:pt x="5410199" y="1523999"/>
                  </a:lnTo>
                  <a:close/>
                </a:path>
              </a:pathLst>
            </a:custGeom>
            <a:solidFill>
              <a:srgbClr val="FFFFFF">
                <a:alpha val="5099"/>
              </a:srgbClr>
            </a:solidFill>
          </p:spPr>
          <p:txBody>
            <a:bodyPr wrap="square" lIns="0" tIns="0" rIns="0" bIns="0" rtlCol="0"/>
            <a:lstStyle/>
            <a:p>
              <a:endParaRPr/>
            </a:p>
          </p:txBody>
        </p:sp>
        <p:sp>
          <p:nvSpPr>
            <p:cNvPr id="15" name="object 15"/>
            <p:cNvSpPr/>
            <p:nvPr/>
          </p:nvSpPr>
          <p:spPr>
            <a:xfrm>
              <a:off x="457199" y="4190999"/>
              <a:ext cx="28575" cy="1524000"/>
            </a:xfrm>
            <a:custGeom>
              <a:avLst/>
              <a:gdLst/>
              <a:ahLst/>
              <a:cxnLst/>
              <a:rect l="l" t="t" r="r" b="b"/>
              <a:pathLst>
                <a:path w="28575" h="1524000">
                  <a:moveTo>
                    <a:pt x="28574" y="1523999"/>
                  </a:moveTo>
                  <a:lnTo>
                    <a:pt x="0" y="1523999"/>
                  </a:lnTo>
                  <a:lnTo>
                    <a:pt x="0" y="0"/>
                  </a:lnTo>
                  <a:lnTo>
                    <a:pt x="28574" y="0"/>
                  </a:lnTo>
                  <a:lnTo>
                    <a:pt x="28574" y="1523999"/>
                  </a:lnTo>
                  <a:close/>
                </a:path>
              </a:pathLst>
            </a:custGeom>
            <a:solidFill>
              <a:srgbClr val="4BAF4F"/>
            </a:solidFill>
          </p:spPr>
          <p:txBody>
            <a:bodyPr wrap="square" lIns="0" tIns="0" rIns="0" bIns="0" rtlCol="0"/>
            <a:lstStyle/>
            <a:p>
              <a:endParaRPr/>
            </a:p>
          </p:txBody>
        </p:sp>
        <p:pic>
          <p:nvPicPr>
            <p:cNvPr id="16" name="object 16"/>
            <p:cNvPicPr/>
            <p:nvPr/>
          </p:nvPicPr>
          <p:blipFill>
            <a:blip r:embed="rId4" cstate="print"/>
            <a:stretch>
              <a:fillRect/>
            </a:stretch>
          </p:blipFill>
          <p:spPr>
            <a:xfrm>
              <a:off x="638174" y="4343399"/>
              <a:ext cx="228599" cy="304799"/>
            </a:xfrm>
            <a:prstGeom prst="rect">
              <a:avLst/>
            </a:prstGeom>
          </p:spPr>
        </p:pic>
        <p:sp>
          <p:nvSpPr>
            <p:cNvPr id="17" name="object 17"/>
            <p:cNvSpPr/>
            <p:nvPr/>
          </p:nvSpPr>
          <p:spPr>
            <a:xfrm>
              <a:off x="800087" y="5076824"/>
              <a:ext cx="38100" cy="419100"/>
            </a:xfrm>
            <a:custGeom>
              <a:avLst/>
              <a:gdLst/>
              <a:ahLst/>
              <a:cxnLst/>
              <a:rect l="l" t="t" r="r" b="b"/>
              <a:pathLst>
                <a:path w="38100" h="419100">
                  <a:moveTo>
                    <a:pt x="38100" y="397535"/>
                  </a:moveTo>
                  <a:lnTo>
                    <a:pt x="21577" y="381000"/>
                  </a:lnTo>
                  <a:lnTo>
                    <a:pt x="16535" y="381000"/>
                  </a:lnTo>
                  <a:lnTo>
                    <a:pt x="0" y="397535"/>
                  </a:lnTo>
                  <a:lnTo>
                    <a:pt x="0" y="402577"/>
                  </a:lnTo>
                  <a:lnTo>
                    <a:pt x="16535" y="419100"/>
                  </a:lnTo>
                  <a:lnTo>
                    <a:pt x="21577" y="419100"/>
                  </a:lnTo>
                  <a:lnTo>
                    <a:pt x="38100" y="402577"/>
                  </a:lnTo>
                  <a:lnTo>
                    <a:pt x="38100" y="400050"/>
                  </a:lnTo>
                  <a:lnTo>
                    <a:pt x="38100" y="397535"/>
                  </a:lnTo>
                  <a:close/>
                </a:path>
                <a:path w="38100" h="419100">
                  <a:moveTo>
                    <a:pt x="38100" y="207035"/>
                  </a:moveTo>
                  <a:lnTo>
                    <a:pt x="21577" y="190500"/>
                  </a:lnTo>
                  <a:lnTo>
                    <a:pt x="16535" y="190500"/>
                  </a:lnTo>
                  <a:lnTo>
                    <a:pt x="0" y="207035"/>
                  </a:lnTo>
                  <a:lnTo>
                    <a:pt x="0" y="212077"/>
                  </a:lnTo>
                  <a:lnTo>
                    <a:pt x="16535" y="228600"/>
                  </a:lnTo>
                  <a:lnTo>
                    <a:pt x="21577" y="228600"/>
                  </a:lnTo>
                  <a:lnTo>
                    <a:pt x="38100" y="212077"/>
                  </a:lnTo>
                  <a:lnTo>
                    <a:pt x="38100" y="209550"/>
                  </a:lnTo>
                  <a:lnTo>
                    <a:pt x="38100" y="207035"/>
                  </a:lnTo>
                  <a:close/>
                </a:path>
                <a:path w="38100" h="419100">
                  <a:moveTo>
                    <a:pt x="38100" y="16535"/>
                  </a:moveTo>
                  <a:lnTo>
                    <a:pt x="21577" y="0"/>
                  </a:lnTo>
                  <a:lnTo>
                    <a:pt x="16535" y="0"/>
                  </a:lnTo>
                  <a:lnTo>
                    <a:pt x="0" y="16535"/>
                  </a:lnTo>
                  <a:lnTo>
                    <a:pt x="0" y="21577"/>
                  </a:lnTo>
                  <a:lnTo>
                    <a:pt x="16535" y="38100"/>
                  </a:lnTo>
                  <a:lnTo>
                    <a:pt x="21577" y="38100"/>
                  </a:lnTo>
                  <a:lnTo>
                    <a:pt x="38100" y="21577"/>
                  </a:lnTo>
                  <a:lnTo>
                    <a:pt x="38100" y="19050"/>
                  </a:lnTo>
                  <a:lnTo>
                    <a:pt x="38100" y="16535"/>
                  </a:lnTo>
                  <a:close/>
                </a:path>
              </a:pathLst>
            </a:custGeom>
            <a:solidFill>
              <a:srgbClr val="D0D5DA"/>
            </a:solidFill>
          </p:spPr>
          <p:txBody>
            <a:bodyPr wrap="square" lIns="0" tIns="0" rIns="0" bIns="0" rtlCol="0"/>
            <a:lstStyle/>
            <a:p>
              <a:endParaRPr/>
            </a:p>
          </p:txBody>
        </p:sp>
      </p:grpSp>
      <p:sp>
        <p:nvSpPr>
          <p:cNvPr id="18" name="object 18"/>
          <p:cNvSpPr txBox="1"/>
          <p:nvPr/>
        </p:nvSpPr>
        <p:spPr>
          <a:xfrm>
            <a:off x="485774" y="1321097"/>
            <a:ext cx="5381625" cy="766445"/>
          </a:xfrm>
          <a:prstGeom prst="rect">
            <a:avLst/>
          </a:prstGeom>
        </p:spPr>
        <p:txBody>
          <a:bodyPr vert="horz" wrap="square" lIns="0" tIns="15240" rIns="0" bIns="0" rtlCol="0">
            <a:spAutoFit/>
          </a:bodyPr>
          <a:lstStyle/>
          <a:p>
            <a:pPr marL="523240">
              <a:lnSpc>
                <a:spcPct val="100000"/>
              </a:lnSpc>
              <a:spcBef>
                <a:spcPts val="120"/>
              </a:spcBef>
            </a:pPr>
            <a:r>
              <a:rPr sz="1500" b="1" spc="120" dirty="0">
                <a:solidFill>
                  <a:srgbClr val="FFFFFF"/>
                </a:solidFill>
                <a:latin typeface="Gill Sans MT"/>
                <a:cs typeface="Gill Sans MT"/>
              </a:rPr>
              <a:t>ROS2</a:t>
            </a:r>
            <a:r>
              <a:rPr sz="1500" b="1" spc="114" dirty="0">
                <a:solidFill>
                  <a:srgbClr val="FFFFFF"/>
                </a:solidFill>
                <a:latin typeface="Gill Sans MT"/>
                <a:cs typeface="Gill Sans MT"/>
              </a:rPr>
              <a:t> </a:t>
            </a:r>
            <a:r>
              <a:rPr sz="1650" spc="-165" dirty="0">
                <a:solidFill>
                  <a:srgbClr val="FFFFFF"/>
                </a:solidFill>
                <a:latin typeface="SimSun"/>
                <a:cs typeface="SimSun"/>
              </a:rPr>
              <a:t>核</a:t>
            </a:r>
            <a:r>
              <a:rPr sz="1700" spc="-210" dirty="0">
                <a:solidFill>
                  <a:srgbClr val="FFFFFF"/>
                </a:solidFill>
                <a:latin typeface="PMingLiU"/>
                <a:cs typeface="PMingLiU"/>
              </a:rPr>
              <a:t>心</a:t>
            </a:r>
            <a:r>
              <a:rPr sz="1650" spc="-110" dirty="0">
                <a:solidFill>
                  <a:srgbClr val="FFFFFF"/>
                </a:solidFill>
                <a:latin typeface="SimSun"/>
                <a:cs typeface="SimSun"/>
              </a:rPr>
              <a:t>架構</a:t>
            </a:r>
            <a:endParaRPr sz="1650" dirty="0">
              <a:latin typeface="SimSun"/>
              <a:cs typeface="SimSun"/>
            </a:endParaRPr>
          </a:p>
          <a:p>
            <a:pPr marL="152400" marR="264160">
              <a:lnSpc>
                <a:spcPct val="119000"/>
              </a:lnSpc>
              <a:spcBef>
                <a:spcPts val="770"/>
              </a:spcBef>
            </a:pPr>
            <a:r>
              <a:rPr sz="1050" dirty="0">
                <a:solidFill>
                  <a:srgbClr val="D0D5DA"/>
                </a:solidFill>
                <a:latin typeface="PMingLiU"/>
                <a:cs typeface="PMingLiU"/>
              </a:rPr>
              <a:t>採用分散式架構，將複雜功能分解為多個獨立節點，透過</a:t>
            </a:r>
            <a:r>
              <a:rPr sz="1050" spc="155" dirty="0">
                <a:solidFill>
                  <a:srgbClr val="D0D5DA"/>
                </a:solidFill>
                <a:latin typeface="Trebuchet MS"/>
                <a:cs typeface="Trebuchet MS"/>
              </a:rPr>
              <a:t>DDS</a:t>
            </a:r>
            <a:r>
              <a:rPr sz="1050" spc="-5" dirty="0">
                <a:solidFill>
                  <a:srgbClr val="D0D5DA"/>
                </a:solidFill>
                <a:latin typeface="PMingLiU"/>
                <a:cs typeface="PMingLiU"/>
              </a:rPr>
              <a:t>實現高效通訊與協同運</a:t>
            </a:r>
            <a:r>
              <a:rPr sz="1050" spc="-25" dirty="0">
                <a:solidFill>
                  <a:srgbClr val="D0D5DA"/>
                </a:solidFill>
                <a:latin typeface="PMingLiU"/>
                <a:cs typeface="PMingLiU"/>
              </a:rPr>
              <a:t>動。</a:t>
            </a:r>
            <a:endParaRPr sz="1050" dirty="0">
              <a:latin typeface="PMingLiU"/>
              <a:cs typeface="PMingLiU"/>
            </a:endParaRPr>
          </a:p>
        </p:txBody>
      </p:sp>
      <p:sp>
        <p:nvSpPr>
          <p:cNvPr id="19" name="object 19"/>
          <p:cNvSpPr txBox="1"/>
          <p:nvPr/>
        </p:nvSpPr>
        <p:spPr>
          <a:xfrm>
            <a:off x="485774" y="2540669"/>
            <a:ext cx="5381625" cy="1337310"/>
          </a:xfrm>
          <a:prstGeom prst="rect">
            <a:avLst/>
          </a:prstGeom>
        </p:spPr>
        <p:txBody>
          <a:bodyPr vert="horz" wrap="square" lIns="0" tIns="15240" rIns="0" bIns="0" rtlCol="0">
            <a:spAutoFit/>
          </a:bodyPr>
          <a:lstStyle/>
          <a:p>
            <a:pPr marL="523240">
              <a:lnSpc>
                <a:spcPct val="100000"/>
              </a:lnSpc>
              <a:spcBef>
                <a:spcPts val="120"/>
              </a:spcBef>
            </a:pPr>
            <a:r>
              <a:rPr sz="1500" b="1" spc="150" dirty="0">
                <a:solidFill>
                  <a:srgbClr val="FFFFFF"/>
                </a:solidFill>
                <a:latin typeface="Gill Sans MT"/>
                <a:cs typeface="Gill Sans MT"/>
              </a:rPr>
              <a:t>Navigation</a:t>
            </a:r>
            <a:r>
              <a:rPr sz="1500" b="1" spc="125" dirty="0">
                <a:solidFill>
                  <a:srgbClr val="FFFFFF"/>
                </a:solidFill>
                <a:latin typeface="Gill Sans MT"/>
                <a:cs typeface="Gill Sans MT"/>
              </a:rPr>
              <a:t> </a:t>
            </a:r>
            <a:r>
              <a:rPr sz="1500" b="1" spc="210" dirty="0">
                <a:solidFill>
                  <a:srgbClr val="FFFFFF"/>
                </a:solidFill>
                <a:latin typeface="Gill Sans MT"/>
                <a:cs typeface="Gill Sans MT"/>
              </a:rPr>
              <a:t>2</a:t>
            </a:r>
            <a:r>
              <a:rPr sz="1500" b="1" spc="125" dirty="0">
                <a:solidFill>
                  <a:srgbClr val="FFFFFF"/>
                </a:solidFill>
                <a:latin typeface="Gill Sans MT"/>
                <a:cs typeface="Gill Sans MT"/>
              </a:rPr>
              <a:t> </a:t>
            </a:r>
            <a:r>
              <a:rPr sz="1700" spc="-175" dirty="0">
                <a:solidFill>
                  <a:srgbClr val="FFFFFF"/>
                </a:solidFill>
                <a:latin typeface="SimSun"/>
                <a:cs typeface="SimSun"/>
              </a:rPr>
              <a:t>導航系統</a:t>
            </a:r>
            <a:endParaRPr sz="1700">
              <a:latin typeface="SimSun"/>
              <a:cs typeface="SimSun"/>
            </a:endParaRPr>
          </a:p>
          <a:p>
            <a:pPr marL="456565">
              <a:lnSpc>
                <a:spcPct val="100000"/>
              </a:lnSpc>
              <a:spcBef>
                <a:spcPts val="1010"/>
              </a:spcBef>
            </a:pPr>
            <a:r>
              <a:rPr sz="1050" spc="15" dirty="0">
                <a:solidFill>
                  <a:srgbClr val="D0D5DA"/>
                </a:solidFill>
                <a:latin typeface="PMingLiU"/>
                <a:cs typeface="PMingLiU"/>
              </a:rPr>
              <a:t>定位 </a:t>
            </a:r>
            <a:r>
              <a:rPr sz="1050" spc="-10" dirty="0">
                <a:solidFill>
                  <a:srgbClr val="D0D5DA"/>
                </a:solidFill>
                <a:latin typeface="Trebuchet MS"/>
                <a:cs typeface="Trebuchet MS"/>
              </a:rPr>
              <a:t>(Localization)</a:t>
            </a:r>
            <a:endParaRPr sz="1050">
              <a:latin typeface="Trebuchet MS"/>
              <a:cs typeface="Trebuchet MS"/>
            </a:endParaRPr>
          </a:p>
          <a:p>
            <a:pPr marL="456565">
              <a:lnSpc>
                <a:spcPct val="100000"/>
              </a:lnSpc>
              <a:spcBef>
                <a:spcPts val="240"/>
              </a:spcBef>
            </a:pPr>
            <a:r>
              <a:rPr sz="1050" spc="30" dirty="0">
                <a:solidFill>
                  <a:srgbClr val="D0D5DA"/>
                </a:solidFill>
                <a:latin typeface="PMingLiU"/>
                <a:cs typeface="PMingLiU"/>
              </a:rPr>
              <a:t>全局路徑規劃 </a:t>
            </a:r>
            <a:r>
              <a:rPr sz="1050" dirty="0">
                <a:solidFill>
                  <a:srgbClr val="D0D5DA"/>
                </a:solidFill>
                <a:latin typeface="Trebuchet MS"/>
                <a:cs typeface="Trebuchet MS"/>
              </a:rPr>
              <a:t>(Global</a:t>
            </a:r>
            <a:r>
              <a:rPr sz="1050" spc="170" dirty="0">
                <a:solidFill>
                  <a:srgbClr val="D0D5DA"/>
                </a:solidFill>
                <a:latin typeface="Trebuchet MS"/>
                <a:cs typeface="Trebuchet MS"/>
              </a:rPr>
              <a:t> </a:t>
            </a:r>
            <a:r>
              <a:rPr sz="1050" dirty="0">
                <a:solidFill>
                  <a:srgbClr val="D0D5DA"/>
                </a:solidFill>
                <a:latin typeface="Trebuchet MS"/>
                <a:cs typeface="Trebuchet MS"/>
              </a:rPr>
              <a:t>Path</a:t>
            </a:r>
            <a:r>
              <a:rPr sz="1050" spc="170" dirty="0">
                <a:solidFill>
                  <a:srgbClr val="D0D5DA"/>
                </a:solidFill>
                <a:latin typeface="Trebuchet MS"/>
                <a:cs typeface="Trebuchet MS"/>
              </a:rPr>
              <a:t> </a:t>
            </a:r>
            <a:r>
              <a:rPr sz="1050" spc="45" dirty="0">
                <a:solidFill>
                  <a:srgbClr val="D0D5DA"/>
                </a:solidFill>
                <a:latin typeface="Trebuchet MS"/>
                <a:cs typeface="Trebuchet MS"/>
              </a:rPr>
              <a:t>Planning)</a:t>
            </a:r>
            <a:endParaRPr sz="1050">
              <a:latin typeface="Trebuchet MS"/>
              <a:cs typeface="Trebuchet MS"/>
            </a:endParaRPr>
          </a:p>
          <a:p>
            <a:pPr marL="456565">
              <a:lnSpc>
                <a:spcPct val="100000"/>
              </a:lnSpc>
              <a:spcBef>
                <a:spcPts val="240"/>
              </a:spcBef>
            </a:pPr>
            <a:r>
              <a:rPr sz="1050" spc="10" dirty="0">
                <a:solidFill>
                  <a:srgbClr val="D0D5DA"/>
                </a:solidFill>
                <a:latin typeface="PMingLiU"/>
                <a:cs typeface="PMingLiU"/>
              </a:rPr>
              <a:t>局部路徑規劃與避障 </a:t>
            </a:r>
            <a:r>
              <a:rPr sz="1050" dirty="0">
                <a:solidFill>
                  <a:srgbClr val="D0D5DA"/>
                </a:solidFill>
                <a:latin typeface="Trebuchet MS"/>
                <a:cs typeface="Trebuchet MS"/>
              </a:rPr>
              <a:t>(Local</a:t>
            </a:r>
            <a:r>
              <a:rPr sz="1050" spc="80" dirty="0">
                <a:solidFill>
                  <a:srgbClr val="D0D5DA"/>
                </a:solidFill>
                <a:latin typeface="Trebuchet MS"/>
                <a:cs typeface="Trebuchet MS"/>
              </a:rPr>
              <a:t> </a:t>
            </a:r>
            <a:r>
              <a:rPr sz="1050" dirty="0">
                <a:solidFill>
                  <a:srgbClr val="D0D5DA"/>
                </a:solidFill>
                <a:latin typeface="Trebuchet MS"/>
                <a:cs typeface="Trebuchet MS"/>
              </a:rPr>
              <a:t>Path</a:t>
            </a:r>
            <a:r>
              <a:rPr sz="1050" spc="85" dirty="0">
                <a:solidFill>
                  <a:srgbClr val="D0D5DA"/>
                </a:solidFill>
                <a:latin typeface="Trebuchet MS"/>
                <a:cs typeface="Trebuchet MS"/>
              </a:rPr>
              <a:t> </a:t>
            </a:r>
            <a:r>
              <a:rPr sz="1050" spc="65" dirty="0">
                <a:solidFill>
                  <a:srgbClr val="D0D5DA"/>
                </a:solidFill>
                <a:latin typeface="Trebuchet MS"/>
                <a:cs typeface="Trebuchet MS"/>
              </a:rPr>
              <a:t>Planning</a:t>
            </a:r>
            <a:r>
              <a:rPr sz="1050" spc="85" dirty="0">
                <a:solidFill>
                  <a:srgbClr val="D0D5DA"/>
                </a:solidFill>
                <a:latin typeface="Trebuchet MS"/>
                <a:cs typeface="Trebuchet MS"/>
              </a:rPr>
              <a:t> </a:t>
            </a:r>
            <a:r>
              <a:rPr sz="1050" spc="80" dirty="0">
                <a:solidFill>
                  <a:srgbClr val="D0D5DA"/>
                </a:solidFill>
                <a:latin typeface="Trebuchet MS"/>
                <a:cs typeface="Trebuchet MS"/>
              </a:rPr>
              <a:t>&amp; </a:t>
            </a:r>
            <a:r>
              <a:rPr sz="1050" spc="60" dirty="0">
                <a:solidFill>
                  <a:srgbClr val="D0D5DA"/>
                </a:solidFill>
                <a:latin typeface="Trebuchet MS"/>
                <a:cs typeface="Trebuchet MS"/>
              </a:rPr>
              <a:t>Obstacle</a:t>
            </a:r>
            <a:r>
              <a:rPr sz="1050" spc="85" dirty="0">
                <a:solidFill>
                  <a:srgbClr val="D0D5DA"/>
                </a:solidFill>
                <a:latin typeface="Trebuchet MS"/>
                <a:cs typeface="Trebuchet MS"/>
              </a:rPr>
              <a:t> </a:t>
            </a:r>
            <a:r>
              <a:rPr sz="1050" spc="45" dirty="0">
                <a:solidFill>
                  <a:srgbClr val="D0D5DA"/>
                </a:solidFill>
                <a:latin typeface="Trebuchet MS"/>
                <a:cs typeface="Trebuchet MS"/>
              </a:rPr>
              <a:t>Avoidance)</a:t>
            </a:r>
            <a:endParaRPr sz="1050">
              <a:latin typeface="Trebuchet MS"/>
              <a:cs typeface="Trebuchet MS"/>
            </a:endParaRPr>
          </a:p>
          <a:p>
            <a:pPr marL="456565">
              <a:lnSpc>
                <a:spcPct val="100000"/>
              </a:lnSpc>
              <a:spcBef>
                <a:spcPts val="240"/>
              </a:spcBef>
            </a:pPr>
            <a:r>
              <a:rPr sz="1050" spc="10" dirty="0">
                <a:solidFill>
                  <a:srgbClr val="D0D5DA"/>
                </a:solidFill>
                <a:latin typeface="PMingLiU"/>
                <a:cs typeface="PMingLiU"/>
              </a:rPr>
              <a:t>地圖管理 </a:t>
            </a:r>
            <a:r>
              <a:rPr sz="1050" spc="85" dirty="0">
                <a:solidFill>
                  <a:srgbClr val="D0D5DA"/>
                </a:solidFill>
                <a:latin typeface="Trebuchet MS"/>
                <a:cs typeface="Trebuchet MS"/>
              </a:rPr>
              <a:t>(Map</a:t>
            </a:r>
            <a:r>
              <a:rPr sz="1050" spc="15" dirty="0">
                <a:solidFill>
                  <a:srgbClr val="D0D5DA"/>
                </a:solidFill>
                <a:latin typeface="Trebuchet MS"/>
                <a:cs typeface="Trebuchet MS"/>
              </a:rPr>
              <a:t> </a:t>
            </a:r>
            <a:r>
              <a:rPr sz="1050" spc="75" dirty="0">
                <a:solidFill>
                  <a:srgbClr val="D0D5DA"/>
                </a:solidFill>
                <a:latin typeface="Trebuchet MS"/>
                <a:cs typeface="Trebuchet MS"/>
              </a:rPr>
              <a:t>Management)</a:t>
            </a:r>
            <a:endParaRPr sz="1050">
              <a:latin typeface="Trebuchet MS"/>
              <a:cs typeface="Trebuchet MS"/>
            </a:endParaRPr>
          </a:p>
          <a:p>
            <a:pPr marL="456565">
              <a:lnSpc>
                <a:spcPct val="100000"/>
              </a:lnSpc>
              <a:spcBef>
                <a:spcPts val="240"/>
              </a:spcBef>
            </a:pPr>
            <a:r>
              <a:rPr sz="1050" spc="10" dirty="0">
                <a:solidFill>
                  <a:srgbClr val="D0D5DA"/>
                </a:solidFill>
                <a:latin typeface="PMingLiU"/>
                <a:cs typeface="PMingLiU"/>
              </a:rPr>
              <a:t>多點導航 </a:t>
            </a:r>
            <a:r>
              <a:rPr sz="1050" spc="55" dirty="0">
                <a:solidFill>
                  <a:srgbClr val="D0D5DA"/>
                </a:solidFill>
                <a:latin typeface="Trebuchet MS"/>
                <a:cs typeface="Trebuchet MS"/>
              </a:rPr>
              <a:t>(Waypoint</a:t>
            </a:r>
            <a:r>
              <a:rPr sz="1050" spc="20" dirty="0">
                <a:solidFill>
                  <a:srgbClr val="D0D5DA"/>
                </a:solidFill>
                <a:latin typeface="Trebuchet MS"/>
                <a:cs typeface="Trebuchet MS"/>
              </a:rPr>
              <a:t> </a:t>
            </a:r>
            <a:r>
              <a:rPr sz="1050" spc="50" dirty="0">
                <a:solidFill>
                  <a:srgbClr val="D0D5DA"/>
                </a:solidFill>
                <a:latin typeface="Trebuchet MS"/>
                <a:cs typeface="Trebuchet MS"/>
              </a:rPr>
              <a:t>Navigation)</a:t>
            </a:r>
            <a:endParaRPr sz="1050">
              <a:latin typeface="Trebuchet MS"/>
              <a:cs typeface="Trebuchet MS"/>
            </a:endParaRPr>
          </a:p>
        </p:txBody>
      </p:sp>
      <p:sp>
        <p:nvSpPr>
          <p:cNvPr id="20" name="object 20"/>
          <p:cNvSpPr txBox="1"/>
          <p:nvPr/>
        </p:nvSpPr>
        <p:spPr>
          <a:xfrm>
            <a:off x="485774" y="4336020"/>
            <a:ext cx="5381625" cy="1218565"/>
          </a:xfrm>
          <a:prstGeom prst="rect">
            <a:avLst/>
          </a:prstGeom>
        </p:spPr>
        <p:txBody>
          <a:bodyPr vert="horz" wrap="square" lIns="0" tIns="16510" rIns="0" bIns="0" rtlCol="0">
            <a:spAutoFit/>
          </a:bodyPr>
          <a:lstStyle/>
          <a:p>
            <a:pPr marL="494665">
              <a:lnSpc>
                <a:spcPct val="100000"/>
              </a:lnSpc>
              <a:spcBef>
                <a:spcPts val="130"/>
              </a:spcBef>
            </a:pPr>
            <a:r>
              <a:rPr sz="1500" b="1" dirty="0">
                <a:solidFill>
                  <a:srgbClr val="FFFFFF"/>
                </a:solidFill>
                <a:latin typeface="Gill Sans MT"/>
                <a:cs typeface="Gill Sans MT"/>
              </a:rPr>
              <a:t>AUO</a:t>
            </a:r>
            <a:r>
              <a:rPr sz="1500" b="1" spc="-40" dirty="0">
                <a:solidFill>
                  <a:srgbClr val="FFFFFF"/>
                </a:solidFill>
                <a:latin typeface="Gill Sans MT"/>
                <a:cs typeface="Gill Sans MT"/>
              </a:rPr>
              <a:t> </a:t>
            </a:r>
            <a:r>
              <a:rPr sz="1650" spc="-150" dirty="0">
                <a:solidFill>
                  <a:srgbClr val="FFFFFF"/>
                </a:solidFill>
                <a:latin typeface="SimSun"/>
                <a:cs typeface="SimSun"/>
              </a:rPr>
              <a:t>熱顯像儀整合</a:t>
            </a:r>
            <a:endParaRPr sz="1650">
              <a:latin typeface="SimSun"/>
              <a:cs typeface="SimSun"/>
            </a:endParaRPr>
          </a:p>
          <a:p>
            <a:pPr marL="456565" marR="3355340" indent="-304800">
              <a:lnSpc>
                <a:spcPct val="166700"/>
              </a:lnSpc>
              <a:spcBef>
                <a:spcPts val="180"/>
              </a:spcBef>
            </a:pPr>
            <a:r>
              <a:rPr sz="1050" spc="-5" dirty="0">
                <a:solidFill>
                  <a:srgbClr val="D0D5DA"/>
                </a:solidFill>
                <a:latin typeface="PMingLiU"/>
                <a:cs typeface="PMingLiU"/>
              </a:rPr>
              <a:t>實現精準異常檢測的关键元件：</a:t>
            </a:r>
            <a:r>
              <a:rPr sz="1050" spc="-10" dirty="0">
                <a:solidFill>
                  <a:srgbClr val="D0D5DA"/>
                </a:solidFill>
                <a:latin typeface="PMingLiU"/>
                <a:cs typeface="PMingLiU"/>
              </a:rPr>
              <a:t>驅動程式開發</a:t>
            </a:r>
            <a:endParaRPr sz="1050">
              <a:latin typeface="PMingLiU"/>
              <a:cs typeface="PMingLiU"/>
            </a:endParaRPr>
          </a:p>
          <a:p>
            <a:pPr marL="456565" marR="3850640">
              <a:lnSpc>
                <a:spcPct val="119000"/>
              </a:lnSpc>
            </a:pPr>
            <a:r>
              <a:rPr sz="1050" spc="-10" dirty="0">
                <a:solidFill>
                  <a:srgbClr val="D0D5DA"/>
                </a:solidFill>
                <a:latin typeface="PMingLiU"/>
                <a:cs typeface="PMingLiU"/>
              </a:rPr>
              <a:t>數據融合架構建立巡檢任務流程設計</a:t>
            </a:r>
            <a:endParaRPr sz="1050">
              <a:latin typeface="PMingLiU"/>
              <a:cs typeface="PMingLiU"/>
            </a:endParaRPr>
          </a:p>
        </p:txBody>
      </p:sp>
      <p:pic>
        <p:nvPicPr>
          <p:cNvPr id="21" name="object 21"/>
          <p:cNvPicPr/>
          <p:nvPr/>
        </p:nvPicPr>
        <p:blipFill>
          <a:blip r:embed="rId5" cstate="print"/>
          <a:stretch>
            <a:fillRect/>
          </a:stretch>
        </p:blipFill>
        <p:spPr>
          <a:xfrm>
            <a:off x="7962900" y="1181100"/>
            <a:ext cx="2133599" cy="1828799"/>
          </a:xfrm>
          <a:prstGeom prst="rect">
            <a:avLst/>
          </a:prstGeom>
        </p:spPr>
      </p:pic>
      <p:pic>
        <p:nvPicPr>
          <p:cNvPr id="22" name="object 22"/>
          <p:cNvPicPr/>
          <p:nvPr/>
        </p:nvPicPr>
        <p:blipFill>
          <a:blip r:embed="rId6" cstate="print"/>
          <a:stretch>
            <a:fillRect/>
          </a:stretch>
        </p:blipFill>
        <p:spPr>
          <a:xfrm>
            <a:off x="6324599" y="3200399"/>
            <a:ext cx="219074" cy="190499"/>
          </a:xfrm>
          <a:prstGeom prst="rect">
            <a:avLst/>
          </a:prstGeom>
        </p:spPr>
      </p:pic>
      <p:sp>
        <p:nvSpPr>
          <p:cNvPr id="23" name="object 23"/>
          <p:cNvSpPr txBox="1"/>
          <p:nvPr/>
        </p:nvSpPr>
        <p:spPr>
          <a:xfrm>
            <a:off x="6607175" y="3134859"/>
            <a:ext cx="1168400" cy="283210"/>
          </a:xfrm>
          <a:prstGeom prst="rect">
            <a:avLst/>
          </a:prstGeom>
        </p:spPr>
        <p:txBody>
          <a:bodyPr vert="horz" wrap="square" lIns="0" tIns="11430" rIns="0" bIns="0" rtlCol="0">
            <a:spAutoFit/>
          </a:bodyPr>
          <a:lstStyle/>
          <a:p>
            <a:pPr marL="12700">
              <a:lnSpc>
                <a:spcPct val="100000"/>
              </a:lnSpc>
              <a:spcBef>
                <a:spcPts val="90"/>
              </a:spcBef>
            </a:pPr>
            <a:r>
              <a:rPr sz="1700" spc="-220" dirty="0">
                <a:solidFill>
                  <a:srgbClr val="FFFFFF"/>
                </a:solidFill>
                <a:latin typeface="SimSun"/>
                <a:cs typeface="SimSun"/>
              </a:rPr>
              <a:t>系統</a:t>
            </a:r>
            <a:r>
              <a:rPr sz="1650" spc="-165" dirty="0">
                <a:solidFill>
                  <a:srgbClr val="FFFFFF"/>
                </a:solidFill>
                <a:latin typeface="SimSun"/>
                <a:cs typeface="SimSun"/>
              </a:rPr>
              <a:t>整合效</a:t>
            </a:r>
            <a:r>
              <a:rPr sz="1650" spc="-50" dirty="0">
                <a:solidFill>
                  <a:srgbClr val="FFFFFF"/>
                </a:solidFill>
                <a:latin typeface="PMingLiU"/>
                <a:cs typeface="PMingLiU"/>
              </a:rPr>
              <a:t>益</a:t>
            </a:r>
            <a:endParaRPr sz="1650" dirty="0">
              <a:latin typeface="PMingLiU"/>
              <a:cs typeface="PMingLiU"/>
            </a:endParaRPr>
          </a:p>
        </p:txBody>
      </p:sp>
      <p:grpSp>
        <p:nvGrpSpPr>
          <p:cNvPr id="24" name="object 24"/>
          <p:cNvGrpSpPr/>
          <p:nvPr/>
        </p:nvGrpSpPr>
        <p:grpSpPr>
          <a:xfrm>
            <a:off x="6324599" y="3543300"/>
            <a:ext cx="2647950" cy="419100"/>
            <a:chOff x="6324599" y="3543300"/>
            <a:chExt cx="2647950" cy="419100"/>
          </a:xfrm>
        </p:grpSpPr>
        <p:sp>
          <p:nvSpPr>
            <p:cNvPr id="25" name="object 25"/>
            <p:cNvSpPr/>
            <p:nvPr/>
          </p:nvSpPr>
          <p:spPr>
            <a:xfrm>
              <a:off x="6324599" y="3543300"/>
              <a:ext cx="2647950" cy="419100"/>
            </a:xfrm>
            <a:custGeom>
              <a:avLst/>
              <a:gdLst/>
              <a:ahLst/>
              <a:cxnLst/>
              <a:rect l="l" t="t" r="r" b="b"/>
              <a:pathLst>
                <a:path w="2647950" h="419100">
                  <a:moveTo>
                    <a:pt x="2576752" y="419099"/>
                  </a:moveTo>
                  <a:lnTo>
                    <a:pt x="71196" y="419099"/>
                  </a:lnTo>
                  <a:lnTo>
                    <a:pt x="66241" y="418611"/>
                  </a:lnTo>
                  <a:lnTo>
                    <a:pt x="29705" y="403477"/>
                  </a:lnTo>
                  <a:lnTo>
                    <a:pt x="3885" y="367436"/>
                  </a:lnTo>
                  <a:lnTo>
                    <a:pt x="0" y="347902"/>
                  </a:lnTo>
                  <a:lnTo>
                    <a:pt x="0" y="342899"/>
                  </a:lnTo>
                  <a:lnTo>
                    <a:pt x="0" y="71196"/>
                  </a:lnTo>
                  <a:lnTo>
                    <a:pt x="15621" y="29704"/>
                  </a:lnTo>
                  <a:lnTo>
                    <a:pt x="51661" y="3884"/>
                  </a:lnTo>
                  <a:lnTo>
                    <a:pt x="71196" y="0"/>
                  </a:lnTo>
                  <a:lnTo>
                    <a:pt x="2576752" y="0"/>
                  </a:lnTo>
                  <a:lnTo>
                    <a:pt x="2618243" y="15621"/>
                  </a:lnTo>
                  <a:lnTo>
                    <a:pt x="2644062" y="51661"/>
                  </a:lnTo>
                  <a:lnTo>
                    <a:pt x="2647949" y="71196"/>
                  </a:lnTo>
                  <a:lnTo>
                    <a:pt x="2647949" y="347902"/>
                  </a:lnTo>
                  <a:lnTo>
                    <a:pt x="2632326" y="389393"/>
                  </a:lnTo>
                  <a:lnTo>
                    <a:pt x="2596286" y="415213"/>
                  </a:lnTo>
                  <a:lnTo>
                    <a:pt x="2581707" y="418611"/>
                  </a:lnTo>
                  <a:lnTo>
                    <a:pt x="2576752" y="419099"/>
                  </a:lnTo>
                  <a:close/>
                </a:path>
              </a:pathLst>
            </a:custGeom>
            <a:solidFill>
              <a:srgbClr val="4BAF4F">
                <a:alpha val="10198"/>
              </a:srgbClr>
            </a:solidFill>
          </p:spPr>
          <p:txBody>
            <a:bodyPr wrap="square" lIns="0" tIns="0" rIns="0" bIns="0" rtlCol="0"/>
            <a:lstStyle/>
            <a:p>
              <a:endParaRPr/>
            </a:p>
          </p:txBody>
        </p:sp>
        <p:pic>
          <p:nvPicPr>
            <p:cNvPr id="26" name="object 26"/>
            <p:cNvPicPr/>
            <p:nvPr/>
          </p:nvPicPr>
          <p:blipFill>
            <a:blip r:embed="rId7" cstate="print"/>
            <a:stretch>
              <a:fillRect/>
            </a:stretch>
          </p:blipFill>
          <p:spPr>
            <a:xfrm>
              <a:off x="6438899" y="3695699"/>
              <a:ext cx="152399" cy="152399"/>
            </a:xfrm>
            <a:prstGeom prst="rect">
              <a:avLst/>
            </a:prstGeom>
          </p:spPr>
        </p:pic>
      </p:grpSp>
      <p:sp>
        <p:nvSpPr>
          <p:cNvPr id="27" name="object 27"/>
          <p:cNvSpPr txBox="1"/>
          <p:nvPr/>
        </p:nvSpPr>
        <p:spPr>
          <a:xfrm>
            <a:off x="6654800" y="3654425"/>
            <a:ext cx="1225550" cy="185420"/>
          </a:xfrm>
          <a:prstGeom prst="rect">
            <a:avLst/>
          </a:prstGeom>
        </p:spPr>
        <p:txBody>
          <a:bodyPr vert="horz" wrap="square" lIns="0" tIns="12700" rIns="0" bIns="0" rtlCol="0">
            <a:spAutoFit/>
          </a:bodyPr>
          <a:lstStyle/>
          <a:p>
            <a:pPr marL="12700">
              <a:lnSpc>
                <a:spcPct val="100000"/>
              </a:lnSpc>
              <a:spcBef>
                <a:spcPts val="100"/>
              </a:spcBef>
            </a:pPr>
            <a:r>
              <a:rPr sz="1050" spc="-10" dirty="0">
                <a:solidFill>
                  <a:srgbClr val="FFFFFF"/>
                </a:solidFill>
                <a:latin typeface="PMingLiU"/>
                <a:cs typeface="PMingLiU"/>
              </a:rPr>
              <a:t>全方位目標區域監測</a:t>
            </a:r>
            <a:endParaRPr sz="1050">
              <a:latin typeface="PMingLiU"/>
              <a:cs typeface="PMingLiU"/>
            </a:endParaRPr>
          </a:p>
        </p:txBody>
      </p:sp>
      <p:grpSp>
        <p:nvGrpSpPr>
          <p:cNvPr id="28" name="object 28"/>
          <p:cNvGrpSpPr/>
          <p:nvPr/>
        </p:nvGrpSpPr>
        <p:grpSpPr>
          <a:xfrm>
            <a:off x="9086849" y="3543300"/>
            <a:ext cx="2647950" cy="419100"/>
            <a:chOff x="9086849" y="3543300"/>
            <a:chExt cx="2647950" cy="419100"/>
          </a:xfrm>
        </p:grpSpPr>
        <p:sp>
          <p:nvSpPr>
            <p:cNvPr id="29" name="object 29"/>
            <p:cNvSpPr/>
            <p:nvPr/>
          </p:nvSpPr>
          <p:spPr>
            <a:xfrm>
              <a:off x="9086849" y="3543300"/>
              <a:ext cx="2647950" cy="419100"/>
            </a:xfrm>
            <a:custGeom>
              <a:avLst/>
              <a:gdLst/>
              <a:ahLst/>
              <a:cxnLst/>
              <a:rect l="l" t="t" r="r" b="b"/>
              <a:pathLst>
                <a:path w="2647950" h="419100">
                  <a:moveTo>
                    <a:pt x="2576752" y="419099"/>
                  </a:moveTo>
                  <a:lnTo>
                    <a:pt x="71196" y="419099"/>
                  </a:lnTo>
                  <a:lnTo>
                    <a:pt x="66240" y="418611"/>
                  </a:lnTo>
                  <a:lnTo>
                    <a:pt x="29703" y="403477"/>
                  </a:lnTo>
                  <a:lnTo>
                    <a:pt x="3885" y="367436"/>
                  </a:lnTo>
                  <a:lnTo>
                    <a:pt x="0" y="347902"/>
                  </a:lnTo>
                  <a:lnTo>
                    <a:pt x="0" y="342899"/>
                  </a:lnTo>
                  <a:lnTo>
                    <a:pt x="0" y="71196"/>
                  </a:lnTo>
                  <a:lnTo>
                    <a:pt x="15620" y="29704"/>
                  </a:lnTo>
                  <a:lnTo>
                    <a:pt x="51660" y="3884"/>
                  </a:lnTo>
                  <a:lnTo>
                    <a:pt x="71196" y="0"/>
                  </a:lnTo>
                  <a:lnTo>
                    <a:pt x="2576752" y="0"/>
                  </a:lnTo>
                  <a:lnTo>
                    <a:pt x="2618242" y="15621"/>
                  </a:lnTo>
                  <a:lnTo>
                    <a:pt x="2644062" y="51661"/>
                  </a:lnTo>
                  <a:lnTo>
                    <a:pt x="2647949" y="71196"/>
                  </a:lnTo>
                  <a:lnTo>
                    <a:pt x="2647949" y="347902"/>
                  </a:lnTo>
                  <a:lnTo>
                    <a:pt x="2632326" y="389393"/>
                  </a:lnTo>
                  <a:lnTo>
                    <a:pt x="2596286" y="415213"/>
                  </a:lnTo>
                  <a:lnTo>
                    <a:pt x="2581708" y="418611"/>
                  </a:lnTo>
                  <a:lnTo>
                    <a:pt x="2576752" y="419099"/>
                  </a:lnTo>
                  <a:close/>
                </a:path>
              </a:pathLst>
            </a:custGeom>
            <a:solidFill>
              <a:srgbClr val="4BAF4F">
                <a:alpha val="10198"/>
              </a:srgbClr>
            </a:solidFill>
          </p:spPr>
          <p:txBody>
            <a:bodyPr wrap="square" lIns="0" tIns="0" rIns="0" bIns="0" rtlCol="0"/>
            <a:lstStyle/>
            <a:p>
              <a:endParaRPr/>
            </a:p>
          </p:txBody>
        </p:sp>
        <p:pic>
          <p:nvPicPr>
            <p:cNvPr id="30" name="object 30"/>
            <p:cNvPicPr/>
            <p:nvPr/>
          </p:nvPicPr>
          <p:blipFill>
            <a:blip r:embed="rId8" cstate="print"/>
            <a:stretch>
              <a:fillRect/>
            </a:stretch>
          </p:blipFill>
          <p:spPr>
            <a:xfrm>
              <a:off x="9201149" y="3695699"/>
              <a:ext cx="95249" cy="152399"/>
            </a:xfrm>
            <a:prstGeom prst="rect">
              <a:avLst/>
            </a:prstGeom>
          </p:spPr>
        </p:pic>
      </p:grpSp>
      <p:sp>
        <p:nvSpPr>
          <p:cNvPr id="31" name="object 31"/>
          <p:cNvSpPr txBox="1"/>
          <p:nvPr/>
        </p:nvSpPr>
        <p:spPr>
          <a:xfrm>
            <a:off x="9359899" y="3654425"/>
            <a:ext cx="825500" cy="185420"/>
          </a:xfrm>
          <a:prstGeom prst="rect">
            <a:avLst/>
          </a:prstGeom>
        </p:spPr>
        <p:txBody>
          <a:bodyPr vert="horz" wrap="square" lIns="0" tIns="12700" rIns="0" bIns="0" rtlCol="0">
            <a:spAutoFit/>
          </a:bodyPr>
          <a:lstStyle/>
          <a:p>
            <a:pPr marL="12700">
              <a:lnSpc>
                <a:spcPct val="100000"/>
              </a:lnSpc>
              <a:spcBef>
                <a:spcPts val="100"/>
              </a:spcBef>
            </a:pPr>
            <a:r>
              <a:rPr sz="1050" spc="-10" dirty="0">
                <a:solidFill>
                  <a:srgbClr val="FFFFFF"/>
                </a:solidFill>
                <a:latin typeface="PMingLiU"/>
                <a:cs typeface="PMingLiU"/>
              </a:rPr>
              <a:t>動態溫度掃描</a:t>
            </a:r>
            <a:endParaRPr sz="1050">
              <a:latin typeface="PMingLiU"/>
              <a:cs typeface="PMingLiU"/>
            </a:endParaRPr>
          </a:p>
        </p:txBody>
      </p:sp>
      <p:grpSp>
        <p:nvGrpSpPr>
          <p:cNvPr id="32" name="object 32"/>
          <p:cNvGrpSpPr/>
          <p:nvPr/>
        </p:nvGrpSpPr>
        <p:grpSpPr>
          <a:xfrm>
            <a:off x="6324599" y="4076699"/>
            <a:ext cx="2647950" cy="419100"/>
            <a:chOff x="6324599" y="4076699"/>
            <a:chExt cx="2647950" cy="419100"/>
          </a:xfrm>
        </p:grpSpPr>
        <p:sp>
          <p:nvSpPr>
            <p:cNvPr id="33" name="object 33"/>
            <p:cNvSpPr/>
            <p:nvPr/>
          </p:nvSpPr>
          <p:spPr>
            <a:xfrm>
              <a:off x="6324599" y="4076699"/>
              <a:ext cx="2647950" cy="419100"/>
            </a:xfrm>
            <a:custGeom>
              <a:avLst/>
              <a:gdLst/>
              <a:ahLst/>
              <a:cxnLst/>
              <a:rect l="l" t="t" r="r" b="b"/>
              <a:pathLst>
                <a:path w="2647950" h="419100">
                  <a:moveTo>
                    <a:pt x="2576752" y="419099"/>
                  </a:moveTo>
                  <a:lnTo>
                    <a:pt x="71196" y="419099"/>
                  </a:lnTo>
                  <a:lnTo>
                    <a:pt x="66241" y="418611"/>
                  </a:lnTo>
                  <a:lnTo>
                    <a:pt x="29705" y="403477"/>
                  </a:lnTo>
                  <a:lnTo>
                    <a:pt x="3885" y="367437"/>
                  </a:lnTo>
                  <a:lnTo>
                    <a:pt x="0" y="347902"/>
                  </a:lnTo>
                  <a:lnTo>
                    <a:pt x="0" y="342899"/>
                  </a:lnTo>
                  <a:lnTo>
                    <a:pt x="0" y="71196"/>
                  </a:lnTo>
                  <a:lnTo>
                    <a:pt x="15621" y="29705"/>
                  </a:lnTo>
                  <a:lnTo>
                    <a:pt x="51661" y="3885"/>
                  </a:lnTo>
                  <a:lnTo>
                    <a:pt x="71196" y="0"/>
                  </a:lnTo>
                  <a:lnTo>
                    <a:pt x="2576752" y="0"/>
                  </a:lnTo>
                  <a:lnTo>
                    <a:pt x="2618243" y="15621"/>
                  </a:lnTo>
                  <a:lnTo>
                    <a:pt x="2644062" y="51661"/>
                  </a:lnTo>
                  <a:lnTo>
                    <a:pt x="2647949" y="71196"/>
                  </a:lnTo>
                  <a:lnTo>
                    <a:pt x="2647949" y="347902"/>
                  </a:lnTo>
                  <a:lnTo>
                    <a:pt x="2632326" y="389394"/>
                  </a:lnTo>
                  <a:lnTo>
                    <a:pt x="2596286" y="415213"/>
                  </a:lnTo>
                  <a:lnTo>
                    <a:pt x="2581707" y="418611"/>
                  </a:lnTo>
                  <a:lnTo>
                    <a:pt x="2576752" y="419099"/>
                  </a:lnTo>
                  <a:close/>
                </a:path>
              </a:pathLst>
            </a:custGeom>
            <a:solidFill>
              <a:srgbClr val="4BAF4F">
                <a:alpha val="10198"/>
              </a:srgbClr>
            </a:solidFill>
          </p:spPr>
          <p:txBody>
            <a:bodyPr wrap="square" lIns="0" tIns="0" rIns="0" bIns="0" rtlCol="0"/>
            <a:lstStyle/>
            <a:p>
              <a:endParaRPr/>
            </a:p>
          </p:txBody>
        </p:sp>
        <p:pic>
          <p:nvPicPr>
            <p:cNvPr id="34" name="object 34"/>
            <p:cNvPicPr/>
            <p:nvPr/>
          </p:nvPicPr>
          <p:blipFill>
            <a:blip r:embed="rId9" cstate="print"/>
            <a:stretch>
              <a:fillRect/>
            </a:stretch>
          </p:blipFill>
          <p:spPr>
            <a:xfrm>
              <a:off x="6438899" y="4229099"/>
              <a:ext cx="133349" cy="152399"/>
            </a:xfrm>
            <a:prstGeom prst="rect">
              <a:avLst/>
            </a:prstGeom>
          </p:spPr>
        </p:pic>
      </p:grpSp>
      <p:sp>
        <p:nvSpPr>
          <p:cNvPr id="35" name="object 35"/>
          <p:cNvSpPr txBox="1"/>
          <p:nvPr/>
        </p:nvSpPr>
        <p:spPr>
          <a:xfrm>
            <a:off x="6635750" y="4187825"/>
            <a:ext cx="825500" cy="185420"/>
          </a:xfrm>
          <a:prstGeom prst="rect">
            <a:avLst/>
          </a:prstGeom>
        </p:spPr>
        <p:txBody>
          <a:bodyPr vert="horz" wrap="square" lIns="0" tIns="12700" rIns="0" bIns="0" rtlCol="0">
            <a:spAutoFit/>
          </a:bodyPr>
          <a:lstStyle/>
          <a:p>
            <a:pPr marL="12700">
              <a:lnSpc>
                <a:spcPct val="100000"/>
              </a:lnSpc>
              <a:spcBef>
                <a:spcPts val="100"/>
              </a:spcBef>
            </a:pPr>
            <a:r>
              <a:rPr sz="1050" spc="-10" dirty="0">
                <a:solidFill>
                  <a:srgbClr val="FFFFFF"/>
                </a:solidFill>
                <a:latin typeface="PMingLiU"/>
                <a:cs typeface="PMingLiU"/>
              </a:rPr>
              <a:t>異常即時響應</a:t>
            </a:r>
            <a:endParaRPr sz="1050">
              <a:latin typeface="PMingLiU"/>
              <a:cs typeface="PMingLiU"/>
            </a:endParaRPr>
          </a:p>
        </p:txBody>
      </p:sp>
      <p:grpSp>
        <p:nvGrpSpPr>
          <p:cNvPr id="36" name="object 36"/>
          <p:cNvGrpSpPr/>
          <p:nvPr/>
        </p:nvGrpSpPr>
        <p:grpSpPr>
          <a:xfrm>
            <a:off x="9086849" y="4076699"/>
            <a:ext cx="2647950" cy="419100"/>
            <a:chOff x="9086849" y="4076699"/>
            <a:chExt cx="2647950" cy="419100"/>
          </a:xfrm>
        </p:grpSpPr>
        <p:sp>
          <p:nvSpPr>
            <p:cNvPr id="37" name="object 37"/>
            <p:cNvSpPr/>
            <p:nvPr/>
          </p:nvSpPr>
          <p:spPr>
            <a:xfrm>
              <a:off x="9086849" y="4076699"/>
              <a:ext cx="2647950" cy="419100"/>
            </a:xfrm>
            <a:custGeom>
              <a:avLst/>
              <a:gdLst/>
              <a:ahLst/>
              <a:cxnLst/>
              <a:rect l="l" t="t" r="r" b="b"/>
              <a:pathLst>
                <a:path w="2647950" h="419100">
                  <a:moveTo>
                    <a:pt x="2576752" y="419099"/>
                  </a:moveTo>
                  <a:lnTo>
                    <a:pt x="71196" y="419099"/>
                  </a:lnTo>
                  <a:lnTo>
                    <a:pt x="66240" y="418611"/>
                  </a:lnTo>
                  <a:lnTo>
                    <a:pt x="29703" y="403477"/>
                  </a:lnTo>
                  <a:lnTo>
                    <a:pt x="3885" y="367437"/>
                  </a:lnTo>
                  <a:lnTo>
                    <a:pt x="0" y="347902"/>
                  </a:lnTo>
                  <a:lnTo>
                    <a:pt x="0" y="342899"/>
                  </a:lnTo>
                  <a:lnTo>
                    <a:pt x="0" y="71196"/>
                  </a:lnTo>
                  <a:lnTo>
                    <a:pt x="15620" y="29705"/>
                  </a:lnTo>
                  <a:lnTo>
                    <a:pt x="51660" y="3885"/>
                  </a:lnTo>
                  <a:lnTo>
                    <a:pt x="71196" y="0"/>
                  </a:lnTo>
                  <a:lnTo>
                    <a:pt x="2576752" y="0"/>
                  </a:lnTo>
                  <a:lnTo>
                    <a:pt x="2618242" y="15621"/>
                  </a:lnTo>
                  <a:lnTo>
                    <a:pt x="2644062" y="51661"/>
                  </a:lnTo>
                  <a:lnTo>
                    <a:pt x="2647949" y="71196"/>
                  </a:lnTo>
                  <a:lnTo>
                    <a:pt x="2647949" y="347902"/>
                  </a:lnTo>
                  <a:lnTo>
                    <a:pt x="2632326" y="389394"/>
                  </a:lnTo>
                  <a:lnTo>
                    <a:pt x="2596286" y="415213"/>
                  </a:lnTo>
                  <a:lnTo>
                    <a:pt x="2581708" y="418611"/>
                  </a:lnTo>
                  <a:lnTo>
                    <a:pt x="2576752" y="419099"/>
                  </a:lnTo>
                  <a:close/>
                </a:path>
              </a:pathLst>
            </a:custGeom>
            <a:solidFill>
              <a:srgbClr val="4BAF4F">
                <a:alpha val="10198"/>
              </a:srgbClr>
            </a:solidFill>
          </p:spPr>
          <p:txBody>
            <a:bodyPr wrap="square" lIns="0" tIns="0" rIns="0" bIns="0" rtlCol="0"/>
            <a:lstStyle/>
            <a:p>
              <a:endParaRPr/>
            </a:p>
          </p:txBody>
        </p:sp>
        <p:pic>
          <p:nvPicPr>
            <p:cNvPr id="38" name="object 38"/>
            <p:cNvPicPr/>
            <p:nvPr/>
          </p:nvPicPr>
          <p:blipFill>
            <a:blip r:embed="rId10" cstate="print"/>
            <a:stretch>
              <a:fillRect/>
            </a:stretch>
          </p:blipFill>
          <p:spPr>
            <a:xfrm>
              <a:off x="9201149" y="4229099"/>
              <a:ext cx="152399" cy="152399"/>
            </a:xfrm>
            <a:prstGeom prst="rect">
              <a:avLst/>
            </a:prstGeom>
          </p:spPr>
        </p:pic>
      </p:grpSp>
      <p:sp>
        <p:nvSpPr>
          <p:cNvPr id="39" name="object 39"/>
          <p:cNvSpPr txBox="1"/>
          <p:nvPr/>
        </p:nvSpPr>
        <p:spPr>
          <a:xfrm>
            <a:off x="9417049" y="4187825"/>
            <a:ext cx="1092200" cy="185420"/>
          </a:xfrm>
          <a:prstGeom prst="rect">
            <a:avLst/>
          </a:prstGeom>
        </p:spPr>
        <p:txBody>
          <a:bodyPr vert="horz" wrap="square" lIns="0" tIns="12700" rIns="0" bIns="0" rtlCol="0">
            <a:spAutoFit/>
          </a:bodyPr>
          <a:lstStyle/>
          <a:p>
            <a:pPr marL="12700">
              <a:lnSpc>
                <a:spcPct val="100000"/>
              </a:lnSpc>
              <a:spcBef>
                <a:spcPts val="100"/>
              </a:spcBef>
            </a:pPr>
            <a:r>
              <a:rPr sz="1050" spc="-10" dirty="0">
                <a:solidFill>
                  <a:srgbClr val="FFFFFF"/>
                </a:solidFill>
                <a:latin typeface="PMingLiU"/>
                <a:cs typeface="PMingLiU"/>
              </a:rPr>
              <a:t>靈活巡檢路線調整</a:t>
            </a:r>
            <a:endParaRPr sz="1050">
              <a:latin typeface="PMingLiU"/>
              <a:cs typeface="PMingLiU"/>
            </a:endParaRPr>
          </a:p>
        </p:txBody>
      </p:sp>
      <p:grpSp>
        <p:nvGrpSpPr>
          <p:cNvPr id="40" name="object 40"/>
          <p:cNvGrpSpPr/>
          <p:nvPr/>
        </p:nvGrpSpPr>
        <p:grpSpPr>
          <a:xfrm>
            <a:off x="6324599" y="4610099"/>
            <a:ext cx="2647950" cy="419100"/>
            <a:chOff x="6324599" y="4610099"/>
            <a:chExt cx="2647950" cy="419100"/>
          </a:xfrm>
        </p:grpSpPr>
        <p:sp>
          <p:nvSpPr>
            <p:cNvPr id="41" name="object 41"/>
            <p:cNvSpPr/>
            <p:nvPr/>
          </p:nvSpPr>
          <p:spPr>
            <a:xfrm>
              <a:off x="6324599" y="4610099"/>
              <a:ext cx="2647950" cy="419100"/>
            </a:xfrm>
            <a:custGeom>
              <a:avLst/>
              <a:gdLst/>
              <a:ahLst/>
              <a:cxnLst/>
              <a:rect l="l" t="t" r="r" b="b"/>
              <a:pathLst>
                <a:path w="2647950" h="419100">
                  <a:moveTo>
                    <a:pt x="2576752" y="419099"/>
                  </a:moveTo>
                  <a:lnTo>
                    <a:pt x="71196" y="419099"/>
                  </a:lnTo>
                  <a:lnTo>
                    <a:pt x="66241" y="418611"/>
                  </a:lnTo>
                  <a:lnTo>
                    <a:pt x="29705" y="403478"/>
                  </a:lnTo>
                  <a:lnTo>
                    <a:pt x="3885" y="367437"/>
                  </a:lnTo>
                  <a:lnTo>
                    <a:pt x="0" y="347903"/>
                  </a:lnTo>
                  <a:lnTo>
                    <a:pt x="0" y="342899"/>
                  </a:lnTo>
                  <a:lnTo>
                    <a:pt x="0" y="71196"/>
                  </a:lnTo>
                  <a:lnTo>
                    <a:pt x="15621" y="29704"/>
                  </a:lnTo>
                  <a:lnTo>
                    <a:pt x="51661" y="3885"/>
                  </a:lnTo>
                  <a:lnTo>
                    <a:pt x="71196" y="0"/>
                  </a:lnTo>
                  <a:lnTo>
                    <a:pt x="2576752" y="0"/>
                  </a:lnTo>
                  <a:lnTo>
                    <a:pt x="2618243" y="15621"/>
                  </a:lnTo>
                  <a:lnTo>
                    <a:pt x="2644062" y="51661"/>
                  </a:lnTo>
                  <a:lnTo>
                    <a:pt x="2647949" y="71196"/>
                  </a:lnTo>
                  <a:lnTo>
                    <a:pt x="2647949" y="347903"/>
                  </a:lnTo>
                  <a:lnTo>
                    <a:pt x="2632326" y="389394"/>
                  </a:lnTo>
                  <a:lnTo>
                    <a:pt x="2596286" y="415213"/>
                  </a:lnTo>
                  <a:lnTo>
                    <a:pt x="2581707" y="418611"/>
                  </a:lnTo>
                  <a:lnTo>
                    <a:pt x="2576752" y="419099"/>
                  </a:lnTo>
                  <a:close/>
                </a:path>
              </a:pathLst>
            </a:custGeom>
            <a:solidFill>
              <a:srgbClr val="4BAF4F">
                <a:alpha val="10198"/>
              </a:srgbClr>
            </a:solidFill>
          </p:spPr>
          <p:txBody>
            <a:bodyPr wrap="square" lIns="0" tIns="0" rIns="0" bIns="0" rtlCol="0"/>
            <a:lstStyle/>
            <a:p>
              <a:endParaRPr/>
            </a:p>
          </p:txBody>
        </p:sp>
        <p:pic>
          <p:nvPicPr>
            <p:cNvPr id="42" name="object 42"/>
            <p:cNvPicPr/>
            <p:nvPr/>
          </p:nvPicPr>
          <p:blipFill>
            <a:blip r:embed="rId11" cstate="print"/>
            <a:stretch>
              <a:fillRect/>
            </a:stretch>
          </p:blipFill>
          <p:spPr>
            <a:xfrm>
              <a:off x="6438899" y="4762499"/>
              <a:ext cx="152399" cy="152399"/>
            </a:xfrm>
            <a:prstGeom prst="rect">
              <a:avLst/>
            </a:prstGeom>
          </p:spPr>
        </p:pic>
      </p:grpSp>
      <p:sp>
        <p:nvSpPr>
          <p:cNvPr id="43" name="object 43"/>
          <p:cNvSpPr txBox="1"/>
          <p:nvPr/>
        </p:nvSpPr>
        <p:spPr>
          <a:xfrm>
            <a:off x="6654800" y="4721225"/>
            <a:ext cx="1092200" cy="185420"/>
          </a:xfrm>
          <a:prstGeom prst="rect">
            <a:avLst/>
          </a:prstGeom>
        </p:spPr>
        <p:txBody>
          <a:bodyPr vert="horz" wrap="square" lIns="0" tIns="12700" rIns="0" bIns="0" rtlCol="0">
            <a:spAutoFit/>
          </a:bodyPr>
          <a:lstStyle/>
          <a:p>
            <a:pPr marL="12700">
              <a:lnSpc>
                <a:spcPct val="100000"/>
              </a:lnSpc>
              <a:spcBef>
                <a:spcPts val="100"/>
              </a:spcBef>
            </a:pPr>
            <a:r>
              <a:rPr sz="1050" spc="-10" dirty="0">
                <a:solidFill>
                  <a:srgbClr val="FFFFFF"/>
                </a:solidFill>
                <a:latin typeface="PMingLiU"/>
                <a:cs typeface="PMingLiU"/>
              </a:rPr>
              <a:t>溫度數據建模分析</a:t>
            </a:r>
            <a:endParaRPr sz="1050">
              <a:latin typeface="PMingLiU"/>
              <a:cs typeface="PMingLiU"/>
            </a:endParaRPr>
          </a:p>
        </p:txBody>
      </p:sp>
      <p:grpSp>
        <p:nvGrpSpPr>
          <p:cNvPr id="44" name="object 44"/>
          <p:cNvGrpSpPr/>
          <p:nvPr/>
        </p:nvGrpSpPr>
        <p:grpSpPr>
          <a:xfrm>
            <a:off x="9086849" y="4610099"/>
            <a:ext cx="2647950" cy="419100"/>
            <a:chOff x="9086849" y="4610099"/>
            <a:chExt cx="2647950" cy="419100"/>
          </a:xfrm>
        </p:grpSpPr>
        <p:sp>
          <p:nvSpPr>
            <p:cNvPr id="45" name="object 45"/>
            <p:cNvSpPr/>
            <p:nvPr/>
          </p:nvSpPr>
          <p:spPr>
            <a:xfrm>
              <a:off x="9086849" y="4610099"/>
              <a:ext cx="2647950" cy="419100"/>
            </a:xfrm>
            <a:custGeom>
              <a:avLst/>
              <a:gdLst/>
              <a:ahLst/>
              <a:cxnLst/>
              <a:rect l="l" t="t" r="r" b="b"/>
              <a:pathLst>
                <a:path w="2647950" h="419100">
                  <a:moveTo>
                    <a:pt x="2576752" y="419099"/>
                  </a:moveTo>
                  <a:lnTo>
                    <a:pt x="71196" y="419099"/>
                  </a:lnTo>
                  <a:lnTo>
                    <a:pt x="66240" y="418611"/>
                  </a:lnTo>
                  <a:lnTo>
                    <a:pt x="29703" y="403478"/>
                  </a:lnTo>
                  <a:lnTo>
                    <a:pt x="3885" y="367437"/>
                  </a:lnTo>
                  <a:lnTo>
                    <a:pt x="0" y="347903"/>
                  </a:lnTo>
                  <a:lnTo>
                    <a:pt x="0" y="342899"/>
                  </a:lnTo>
                  <a:lnTo>
                    <a:pt x="0" y="71196"/>
                  </a:lnTo>
                  <a:lnTo>
                    <a:pt x="15620" y="29704"/>
                  </a:lnTo>
                  <a:lnTo>
                    <a:pt x="51660" y="3885"/>
                  </a:lnTo>
                  <a:lnTo>
                    <a:pt x="71196" y="0"/>
                  </a:lnTo>
                  <a:lnTo>
                    <a:pt x="2576752" y="0"/>
                  </a:lnTo>
                  <a:lnTo>
                    <a:pt x="2618242" y="15621"/>
                  </a:lnTo>
                  <a:lnTo>
                    <a:pt x="2644062" y="51661"/>
                  </a:lnTo>
                  <a:lnTo>
                    <a:pt x="2647949" y="71196"/>
                  </a:lnTo>
                  <a:lnTo>
                    <a:pt x="2647949" y="347903"/>
                  </a:lnTo>
                  <a:lnTo>
                    <a:pt x="2632326" y="389394"/>
                  </a:lnTo>
                  <a:lnTo>
                    <a:pt x="2596286" y="415213"/>
                  </a:lnTo>
                  <a:lnTo>
                    <a:pt x="2581708" y="418611"/>
                  </a:lnTo>
                  <a:lnTo>
                    <a:pt x="2576752" y="419099"/>
                  </a:lnTo>
                  <a:close/>
                </a:path>
              </a:pathLst>
            </a:custGeom>
            <a:solidFill>
              <a:srgbClr val="4BAF4F">
                <a:alpha val="10198"/>
              </a:srgbClr>
            </a:solidFill>
          </p:spPr>
          <p:txBody>
            <a:bodyPr wrap="square" lIns="0" tIns="0" rIns="0" bIns="0" rtlCol="0"/>
            <a:lstStyle/>
            <a:p>
              <a:endParaRPr/>
            </a:p>
          </p:txBody>
        </p:sp>
        <p:pic>
          <p:nvPicPr>
            <p:cNvPr id="46" name="object 46"/>
            <p:cNvPicPr/>
            <p:nvPr/>
          </p:nvPicPr>
          <p:blipFill>
            <a:blip r:embed="rId12" cstate="print"/>
            <a:stretch>
              <a:fillRect/>
            </a:stretch>
          </p:blipFill>
          <p:spPr>
            <a:xfrm>
              <a:off x="9201149" y="4762499"/>
              <a:ext cx="114299" cy="152399"/>
            </a:xfrm>
            <a:prstGeom prst="rect">
              <a:avLst/>
            </a:prstGeom>
          </p:spPr>
        </p:pic>
      </p:grpSp>
      <p:sp>
        <p:nvSpPr>
          <p:cNvPr id="47" name="object 47"/>
          <p:cNvSpPr txBox="1"/>
          <p:nvPr/>
        </p:nvSpPr>
        <p:spPr>
          <a:xfrm>
            <a:off x="9378949" y="4721225"/>
            <a:ext cx="958850" cy="185420"/>
          </a:xfrm>
          <a:prstGeom prst="rect">
            <a:avLst/>
          </a:prstGeom>
        </p:spPr>
        <p:txBody>
          <a:bodyPr vert="horz" wrap="square" lIns="0" tIns="12700" rIns="0" bIns="0" rtlCol="0">
            <a:spAutoFit/>
          </a:bodyPr>
          <a:lstStyle/>
          <a:p>
            <a:pPr marL="12700">
              <a:lnSpc>
                <a:spcPct val="100000"/>
              </a:lnSpc>
              <a:spcBef>
                <a:spcPts val="100"/>
              </a:spcBef>
            </a:pPr>
            <a:r>
              <a:rPr sz="1050" spc="-10" dirty="0">
                <a:solidFill>
                  <a:srgbClr val="FFFFFF"/>
                </a:solidFill>
                <a:latin typeface="PMingLiU"/>
                <a:cs typeface="PMingLiU"/>
              </a:rPr>
              <a:t>預防性維護管理</a:t>
            </a:r>
            <a:endParaRPr sz="1050">
              <a:latin typeface="PMingLiU"/>
              <a:cs typeface="PMingLiU"/>
            </a:endParaRPr>
          </a:p>
        </p:txBody>
      </p:sp>
      <p:sp>
        <p:nvSpPr>
          <p:cNvPr id="48" name="object 48"/>
          <p:cNvSpPr txBox="1">
            <a:spLocks noGrp="1"/>
          </p:cNvSpPr>
          <p:nvPr>
            <p:ph type="ftr" sz="quarter" idx="5"/>
          </p:nvPr>
        </p:nvSpPr>
        <p:spPr>
          <a:prstGeom prst="rect">
            <a:avLst/>
          </a:prstGeom>
        </p:spPr>
        <p:txBody>
          <a:bodyPr vert="horz" wrap="square" lIns="0" tIns="7620" rIns="0" bIns="0" rtlCol="0">
            <a:spAutoFit/>
          </a:bodyPr>
          <a:lstStyle/>
          <a:p>
            <a:pPr marL="184150">
              <a:lnSpc>
                <a:spcPct val="100000"/>
              </a:lnSpc>
              <a:spcBef>
                <a:spcPts val="60"/>
              </a:spcBef>
            </a:pPr>
            <a:r>
              <a:rPr sz="1050" dirty="0">
                <a:latin typeface="PMingLiU"/>
                <a:cs typeface="PMingLiU"/>
              </a:rPr>
              <a:t>報告日期</a:t>
            </a:r>
            <a:r>
              <a:rPr sz="1050" dirty="0"/>
              <a:t>: </a:t>
            </a:r>
            <a:r>
              <a:rPr sz="1050" spc="85" dirty="0"/>
              <a:t>2025-</a:t>
            </a:r>
            <a:r>
              <a:rPr sz="1050" spc="80" dirty="0"/>
              <a:t>09-</a:t>
            </a:r>
            <a:r>
              <a:rPr sz="1050" spc="65" dirty="0"/>
              <a:t>09</a:t>
            </a:r>
            <a:endParaRPr sz="1050">
              <a:latin typeface="PMingLiU"/>
              <a:cs typeface="PMingLiU"/>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object 2">
            <a:extLst>
              <a:ext uri="{FF2B5EF4-FFF2-40B4-BE49-F238E27FC236}">
                <a16:creationId xmlns:a16="http://schemas.microsoft.com/office/drawing/2014/main" id="{3812C44B-C5B0-4EED-8351-61B9CB200116}"/>
              </a:ext>
            </a:extLst>
          </p:cNvPr>
          <p:cNvSpPr/>
          <p:nvPr/>
        </p:nvSpPr>
        <p:spPr>
          <a:xfrm>
            <a:off x="0" y="0"/>
            <a:ext cx="11990070" cy="6856730"/>
          </a:xfrm>
          <a:custGeom>
            <a:avLst/>
            <a:gdLst/>
            <a:ahLst/>
            <a:cxnLst/>
            <a:rect l="l" t="t" r="r" b="b"/>
            <a:pathLst>
              <a:path w="11990070" h="6856730">
                <a:moveTo>
                  <a:pt x="11989510" y="6856501"/>
                </a:moveTo>
                <a:lnTo>
                  <a:pt x="0" y="6856501"/>
                </a:lnTo>
                <a:lnTo>
                  <a:pt x="0" y="0"/>
                </a:lnTo>
                <a:lnTo>
                  <a:pt x="11989510" y="0"/>
                </a:lnTo>
                <a:lnTo>
                  <a:pt x="11989510" y="6856501"/>
                </a:lnTo>
                <a:close/>
              </a:path>
            </a:pathLst>
          </a:custGeom>
          <a:solidFill>
            <a:srgbClr val="111726"/>
          </a:solidFill>
        </p:spPr>
        <p:txBody>
          <a:bodyPr wrap="square" lIns="0" tIns="0" rIns="0" bIns="0" rtlCol="0"/>
          <a:lstStyle/>
          <a:p>
            <a:endParaRPr/>
          </a:p>
        </p:txBody>
      </p:sp>
      <p:sp>
        <p:nvSpPr>
          <p:cNvPr id="2" name="object 2"/>
          <p:cNvSpPr/>
          <p:nvPr/>
        </p:nvSpPr>
        <p:spPr>
          <a:xfrm>
            <a:off x="457199" y="914399"/>
            <a:ext cx="914400" cy="38100"/>
          </a:xfrm>
          <a:custGeom>
            <a:avLst/>
            <a:gdLst/>
            <a:ahLst/>
            <a:cxnLst/>
            <a:rect l="l" t="t" r="r" b="b"/>
            <a:pathLst>
              <a:path w="914400" h="38100">
                <a:moveTo>
                  <a:pt x="897875" y="38099"/>
                </a:moveTo>
                <a:lnTo>
                  <a:pt x="16523" y="38099"/>
                </a:lnTo>
                <a:lnTo>
                  <a:pt x="14093" y="37616"/>
                </a:lnTo>
                <a:lnTo>
                  <a:pt x="0" y="21576"/>
                </a:lnTo>
                <a:lnTo>
                  <a:pt x="0" y="19049"/>
                </a:lnTo>
                <a:lnTo>
                  <a:pt x="0" y="16523"/>
                </a:lnTo>
                <a:lnTo>
                  <a:pt x="16523" y="0"/>
                </a:lnTo>
                <a:lnTo>
                  <a:pt x="897875" y="0"/>
                </a:lnTo>
                <a:lnTo>
                  <a:pt x="914399" y="16523"/>
                </a:lnTo>
                <a:lnTo>
                  <a:pt x="914399" y="21576"/>
                </a:lnTo>
                <a:lnTo>
                  <a:pt x="900305" y="37616"/>
                </a:lnTo>
                <a:lnTo>
                  <a:pt x="897875" y="38099"/>
                </a:lnTo>
                <a:close/>
              </a:path>
            </a:pathLst>
          </a:custGeom>
          <a:solidFill>
            <a:srgbClr val="21C45D"/>
          </a:solidFill>
        </p:spPr>
        <p:txBody>
          <a:bodyPr wrap="square" lIns="0" tIns="0" rIns="0" bIns="0" rtlCol="0"/>
          <a:lstStyle/>
          <a:p>
            <a:endParaRPr/>
          </a:p>
        </p:txBody>
      </p:sp>
      <p:sp>
        <p:nvSpPr>
          <p:cNvPr id="3" name="object 3"/>
          <p:cNvSpPr txBox="1">
            <a:spLocks noGrp="1"/>
          </p:cNvSpPr>
          <p:nvPr>
            <p:ph type="title"/>
          </p:nvPr>
        </p:nvSpPr>
        <p:spPr>
          <a:xfrm>
            <a:off x="444499" y="354831"/>
            <a:ext cx="4366039" cy="499109"/>
          </a:xfrm>
          <a:prstGeom prst="rect">
            <a:avLst/>
          </a:prstGeom>
        </p:spPr>
        <p:txBody>
          <a:bodyPr vert="horz" wrap="square" lIns="0" tIns="13335" rIns="0" bIns="0" rtlCol="0">
            <a:spAutoFit/>
          </a:bodyPr>
          <a:lstStyle/>
          <a:p>
            <a:pPr marL="12700">
              <a:lnSpc>
                <a:spcPct val="100000"/>
              </a:lnSpc>
              <a:spcBef>
                <a:spcPts val="105"/>
              </a:spcBef>
            </a:pPr>
            <a:r>
              <a:rPr spc="-330" dirty="0">
                <a:solidFill>
                  <a:schemeClr val="bg1"/>
                </a:solidFill>
              </a:rPr>
              <a:t>倉</a:t>
            </a:r>
            <a:r>
              <a:rPr sz="3100" spc="-405" dirty="0">
                <a:solidFill>
                  <a:schemeClr val="bg1"/>
                </a:solidFill>
              </a:rPr>
              <a:t>庫</a:t>
            </a:r>
            <a:r>
              <a:rPr spc="-300" dirty="0">
                <a:solidFill>
                  <a:schemeClr val="bg1"/>
                </a:solidFill>
                <a:latin typeface="PMingLiU"/>
                <a:cs typeface="PMingLiU"/>
              </a:rPr>
              <a:t>巡</a:t>
            </a:r>
            <a:r>
              <a:rPr spc="-330" dirty="0">
                <a:solidFill>
                  <a:schemeClr val="bg1"/>
                </a:solidFill>
              </a:rPr>
              <a:t>檢</a:t>
            </a:r>
            <a:r>
              <a:rPr sz="2900" spc="-210" dirty="0">
                <a:solidFill>
                  <a:schemeClr val="bg1"/>
                </a:solidFill>
                <a:latin typeface="PMingLiU"/>
                <a:cs typeface="PMingLiU"/>
              </a:rPr>
              <a:t>需</a:t>
            </a:r>
            <a:r>
              <a:rPr spc="-300" dirty="0">
                <a:solidFill>
                  <a:schemeClr val="bg1"/>
                </a:solidFill>
              </a:rPr>
              <a:t>求</a:t>
            </a:r>
            <a:r>
              <a:rPr sz="2950" spc="-295" dirty="0">
                <a:solidFill>
                  <a:schemeClr val="bg1"/>
                </a:solidFill>
              </a:rPr>
              <a:t>分析</a:t>
            </a:r>
            <a:endParaRPr sz="2950" dirty="0">
              <a:solidFill>
                <a:schemeClr val="bg1"/>
              </a:solidFill>
              <a:latin typeface="PMingLiU"/>
              <a:cs typeface="PMingLiU"/>
            </a:endParaRPr>
          </a:p>
        </p:txBody>
      </p:sp>
      <p:sp>
        <p:nvSpPr>
          <p:cNvPr id="4" name="object 4"/>
          <p:cNvSpPr txBox="1"/>
          <p:nvPr/>
        </p:nvSpPr>
        <p:spPr>
          <a:xfrm>
            <a:off x="444500" y="1177925"/>
            <a:ext cx="4118610" cy="208279"/>
          </a:xfrm>
          <a:prstGeom prst="rect">
            <a:avLst/>
          </a:prstGeom>
        </p:spPr>
        <p:txBody>
          <a:bodyPr vert="horz" wrap="square" lIns="0" tIns="12700" rIns="0" bIns="0" rtlCol="0">
            <a:spAutoFit/>
          </a:bodyPr>
          <a:lstStyle/>
          <a:p>
            <a:pPr marL="12700">
              <a:lnSpc>
                <a:spcPct val="100000"/>
              </a:lnSpc>
              <a:spcBef>
                <a:spcPts val="100"/>
              </a:spcBef>
            </a:pPr>
            <a:r>
              <a:rPr sz="1200" dirty="0" err="1">
                <a:solidFill>
                  <a:srgbClr val="D0D5DA"/>
                </a:solidFill>
                <a:latin typeface="PMingLiU"/>
                <a:cs typeface="PMingLiU"/>
              </a:rPr>
              <a:t>基於</a:t>
            </a:r>
            <a:r>
              <a:rPr sz="1200" spc="125" dirty="0" err="1">
                <a:solidFill>
                  <a:srgbClr val="D0D5DA"/>
                </a:solidFill>
                <a:latin typeface="Trebuchet MS"/>
                <a:cs typeface="Trebuchet MS"/>
              </a:rPr>
              <a:t>OSHA</a:t>
            </a:r>
            <a:r>
              <a:rPr sz="1200" spc="-5" dirty="0" err="1">
                <a:solidFill>
                  <a:srgbClr val="D0D5DA"/>
                </a:solidFill>
                <a:latin typeface="PMingLiU"/>
                <a:cs typeface="PMingLiU"/>
              </a:rPr>
              <a:t>標準及國內法規</a:t>
            </a:r>
            <a:r>
              <a:rPr sz="1200" spc="-5" dirty="0">
                <a:solidFill>
                  <a:srgbClr val="D0D5DA"/>
                </a:solidFill>
                <a:latin typeface="PMingLiU"/>
                <a:cs typeface="PMingLiU"/>
              </a:rPr>
              <a:t>，</a:t>
            </a:r>
            <a:r>
              <a:rPr lang="zh-TW" altLang="en-US" sz="1200" spc="-5" dirty="0">
                <a:solidFill>
                  <a:srgbClr val="D0D5DA"/>
                </a:solidFill>
                <a:latin typeface="PMingLiU"/>
                <a:cs typeface="PMingLiU"/>
              </a:rPr>
              <a:t>庫房巡檢需滿足以下安全需求：</a:t>
            </a:r>
            <a:endParaRPr sz="1200" dirty="0">
              <a:latin typeface="PMingLiU"/>
              <a:cs typeface="PMingLiU"/>
            </a:endParaRPr>
          </a:p>
        </p:txBody>
      </p:sp>
      <p:grpSp>
        <p:nvGrpSpPr>
          <p:cNvPr id="5" name="object 5"/>
          <p:cNvGrpSpPr/>
          <p:nvPr/>
        </p:nvGrpSpPr>
        <p:grpSpPr>
          <a:xfrm>
            <a:off x="457199" y="1562099"/>
            <a:ext cx="3190875" cy="1257300"/>
            <a:chOff x="457199" y="1562099"/>
            <a:chExt cx="3190875" cy="1257300"/>
          </a:xfrm>
        </p:grpSpPr>
        <p:sp>
          <p:nvSpPr>
            <p:cNvPr id="6" name="object 6"/>
            <p:cNvSpPr/>
            <p:nvPr/>
          </p:nvSpPr>
          <p:spPr>
            <a:xfrm>
              <a:off x="457199" y="1562099"/>
              <a:ext cx="3190875" cy="1257300"/>
            </a:xfrm>
            <a:custGeom>
              <a:avLst/>
              <a:gdLst/>
              <a:ahLst/>
              <a:cxnLst/>
              <a:rect l="l" t="t" r="r" b="b"/>
              <a:pathLst>
                <a:path w="3190875" h="1257300">
                  <a:moveTo>
                    <a:pt x="3190874" y="1257299"/>
                  </a:moveTo>
                  <a:lnTo>
                    <a:pt x="0" y="1257299"/>
                  </a:lnTo>
                  <a:lnTo>
                    <a:pt x="0" y="0"/>
                  </a:lnTo>
                  <a:lnTo>
                    <a:pt x="3190874" y="0"/>
                  </a:lnTo>
                  <a:lnTo>
                    <a:pt x="3190874" y="1257299"/>
                  </a:lnTo>
                  <a:close/>
                </a:path>
              </a:pathLst>
            </a:custGeom>
            <a:solidFill>
              <a:srgbClr val="FFFFFF">
                <a:alpha val="5099"/>
              </a:srgbClr>
            </a:solidFill>
          </p:spPr>
          <p:txBody>
            <a:bodyPr wrap="square" lIns="0" tIns="0" rIns="0" bIns="0" rtlCol="0"/>
            <a:lstStyle/>
            <a:p>
              <a:endParaRPr/>
            </a:p>
          </p:txBody>
        </p:sp>
        <p:sp>
          <p:nvSpPr>
            <p:cNvPr id="7" name="object 7"/>
            <p:cNvSpPr/>
            <p:nvPr/>
          </p:nvSpPr>
          <p:spPr>
            <a:xfrm>
              <a:off x="457199" y="1562099"/>
              <a:ext cx="28575" cy="1257300"/>
            </a:xfrm>
            <a:custGeom>
              <a:avLst/>
              <a:gdLst/>
              <a:ahLst/>
              <a:cxnLst/>
              <a:rect l="l" t="t" r="r" b="b"/>
              <a:pathLst>
                <a:path w="28575" h="1257300">
                  <a:moveTo>
                    <a:pt x="28574" y="1257299"/>
                  </a:moveTo>
                  <a:lnTo>
                    <a:pt x="0" y="1257299"/>
                  </a:lnTo>
                  <a:lnTo>
                    <a:pt x="0" y="0"/>
                  </a:lnTo>
                  <a:lnTo>
                    <a:pt x="28574" y="0"/>
                  </a:lnTo>
                  <a:lnTo>
                    <a:pt x="28574" y="1257299"/>
                  </a:lnTo>
                  <a:close/>
                </a:path>
              </a:pathLst>
            </a:custGeom>
            <a:solidFill>
              <a:srgbClr val="4BAF4F"/>
            </a:solidFill>
          </p:spPr>
          <p:txBody>
            <a:bodyPr wrap="square" lIns="0" tIns="0" rIns="0" bIns="0" rtlCol="0"/>
            <a:lstStyle/>
            <a:p>
              <a:endParaRPr/>
            </a:p>
          </p:txBody>
        </p:sp>
        <p:pic>
          <p:nvPicPr>
            <p:cNvPr id="8" name="object 8"/>
            <p:cNvPicPr/>
            <p:nvPr/>
          </p:nvPicPr>
          <p:blipFill>
            <a:blip r:embed="rId2" cstate="print"/>
            <a:stretch>
              <a:fillRect/>
            </a:stretch>
          </p:blipFill>
          <p:spPr>
            <a:xfrm>
              <a:off x="638174" y="1714499"/>
              <a:ext cx="228599" cy="304799"/>
            </a:xfrm>
            <a:prstGeom prst="rect">
              <a:avLst/>
            </a:prstGeom>
          </p:spPr>
        </p:pic>
        <p:sp>
          <p:nvSpPr>
            <p:cNvPr id="9" name="object 9"/>
            <p:cNvSpPr/>
            <p:nvPr/>
          </p:nvSpPr>
          <p:spPr>
            <a:xfrm>
              <a:off x="723887" y="2181224"/>
              <a:ext cx="38100" cy="419100"/>
            </a:xfrm>
            <a:custGeom>
              <a:avLst/>
              <a:gdLst/>
              <a:ahLst/>
              <a:cxnLst/>
              <a:rect l="l" t="t" r="r" b="b"/>
              <a:pathLst>
                <a:path w="38100" h="419100">
                  <a:moveTo>
                    <a:pt x="38100" y="397535"/>
                  </a:moveTo>
                  <a:lnTo>
                    <a:pt x="21577" y="381000"/>
                  </a:lnTo>
                  <a:lnTo>
                    <a:pt x="16535" y="381000"/>
                  </a:lnTo>
                  <a:lnTo>
                    <a:pt x="0" y="397535"/>
                  </a:lnTo>
                  <a:lnTo>
                    <a:pt x="0" y="402577"/>
                  </a:lnTo>
                  <a:lnTo>
                    <a:pt x="16535" y="419100"/>
                  </a:lnTo>
                  <a:lnTo>
                    <a:pt x="21577" y="419100"/>
                  </a:lnTo>
                  <a:lnTo>
                    <a:pt x="38100" y="402577"/>
                  </a:lnTo>
                  <a:lnTo>
                    <a:pt x="38100" y="400050"/>
                  </a:lnTo>
                  <a:lnTo>
                    <a:pt x="38100" y="397535"/>
                  </a:lnTo>
                  <a:close/>
                </a:path>
                <a:path w="38100" h="419100">
                  <a:moveTo>
                    <a:pt x="38100" y="207035"/>
                  </a:moveTo>
                  <a:lnTo>
                    <a:pt x="21577" y="190500"/>
                  </a:lnTo>
                  <a:lnTo>
                    <a:pt x="16535" y="190500"/>
                  </a:lnTo>
                  <a:lnTo>
                    <a:pt x="0" y="207035"/>
                  </a:lnTo>
                  <a:lnTo>
                    <a:pt x="0" y="212077"/>
                  </a:lnTo>
                  <a:lnTo>
                    <a:pt x="16535" y="228600"/>
                  </a:lnTo>
                  <a:lnTo>
                    <a:pt x="21577" y="228600"/>
                  </a:lnTo>
                  <a:lnTo>
                    <a:pt x="38100" y="212077"/>
                  </a:lnTo>
                  <a:lnTo>
                    <a:pt x="38100" y="209550"/>
                  </a:lnTo>
                  <a:lnTo>
                    <a:pt x="38100" y="207035"/>
                  </a:lnTo>
                  <a:close/>
                </a:path>
                <a:path w="38100" h="419100">
                  <a:moveTo>
                    <a:pt x="38100" y="16535"/>
                  </a:moveTo>
                  <a:lnTo>
                    <a:pt x="21577" y="0"/>
                  </a:lnTo>
                  <a:lnTo>
                    <a:pt x="16535" y="0"/>
                  </a:lnTo>
                  <a:lnTo>
                    <a:pt x="0" y="16535"/>
                  </a:lnTo>
                  <a:lnTo>
                    <a:pt x="0" y="21577"/>
                  </a:lnTo>
                  <a:lnTo>
                    <a:pt x="16535" y="38100"/>
                  </a:lnTo>
                  <a:lnTo>
                    <a:pt x="21577" y="38100"/>
                  </a:lnTo>
                  <a:lnTo>
                    <a:pt x="38100" y="21577"/>
                  </a:lnTo>
                  <a:lnTo>
                    <a:pt x="38100" y="19050"/>
                  </a:lnTo>
                  <a:lnTo>
                    <a:pt x="38100" y="16535"/>
                  </a:lnTo>
                  <a:close/>
                </a:path>
              </a:pathLst>
            </a:custGeom>
            <a:solidFill>
              <a:srgbClr val="D0D5DA"/>
            </a:solidFill>
          </p:spPr>
          <p:txBody>
            <a:bodyPr wrap="square" lIns="0" tIns="0" rIns="0" bIns="0" rtlCol="0"/>
            <a:lstStyle/>
            <a:p>
              <a:endParaRPr/>
            </a:p>
          </p:txBody>
        </p:sp>
      </p:grpSp>
      <p:sp>
        <p:nvSpPr>
          <p:cNvPr id="10" name="object 10"/>
          <p:cNvSpPr txBox="1"/>
          <p:nvPr/>
        </p:nvSpPr>
        <p:spPr>
          <a:xfrm>
            <a:off x="974487" y="1793022"/>
            <a:ext cx="3162300" cy="942340"/>
          </a:xfrm>
          <a:prstGeom prst="rect">
            <a:avLst/>
          </a:prstGeom>
        </p:spPr>
        <p:txBody>
          <a:bodyPr vert="horz" wrap="square" lIns="0" tIns="16510" rIns="0" bIns="0" rtlCol="0">
            <a:spAutoFit/>
          </a:bodyPr>
          <a:lstStyle/>
          <a:p>
            <a:pPr marL="494665">
              <a:lnSpc>
                <a:spcPct val="100000"/>
              </a:lnSpc>
              <a:spcBef>
                <a:spcPts val="130"/>
              </a:spcBef>
            </a:pPr>
            <a:r>
              <a:rPr sz="1500" spc="-150" dirty="0">
                <a:solidFill>
                  <a:srgbClr val="FFFFFF"/>
                </a:solidFill>
                <a:latin typeface="SimSun"/>
                <a:cs typeface="SimSun"/>
              </a:rPr>
              <a:t>火災</a:t>
            </a:r>
            <a:r>
              <a:rPr sz="1450" spc="-110" dirty="0">
                <a:solidFill>
                  <a:srgbClr val="FFFFFF"/>
                </a:solidFill>
                <a:latin typeface="PMingLiU"/>
                <a:cs typeface="PMingLiU"/>
              </a:rPr>
              <a:t>預</a:t>
            </a:r>
            <a:r>
              <a:rPr sz="1500" spc="-50" dirty="0">
                <a:solidFill>
                  <a:srgbClr val="FFFFFF"/>
                </a:solidFill>
                <a:latin typeface="SimSun"/>
                <a:cs typeface="SimSun"/>
              </a:rPr>
              <a:t>防</a:t>
            </a:r>
            <a:endParaRPr sz="1500" dirty="0">
              <a:latin typeface="SimSun"/>
              <a:cs typeface="SimSun"/>
            </a:endParaRPr>
          </a:p>
          <a:p>
            <a:pPr marL="381000" marR="1974214">
              <a:lnSpc>
                <a:spcPct val="119000"/>
              </a:lnSpc>
              <a:spcBef>
                <a:spcPts val="885"/>
              </a:spcBef>
            </a:pPr>
            <a:r>
              <a:rPr sz="1050" spc="-10" dirty="0">
                <a:solidFill>
                  <a:srgbClr val="D0D5DA"/>
                </a:solidFill>
                <a:latin typeface="PMingLiU"/>
                <a:cs typeface="PMingLiU"/>
              </a:rPr>
              <a:t>早期火災偵測</a:t>
            </a:r>
            <a:r>
              <a:rPr sz="1050" spc="-15" dirty="0">
                <a:solidFill>
                  <a:srgbClr val="D0D5DA"/>
                </a:solidFill>
                <a:latin typeface="PMingLiU"/>
                <a:cs typeface="PMingLiU"/>
              </a:rPr>
              <a:t>熱點監控</a:t>
            </a:r>
            <a:endParaRPr sz="1050" dirty="0">
              <a:latin typeface="PMingLiU"/>
              <a:cs typeface="PMingLiU"/>
            </a:endParaRPr>
          </a:p>
          <a:p>
            <a:pPr marL="381000">
              <a:lnSpc>
                <a:spcPct val="100000"/>
              </a:lnSpc>
              <a:spcBef>
                <a:spcPts val="240"/>
              </a:spcBef>
            </a:pPr>
            <a:r>
              <a:rPr sz="1050" spc="-10" dirty="0">
                <a:solidFill>
                  <a:srgbClr val="D0D5DA"/>
                </a:solidFill>
                <a:latin typeface="PMingLiU"/>
                <a:cs typeface="PMingLiU"/>
              </a:rPr>
              <a:t>消防通道暢通</a:t>
            </a:r>
            <a:endParaRPr sz="1050" dirty="0">
              <a:latin typeface="PMingLiU"/>
              <a:cs typeface="PMingLiU"/>
            </a:endParaRPr>
          </a:p>
        </p:txBody>
      </p:sp>
      <p:grpSp>
        <p:nvGrpSpPr>
          <p:cNvPr id="11" name="object 11"/>
          <p:cNvGrpSpPr/>
          <p:nvPr/>
        </p:nvGrpSpPr>
        <p:grpSpPr>
          <a:xfrm>
            <a:off x="3800474" y="1562099"/>
            <a:ext cx="3190875" cy="1257300"/>
            <a:chOff x="3800474" y="1562099"/>
            <a:chExt cx="3190875" cy="1257300"/>
          </a:xfrm>
        </p:grpSpPr>
        <p:sp>
          <p:nvSpPr>
            <p:cNvPr id="12" name="object 12"/>
            <p:cNvSpPr/>
            <p:nvPr/>
          </p:nvSpPr>
          <p:spPr>
            <a:xfrm>
              <a:off x="3800474" y="1562099"/>
              <a:ext cx="3190875" cy="1257300"/>
            </a:xfrm>
            <a:custGeom>
              <a:avLst/>
              <a:gdLst/>
              <a:ahLst/>
              <a:cxnLst/>
              <a:rect l="l" t="t" r="r" b="b"/>
              <a:pathLst>
                <a:path w="3190875" h="1257300">
                  <a:moveTo>
                    <a:pt x="3190874" y="1257299"/>
                  </a:moveTo>
                  <a:lnTo>
                    <a:pt x="0" y="1257299"/>
                  </a:lnTo>
                  <a:lnTo>
                    <a:pt x="0" y="0"/>
                  </a:lnTo>
                  <a:lnTo>
                    <a:pt x="3190874" y="0"/>
                  </a:lnTo>
                  <a:lnTo>
                    <a:pt x="3190874" y="1257299"/>
                  </a:lnTo>
                  <a:close/>
                </a:path>
              </a:pathLst>
            </a:custGeom>
            <a:solidFill>
              <a:srgbClr val="FFFFFF">
                <a:alpha val="5099"/>
              </a:srgbClr>
            </a:solidFill>
          </p:spPr>
          <p:txBody>
            <a:bodyPr wrap="square" lIns="0" tIns="0" rIns="0" bIns="0" rtlCol="0"/>
            <a:lstStyle/>
            <a:p>
              <a:endParaRPr/>
            </a:p>
          </p:txBody>
        </p:sp>
        <p:sp>
          <p:nvSpPr>
            <p:cNvPr id="13" name="object 13"/>
            <p:cNvSpPr/>
            <p:nvPr/>
          </p:nvSpPr>
          <p:spPr>
            <a:xfrm>
              <a:off x="3800474" y="1562099"/>
              <a:ext cx="28575" cy="1257300"/>
            </a:xfrm>
            <a:custGeom>
              <a:avLst/>
              <a:gdLst/>
              <a:ahLst/>
              <a:cxnLst/>
              <a:rect l="l" t="t" r="r" b="b"/>
              <a:pathLst>
                <a:path w="28575" h="1257300">
                  <a:moveTo>
                    <a:pt x="28574" y="1257299"/>
                  </a:moveTo>
                  <a:lnTo>
                    <a:pt x="0" y="1257299"/>
                  </a:lnTo>
                  <a:lnTo>
                    <a:pt x="0" y="0"/>
                  </a:lnTo>
                  <a:lnTo>
                    <a:pt x="28574" y="0"/>
                  </a:lnTo>
                  <a:lnTo>
                    <a:pt x="28574" y="1257299"/>
                  </a:lnTo>
                  <a:close/>
                </a:path>
              </a:pathLst>
            </a:custGeom>
            <a:solidFill>
              <a:srgbClr val="4BAF4F"/>
            </a:solidFill>
          </p:spPr>
          <p:txBody>
            <a:bodyPr wrap="square" lIns="0" tIns="0" rIns="0" bIns="0" rtlCol="0"/>
            <a:lstStyle/>
            <a:p>
              <a:endParaRPr/>
            </a:p>
          </p:txBody>
        </p:sp>
        <p:pic>
          <p:nvPicPr>
            <p:cNvPr id="14" name="object 14"/>
            <p:cNvPicPr/>
            <p:nvPr/>
          </p:nvPicPr>
          <p:blipFill>
            <a:blip r:embed="rId3" cstate="print"/>
            <a:stretch>
              <a:fillRect/>
            </a:stretch>
          </p:blipFill>
          <p:spPr>
            <a:xfrm>
              <a:off x="3981449" y="1714499"/>
              <a:ext cx="285749" cy="304799"/>
            </a:xfrm>
            <a:prstGeom prst="rect">
              <a:avLst/>
            </a:prstGeom>
          </p:spPr>
        </p:pic>
        <p:sp>
          <p:nvSpPr>
            <p:cNvPr id="15" name="object 15"/>
            <p:cNvSpPr/>
            <p:nvPr/>
          </p:nvSpPr>
          <p:spPr>
            <a:xfrm>
              <a:off x="4067162" y="2181224"/>
              <a:ext cx="38100" cy="419100"/>
            </a:xfrm>
            <a:custGeom>
              <a:avLst/>
              <a:gdLst/>
              <a:ahLst/>
              <a:cxnLst/>
              <a:rect l="l" t="t" r="r" b="b"/>
              <a:pathLst>
                <a:path w="38100" h="419100">
                  <a:moveTo>
                    <a:pt x="38100" y="397535"/>
                  </a:moveTo>
                  <a:lnTo>
                    <a:pt x="21577" y="381000"/>
                  </a:lnTo>
                  <a:lnTo>
                    <a:pt x="16535" y="381000"/>
                  </a:lnTo>
                  <a:lnTo>
                    <a:pt x="0" y="397535"/>
                  </a:lnTo>
                  <a:lnTo>
                    <a:pt x="0" y="402577"/>
                  </a:lnTo>
                  <a:lnTo>
                    <a:pt x="16535" y="419100"/>
                  </a:lnTo>
                  <a:lnTo>
                    <a:pt x="21577" y="419100"/>
                  </a:lnTo>
                  <a:lnTo>
                    <a:pt x="38100" y="402577"/>
                  </a:lnTo>
                  <a:lnTo>
                    <a:pt x="38100" y="400050"/>
                  </a:lnTo>
                  <a:lnTo>
                    <a:pt x="38100" y="397535"/>
                  </a:lnTo>
                  <a:close/>
                </a:path>
                <a:path w="38100" h="419100">
                  <a:moveTo>
                    <a:pt x="38100" y="207035"/>
                  </a:moveTo>
                  <a:lnTo>
                    <a:pt x="21577" y="190500"/>
                  </a:lnTo>
                  <a:lnTo>
                    <a:pt x="16535" y="190500"/>
                  </a:lnTo>
                  <a:lnTo>
                    <a:pt x="0" y="207035"/>
                  </a:lnTo>
                  <a:lnTo>
                    <a:pt x="0" y="212077"/>
                  </a:lnTo>
                  <a:lnTo>
                    <a:pt x="16535" y="228600"/>
                  </a:lnTo>
                  <a:lnTo>
                    <a:pt x="21577" y="228600"/>
                  </a:lnTo>
                  <a:lnTo>
                    <a:pt x="38100" y="212077"/>
                  </a:lnTo>
                  <a:lnTo>
                    <a:pt x="38100" y="209550"/>
                  </a:lnTo>
                  <a:lnTo>
                    <a:pt x="38100" y="207035"/>
                  </a:lnTo>
                  <a:close/>
                </a:path>
                <a:path w="38100" h="419100">
                  <a:moveTo>
                    <a:pt x="38100" y="16535"/>
                  </a:moveTo>
                  <a:lnTo>
                    <a:pt x="21577" y="0"/>
                  </a:lnTo>
                  <a:lnTo>
                    <a:pt x="16535" y="0"/>
                  </a:lnTo>
                  <a:lnTo>
                    <a:pt x="0" y="16535"/>
                  </a:lnTo>
                  <a:lnTo>
                    <a:pt x="0" y="21577"/>
                  </a:lnTo>
                  <a:lnTo>
                    <a:pt x="16535" y="38100"/>
                  </a:lnTo>
                  <a:lnTo>
                    <a:pt x="21577" y="38100"/>
                  </a:lnTo>
                  <a:lnTo>
                    <a:pt x="38100" y="21577"/>
                  </a:lnTo>
                  <a:lnTo>
                    <a:pt x="38100" y="19050"/>
                  </a:lnTo>
                  <a:lnTo>
                    <a:pt x="38100" y="16535"/>
                  </a:lnTo>
                  <a:close/>
                </a:path>
              </a:pathLst>
            </a:custGeom>
            <a:solidFill>
              <a:srgbClr val="D0D5DA"/>
            </a:solidFill>
          </p:spPr>
          <p:txBody>
            <a:bodyPr wrap="square" lIns="0" tIns="0" rIns="0" bIns="0" rtlCol="0"/>
            <a:lstStyle/>
            <a:p>
              <a:endParaRPr/>
            </a:p>
          </p:txBody>
        </p:sp>
      </p:grpSp>
      <p:sp>
        <p:nvSpPr>
          <p:cNvPr id="16" name="object 16"/>
          <p:cNvSpPr txBox="1"/>
          <p:nvPr/>
        </p:nvSpPr>
        <p:spPr>
          <a:xfrm>
            <a:off x="3829049" y="1714282"/>
            <a:ext cx="3162300" cy="944880"/>
          </a:xfrm>
          <a:prstGeom prst="rect">
            <a:avLst/>
          </a:prstGeom>
        </p:spPr>
        <p:txBody>
          <a:bodyPr vert="horz" wrap="square" lIns="0" tIns="12700" rIns="0" bIns="0" rtlCol="0">
            <a:spAutoFit/>
          </a:bodyPr>
          <a:lstStyle/>
          <a:p>
            <a:pPr marL="553720">
              <a:lnSpc>
                <a:spcPct val="100000"/>
              </a:lnSpc>
              <a:spcBef>
                <a:spcPts val="100"/>
              </a:spcBef>
            </a:pPr>
            <a:r>
              <a:rPr sz="1500" spc="-150" dirty="0">
                <a:solidFill>
                  <a:srgbClr val="FFFFFF"/>
                </a:solidFill>
                <a:latin typeface="SimSun"/>
                <a:cs typeface="SimSun"/>
              </a:rPr>
              <a:t>設</a:t>
            </a:r>
            <a:r>
              <a:rPr sz="1450" spc="-110" dirty="0">
                <a:solidFill>
                  <a:srgbClr val="FFFFFF"/>
                </a:solidFill>
                <a:latin typeface="SimSun"/>
                <a:cs typeface="SimSun"/>
              </a:rPr>
              <a:t>備</a:t>
            </a:r>
            <a:r>
              <a:rPr sz="1550" spc="-210" dirty="0">
                <a:solidFill>
                  <a:srgbClr val="FFFFFF"/>
                </a:solidFill>
                <a:latin typeface="SimSun"/>
                <a:cs typeface="SimSun"/>
              </a:rPr>
              <a:t>安</a:t>
            </a:r>
            <a:r>
              <a:rPr sz="1500" spc="-50" dirty="0">
                <a:solidFill>
                  <a:srgbClr val="FFFFFF"/>
                </a:solidFill>
                <a:latin typeface="SimSun"/>
                <a:cs typeface="SimSun"/>
              </a:rPr>
              <a:t>全</a:t>
            </a:r>
            <a:endParaRPr sz="1500">
              <a:latin typeface="SimSun"/>
              <a:cs typeface="SimSun"/>
            </a:endParaRPr>
          </a:p>
          <a:p>
            <a:pPr marL="382270" marR="1971675" algn="just">
              <a:lnSpc>
                <a:spcPct val="119000"/>
              </a:lnSpc>
              <a:spcBef>
                <a:spcPts val="875"/>
              </a:spcBef>
            </a:pPr>
            <a:r>
              <a:rPr sz="1050" spc="-10" dirty="0">
                <a:solidFill>
                  <a:srgbClr val="D0D5DA"/>
                </a:solidFill>
                <a:latin typeface="PMingLiU"/>
                <a:cs typeface="PMingLiU"/>
              </a:rPr>
              <a:t>叉車操作安全設備溫度監測電氣線路檢查</a:t>
            </a:r>
            <a:endParaRPr sz="1050">
              <a:latin typeface="PMingLiU"/>
              <a:cs typeface="PMingLiU"/>
            </a:endParaRPr>
          </a:p>
        </p:txBody>
      </p:sp>
      <p:grpSp>
        <p:nvGrpSpPr>
          <p:cNvPr id="17" name="object 17"/>
          <p:cNvGrpSpPr/>
          <p:nvPr/>
        </p:nvGrpSpPr>
        <p:grpSpPr>
          <a:xfrm>
            <a:off x="457199" y="2971799"/>
            <a:ext cx="3190875" cy="1257300"/>
            <a:chOff x="457199" y="2971799"/>
            <a:chExt cx="3190875" cy="1257300"/>
          </a:xfrm>
        </p:grpSpPr>
        <p:sp>
          <p:nvSpPr>
            <p:cNvPr id="18" name="object 18"/>
            <p:cNvSpPr/>
            <p:nvPr/>
          </p:nvSpPr>
          <p:spPr>
            <a:xfrm>
              <a:off x="457199" y="2971799"/>
              <a:ext cx="3190875" cy="1257300"/>
            </a:xfrm>
            <a:custGeom>
              <a:avLst/>
              <a:gdLst/>
              <a:ahLst/>
              <a:cxnLst/>
              <a:rect l="l" t="t" r="r" b="b"/>
              <a:pathLst>
                <a:path w="3190875" h="1257300">
                  <a:moveTo>
                    <a:pt x="3190874" y="1257299"/>
                  </a:moveTo>
                  <a:lnTo>
                    <a:pt x="0" y="1257299"/>
                  </a:lnTo>
                  <a:lnTo>
                    <a:pt x="0" y="0"/>
                  </a:lnTo>
                  <a:lnTo>
                    <a:pt x="3190874" y="0"/>
                  </a:lnTo>
                  <a:lnTo>
                    <a:pt x="3190874" y="1257299"/>
                  </a:lnTo>
                  <a:close/>
                </a:path>
              </a:pathLst>
            </a:custGeom>
            <a:solidFill>
              <a:srgbClr val="FFFFFF">
                <a:alpha val="5099"/>
              </a:srgbClr>
            </a:solidFill>
          </p:spPr>
          <p:txBody>
            <a:bodyPr wrap="square" lIns="0" tIns="0" rIns="0" bIns="0" rtlCol="0"/>
            <a:lstStyle/>
            <a:p>
              <a:endParaRPr/>
            </a:p>
          </p:txBody>
        </p:sp>
        <p:sp>
          <p:nvSpPr>
            <p:cNvPr id="19" name="object 19"/>
            <p:cNvSpPr/>
            <p:nvPr/>
          </p:nvSpPr>
          <p:spPr>
            <a:xfrm>
              <a:off x="457199" y="2971799"/>
              <a:ext cx="28575" cy="1257300"/>
            </a:xfrm>
            <a:custGeom>
              <a:avLst/>
              <a:gdLst/>
              <a:ahLst/>
              <a:cxnLst/>
              <a:rect l="l" t="t" r="r" b="b"/>
              <a:pathLst>
                <a:path w="28575" h="1257300">
                  <a:moveTo>
                    <a:pt x="28574" y="1257299"/>
                  </a:moveTo>
                  <a:lnTo>
                    <a:pt x="0" y="1257299"/>
                  </a:lnTo>
                  <a:lnTo>
                    <a:pt x="0" y="0"/>
                  </a:lnTo>
                  <a:lnTo>
                    <a:pt x="28574" y="0"/>
                  </a:lnTo>
                  <a:lnTo>
                    <a:pt x="28574" y="1257299"/>
                  </a:lnTo>
                  <a:close/>
                </a:path>
              </a:pathLst>
            </a:custGeom>
            <a:solidFill>
              <a:srgbClr val="4BAF4F"/>
            </a:solidFill>
          </p:spPr>
          <p:txBody>
            <a:bodyPr wrap="square" lIns="0" tIns="0" rIns="0" bIns="0" rtlCol="0"/>
            <a:lstStyle/>
            <a:p>
              <a:endParaRPr/>
            </a:p>
          </p:txBody>
        </p:sp>
        <p:pic>
          <p:nvPicPr>
            <p:cNvPr id="20" name="object 20"/>
            <p:cNvPicPr/>
            <p:nvPr/>
          </p:nvPicPr>
          <p:blipFill>
            <a:blip r:embed="rId4" cstate="print"/>
            <a:stretch>
              <a:fillRect/>
            </a:stretch>
          </p:blipFill>
          <p:spPr>
            <a:xfrm>
              <a:off x="638174" y="3124199"/>
              <a:ext cx="285749" cy="304799"/>
            </a:xfrm>
            <a:prstGeom prst="rect">
              <a:avLst/>
            </a:prstGeom>
          </p:spPr>
        </p:pic>
        <p:sp>
          <p:nvSpPr>
            <p:cNvPr id="21" name="object 21"/>
            <p:cNvSpPr/>
            <p:nvPr/>
          </p:nvSpPr>
          <p:spPr>
            <a:xfrm>
              <a:off x="723887" y="3590924"/>
              <a:ext cx="38100" cy="419100"/>
            </a:xfrm>
            <a:custGeom>
              <a:avLst/>
              <a:gdLst/>
              <a:ahLst/>
              <a:cxnLst/>
              <a:rect l="l" t="t" r="r" b="b"/>
              <a:pathLst>
                <a:path w="38100" h="419100">
                  <a:moveTo>
                    <a:pt x="38100" y="397535"/>
                  </a:moveTo>
                  <a:lnTo>
                    <a:pt x="21577" y="381000"/>
                  </a:lnTo>
                  <a:lnTo>
                    <a:pt x="16535" y="381000"/>
                  </a:lnTo>
                  <a:lnTo>
                    <a:pt x="0" y="397535"/>
                  </a:lnTo>
                  <a:lnTo>
                    <a:pt x="0" y="402577"/>
                  </a:lnTo>
                  <a:lnTo>
                    <a:pt x="16535" y="419100"/>
                  </a:lnTo>
                  <a:lnTo>
                    <a:pt x="21577" y="419100"/>
                  </a:lnTo>
                  <a:lnTo>
                    <a:pt x="38100" y="402577"/>
                  </a:lnTo>
                  <a:lnTo>
                    <a:pt x="38100" y="400050"/>
                  </a:lnTo>
                  <a:lnTo>
                    <a:pt x="38100" y="397535"/>
                  </a:lnTo>
                  <a:close/>
                </a:path>
                <a:path w="38100" h="419100">
                  <a:moveTo>
                    <a:pt x="38100" y="207035"/>
                  </a:moveTo>
                  <a:lnTo>
                    <a:pt x="21577" y="190500"/>
                  </a:lnTo>
                  <a:lnTo>
                    <a:pt x="16535" y="190500"/>
                  </a:lnTo>
                  <a:lnTo>
                    <a:pt x="0" y="207035"/>
                  </a:lnTo>
                  <a:lnTo>
                    <a:pt x="0" y="212077"/>
                  </a:lnTo>
                  <a:lnTo>
                    <a:pt x="16535" y="228600"/>
                  </a:lnTo>
                  <a:lnTo>
                    <a:pt x="21577" y="228600"/>
                  </a:lnTo>
                  <a:lnTo>
                    <a:pt x="38100" y="212077"/>
                  </a:lnTo>
                  <a:lnTo>
                    <a:pt x="38100" y="209550"/>
                  </a:lnTo>
                  <a:lnTo>
                    <a:pt x="38100" y="207035"/>
                  </a:lnTo>
                  <a:close/>
                </a:path>
                <a:path w="38100" h="419100">
                  <a:moveTo>
                    <a:pt x="38100" y="16535"/>
                  </a:moveTo>
                  <a:lnTo>
                    <a:pt x="21577" y="0"/>
                  </a:lnTo>
                  <a:lnTo>
                    <a:pt x="16535" y="0"/>
                  </a:lnTo>
                  <a:lnTo>
                    <a:pt x="0" y="16535"/>
                  </a:lnTo>
                  <a:lnTo>
                    <a:pt x="0" y="21577"/>
                  </a:lnTo>
                  <a:lnTo>
                    <a:pt x="16535" y="38100"/>
                  </a:lnTo>
                  <a:lnTo>
                    <a:pt x="21577" y="38100"/>
                  </a:lnTo>
                  <a:lnTo>
                    <a:pt x="38100" y="21577"/>
                  </a:lnTo>
                  <a:lnTo>
                    <a:pt x="38100" y="19050"/>
                  </a:lnTo>
                  <a:lnTo>
                    <a:pt x="38100" y="16535"/>
                  </a:lnTo>
                  <a:close/>
                </a:path>
              </a:pathLst>
            </a:custGeom>
            <a:solidFill>
              <a:srgbClr val="D0D5DA"/>
            </a:solidFill>
          </p:spPr>
          <p:txBody>
            <a:bodyPr wrap="square" lIns="0" tIns="0" rIns="0" bIns="0" rtlCol="0"/>
            <a:lstStyle/>
            <a:p>
              <a:endParaRPr/>
            </a:p>
          </p:txBody>
        </p:sp>
      </p:grpSp>
      <p:sp>
        <p:nvSpPr>
          <p:cNvPr id="22" name="object 22"/>
          <p:cNvSpPr txBox="1"/>
          <p:nvPr/>
        </p:nvSpPr>
        <p:spPr>
          <a:xfrm>
            <a:off x="485774" y="3123982"/>
            <a:ext cx="3162300" cy="944880"/>
          </a:xfrm>
          <a:prstGeom prst="rect">
            <a:avLst/>
          </a:prstGeom>
        </p:spPr>
        <p:txBody>
          <a:bodyPr vert="horz" wrap="square" lIns="0" tIns="12700" rIns="0" bIns="0" rtlCol="0">
            <a:spAutoFit/>
          </a:bodyPr>
          <a:lstStyle/>
          <a:p>
            <a:pPr marL="551815">
              <a:lnSpc>
                <a:spcPct val="100000"/>
              </a:lnSpc>
              <a:spcBef>
                <a:spcPts val="100"/>
              </a:spcBef>
            </a:pPr>
            <a:r>
              <a:rPr sz="1450" spc="-110" dirty="0">
                <a:solidFill>
                  <a:srgbClr val="FFFFFF"/>
                </a:solidFill>
                <a:latin typeface="PMingLiU"/>
                <a:cs typeface="PMingLiU"/>
              </a:rPr>
              <a:t>環</a:t>
            </a:r>
            <a:r>
              <a:rPr sz="1550" spc="-210" dirty="0">
                <a:solidFill>
                  <a:srgbClr val="FFFFFF"/>
                </a:solidFill>
                <a:latin typeface="PMingLiU"/>
                <a:cs typeface="PMingLiU"/>
              </a:rPr>
              <a:t>境</a:t>
            </a:r>
            <a:r>
              <a:rPr sz="1550" spc="-210" dirty="0">
                <a:solidFill>
                  <a:srgbClr val="FFFFFF"/>
                </a:solidFill>
                <a:latin typeface="SimSun"/>
                <a:cs typeface="SimSun"/>
              </a:rPr>
              <a:t>安</a:t>
            </a:r>
            <a:r>
              <a:rPr sz="1500" spc="-50" dirty="0">
                <a:solidFill>
                  <a:srgbClr val="FFFFFF"/>
                </a:solidFill>
                <a:latin typeface="SimSun"/>
                <a:cs typeface="SimSun"/>
              </a:rPr>
              <a:t>全</a:t>
            </a:r>
            <a:endParaRPr sz="1500">
              <a:latin typeface="SimSun"/>
              <a:cs typeface="SimSun"/>
            </a:endParaRPr>
          </a:p>
          <a:p>
            <a:pPr marL="381000" marR="2107565">
              <a:lnSpc>
                <a:spcPct val="119000"/>
              </a:lnSpc>
              <a:spcBef>
                <a:spcPts val="875"/>
              </a:spcBef>
            </a:pPr>
            <a:r>
              <a:rPr sz="1050" spc="-10" dirty="0">
                <a:solidFill>
                  <a:srgbClr val="D0D5DA"/>
                </a:solidFill>
                <a:latin typeface="PMingLiU"/>
                <a:cs typeface="PMingLiU"/>
              </a:rPr>
              <a:t>溫濕度監控</a:t>
            </a:r>
            <a:r>
              <a:rPr sz="1050" spc="-15" dirty="0">
                <a:solidFill>
                  <a:srgbClr val="D0D5DA"/>
                </a:solidFill>
                <a:latin typeface="PMingLiU"/>
                <a:cs typeface="PMingLiU"/>
              </a:rPr>
              <a:t>通風狀況</a:t>
            </a:r>
            <a:endParaRPr sz="1050">
              <a:latin typeface="PMingLiU"/>
              <a:cs typeface="PMingLiU"/>
            </a:endParaRPr>
          </a:p>
          <a:p>
            <a:pPr marL="381000">
              <a:lnSpc>
                <a:spcPct val="100000"/>
              </a:lnSpc>
              <a:spcBef>
                <a:spcPts val="240"/>
              </a:spcBef>
            </a:pPr>
            <a:r>
              <a:rPr sz="1050" spc="-10" dirty="0">
                <a:solidFill>
                  <a:srgbClr val="D0D5DA"/>
                </a:solidFill>
                <a:latin typeface="PMingLiU"/>
                <a:cs typeface="PMingLiU"/>
              </a:rPr>
              <a:t>有害氣體偵測</a:t>
            </a:r>
            <a:endParaRPr sz="1050">
              <a:latin typeface="PMingLiU"/>
              <a:cs typeface="PMingLiU"/>
            </a:endParaRPr>
          </a:p>
        </p:txBody>
      </p:sp>
      <p:grpSp>
        <p:nvGrpSpPr>
          <p:cNvPr id="23" name="object 23"/>
          <p:cNvGrpSpPr/>
          <p:nvPr/>
        </p:nvGrpSpPr>
        <p:grpSpPr>
          <a:xfrm>
            <a:off x="3800474" y="2971799"/>
            <a:ext cx="3190875" cy="1257300"/>
            <a:chOff x="3800474" y="2971799"/>
            <a:chExt cx="3190875" cy="1257300"/>
          </a:xfrm>
        </p:grpSpPr>
        <p:sp>
          <p:nvSpPr>
            <p:cNvPr id="24" name="object 24"/>
            <p:cNvSpPr/>
            <p:nvPr/>
          </p:nvSpPr>
          <p:spPr>
            <a:xfrm>
              <a:off x="3800474" y="2971799"/>
              <a:ext cx="3190875" cy="1257300"/>
            </a:xfrm>
            <a:custGeom>
              <a:avLst/>
              <a:gdLst/>
              <a:ahLst/>
              <a:cxnLst/>
              <a:rect l="l" t="t" r="r" b="b"/>
              <a:pathLst>
                <a:path w="3190875" h="1257300">
                  <a:moveTo>
                    <a:pt x="3190874" y="1257299"/>
                  </a:moveTo>
                  <a:lnTo>
                    <a:pt x="0" y="1257299"/>
                  </a:lnTo>
                  <a:lnTo>
                    <a:pt x="0" y="0"/>
                  </a:lnTo>
                  <a:lnTo>
                    <a:pt x="3190874" y="0"/>
                  </a:lnTo>
                  <a:lnTo>
                    <a:pt x="3190874" y="1257299"/>
                  </a:lnTo>
                  <a:close/>
                </a:path>
              </a:pathLst>
            </a:custGeom>
            <a:solidFill>
              <a:srgbClr val="FFFFFF">
                <a:alpha val="5099"/>
              </a:srgbClr>
            </a:solidFill>
          </p:spPr>
          <p:txBody>
            <a:bodyPr wrap="square" lIns="0" tIns="0" rIns="0" bIns="0" rtlCol="0"/>
            <a:lstStyle/>
            <a:p>
              <a:endParaRPr/>
            </a:p>
          </p:txBody>
        </p:sp>
        <p:sp>
          <p:nvSpPr>
            <p:cNvPr id="25" name="object 25"/>
            <p:cNvSpPr/>
            <p:nvPr/>
          </p:nvSpPr>
          <p:spPr>
            <a:xfrm>
              <a:off x="3800474" y="2971799"/>
              <a:ext cx="28575" cy="1257300"/>
            </a:xfrm>
            <a:custGeom>
              <a:avLst/>
              <a:gdLst/>
              <a:ahLst/>
              <a:cxnLst/>
              <a:rect l="l" t="t" r="r" b="b"/>
              <a:pathLst>
                <a:path w="28575" h="1257300">
                  <a:moveTo>
                    <a:pt x="28574" y="1257299"/>
                  </a:moveTo>
                  <a:lnTo>
                    <a:pt x="0" y="1257299"/>
                  </a:lnTo>
                  <a:lnTo>
                    <a:pt x="0" y="0"/>
                  </a:lnTo>
                  <a:lnTo>
                    <a:pt x="28574" y="0"/>
                  </a:lnTo>
                  <a:lnTo>
                    <a:pt x="28574" y="1257299"/>
                  </a:lnTo>
                  <a:close/>
                </a:path>
              </a:pathLst>
            </a:custGeom>
            <a:solidFill>
              <a:srgbClr val="4BAF4F"/>
            </a:solidFill>
          </p:spPr>
          <p:txBody>
            <a:bodyPr wrap="square" lIns="0" tIns="0" rIns="0" bIns="0" rtlCol="0"/>
            <a:lstStyle/>
            <a:p>
              <a:endParaRPr/>
            </a:p>
          </p:txBody>
        </p:sp>
        <p:pic>
          <p:nvPicPr>
            <p:cNvPr id="26" name="object 26"/>
            <p:cNvPicPr/>
            <p:nvPr/>
          </p:nvPicPr>
          <p:blipFill>
            <a:blip r:embed="rId5" cstate="print"/>
            <a:stretch>
              <a:fillRect/>
            </a:stretch>
          </p:blipFill>
          <p:spPr>
            <a:xfrm>
              <a:off x="3981449" y="3124199"/>
              <a:ext cx="257174" cy="304799"/>
            </a:xfrm>
            <a:prstGeom prst="rect">
              <a:avLst/>
            </a:prstGeom>
          </p:spPr>
        </p:pic>
        <p:sp>
          <p:nvSpPr>
            <p:cNvPr id="27" name="object 27"/>
            <p:cNvSpPr/>
            <p:nvPr/>
          </p:nvSpPr>
          <p:spPr>
            <a:xfrm>
              <a:off x="4067162" y="3590924"/>
              <a:ext cx="38100" cy="419100"/>
            </a:xfrm>
            <a:custGeom>
              <a:avLst/>
              <a:gdLst/>
              <a:ahLst/>
              <a:cxnLst/>
              <a:rect l="l" t="t" r="r" b="b"/>
              <a:pathLst>
                <a:path w="38100" h="419100">
                  <a:moveTo>
                    <a:pt x="38100" y="397535"/>
                  </a:moveTo>
                  <a:lnTo>
                    <a:pt x="21577" y="381000"/>
                  </a:lnTo>
                  <a:lnTo>
                    <a:pt x="16535" y="381000"/>
                  </a:lnTo>
                  <a:lnTo>
                    <a:pt x="0" y="397535"/>
                  </a:lnTo>
                  <a:lnTo>
                    <a:pt x="0" y="402577"/>
                  </a:lnTo>
                  <a:lnTo>
                    <a:pt x="16535" y="419100"/>
                  </a:lnTo>
                  <a:lnTo>
                    <a:pt x="21577" y="419100"/>
                  </a:lnTo>
                  <a:lnTo>
                    <a:pt x="38100" y="402577"/>
                  </a:lnTo>
                  <a:lnTo>
                    <a:pt x="38100" y="400050"/>
                  </a:lnTo>
                  <a:lnTo>
                    <a:pt x="38100" y="397535"/>
                  </a:lnTo>
                  <a:close/>
                </a:path>
                <a:path w="38100" h="419100">
                  <a:moveTo>
                    <a:pt x="38100" y="207035"/>
                  </a:moveTo>
                  <a:lnTo>
                    <a:pt x="21577" y="190500"/>
                  </a:lnTo>
                  <a:lnTo>
                    <a:pt x="16535" y="190500"/>
                  </a:lnTo>
                  <a:lnTo>
                    <a:pt x="0" y="207035"/>
                  </a:lnTo>
                  <a:lnTo>
                    <a:pt x="0" y="212077"/>
                  </a:lnTo>
                  <a:lnTo>
                    <a:pt x="16535" y="228600"/>
                  </a:lnTo>
                  <a:lnTo>
                    <a:pt x="21577" y="228600"/>
                  </a:lnTo>
                  <a:lnTo>
                    <a:pt x="38100" y="212077"/>
                  </a:lnTo>
                  <a:lnTo>
                    <a:pt x="38100" y="209550"/>
                  </a:lnTo>
                  <a:lnTo>
                    <a:pt x="38100" y="207035"/>
                  </a:lnTo>
                  <a:close/>
                </a:path>
                <a:path w="38100" h="419100">
                  <a:moveTo>
                    <a:pt x="38100" y="16535"/>
                  </a:moveTo>
                  <a:lnTo>
                    <a:pt x="21577" y="0"/>
                  </a:lnTo>
                  <a:lnTo>
                    <a:pt x="16535" y="0"/>
                  </a:lnTo>
                  <a:lnTo>
                    <a:pt x="0" y="16535"/>
                  </a:lnTo>
                  <a:lnTo>
                    <a:pt x="0" y="21577"/>
                  </a:lnTo>
                  <a:lnTo>
                    <a:pt x="16535" y="38100"/>
                  </a:lnTo>
                  <a:lnTo>
                    <a:pt x="21577" y="38100"/>
                  </a:lnTo>
                  <a:lnTo>
                    <a:pt x="38100" y="21577"/>
                  </a:lnTo>
                  <a:lnTo>
                    <a:pt x="38100" y="19050"/>
                  </a:lnTo>
                  <a:lnTo>
                    <a:pt x="38100" y="16535"/>
                  </a:lnTo>
                  <a:close/>
                </a:path>
              </a:pathLst>
            </a:custGeom>
            <a:solidFill>
              <a:srgbClr val="D0D5DA"/>
            </a:solidFill>
          </p:spPr>
          <p:txBody>
            <a:bodyPr wrap="square" lIns="0" tIns="0" rIns="0" bIns="0" rtlCol="0"/>
            <a:lstStyle/>
            <a:p>
              <a:endParaRPr/>
            </a:p>
          </p:txBody>
        </p:sp>
      </p:grpSp>
      <p:sp>
        <p:nvSpPr>
          <p:cNvPr id="28" name="object 28"/>
          <p:cNvSpPr txBox="1"/>
          <p:nvPr/>
        </p:nvSpPr>
        <p:spPr>
          <a:xfrm>
            <a:off x="3829049" y="3123982"/>
            <a:ext cx="3162300" cy="944880"/>
          </a:xfrm>
          <a:prstGeom prst="rect">
            <a:avLst/>
          </a:prstGeom>
        </p:spPr>
        <p:txBody>
          <a:bodyPr vert="horz" wrap="square" lIns="0" tIns="12700" rIns="0" bIns="0" rtlCol="0">
            <a:spAutoFit/>
          </a:bodyPr>
          <a:lstStyle/>
          <a:p>
            <a:pPr marL="525145">
              <a:lnSpc>
                <a:spcPct val="100000"/>
              </a:lnSpc>
              <a:spcBef>
                <a:spcPts val="100"/>
              </a:spcBef>
            </a:pPr>
            <a:r>
              <a:rPr sz="1450" spc="-110" dirty="0">
                <a:solidFill>
                  <a:srgbClr val="FFFFFF"/>
                </a:solidFill>
                <a:latin typeface="SimSun"/>
                <a:cs typeface="SimSun"/>
              </a:rPr>
              <a:t>物</a:t>
            </a:r>
            <a:r>
              <a:rPr sz="1450" spc="-110" dirty="0">
                <a:solidFill>
                  <a:srgbClr val="FFFFFF"/>
                </a:solidFill>
                <a:latin typeface="PMingLiU"/>
                <a:cs typeface="PMingLiU"/>
              </a:rPr>
              <a:t>品</a:t>
            </a:r>
            <a:r>
              <a:rPr sz="1550" spc="-210" dirty="0">
                <a:solidFill>
                  <a:srgbClr val="FFFFFF"/>
                </a:solidFill>
                <a:latin typeface="SimSun"/>
                <a:cs typeface="SimSun"/>
              </a:rPr>
              <a:t>存</a:t>
            </a:r>
            <a:r>
              <a:rPr sz="1500" spc="-50" dirty="0">
                <a:solidFill>
                  <a:srgbClr val="FFFFFF"/>
                </a:solidFill>
                <a:latin typeface="SimSun"/>
                <a:cs typeface="SimSun"/>
              </a:rPr>
              <a:t>儲</a:t>
            </a:r>
            <a:endParaRPr sz="1500">
              <a:latin typeface="SimSun"/>
              <a:cs typeface="SimSun"/>
            </a:endParaRPr>
          </a:p>
          <a:p>
            <a:pPr marL="382270" marR="1838325">
              <a:lnSpc>
                <a:spcPct val="119000"/>
              </a:lnSpc>
              <a:spcBef>
                <a:spcPts val="875"/>
              </a:spcBef>
            </a:pPr>
            <a:r>
              <a:rPr sz="1050" spc="-10" dirty="0">
                <a:solidFill>
                  <a:srgbClr val="D0D5DA"/>
                </a:solidFill>
                <a:latin typeface="PMingLiU"/>
                <a:cs typeface="PMingLiU"/>
              </a:rPr>
              <a:t>貨物堆疊穩定性重量限制遵守</a:t>
            </a:r>
            <a:r>
              <a:rPr sz="1050" dirty="0">
                <a:solidFill>
                  <a:srgbClr val="D0D5DA"/>
                </a:solidFill>
                <a:latin typeface="PMingLiU"/>
                <a:cs typeface="PMingLiU"/>
              </a:rPr>
              <a:t> </a:t>
            </a:r>
            <a:r>
              <a:rPr sz="1050" spc="-10" dirty="0">
                <a:solidFill>
                  <a:srgbClr val="D0D5DA"/>
                </a:solidFill>
                <a:latin typeface="PMingLiU"/>
                <a:cs typeface="PMingLiU"/>
              </a:rPr>
              <a:t>儲存區域整潔</a:t>
            </a:r>
            <a:endParaRPr sz="1050">
              <a:latin typeface="PMingLiU"/>
              <a:cs typeface="PMingLiU"/>
            </a:endParaRPr>
          </a:p>
        </p:txBody>
      </p:sp>
      <p:pic>
        <p:nvPicPr>
          <p:cNvPr id="29" name="object 29"/>
          <p:cNvPicPr/>
          <p:nvPr/>
        </p:nvPicPr>
        <p:blipFill>
          <a:blip r:embed="rId6" cstate="print"/>
          <a:stretch>
            <a:fillRect/>
          </a:stretch>
        </p:blipFill>
        <p:spPr>
          <a:xfrm>
            <a:off x="7448550" y="1181100"/>
            <a:ext cx="4286249" cy="1828799"/>
          </a:xfrm>
          <a:prstGeom prst="rect">
            <a:avLst/>
          </a:prstGeom>
        </p:spPr>
      </p:pic>
      <p:pic>
        <p:nvPicPr>
          <p:cNvPr id="30" name="object 30"/>
          <p:cNvPicPr/>
          <p:nvPr/>
        </p:nvPicPr>
        <p:blipFill>
          <a:blip r:embed="rId7" cstate="print"/>
          <a:stretch>
            <a:fillRect/>
          </a:stretch>
        </p:blipFill>
        <p:spPr>
          <a:xfrm>
            <a:off x="7448550" y="3200399"/>
            <a:ext cx="190499" cy="190499"/>
          </a:xfrm>
          <a:prstGeom prst="rect">
            <a:avLst/>
          </a:prstGeom>
        </p:spPr>
      </p:pic>
      <p:sp>
        <p:nvSpPr>
          <p:cNvPr id="31" name="object 31"/>
          <p:cNvSpPr txBox="1"/>
          <p:nvPr/>
        </p:nvSpPr>
        <p:spPr>
          <a:xfrm>
            <a:off x="7706270" y="3134754"/>
            <a:ext cx="1549400" cy="283845"/>
          </a:xfrm>
          <a:prstGeom prst="rect">
            <a:avLst/>
          </a:prstGeom>
        </p:spPr>
        <p:txBody>
          <a:bodyPr vert="horz" wrap="square" lIns="0" tIns="11430" rIns="0" bIns="0" rtlCol="0">
            <a:spAutoFit/>
          </a:bodyPr>
          <a:lstStyle/>
          <a:p>
            <a:pPr marL="12700">
              <a:lnSpc>
                <a:spcPct val="100000"/>
              </a:lnSpc>
              <a:spcBef>
                <a:spcPts val="90"/>
              </a:spcBef>
            </a:pPr>
            <a:r>
              <a:rPr sz="1650" spc="-165" dirty="0">
                <a:solidFill>
                  <a:srgbClr val="FFFFFF"/>
                </a:solidFill>
                <a:latin typeface="SimSun"/>
                <a:cs typeface="SimSun"/>
              </a:rPr>
              <a:t>智</a:t>
            </a:r>
            <a:r>
              <a:rPr sz="1700" spc="-210" dirty="0">
                <a:solidFill>
                  <a:srgbClr val="FFFFFF"/>
                </a:solidFill>
                <a:latin typeface="PMingLiU"/>
                <a:cs typeface="PMingLiU"/>
              </a:rPr>
              <a:t>能</a:t>
            </a:r>
            <a:r>
              <a:rPr sz="1600" spc="-120" dirty="0">
                <a:solidFill>
                  <a:srgbClr val="FFFFFF"/>
                </a:solidFill>
                <a:latin typeface="PMingLiU"/>
                <a:cs typeface="PMingLiU"/>
              </a:rPr>
              <a:t>異</a:t>
            </a:r>
            <a:r>
              <a:rPr sz="1650" spc="-165" dirty="0">
                <a:solidFill>
                  <a:srgbClr val="FFFFFF"/>
                </a:solidFill>
                <a:latin typeface="PMingLiU"/>
                <a:cs typeface="PMingLiU"/>
              </a:rPr>
              <a:t>常</a:t>
            </a:r>
            <a:r>
              <a:rPr sz="1650" spc="-140" dirty="0">
                <a:solidFill>
                  <a:srgbClr val="FFFFFF"/>
                </a:solidFill>
                <a:latin typeface="SimSun"/>
                <a:cs typeface="SimSun"/>
              </a:rPr>
              <a:t>檢測技術</a:t>
            </a:r>
            <a:endParaRPr sz="1650">
              <a:latin typeface="SimSun"/>
              <a:cs typeface="SimSun"/>
            </a:endParaRPr>
          </a:p>
        </p:txBody>
      </p:sp>
      <p:grpSp>
        <p:nvGrpSpPr>
          <p:cNvPr id="32" name="object 32"/>
          <p:cNvGrpSpPr/>
          <p:nvPr/>
        </p:nvGrpSpPr>
        <p:grpSpPr>
          <a:xfrm>
            <a:off x="7448549" y="3543300"/>
            <a:ext cx="2085975" cy="838200"/>
            <a:chOff x="7448549" y="3543300"/>
            <a:chExt cx="2085975" cy="838200"/>
          </a:xfrm>
        </p:grpSpPr>
        <p:sp>
          <p:nvSpPr>
            <p:cNvPr id="33" name="object 33"/>
            <p:cNvSpPr/>
            <p:nvPr/>
          </p:nvSpPr>
          <p:spPr>
            <a:xfrm>
              <a:off x="7448549" y="3543300"/>
              <a:ext cx="2085975" cy="838200"/>
            </a:xfrm>
            <a:custGeom>
              <a:avLst/>
              <a:gdLst/>
              <a:ahLst/>
              <a:cxnLst/>
              <a:rect l="l" t="t" r="r" b="b"/>
              <a:pathLst>
                <a:path w="2085975" h="838200">
                  <a:moveTo>
                    <a:pt x="2014778" y="838199"/>
                  </a:moveTo>
                  <a:lnTo>
                    <a:pt x="71196" y="838199"/>
                  </a:lnTo>
                  <a:lnTo>
                    <a:pt x="66241" y="837711"/>
                  </a:lnTo>
                  <a:lnTo>
                    <a:pt x="29704" y="822577"/>
                  </a:lnTo>
                  <a:lnTo>
                    <a:pt x="3884" y="786537"/>
                  </a:lnTo>
                  <a:lnTo>
                    <a:pt x="0" y="767003"/>
                  </a:lnTo>
                  <a:lnTo>
                    <a:pt x="0" y="761999"/>
                  </a:lnTo>
                  <a:lnTo>
                    <a:pt x="0" y="71196"/>
                  </a:lnTo>
                  <a:lnTo>
                    <a:pt x="15620" y="29704"/>
                  </a:lnTo>
                  <a:lnTo>
                    <a:pt x="51661" y="3884"/>
                  </a:lnTo>
                  <a:lnTo>
                    <a:pt x="71196" y="0"/>
                  </a:lnTo>
                  <a:lnTo>
                    <a:pt x="2014778" y="0"/>
                  </a:lnTo>
                  <a:lnTo>
                    <a:pt x="2056269" y="15621"/>
                  </a:lnTo>
                  <a:lnTo>
                    <a:pt x="2082088" y="51661"/>
                  </a:lnTo>
                  <a:lnTo>
                    <a:pt x="2085974" y="71196"/>
                  </a:lnTo>
                  <a:lnTo>
                    <a:pt x="2085974" y="767003"/>
                  </a:lnTo>
                  <a:lnTo>
                    <a:pt x="2070353" y="808493"/>
                  </a:lnTo>
                  <a:lnTo>
                    <a:pt x="2034311" y="834313"/>
                  </a:lnTo>
                  <a:lnTo>
                    <a:pt x="2019732" y="837711"/>
                  </a:lnTo>
                  <a:lnTo>
                    <a:pt x="2014778" y="838199"/>
                  </a:lnTo>
                  <a:close/>
                </a:path>
              </a:pathLst>
            </a:custGeom>
            <a:solidFill>
              <a:srgbClr val="4BAF4F">
                <a:alpha val="10198"/>
              </a:srgbClr>
            </a:solidFill>
          </p:spPr>
          <p:txBody>
            <a:bodyPr wrap="square" lIns="0" tIns="0" rIns="0" bIns="0" rtlCol="0"/>
            <a:lstStyle/>
            <a:p>
              <a:endParaRPr/>
            </a:p>
          </p:txBody>
        </p:sp>
        <p:pic>
          <p:nvPicPr>
            <p:cNvPr id="34" name="object 34"/>
            <p:cNvPicPr/>
            <p:nvPr/>
          </p:nvPicPr>
          <p:blipFill>
            <a:blip r:embed="rId8" cstate="print"/>
            <a:stretch>
              <a:fillRect/>
            </a:stretch>
          </p:blipFill>
          <p:spPr>
            <a:xfrm>
              <a:off x="7562849" y="3657599"/>
              <a:ext cx="190499" cy="266699"/>
            </a:xfrm>
            <a:prstGeom prst="rect">
              <a:avLst/>
            </a:prstGeom>
          </p:spPr>
        </p:pic>
      </p:grpSp>
      <p:sp>
        <p:nvSpPr>
          <p:cNvPr id="35" name="object 35"/>
          <p:cNvSpPr txBox="1"/>
          <p:nvPr/>
        </p:nvSpPr>
        <p:spPr>
          <a:xfrm>
            <a:off x="7553870" y="3692525"/>
            <a:ext cx="1854200" cy="572135"/>
          </a:xfrm>
          <a:prstGeom prst="rect">
            <a:avLst/>
          </a:prstGeom>
        </p:spPr>
        <p:txBody>
          <a:bodyPr vert="horz" wrap="square" lIns="0" tIns="12700" rIns="0" bIns="0" rtlCol="0">
            <a:spAutoFit/>
          </a:bodyPr>
          <a:lstStyle/>
          <a:p>
            <a:pPr marL="278765">
              <a:lnSpc>
                <a:spcPct val="100000"/>
              </a:lnSpc>
              <a:spcBef>
                <a:spcPts val="100"/>
              </a:spcBef>
            </a:pPr>
            <a:r>
              <a:rPr sz="1050" spc="-10" dirty="0">
                <a:solidFill>
                  <a:srgbClr val="FFFFFF"/>
                </a:solidFill>
                <a:latin typeface="PMingLiU"/>
                <a:cs typeface="PMingLiU"/>
              </a:rPr>
              <a:t>熱成像檢測</a:t>
            </a:r>
            <a:endParaRPr sz="1050">
              <a:latin typeface="PMingLiU"/>
              <a:cs typeface="PMingLiU"/>
            </a:endParaRPr>
          </a:p>
          <a:p>
            <a:pPr marL="12700" marR="5080">
              <a:lnSpc>
                <a:spcPct val="111100"/>
              </a:lnSpc>
              <a:spcBef>
                <a:spcPts val="645"/>
              </a:spcBef>
            </a:pPr>
            <a:r>
              <a:rPr sz="900" spc="-5" dirty="0">
                <a:solidFill>
                  <a:srgbClr val="D0D5DA"/>
                </a:solidFill>
                <a:latin typeface="PMingLiU"/>
                <a:cs typeface="PMingLiU"/>
              </a:rPr>
              <a:t>利用紅外線熱像儀實時監測設備溫度</a:t>
            </a:r>
            <a:r>
              <a:rPr sz="900" spc="-25" dirty="0">
                <a:solidFill>
                  <a:srgbClr val="D0D5DA"/>
                </a:solidFill>
                <a:latin typeface="PMingLiU"/>
                <a:cs typeface="PMingLiU"/>
              </a:rPr>
              <a:t>分佈</a:t>
            </a:r>
            <a:endParaRPr sz="900">
              <a:latin typeface="PMingLiU"/>
              <a:cs typeface="PMingLiU"/>
            </a:endParaRPr>
          </a:p>
        </p:txBody>
      </p:sp>
      <p:grpSp>
        <p:nvGrpSpPr>
          <p:cNvPr id="36" name="object 36"/>
          <p:cNvGrpSpPr/>
          <p:nvPr/>
        </p:nvGrpSpPr>
        <p:grpSpPr>
          <a:xfrm>
            <a:off x="9648823" y="3543300"/>
            <a:ext cx="2085975" cy="838200"/>
            <a:chOff x="9648823" y="3543300"/>
            <a:chExt cx="2085975" cy="838200"/>
          </a:xfrm>
        </p:grpSpPr>
        <p:sp>
          <p:nvSpPr>
            <p:cNvPr id="37" name="object 37"/>
            <p:cNvSpPr/>
            <p:nvPr/>
          </p:nvSpPr>
          <p:spPr>
            <a:xfrm>
              <a:off x="9648823" y="3543300"/>
              <a:ext cx="2085975" cy="838200"/>
            </a:xfrm>
            <a:custGeom>
              <a:avLst/>
              <a:gdLst/>
              <a:ahLst/>
              <a:cxnLst/>
              <a:rect l="l" t="t" r="r" b="b"/>
              <a:pathLst>
                <a:path w="2085975" h="838200">
                  <a:moveTo>
                    <a:pt x="2014778" y="838199"/>
                  </a:moveTo>
                  <a:lnTo>
                    <a:pt x="71196" y="838199"/>
                  </a:lnTo>
                  <a:lnTo>
                    <a:pt x="66240" y="837711"/>
                  </a:lnTo>
                  <a:lnTo>
                    <a:pt x="29703" y="822577"/>
                  </a:lnTo>
                  <a:lnTo>
                    <a:pt x="3885" y="786537"/>
                  </a:lnTo>
                  <a:lnTo>
                    <a:pt x="0" y="767003"/>
                  </a:lnTo>
                  <a:lnTo>
                    <a:pt x="0" y="761999"/>
                  </a:lnTo>
                  <a:lnTo>
                    <a:pt x="0" y="71196"/>
                  </a:lnTo>
                  <a:lnTo>
                    <a:pt x="15620" y="29704"/>
                  </a:lnTo>
                  <a:lnTo>
                    <a:pt x="51660" y="3884"/>
                  </a:lnTo>
                  <a:lnTo>
                    <a:pt x="71196" y="0"/>
                  </a:lnTo>
                  <a:lnTo>
                    <a:pt x="2014778" y="0"/>
                  </a:lnTo>
                  <a:lnTo>
                    <a:pt x="2056267" y="15621"/>
                  </a:lnTo>
                  <a:lnTo>
                    <a:pt x="2082088" y="51661"/>
                  </a:lnTo>
                  <a:lnTo>
                    <a:pt x="2085975" y="71196"/>
                  </a:lnTo>
                  <a:lnTo>
                    <a:pt x="2085975" y="767003"/>
                  </a:lnTo>
                  <a:lnTo>
                    <a:pt x="2070351" y="808493"/>
                  </a:lnTo>
                  <a:lnTo>
                    <a:pt x="2034312" y="834313"/>
                  </a:lnTo>
                  <a:lnTo>
                    <a:pt x="2019734" y="837711"/>
                  </a:lnTo>
                  <a:lnTo>
                    <a:pt x="2014778" y="838199"/>
                  </a:lnTo>
                  <a:close/>
                </a:path>
              </a:pathLst>
            </a:custGeom>
            <a:solidFill>
              <a:srgbClr val="4BAF4F">
                <a:alpha val="10198"/>
              </a:srgbClr>
            </a:solidFill>
          </p:spPr>
          <p:txBody>
            <a:bodyPr wrap="square" lIns="0" tIns="0" rIns="0" bIns="0" rtlCol="0"/>
            <a:lstStyle/>
            <a:p>
              <a:endParaRPr/>
            </a:p>
          </p:txBody>
        </p:sp>
        <p:pic>
          <p:nvPicPr>
            <p:cNvPr id="38" name="object 38"/>
            <p:cNvPicPr/>
            <p:nvPr/>
          </p:nvPicPr>
          <p:blipFill>
            <a:blip r:embed="rId9" cstate="print"/>
            <a:stretch>
              <a:fillRect/>
            </a:stretch>
          </p:blipFill>
          <p:spPr>
            <a:xfrm>
              <a:off x="9763124" y="3657599"/>
              <a:ext cx="219074" cy="266699"/>
            </a:xfrm>
            <a:prstGeom prst="rect">
              <a:avLst/>
            </a:prstGeom>
          </p:spPr>
        </p:pic>
      </p:grpSp>
      <p:sp>
        <p:nvSpPr>
          <p:cNvPr id="39" name="object 39"/>
          <p:cNvSpPr txBox="1"/>
          <p:nvPr/>
        </p:nvSpPr>
        <p:spPr>
          <a:xfrm>
            <a:off x="9752210" y="3692525"/>
            <a:ext cx="1511300" cy="419734"/>
          </a:xfrm>
          <a:prstGeom prst="rect">
            <a:avLst/>
          </a:prstGeom>
        </p:spPr>
        <p:txBody>
          <a:bodyPr vert="horz" wrap="square" lIns="0" tIns="12700" rIns="0" bIns="0" rtlCol="0">
            <a:spAutoFit/>
          </a:bodyPr>
          <a:lstStyle/>
          <a:p>
            <a:pPr marL="307340">
              <a:lnSpc>
                <a:spcPct val="100000"/>
              </a:lnSpc>
              <a:spcBef>
                <a:spcPts val="100"/>
              </a:spcBef>
            </a:pPr>
            <a:r>
              <a:rPr sz="1050" spc="-10" dirty="0">
                <a:solidFill>
                  <a:srgbClr val="FFFFFF"/>
                </a:solidFill>
                <a:latin typeface="PMingLiU"/>
                <a:cs typeface="PMingLiU"/>
              </a:rPr>
              <a:t>計算機視覺</a:t>
            </a:r>
            <a:endParaRPr sz="1050">
              <a:latin typeface="PMingLiU"/>
              <a:cs typeface="PMingLiU"/>
            </a:endParaRPr>
          </a:p>
          <a:p>
            <a:pPr marL="12700">
              <a:lnSpc>
                <a:spcPct val="100000"/>
              </a:lnSpc>
              <a:spcBef>
                <a:spcPts val="765"/>
              </a:spcBef>
            </a:pPr>
            <a:r>
              <a:rPr sz="900" spc="-5" dirty="0">
                <a:solidFill>
                  <a:srgbClr val="D0D5DA"/>
                </a:solidFill>
                <a:latin typeface="PMingLiU"/>
                <a:cs typeface="PMingLiU"/>
              </a:rPr>
              <a:t>自動識別貨物異常與人員行為</a:t>
            </a:r>
            <a:endParaRPr sz="900">
              <a:latin typeface="PMingLiU"/>
              <a:cs typeface="PMingLiU"/>
            </a:endParaRPr>
          </a:p>
        </p:txBody>
      </p:sp>
      <p:grpSp>
        <p:nvGrpSpPr>
          <p:cNvPr id="40" name="object 40"/>
          <p:cNvGrpSpPr/>
          <p:nvPr/>
        </p:nvGrpSpPr>
        <p:grpSpPr>
          <a:xfrm>
            <a:off x="7448549" y="4495799"/>
            <a:ext cx="2085975" cy="685800"/>
            <a:chOff x="7448549" y="4495799"/>
            <a:chExt cx="2085975" cy="685800"/>
          </a:xfrm>
        </p:grpSpPr>
        <p:sp>
          <p:nvSpPr>
            <p:cNvPr id="41" name="object 41"/>
            <p:cNvSpPr/>
            <p:nvPr/>
          </p:nvSpPr>
          <p:spPr>
            <a:xfrm>
              <a:off x="7448549" y="4495799"/>
              <a:ext cx="2085975" cy="685800"/>
            </a:xfrm>
            <a:custGeom>
              <a:avLst/>
              <a:gdLst/>
              <a:ahLst/>
              <a:cxnLst/>
              <a:rect l="l" t="t" r="r" b="b"/>
              <a:pathLst>
                <a:path w="2085975" h="685800">
                  <a:moveTo>
                    <a:pt x="2014778" y="685799"/>
                  </a:moveTo>
                  <a:lnTo>
                    <a:pt x="71196" y="685799"/>
                  </a:lnTo>
                  <a:lnTo>
                    <a:pt x="66241" y="685311"/>
                  </a:lnTo>
                  <a:lnTo>
                    <a:pt x="29704" y="670177"/>
                  </a:lnTo>
                  <a:lnTo>
                    <a:pt x="3884" y="634137"/>
                  </a:lnTo>
                  <a:lnTo>
                    <a:pt x="0" y="614603"/>
                  </a:lnTo>
                  <a:lnTo>
                    <a:pt x="0" y="609599"/>
                  </a:lnTo>
                  <a:lnTo>
                    <a:pt x="0" y="71196"/>
                  </a:lnTo>
                  <a:lnTo>
                    <a:pt x="15620" y="29704"/>
                  </a:lnTo>
                  <a:lnTo>
                    <a:pt x="51661" y="3885"/>
                  </a:lnTo>
                  <a:lnTo>
                    <a:pt x="71196" y="0"/>
                  </a:lnTo>
                  <a:lnTo>
                    <a:pt x="2014778" y="0"/>
                  </a:lnTo>
                  <a:lnTo>
                    <a:pt x="2056269" y="15621"/>
                  </a:lnTo>
                  <a:lnTo>
                    <a:pt x="2082088" y="51661"/>
                  </a:lnTo>
                  <a:lnTo>
                    <a:pt x="2085974" y="71196"/>
                  </a:lnTo>
                  <a:lnTo>
                    <a:pt x="2085974" y="614603"/>
                  </a:lnTo>
                  <a:lnTo>
                    <a:pt x="2070353" y="656094"/>
                  </a:lnTo>
                  <a:lnTo>
                    <a:pt x="2034311" y="681912"/>
                  </a:lnTo>
                  <a:lnTo>
                    <a:pt x="2019732" y="685311"/>
                  </a:lnTo>
                  <a:lnTo>
                    <a:pt x="2014778" y="685799"/>
                  </a:lnTo>
                  <a:close/>
                </a:path>
              </a:pathLst>
            </a:custGeom>
            <a:solidFill>
              <a:srgbClr val="4BAF4F">
                <a:alpha val="10198"/>
              </a:srgbClr>
            </a:solidFill>
          </p:spPr>
          <p:txBody>
            <a:bodyPr wrap="square" lIns="0" tIns="0" rIns="0" bIns="0" rtlCol="0"/>
            <a:lstStyle/>
            <a:p>
              <a:endParaRPr/>
            </a:p>
          </p:txBody>
        </p:sp>
        <p:pic>
          <p:nvPicPr>
            <p:cNvPr id="42" name="object 42"/>
            <p:cNvPicPr/>
            <p:nvPr/>
          </p:nvPicPr>
          <p:blipFill>
            <a:blip r:embed="rId10" cstate="print"/>
            <a:stretch>
              <a:fillRect/>
            </a:stretch>
          </p:blipFill>
          <p:spPr>
            <a:xfrm>
              <a:off x="7562849" y="4610099"/>
              <a:ext cx="238124" cy="266699"/>
            </a:xfrm>
            <a:prstGeom prst="rect">
              <a:avLst/>
            </a:prstGeom>
          </p:spPr>
        </p:pic>
      </p:grpSp>
      <p:sp>
        <p:nvSpPr>
          <p:cNvPr id="43" name="object 43"/>
          <p:cNvSpPr txBox="1"/>
          <p:nvPr/>
        </p:nvSpPr>
        <p:spPr>
          <a:xfrm>
            <a:off x="7553870" y="4645025"/>
            <a:ext cx="1739900" cy="419734"/>
          </a:xfrm>
          <a:prstGeom prst="rect">
            <a:avLst/>
          </a:prstGeom>
        </p:spPr>
        <p:txBody>
          <a:bodyPr vert="horz" wrap="square" lIns="0" tIns="12700" rIns="0" bIns="0" rtlCol="0">
            <a:spAutoFit/>
          </a:bodyPr>
          <a:lstStyle/>
          <a:p>
            <a:pPr marL="326390">
              <a:lnSpc>
                <a:spcPct val="100000"/>
              </a:lnSpc>
              <a:spcBef>
                <a:spcPts val="100"/>
              </a:spcBef>
            </a:pPr>
            <a:r>
              <a:rPr sz="1050" spc="-15" dirty="0">
                <a:solidFill>
                  <a:srgbClr val="FFFFFF"/>
                </a:solidFill>
                <a:latin typeface="PMingLiU"/>
                <a:cs typeface="PMingLiU"/>
              </a:rPr>
              <a:t>聲紋識別</a:t>
            </a:r>
            <a:endParaRPr sz="1050">
              <a:latin typeface="PMingLiU"/>
              <a:cs typeface="PMingLiU"/>
            </a:endParaRPr>
          </a:p>
          <a:p>
            <a:pPr marL="12700">
              <a:lnSpc>
                <a:spcPct val="100000"/>
              </a:lnSpc>
              <a:spcBef>
                <a:spcPts val="765"/>
              </a:spcBef>
            </a:pPr>
            <a:r>
              <a:rPr sz="900" spc="-5" dirty="0">
                <a:solidFill>
                  <a:srgbClr val="D0D5DA"/>
                </a:solidFill>
                <a:latin typeface="PMingLiU"/>
                <a:cs typeface="PMingLiU"/>
              </a:rPr>
              <a:t>分析設備聲紋特徵，判斷機械故障</a:t>
            </a:r>
            <a:endParaRPr sz="900">
              <a:latin typeface="PMingLiU"/>
              <a:cs typeface="PMingLiU"/>
            </a:endParaRPr>
          </a:p>
        </p:txBody>
      </p:sp>
      <p:grpSp>
        <p:nvGrpSpPr>
          <p:cNvPr id="44" name="object 44"/>
          <p:cNvGrpSpPr/>
          <p:nvPr/>
        </p:nvGrpSpPr>
        <p:grpSpPr>
          <a:xfrm>
            <a:off x="9648823" y="4495799"/>
            <a:ext cx="2085975" cy="685800"/>
            <a:chOff x="9648823" y="4495799"/>
            <a:chExt cx="2085975" cy="685800"/>
          </a:xfrm>
        </p:grpSpPr>
        <p:sp>
          <p:nvSpPr>
            <p:cNvPr id="45" name="object 45"/>
            <p:cNvSpPr/>
            <p:nvPr/>
          </p:nvSpPr>
          <p:spPr>
            <a:xfrm>
              <a:off x="9648823" y="4495799"/>
              <a:ext cx="2085975" cy="685800"/>
            </a:xfrm>
            <a:custGeom>
              <a:avLst/>
              <a:gdLst/>
              <a:ahLst/>
              <a:cxnLst/>
              <a:rect l="l" t="t" r="r" b="b"/>
              <a:pathLst>
                <a:path w="2085975" h="685800">
                  <a:moveTo>
                    <a:pt x="2014778" y="685799"/>
                  </a:moveTo>
                  <a:lnTo>
                    <a:pt x="71196" y="685799"/>
                  </a:lnTo>
                  <a:lnTo>
                    <a:pt x="66240" y="685311"/>
                  </a:lnTo>
                  <a:lnTo>
                    <a:pt x="29703" y="670177"/>
                  </a:lnTo>
                  <a:lnTo>
                    <a:pt x="3885" y="634137"/>
                  </a:lnTo>
                  <a:lnTo>
                    <a:pt x="0" y="614603"/>
                  </a:lnTo>
                  <a:lnTo>
                    <a:pt x="0" y="609599"/>
                  </a:lnTo>
                  <a:lnTo>
                    <a:pt x="0" y="71196"/>
                  </a:lnTo>
                  <a:lnTo>
                    <a:pt x="15620" y="29704"/>
                  </a:lnTo>
                  <a:lnTo>
                    <a:pt x="51660" y="3885"/>
                  </a:lnTo>
                  <a:lnTo>
                    <a:pt x="71196" y="0"/>
                  </a:lnTo>
                  <a:lnTo>
                    <a:pt x="2014778" y="0"/>
                  </a:lnTo>
                  <a:lnTo>
                    <a:pt x="2056267" y="15621"/>
                  </a:lnTo>
                  <a:lnTo>
                    <a:pt x="2082088" y="51661"/>
                  </a:lnTo>
                  <a:lnTo>
                    <a:pt x="2085975" y="71196"/>
                  </a:lnTo>
                  <a:lnTo>
                    <a:pt x="2085975" y="614603"/>
                  </a:lnTo>
                  <a:lnTo>
                    <a:pt x="2070351" y="656094"/>
                  </a:lnTo>
                  <a:lnTo>
                    <a:pt x="2034312" y="681912"/>
                  </a:lnTo>
                  <a:lnTo>
                    <a:pt x="2019734" y="685311"/>
                  </a:lnTo>
                  <a:lnTo>
                    <a:pt x="2014778" y="685799"/>
                  </a:lnTo>
                  <a:close/>
                </a:path>
              </a:pathLst>
            </a:custGeom>
            <a:solidFill>
              <a:srgbClr val="4BAF4F">
                <a:alpha val="10198"/>
              </a:srgbClr>
            </a:solidFill>
          </p:spPr>
          <p:txBody>
            <a:bodyPr wrap="square" lIns="0" tIns="0" rIns="0" bIns="0" rtlCol="0"/>
            <a:lstStyle/>
            <a:p>
              <a:endParaRPr/>
            </a:p>
          </p:txBody>
        </p:sp>
        <p:pic>
          <p:nvPicPr>
            <p:cNvPr id="46" name="object 46"/>
            <p:cNvPicPr/>
            <p:nvPr/>
          </p:nvPicPr>
          <p:blipFill>
            <a:blip r:embed="rId11" cstate="print"/>
            <a:stretch>
              <a:fillRect/>
            </a:stretch>
          </p:blipFill>
          <p:spPr>
            <a:xfrm>
              <a:off x="9763124" y="4610099"/>
              <a:ext cx="238124" cy="266699"/>
            </a:xfrm>
            <a:prstGeom prst="rect">
              <a:avLst/>
            </a:prstGeom>
          </p:spPr>
        </p:pic>
      </p:grpSp>
      <p:sp>
        <p:nvSpPr>
          <p:cNvPr id="47" name="object 47"/>
          <p:cNvSpPr txBox="1"/>
          <p:nvPr/>
        </p:nvSpPr>
        <p:spPr>
          <a:xfrm>
            <a:off x="9752210" y="4645025"/>
            <a:ext cx="1168400" cy="419734"/>
          </a:xfrm>
          <a:prstGeom prst="rect">
            <a:avLst/>
          </a:prstGeom>
        </p:spPr>
        <p:txBody>
          <a:bodyPr vert="horz" wrap="square" lIns="0" tIns="12700" rIns="0" bIns="0" rtlCol="0">
            <a:spAutoFit/>
          </a:bodyPr>
          <a:lstStyle/>
          <a:p>
            <a:pPr marR="33655" algn="r">
              <a:lnSpc>
                <a:spcPct val="100000"/>
              </a:lnSpc>
              <a:spcBef>
                <a:spcPts val="100"/>
              </a:spcBef>
            </a:pPr>
            <a:r>
              <a:rPr sz="1050" spc="-10" dirty="0">
                <a:solidFill>
                  <a:srgbClr val="FFFFFF"/>
                </a:solidFill>
                <a:latin typeface="PMingLiU"/>
                <a:cs typeface="PMingLiU"/>
              </a:rPr>
              <a:t>環境感測網絡</a:t>
            </a:r>
            <a:endParaRPr sz="1050">
              <a:latin typeface="PMingLiU"/>
              <a:cs typeface="PMingLiU"/>
            </a:endParaRPr>
          </a:p>
          <a:p>
            <a:pPr marR="5080" algn="r">
              <a:lnSpc>
                <a:spcPct val="100000"/>
              </a:lnSpc>
              <a:spcBef>
                <a:spcPts val="765"/>
              </a:spcBef>
            </a:pPr>
            <a:r>
              <a:rPr sz="900" spc="-5" dirty="0">
                <a:solidFill>
                  <a:srgbClr val="D0D5DA"/>
                </a:solidFill>
                <a:latin typeface="PMingLiU"/>
                <a:cs typeface="PMingLiU"/>
              </a:rPr>
              <a:t>多感測器監控環境條件</a:t>
            </a:r>
            <a:endParaRPr sz="900">
              <a:latin typeface="PMingLiU"/>
              <a:cs typeface="PMingLiU"/>
            </a:endParaRPr>
          </a:p>
        </p:txBody>
      </p:sp>
      <p:sp>
        <p:nvSpPr>
          <p:cNvPr id="48" name="object 48"/>
          <p:cNvSpPr txBox="1">
            <a:spLocks noGrp="1"/>
          </p:cNvSpPr>
          <p:nvPr>
            <p:ph type="ftr" sz="quarter" idx="5"/>
          </p:nvPr>
        </p:nvSpPr>
        <p:spPr>
          <a:prstGeom prst="rect">
            <a:avLst/>
          </a:prstGeom>
        </p:spPr>
        <p:txBody>
          <a:bodyPr vert="horz" wrap="square" lIns="0" tIns="7620" rIns="0" bIns="0" rtlCol="0">
            <a:spAutoFit/>
          </a:bodyPr>
          <a:lstStyle/>
          <a:p>
            <a:pPr marL="184150">
              <a:lnSpc>
                <a:spcPct val="100000"/>
              </a:lnSpc>
              <a:spcBef>
                <a:spcPts val="60"/>
              </a:spcBef>
            </a:pPr>
            <a:r>
              <a:rPr sz="1050" dirty="0">
                <a:latin typeface="PMingLiU"/>
                <a:cs typeface="PMingLiU"/>
              </a:rPr>
              <a:t>報告日期</a:t>
            </a:r>
            <a:r>
              <a:rPr sz="1050" dirty="0"/>
              <a:t>: </a:t>
            </a:r>
            <a:r>
              <a:rPr sz="1050" spc="85" dirty="0"/>
              <a:t>2025-</a:t>
            </a:r>
            <a:r>
              <a:rPr sz="1050" spc="80" dirty="0"/>
              <a:t>09-</a:t>
            </a:r>
            <a:r>
              <a:rPr sz="1050" spc="65" dirty="0"/>
              <a:t>09</a:t>
            </a:r>
            <a:endParaRPr sz="1050">
              <a:latin typeface="PMingLiU"/>
              <a:cs typeface="PMingLiU"/>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1990070" cy="6856730"/>
          </a:xfrm>
          <a:custGeom>
            <a:avLst/>
            <a:gdLst/>
            <a:ahLst/>
            <a:cxnLst/>
            <a:rect l="l" t="t" r="r" b="b"/>
            <a:pathLst>
              <a:path w="11990070" h="6856730">
                <a:moveTo>
                  <a:pt x="11989510" y="6856501"/>
                </a:moveTo>
                <a:lnTo>
                  <a:pt x="0" y="6856501"/>
                </a:lnTo>
                <a:lnTo>
                  <a:pt x="0" y="0"/>
                </a:lnTo>
                <a:lnTo>
                  <a:pt x="11989510" y="0"/>
                </a:lnTo>
                <a:lnTo>
                  <a:pt x="11989510" y="6856501"/>
                </a:lnTo>
                <a:close/>
              </a:path>
            </a:pathLst>
          </a:custGeom>
          <a:solidFill>
            <a:srgbClr val="111726"/>
          </a:solidFill>
        </p:spPr>
        <p:txBody>
          <a:bodyPr wrap="square" lIns="0" tIns="0" rIns="0" bIns="0" rtlCol="0"/>
          <a:lstStyle/>
          <a:p>
            <a:endParaRPr/>
          </a:p>
        </p:txBody>
      </p:sp>
      <p:sp>
        <p:nvSpPr>
          <p:cNvPr id="3" name="object 3"/>
          <p:cNvSpPr/>
          <p:nvPr/>
        </p:nvSpPr>
        <p:spPr>
          <a:xfrm>
            <a:off x="449606" y="899213"/>
            <a:ext cx="899794" cy="37465"/>
          </a:xfrm>
          <a:custGeom>
            <a:avLst/>
            <a:gdLst/>
            <a:ahLst/>
            <a:cxnLst/>
            <a:rect l="l" t="t" r="r" b="b"/>
            <a:pathLst>
              <a:path w="899794" h="37465">
                <a:moveTo>
                  <a:pt x="882963" y="37467"/>
                </a:moveTo>
                <a:lnTo>
                  <a:pt x="16249" y="37467"/>
                </a:lnTo>
                <a:lnTo>
                  <a:pt x="13859" y="36991"/>
                </a:lnTo>
                <a:lnTo>
                  <a:pt x="0" y="21217"/>
                </a:lnTo>
                <a:lnTo>
                  <a:pt x="0" y="18733"/>
                </a:lnTo>
                <a:lnTo>
                  <a:pt x="0" y="16249"/>
                </a:lnTo>
                <a:lnTo>
                  <a:pt x="16249" y="0"/>
                </a:lnTo>
                <a:lnTo>
                  <a:pt x="882963" y="0"/>
                </a:lnTo>
                <a:lnTo>
                  <a:pt x="899213" y="16249"/>
                </a:lnTo>
                <a:lnTo>
                  <a:pt x="899213" y="21217"/>
                </a:lnTo>
                <a:lnTo>
                  <a:pt x="885353" y="36991"/>
                </a:lnTo>
                <a:lnTo>
                  <a:pt x="882963" y="37467"/>
                </a:lnTo>
                <a:close/>
              </a:path>
            </a:pathLst>
          </a:custGeom>
          <a:solidFill>
            <a:srgbClr val="21C45D"/>
          </a:solidFill>
        </p:spPr>
        <p:txBody>
          <a:bodyPr wrap="square" lIns="0" tIns="0" rIns="0" bIns="0" rtlCol="0"/>
          <a:lstStyle/>
          <a:p>
            <a:endParaRPr/>
          </a:p>
        </p:txBody>
      </p:sp>
      <p:sp>
        <p:nvSpPr>
          <p:cNvPr id="4" name="object 4"/>
          <p:cNvSpPr txBox="1">
            <a:spLocks noGrp="1"/>
          </p:cNvSpPr>
          <p:nvPr>
            <p:ph type="title"/>
          </p:nvPr>
        </p:nvSpPr>
        <p:spPr>
          <a:xfrm>
            <a:off x="436906" y="252626"/>
            <a:ext cx="3413877" cy="689291"/>
          </a:xfrm>
          <a:prstGeom prst="rect">
            <a:avLst/>
          </a:prstGeom>
        </p:spPr>
        <p:txBody>
          <a:bodyPr vert="horz" wrap="square" lIns="0" tIns="12065" rIns="0" bIns="0" rtlCol="0">
            <a:spAutoFit/>
          </a:bodyPr>
          <a:lstStyle/>
          <a:p>
            <a:pPr marL="12700">
              <a:lnSpc>
                <a:spcPct val="100000"/>
              </a:lnSpc>
              <a:spcBef>
                <a:spcPts val="95"/>
              </a:spcBef>
            </a:pPr>
            <a:r>
              <a:rPr sz="2950" spc="-295" dirty="0">
                <a:solidFill>
                  <a:schemeClr val="bg1"/>
                </a:solidFill>
              </a:rPr>
              <a:t>未來技</a:t>
            </a:r>
            <a:r>
              <a:rPr sz="2900" spc="-265" dirty="0">
                <a:solidFill>
                  <a:schemeClr val="bg1"/>
                </a:solidFill>
              </a:rPr>
              <a:t>術</a:t>
            </a:r>
            <a:r>
              <a:rPr sz="2850" spc="-225" dirty="0">
                <a:solidFill>
                  <a:schemeClr val="bg1"/>
                </a:solidFill>
                <a:latin typeface="PMingLiU"/>
                <a:cs typeface="PMingLiU"/>
              </a:rPr>
              <a:t>開</a:t>
            </a:r>
            <a:r>
              <a:rPr sz="2950" spc="-325" dirty="0">
                <a:solidFill>
                  <a:schemeClr val="bg1"/>
                </a:solidFill>
              </a:rPr>
              <a:t>發</a:t>
            </a:r>
            <a:r>
              <a:rPr spc="-360" dirty="0">
                <a:solidFill>
                  <a:schemeClr val="bg1"/>
                </a:solidFill>
              </a:rPr>
              <a:t>計</a:t>
            </a:r>
            <a:r>
              <a:rPr sz="2950" spc="-434" dirty="0">
                <a:solidFill>
                  <a:schemeClr val="bg1"/>
                </a:solidFill>
              </a:rPr>
              <a:t>劃</a:t>
            </a:r>
            <a:endParaRPr sz="2950" dirty="0">
              <a:solidFill>
                <a:schemeClr val="bg1"/>
              </a:solidFill>
              <a:latin typeface="PMingLiU"/>
              <a:cs typeface="PMingLiU"/>
            </a:endParaRPr>
          </a:p>
        </p:txBody>
      </p:sp>
      <p:pic>
        <p:nvPicPr>
          <p:cNvPr id="5" name="object 5"/>
          <p:cNvPicPr/>
          <p:nvPr/>
        </p:nvPicPr>
        <p:blipFill>
          <a:blip r:embed="rId2" cstate="print"/>
          <a:stretch>
            <a:fillRect/>
          </a:stretch>
        </p:blipFill>
        <p:spPr>
          <a:xfrm>
            <a:off x="449868" y="1161483"/>
            <a:ext cx="3624953" cy="1798426"/>
          </a:xfrm>
          <a:prstGeom prst="rect">
            <a:avLst/>
          </a:prstGeom>
        </p:spPr>
      </p:pic>
      <p:grpSp>
        <p:nvGrpSpPr>
          <p:cNvPr id="6" name="object 6"/>
          <p:cNvGrpSpPr/>
          <p:nvPr/>
        </p:nvGrpSpPr>
        <p:grpSpPr>
          <a:xfrm>
            <a:off x="449606" y="3184713"/>
            <a:ext cx="3625215" cy="1311910"/>
            <a:chOff x="449606" y="3184713"/>
            <a:chExt cx="3625215" cy="1311910"/>
          </a:xfrm>
        </p:grpSpPr>
        <p:sp>
          <p:nvSpPr>
            <p:cNvPr id="7" name="object 7"/>
            <p:cNvSpPr/>
            <p:nvPr/>
          </p:nvSpPr>
          <p:spPr>
            <a:xfrm>
              <a:off x="449606" y="3184713"/>
              <a:ext cx="3625215" cy="1311910"/>
            </a:xfrm>
            <a:custGeom>
              <a:avLst/>
              <a:gdLst/>
              <a:ahLst/>
              <a:cxnLst/>
              <a:rect l="l" t="t" r="r" b="b"/>
              <a:pathLst>
                <a:path w="3625215" h="1311910">
                  <a:moveTo>
                    <a:pt x="3554938" y="1311352"/>
                  </a:moveTo>
                  <a:lnTo>
                    <a:pt x="70014" y="1311352"/>
                  </a:lnTo>
                  <a:lnTo>
                    <a:pt x="65141" y="1310871"/>
                  </a:lnTo>
                  <a:lnTo>
                    <a:pt x="29212" y="1295989"/>
                  </a:lnTo>
                  <a:lnTo>
                    <a:pt x="3821" y="1260547"/>
                  </a:lnTo>
                  <a:lnTo>
                    <a:pt x="0" y="1241338"/>
                  </a:lnTo>
                  <a:lnTo>
                    <a:pt x="0" y="1236417"/>
                  </a:lnTo>
                  <a:lnTo>
                    <a:pt x="0" y="70013"/>
                  </a:lnTo>
                  <a:lnTo>
                    <a:pt x="15362" y="29211"/>
                  </a:lnTo>
                  <a:lnTo>
                    <a:pt x="50803" y="3820"/>
                  </a:lnTo>
                  <a:lnTo>
                    <a:pt x="70014" y="0"/>
                  </a:lnTo>
                  <a:lnTo>
                    <a:pt x="3554938" y="0"/>
                  </a:lnTo>
                  <a:lnTo>
                    <a:pt x="3595741" y="15362"/>
                  </a:lnTo>
                  <a:lnTo>
                    <a:pt x="3621132" y="50803"/>
                  </a:lnTo>
                  <a:lnTo>
                    <a:pt x="3624953" y="70013"/>
                  </a:lnTo>
                  <a:lnTo>
                    <a:pt x="3624953" y="1241338"/>
                  </a:lnTo>
                  <a:lnTo>
                    <a:pt x="3609590" y="1282139"/>
                  </a:lnTo>
                  <a:lnTo>
                    <a:pt x="3574148" y="1307530"/>
                  </a:lnTo>
                  <a:lnTo>
                    <a:pt x="3559811" y="1310871"/>
                  </a:lnTo>
                  <a:lnTo>
                    <a:pt x="3554938" y="1311352"/>
                  </a:lnTo>
                  <a:close/>
                </a:path>
              </a:pathLst>
            </a:custGeom>
            <a:solidFill>
              <a:srgbClr val="1F2937">
                <a:alpha val="50199"/>
              </a:srgbClr>
            </a:solidFill>
          </p:spPr>
          <p:txBody>
            <a:bodyPr wrap="square" lIns="0" tIns="0" rIns="0" bIns="0" rtlCol="0"/>
            <a:lstStyle/>
            <a:p>
              <a:endParaRPr/>
            </a:p>
          </p:txBody>
        </p:sp>
        <p:pic>
          <p:nvPicPr>
            <p:cNvPr id="8" name="object 8"/>
            <p:cNvPicPr/>
            <p:nvPr/>
          </p:nvPicPr>
          <p:blipFill>
            <a:blip r:embed="rId3" cstate="print"/>
            <a:stretch>
              <a:fillRect/>
            </a:stretch>
          </p:blipFill>
          <p:spPr>
            <a:xfrm>
              <a:off x="636942" y="3409516"/>
              <a:ext cx="140502" cy="187336"/>
            </a:xfrm>
            <a:prstGeom prst="rect">
              <a:avLst/>
            </a:prstGeom>
          </p:spPr>
        </p:pic>
      </p:grpSp>
      <p:sp>
        <p:nvSpPr>
          <p:cNvPr id="9" name="object 9"/>
          <p:cNvSpPr txBox="1"/>
          <p:nvPr/>
        </p:nvSpPr>
        <p:spPr>
          <a:xfrm>
            <a:off x="839679" y="3347860"/>
            <a:ext cx="775335" cy="275590"/>
          </a:xfrm>
          <a:prstGeom prst="rect">
            <a:avLst/>
          </a:prstGeom>
        </p:spPr>
        <p:txBody>
          <a:bodyPr vert="horz" wrap="square" lIns="0" tIns="17780" rIns="0" bIns="0" rtlCol="0">
            <a:spAutoFit/>
          </a:bodyPr>
          <a:lstStyle/>
          <a:p>
            <a:pPr marL="12700">
              <a:lnSpc>
                <a:spcPct val="100000"/>
              </a:lnSpc>
              <a:spcBef>
                <a:spcPts val="140"/>
              </a:spcBef>
            </a:pPr>
            <a:r>
              <a:rPr sz="1550" spc="-95" dirty="0">
                <a:solidFill>
                  <a:srgbClr val="FFFFFF"/>
                </a:solidFill>
                <a:latin typeface="PMingLiU"/>
                <a:cs typeface="PMingLiU"/>
              </a:rPr>
              <a:t>開</a:t>
            </a:r>
            <a:r>
              <a:rPr sz="1600" spc="-135" dirty="0">
                <a:solidFill>
                  <a:srgbClr val="FFFFFF"/>
                </a:solidFill>
                <a:latin typeface="SimSun"/>
                <a:cs typeface="SimSun"/>
              </a:rPr>
              <a:t>發</a:t>
            </a:r>
            <a:r>
              <a:rPr sz="1550" spc="-85" dirty="0">
                <a:solidFill>
                  <a:srgbClr val="FFFFFF"/>
                </a:solidFill>
                <a:latin typeface="PMingLiU"/>
                <a:cs typeface="PMingLiU"/>
              </a:rPr>
              <a:t>目</a:t>
            </a:r>
            <a:r>
              <a:rPr sz="1600" spc="-60" dirty="0">
                <a:solidFill>
                  <a:srgbClr val="FFFFFF"/>
                </a:solidFill>
                <a:latin typeface="SimSun"/>
                <a:cs typeface="SimSun"/>
              </a:rPr>
              <a:t>標</a:t>
            </a:r>
            <a:endParaRPr sz="1600">
              <a:latin typeface="SimSun"/>
              <a:cs typeface="SimSun"/>
            </a:endParaRPr>
          </a:p>
        </p:txBody>
      </p:sp>
      <p:sp>
        <p:nvSpPr>
          <p:cNvPr id="10" name="object 10"/>
          <p:cNvSpPr txBox="1"/>
          <p:nvPr/>
        </p:nvSpPr>
        <p:spPr>
          <a:xfrm>
            <a:off x="624242" y="3713414"/>
            <a:ext cx="3173095" cy="588010"/>
          </a:xfrm>
          <a:prstGeom prst="rect">
            <a:avLst/>
          </a:prstGeom>
        </p:spPr>
        <p:txBody>
          <a:bodyPr vert="horz" wrap="square" lIns="0" tIns="11430" rIns="0" bIns="0" rtlCol="0">
            <a:spAutoFit/>
          </a:bodyPr>
          <a:lstStyle/>
          <a:p>
            <a:pPr marL="12700" marR="5080" algn="just">
              <a:lnSpc>
                <a:spcPct val="122900"/>
              </a:lnSpc>
              <a:spcBef>
                <a:spcPts val="90"/>
              </a:spcBef>
            </a:pPr>
            <a:r>
              <a:rPr sz="1000" spc="-5" dirty="0">
                <a:solidFill>
                  <a:srgbClr val="D0D5DA"/>
                </a:solidFill>
                <a:latin typeface="PMingLiU"/>
                <a:cs typeface="PMingLiU"/>
              </a:rPr>
              <a:t>提升機器狗巡檢系統的自主作業能力、環境感知能力與數據分析能力，實現更高效、更智能的巡檢任務，進一</a:t>
            </a:r>
            <a:r>
              <a:rPr sz="1000" spc="-10" dirty="0">
                <a:solidFill>
                  <a:srgbClr val="D0D5DA"/>
                </a:solidFill>
                <a:latin typeface="PMingLiU"/>
                <a:cs typeface="PMingLiU"/>
              </a:rPr>
              <a:t>步擴大應用場景。</a:t>
            </a:r>
            <a:endParaRPr sz="1000">
              <a:latin typeface="PMingLiU"/>
              <a:cs typeface="PMingLiU"/>
            </a:endParaRPr>
          </a:p>
        </p:txBody>
      </p:sp>
      <p:grpSp>
        <p:nvGrpSpPr>
          <p:cNvPr id="11" name="object 11"/>
          <p:cNvGrpSpPr/>
          <p:nvPr/>
        </p:nvGrpSpPr>
        <p:grpSpPr>
          <a:xfrm>
            <a:off x="4299363" y="1161483"/>
            <a:ext cx="7240905" cy="1536700"/>
            <a:chOff x="4299363" y="1161483"/>
            <a:chExt cx="7240905" cy="1536700"/>
          </a:xfrm>
        </p:grpSpPr>
        <p:sp>
          <p:nvSpPr>
            <p:cNvPr id="12" name="object 12"/>
            <p:cNvSpPr/>
            <p:nvPr/>
          </p:nvSpPr>
          <p:spPr>
            <a:xfrm>
              <a:off x="4313413" y="1161483"/>
              <a:ext cx="7226934" cy="1536700"/>
            </a:xfrm>
            <a:custGeom>
              <a:avLst/>
              <a:gdLst/>
              <a:ahLst/>
              <a:cxnLst/>
              <a:rect l="l" t="t" r="r" b="b"/>
              <a:pathLst>
                <a:path w="7226934" h="1536700">
                  <a:moveTo>
                    <a:pt x="7156475" y="1536155"/>
                  </a:moveTo>
                  <a:lnTo>
                    <a:pt x="56886" y="1536155"/>
                  </a:lnTo>
                  <a:lnTo>
                    <a:pt x="52926" y="1535675"/>
                  </a:lnTo>
                  <a:lnTo>
                    <a:pt x="15005" y="1510728"/>
                  </a:lnTo>
                  <a:lnTo>
                    <a:pt x="389" y="1471014"/>
                  </a:lnTo>
                  <a:lnTo>
                    <a:pt x="0" y="1466141"/>
                  </a:lnTo>
                  <a:lnTo>
                    <a:pt x="0" y="1461221"/>
                  </a:lnTo>
                  <a:lnTo>
                    <a:pt x="0" y="70014"/>
                  </a:lnTo>
                  <a:lnTo>
                    <a:pt x="12481" y="29211"/>
                  </a:lnTo>
                  <a:lnTo>
                    <a:pt x="41277" y="3821"/>
                  </a:lnTo>
                  <a:lnTo>
                    <a:pt x="56886" y="0"/>
                  </a:lnTo>
                  <a:lnTo>
                    <a:pt x="7156475" y="0"/>
                  </a:lnTo>
                  <a:lnTo>
                    <a:pt x="7197275" y="15362"/>
                  </a:lnTo>
                  <a:lnTo>
                    <a:pt x="7222667" y="50803"/>
                  </a:lnTo>
                  <a:lnTo>
                    <a:pt x="7226490" y="70014"/>
                  </a:lnTo>
                  <a:lnTo>
                    <a:pt x="7226490" y="1466141"/>
                  </a:lnTo>
                  <a:lnTo>
                    <a:pt x="7211126" y="1506943"/>
                  </a:lnTo>
                  <a:lnTo>
                    <a:pt x="7175684" y="1532334"/>
                  </a:lnTo>
                  <a:lnTo>
                    <a:pt x="7161348" y="1535675"/>
                  </a:lnTo>
                  <a:lnTo>
                    <a:pt x="7156475" y="1536155"/>
                  </a:lnTo>
                  <a:close/>
                </a:path>
              </a:pathLst>
            </a:custGeom>
            <a:solidFill>
              <a:srgbClr val="FFFFFF">
                <a:alpha val="5099"/>
              </a:srgbClr>
            </a:solidFill>
          </p:spPr>
          <p:txBody>
            <a:bodyPr wrap="square" lIns="0" tIns="0" rIns="0" bIns="0" rtlCol="0"/>
            <a:lstStyle/>
            <a:p>
              <a:endParaRPr/>
            </a:p>
          </p:txBody>
        </p:sp>
        <p:sp>
          <p:nvSpPr>
            <p:cNvPr id="13" name="object 13"/>
            <p:cNvSpPr/>
            <p:nvPr/>
          </p:nvSpPr>
          <p:spPr>
            <a:xfrm>
              <a:off x="4299363" y="1161854"/>
              <a:ext cx="67945" cy="1535430"/>
            </a:xfrm>
            <a:custGeom>
              <a:avLst/>
              <a:gdLst/>
              <a:ahLst/>
              <a:cxnLst/>
              <a:rect l="l" t="t" r="r" b="b"/>
              <a:pathLst>
                <a:path w="67945" h="1535430">
                  <a:moveTo>
                    <a:pt x="67557" y="1535413"/>
                  </a:moveTo>
                  <a:lnTo>
                    <a:pt x="27419" y="1518804"/>
                  </a:lnTo>
                  <a:lnTo>
                    <a:pt x="3207" y="1482570"/>
                  </a:lnTo>
                  <a:lnTo>
                    <a:pt x="0" y="1460850"/>
                  </a:lnTo>
                  <a:lnTo>
                    <a:pt x="0" y="74563"/>
                  </a:lnTo>
                  <a:lnTo>
                    <a:pt x="12616" y="32924"/>
                  </a:lnTo>
                  <a:lnTo>
                    <a:pt x="46258" y="5332"/>
                  </a:lnTo>
                  <a:lnTo>
                    <a:pt x="67557" y="0"/>
                  </a:lnTo>
                  <a:lnTo>
                    <a:pt x="62749" y="1530"/>
                  </a:lnTo>
                  <a:lnTo>
                    <a:pt x="51272" y="9135"/>
                  </a:lnTo>
                  <a:lnTo>
                    <a:pt x="31664" y="45886"/>
                  </a:lnTo>
                  <a:lnTo>
                    <a:pt x="28100" y="74563"/>
                  </a:lnTo>
                  <a:lnTo>
                    <a:pt x="28100" y="1460850"/>
                  </a:lnTo>
                  <a:lnTo>
                    <a:pt x="35985" y="1502489"/>
                  </a:lnTo>
                  <a:lnTo>
                    <a:pt x="62749" y="1533883"/>
                  </a:lnTo>
                  <a:lnTo>
                    <a:pt x="67557" y="1535413"/>
                  </a:lnTo>
                  <a:close/>
                </a:path>
              </a:pathLst>
            </a:custGeom>
            <a:solidFill>
              <a:srgbClr val="4BAF4F"/>
            </a:solidFill>
          </p:spPr>
          <p:txBody>
            <a:bodyPr wrap="square" lIns="0" tIns="0" rIns="0" bIns="0" rtlCol="0"/>
            <a:lstStyle/>
            <a:p>
              <a:endParaRPr/>
            </a:p>
          </p:txBody>
        </p:sp>
        <p:sp>
          <p:nvSpPr>
            <p:cNvPr id="14" name="object 14"/>
            <p:cNvSpPr/>
            <p:nvPr/>
          </p:nvSpPr>
          <p:spPr>
            <a:xfrm>
              <a:off x="4477332" y="1311352"/>
              <a:ext cx="375285" cy="375285"/>
            </a:xfrm>
            <a:custGeom>
              <a:avLst/>
              <a:gdLst/>
              <a:ahLst/>
              <a:cxnLst/>
              <a:rect l="l" t="t" r="r" b="b"/>
              <a:pathLst>
                <a:path w="375285" h="375285">
                  <a:moveTo>
                    <a:pt x="187336" y="374672"/>
                  </a:moveTo>
                  <a:lnTo>
                    <a:pt x="141806" y="369056"/>
                  </a:lnTo>
                  <a:lnTo>
                    <a:pt x="99025" y="352553"/>
                  </a:lnTo>
                  <a:lnTo>
                    <a:pt x="61536" y="326151"/>
                  </a:lnTo>
                  <a:lnTo>
                    <a:pt x="31571" y="291414"/>
                  </a:lnTo>
                  <a:lnTo>
                    <a:pt x="10945" y="250437"/>
                  </a:lnTo>
                  <a:lnTo>
                    <a:pt x="899" y="205698"/>
                  </a:lnTo>
                  <a:lnTo>
                    <a:pt x="0" y="187336"/>
                  </a:lnTo>
                  <a:lnTo>
                    <a:pt x="224" y="178132"/>
                  </a:lnTo>
                  <a:lnTo>
                    <a:pt x="8064" y="132954"/>
                  </a:lnTo>
                  <a:lnTo>
                    <a:pt x="26645" y="91034"/>
                  </a:lnTo>
                  <a:lnTo>
                    <a:pt x="54869" y="54869"/>
                  </a:lnTo>
                  <a:lnTo>
                    <a:pt x="91034" y="26645"/>
                  </a:lnTo>
                  <a:lnTo>
                    <a:pt x="132954" y="8064"/>
                  </a:lnTo>
                  <a:lnTo>
                    <a:pt x="178132" y="224"/>
                  </a:lnTo>
                  <a:lnTo>
                    <a:pt x="187336" y="0"/>
                  </a:lnTo>
                  <a:lnTo>
                    <a:pt x="196539" y="224"/>
                  </a:lnTo>
                  <a:lnTo>
                    <a:pt x="241717" y="8064"/>
                  </a:lnTo>
                  <a:lnTo>
                    <a:pt x="283636" y="26645"/>
                  </a:lnTo>
                  <a:lnTo>
                    <a:pt x="319802" y="54869"/>
                  </a:lnTo>
                  <a:lnTo>
                    <a:pt x="348025" y="91034"/>
                  </a:lnTo>
                  <a:lnTo>
                    <a:pt x="366607" y="132954"/>
                  </a:lnTo>
                  <a:lnTo>
                    <a:pt x="374447" y="178132"/>
                  </a:lnTo>
                  <a:lnTo>
                    <a:pt x="374672" y="187336"/>
                  </a:lnTo>
                  <a:lnTo>
                    <a:pt x="374447" y="196539"/>
                  </a:lnTo>
                  <a:lnTo>
                    <a:pt x="366607" y="241717"/>
                  </a:lnTo>
                  <a:lnTo>
                    <a:pt x="348025" y="283637"/>
                  </a:lnTo>
                  <a:lnTo>
                    <a:pt x="319802" y="319802"/>
                  </a:lnTo>
                  <a:lnTo>
                    <a:pt x="283636" y="348026"/>
                  </a:lnTo>
                  <a:lnTo>
                    <a:pt x="241717" y="366607"/>
                  </a:lnTo>
                  <a:lnTo>
                    <a:pt x="196539" y="374447"/>
                  </a:lnTo>
                  <a:lnTo>
                    <a:pt x="187336" y="374672"/>
                  </a:lnTo>
                  <a:close/>
                </a:path>
              </a:pathLst>
            </a:custGeom>
            <a:solidFill>
              <a:srgbClr val="21C45D">
                <a:alpha val="19999"/>
              </a:srgbClr>
            </a:solidFill>
          </p:spPr>
          <p:txBody>
            <a:bodyPr wrap="square" lIns="0" tIns="0" rIns="0" bIns="0" rtlCol="0"/>
            <a:lstStyle/>
            <a:p>
              <a:endParaRPr/>
            </a:p>
          </p:txBody>
        </p:sp>
        <p:pic>
          <p:nvPicPr>
            <p:cNvPr id="15" name="object 15"/>
            <p:cNvPicPr/>
            <p:nvPr/>
          </p:nvPicPr>
          <p:blipFill>
            <a:blip r:embed="rId4" cstate="print"/>
            <a:stretch>
              <a:fillRect/>
            </a:stretch>
          </p:blipFill>
          <p:spPr>
            <a:xfrm>
              <a:off x="4552267" y="1367553"/>
              <a:ext cx="215436" cy="262270"/>
            </a:xfrm>
            <a:prstGeom prst="rect">
              <a:avLst/>
            </a:prstGeom>
          </p:spPr>
        </p:pic>
      </p:grpSp>
      <p:grpSp>
        <p:nvGrpSpPr>
          <p:cNvPr id="16" name="object 16"/>
          <p:cNvGrpSpPr/>
          <p:nvPr/>
        </p:nvGrpSpPr>
        <p:grpSpPr>
          <a:xfrm>
            <a:off x="4299363" y="2847508"/>
            <a:ext cx="7240905" cy="1536700"/>
            <a:chOff x="4299363" y="2847508"/>
            <a:chExt cx="7240905" cy="1536700"/>
          </a:xfrm>
        </p:grpSpPr>
        <p:sp>
          <p:nvSpPr>
            <p:cNvPr id="17" name="object 17"/>
            <p:cNvSpPr/>
            <p:nvPr/>
          </p:nvSpPr>
          <p:spPr>
            <a:xfrm>
              <a:off x="4313413" y="2847508"/>
              <a:ext cx="7226934" cy="1536700"/>
            </a:xfrm>
            <a:custGeom>
              <a:avLst/>
              <a:gdLst/>
              <a:ahLst/>
              <a:cxnLst/>
              <a:rect l="l" t="t" r="r" b="b"/>
              <a:pathLst>
                <a:path w="7226934" h="1536700">
                  <a:moveTo>
                    <a:pt x="7156475" y="1536155"/>
                  </a:moveTo>
                  <a:lnTo>
                    <a:pt x="56886" y="1536155"/>
                  </a:lnTo>
                  <a:lnTo>
                    <a:pt x="52926" y="1535675"/>
                  </a:lnTo>
                  <a:lnTo>
                    <a:pt x="15005" y="1510728"/>
                  </a:lnTo>
                  <a:lnTo>
                    <a:pt x="389" y="1471014"/>
                  </a:lnTo>
                  <a:lnTo>
                    <a:pt x="0" y="1466141"/>
                  </a:lnTo>
                  <a:lnTo>
                    <a:pt x="0" y="1461221"/>
                  </a:lnTo>
                  <a:lnTo>
                    <a:pt x="0" y="70014"/>
                  </a:lnTo>
                  <a:lnTo>
                    <a:pt x="12481" y="29211"/>
                  </a:lnTo>
                  <a:lnTo>
                    <a:pt x="41277" y="3821"/>
                  </a:lnTo>
                  <a:lnTo>
                    <a:pt x="56886" y="0"/>
                  </a:lnTo>
                  <a:lnTo>
                    <a:pt x="7156475" y="0"/>
                  </a:lnTo>
                  <a:lnTo>
                    <a:pt x="7197275" y="15362"/>
                  </a:lnTo>
                  <a:lnTo>
                    <a:pt x="7222667" y="50803"/>
                  </a:lnTo>
                  <a:lnTo>
                    <a:pt x="7226490" y="70014"/>
                  </a:lnTo>
                  <a:lnTo>
                    <a:pt x="7226490" y="1466141"/>
                  </a:lnTo>
                  <a:lnTo>
                    <a:pt x="7211126" y="1506943"/>
                  </a:lnTo>
                  <a:lnTo>
                    <a:pt x="7175684" y="1532334"/>
                  </a:lnTo>
                  <a:lnTo>
                    <a:pt x="7161348" y="1535675"/>
                  </a:lnTo>
                  <a:lnTo>
                    <a:pt x="7156475" y="1536155"/>
                  </a:lnTo>
                  <a:close/>
                </a:path>
              </a:pathLst>
            </a:custGeom>
            <a:solidFill>
              <a:srgbClr val="FFFFFF">
                <a:alpha val="5099"/>
              </a:srgbClr>
            </a:solidFill>
          </p:spPr>
          <p:txBody>
            <a:bodyPr wrap="square" lIns="0" tIns="0" rIns="0" bIns="0" rtlCol="0"/>
            <a:lstStyle/>
            <a:p>
              <a:endParaRPr/>
            </a:p>
          </p:txBody>
        </p:sp>
        <p:sp>
          <p:nvSpPr>
            <p:cNvPr id="18" name="object 18"/>
            <p:cNvSpPr/>
            <p:nvPr/>
          </p:nvSpPr>
          <p:spPr>
            <a:xfrm>
              <a:off x="4299363" y="2847879"/>
              <a:ext cx="67945" cy="1535430"/>
            </a:xfrm>
            <a:custGeom>
              <a:avLst/>
              <a:gdLst/>
              <a:ahLst/>
              <a:cxnLst/>
              <a:rect l="l" t="t" r="r" b="b"/>
              <a:pathLst>
                <a:path w="67945" h="1535429">
                  <a:moveTo>
                    <a:pt x="67557" y="1535413"/>
                  </a:moveTo>
                  <a:lnTo>
                    <a:pt x="27419" y="1518804"/>
                  </a:lnTo>
                  <a:lnTo>
                    <a:pt x="3207" y="1482569"/>
                  </a:lnTo>
                  <a:lnTo>
                    <a:pt x="0" y="1460850"/>
                  </a:lnTo>
                  <a:lnTo>
                    <a:pt x="0" y="74563"/>
                  </a:lnTo>
                  <a:lnTo>
                    <a:pt x="12616" y="32923"/>
                  </a:lnTo>
                  <a:lnTo>
                    <a:pt x="46258" y="5332"/>
                  </a:lnTo>
                  <a:lnTo>
                    <a:pt x="67557" y="0"/>
                  </a:lnTo>
                  <a:lnTo>
                    <a:pt x="62749" y="1530"/>
                  </a:lnTo>
                  <a:lnTo>
                    <a:pt x="51272" y="9135"/>
                  </a:lnTo>
                  <a:lnTo>
                    <a:pt x="31664" y="45886"/>
                  </a:lnTo>
                  <a:lnTo>
                    <a:pt x="28100" y="74563"/>
                  </a:lnTo>
                  <a:lnTo>
                    <a:pt x="28100" y="1460850"/>
                  </a:lnTo>
                  <a:lnTo>
                    <a:pt x="35985" y="1502488"/>
                  </a:lnTo>
                  <a:lnTo>
                    <a:pt x="62749" y="1533883"/>
                  </a:lnTo>
                  <a:lnTo>
                    <a:pt x="67557" y="1535413"/>
                  </a:lnTo>
                  <a:close/>
                </a:path>
              </a:pathLst>
            </a:custGeom>
            <a:solidFill>
              <a:srgbClr val="FFA500"/>
            </a:solidFill>
          </p:spPr>
          <p:txBody>
            <a:bodyPr wrap="square" lIns="0" tIns="0" rIns="0" bIns="0" rtlCol="0"/>
            <a:lstStyle/>
            <a:p>
              <a:endParaRPr/>
            </a:p>
          </p:txBody>
        </p:sp>
        <p:sp>
          <p:nvSpPr>
            <p:cNvPr id="19" name="object 19"/>
            <p:cNvSpPr/>
            <p:nvPr/>
          </p:nvSpPr>
          <p:spPr>
            <a:xfrm>
              <a:off x="4477332" y="2997377"/>
              <a:ext cx="375285" cy="375285"/>
            </a:xfrm>
            <a:custGeom>
              <a:avLst/>
              <a:gdLst/>
              <a:ahLst/>
              <a:cxnLst/>
              <a:rect l="l" t="t" r="r" b="b"/>
              <a:pathLst>
                <a:path w="375285" h="375285">
                  <a:moveTo>
                    <a:pt x="187336" y="374672"/>
                  </a:moveTo>
                  <a:lnTo>
                    <a:pt x="141806" y="369056"/>
                  </a:lnTo>
                  <a:lnTo>
                    <a:pt x="99025" y="352553"/>
                  </a:lnTo>
                  <a:lnTo>
                    <a:pt x="61536" y="326151"/>
                  </a:lnTo>
                  <a:lnTo>
                    <a:pt x="31571" y="291414"/>
                  </a:lnTo>
                  <a:lnTo>
                    <a:pt x="10945" y="250437"/>
                  </a:lnTo>
                  <a:lnTo>
                    <a:pt x="899" y="205698"/>
                  </a:lnTo>
                  <a:lnTo>
                    <a:pt x="0" y="187336"/>
                  </a:lnTo>
                  <a:lnTo>
                    <a:pt x="224" y="178132"/>
                  </a:lnTo>
                  <a:lnTo>
                    <a:pt x="8064" y="132954"/>
                  </a:lnTo>
                  <a:lnTo>
                    <a:pt x="26645" y="91034"/>
                  </a:lnTo>
                  <a:lnTo>
                    <a:pt x="54869" y="54869"/>
                  </a:lnTo>
                  <a:lnTo>
                    <a:pt x="91034" y="26645"/>
                  </a:lnTo>
                  <a:lnTo>
                    <a:pt x="132954" y="8064"/>
                  </a:lnTo>
                  <a:lnTo>
                    <a:pt x="178132" y="224"/>
                  </a:lnTo>
                  <a:lnTo>
                    <a:pt x="187336" y="0"/>
                  </a:lnTo>
                  <a:lnTo>
                    <a:pt x="196539" y="224"/>
                  </a:lnTo>
                  <a:lnTo>
                    <a:pt x="241717" y="8064"/>
                  </a:lnTo>
                  <a:lnTo>
                    <a:pt x="283636" y="26645"/>
                  </a:lnTo>
                  <a:lnTo>
                    <a:pt x="319802" y="54869"/>
                  </a:lnTo>
                  <a:lnTo>
                    <a:pt x="348025" y="91034"/>
                  </a:lnTo>
                  <a:lnTo>
                    <a:pt x="366607" y="132954"/>
                  </a:lnTo>
                  <a:lnTo>
                    <a:pt x="374447" y="178132"/>
                  </a:lnTo>
                  <a:lnTo>
                    <a:pt x="374672" y="187336"/>
                  </a:lnTo>
                  <a:lnTo>
                    <a:pt x="374447" y="196539"/>
                  </a:lnTo>
                  <a:lnTo>
                    <a:pt x="366607" y="241717"/>
                  </a:lnTo>
                  <a:lnTo>
                    <a:pt x="348025" y="283637"/>
                  </a:lnTo>
                  <a:lnTo>
                    <a:pt x="319802" y="319802"/>
                  </a:lnTo>
                  <a:lnTo>
                    <a:pt x="283636" y="348026"/>
                  </a:lnTo>
                  <a:lnTo>
                    <a:pt x="241717" y="366607"/>
                  </a:lnTo>
                  <a:lnTo>
                    <a:pt x="196539" y="374447"/>
                  </a:lnTo>
                  <a:lnTo>
                    <a:pt x="187336" y="374672"/>
                  </a:lnTo>
                  <a:close/>
                </a:path>
              </a:pathLst>
            </a:custGeom>
            <a:solidFill>
              <a:srgbClr val="F97316">
                <a:alpha val="19999"/>
              </a:srgbClr>
            </a:solidFill>
          </p:spPr>
          <p:txBody>
            <a:bodyPr wrap="square" lIns="0" tIns="0" rIns="0" bIns="0" rtlCol="0"/>
            <a:lstStyle/>
            <a:p>
              <a:endParaRPr/>
            </a:p>
          </p:txBody>
        </p:sp>
        <p:pic>
          <p:nvPicPr>
            <p:cNvPr id="20" name="object 20"/>
            <p:cNvPicPr/>
            <p:nvPr/>
          </p:nvPicPr>
          <p:blipFill>
            <a:blip r:embed="rId5" cstate="print"/>
            <a:stretch>
              <a:fillRect/>
            </a:stretch>
          </p:blipFill>
          <p:spPr>
            <a:xfrm>
              <a:off x="4552267" y="3053578"/>
              <a:ext cx="215436" cy="262270"/>
            </a:xfrm>
            <a:prstGeom prst="rect">
              <a:avLst/>
            </a:prstGeom>
          </p:spPr>
        </p:pic>
      </p:grpSp>
      <p:grpSp>
        <p:nvGrpSpPr>
          <p:cNvPr id="21" name="object 21"/>
          <p:cNvGrpSpPr/>
          <p:nvPr/>
        </p:nvGrpSpPr>
        <p:grpSpPr>
          <a:xfrm>
            <a:off x="4299363" y="4533533"/>
            <a:ext cx="7240905" cy="1536700"/>
            <a:chOff x="4299363" y="4533533"/>
            <a:chExt cx="7240905" cy="1536700"/>
          </a:xfrm>
        </p:grpSpPr>
        <p:sp>
          <p:nvSpPr>
            <p:cNvPr id="22" name="object 22"/>
            <p:cNvSpPr/>
            <p:nvPr/>
          </p:nvSpPr>
          <p:spPr>
            <a:xfrm>
              <a:off x="4313413" y="4533533"/>
              <a:ext cx="7226934" cy="1536700"/>
            </a:xfrm>
            <a:custGeom>
              <a:avLst/>
              <a:gdLst/>
              <a:ahLst/>
              <a:cxnLst/>
              <a:rect l="l" t="t" r="r" b="b"/>
              <a:pathLst>
                <a:path w="7226934" h="1536700">
                  <a:moveTo>
                    <a:pt x="7156475" y="1536156"/>
                  </a:moveTo>
                  <a:lnTo>
                    <a:pt x="56886" y="1536156"/>
                  </a:lnTo>
                  <a:lnTo>
                    <a:pt x="52926" y="1535675"/>
                  </a:lnTo>
                  <a:lnTo>
                    <a:pt x="15005" y="1510728"/>
                  </a:lnTo>
                  <a:lnTo>
                    <a:pt x="389" y="1471014"/>
                  </a:lnTo>
                  <a:lnTo>
                    <a:pt x="0" y="1466141"/>
                  </a:lnTo>
                  <a:lnTo>
                    <a:pt x="0" y="1461221"/>
                  </a:lnTo>
                  <a:lnTo>
                    <a:pt x="0" y="70014"/>
                  </a:lnTo>
                  <a:lnTo>
                    <a:pt x="12481" y="29211"/>
                  </a:lnTo>
                  <a:lnTo>
                    <a:pt x="41277" y="3820"/>
                  </a:lnTo>
                  <a:lnTo>
                    <a:pt x="56886" y="0"/>
                  </a:lnTo>
                  <a:lnTo>
                    <a:pt x="7156475" y="0"/>
                  </a:lnTo>
                  <a:lnTo>
                    <a:pt x="7197275" y="15362"/>
                  </a:lnTo>
                  <a:lnTo>
                    <a:pt x="7222667" y="50803"/>
                  </a:lnTo>
                  <a:lnTo>
                    <a:pt x="7226490" y="70014"/>
                  </a:lnTo>
                  <a:lnTo>
                    <a:pt x="7226490" y="1466141"/>
                  </a:lnTo>
                  <a:lnTo>
                    <a:pt x="7211126" y="1506943"/>
                  </a:lnTo>
                  <a:lnTo>
                    <a:pt x="7175684" y="1532333"/>
                  </a:lnTo>
                  <a:lnTo>
                    <a:pt x="7161348" y="1535675"/>
                  </a:lnTo>
                  <a:lnTo>
                    <a:pt x="7156475" y="1536156"/>
                  </a:lnTo>
                  <a:close/>
                </a:path>
              </a:pathLst>
            </a:custGeom>
            <a:solidFill>
              <a:srgbClr val="FFFFFF">
                <a:alpha val="5099"/>
              </a:srgbClr>
            </a:solidFill>
          </p:spPr>
          <p:txBody>
            <a:bodyPr wrap="square" lIns="0" tIns="0" rIns="0" bIns="0" rtlCol="0"/>
            <a:lstStyle/>
            <a:p>
              <a:endParaRPr/>
            </a:p>
          </p:txBody>
        </p:sp>
        <p:sp>
          <p:nvSpPr>
            <p:cNvPr id="23" name="object 23"/>
            <p:cNvSpPr/>
            <p:nvPr/>
          </p:nvSpPr>
          <p:spPr>
            <a:xfrm>
              <a:off x="4299363" y="4533904"/>
              <a:ext cx="67945" cy="1535430"/>
            </a:xfrm>
            <a:custGeom>
              <a:avLst/>
              <a:gdLst/>
              <a:ahLst/>
              <a:cxnLst/>
              <a:rect l="l" t="t" r="r" b="b"/>
              <a:pathLst>
                <a:path w="67945" h="1535429">
                  <a:moveTo>
                    <a:pt x="67557" y="1535413"/>
                  </a:moveTo>
                  <a:lnTo>
                    <a:pt x="27419" y="1518803"/>
                  </a:lnTo>
                  <a:lnTo>
                    <a:pt x="3207" y="1482569"/>
                  </a:lnTo>
                  <a:lnTo>
                    <a:pt x="0" y="1460850"/>
                  </a:lnTo>
                  <a:lnTo>
                    <a:pt x="0" y="74563"/>
                  </a:lnTo>
                  <a:lnTo>
                    <a:pt x="12616" y="32923"/>
                  </a:lnTo>
                  <a:lnTo>
                    <a:pt x="46258" y="5332"/>
                  </a:lnTo>
                  <a:lnTo>
                    <a:pt x="67557" y="0"/>
                  </a:lnTo>
                  <a:lnTo>
                    <a:pt x="62749" y="1530"/>
                  </a:lnTo>
                  <a:lnTo>
                    <a:pt x="51272" y="9135"/>
                  </a:lnTo>
                  <a:lnTo>
                    <a:pt x="31664" y="45886"/>
                  </a:lnTo>
                  <a:lnTo>
                    <a:pt x="28100" y="74563"/>
                  </a:lnTo>
                  <a:lnTo>
                    <a:pt x="28100" y="1460850"/>
                  </a:lnTo>
                  <a:lnTo>
                    <a:pt x="35985" y="1502488"/>
                  </a:lnTo>
                  <a:lnTo>
                    <a:pt x="62749" y="1533883"/>
                  </a:lnTo>
                  <a:lnTo>
                    <a:pt x="67557" y="1535413"/>
                  </a:lnTo>
                  <a:close/>
                </a:path>
              </a:pathLst>
            </a:custGeom>
            <a:solidFill>
              <a:srgbClr val="8E44AC"/>
            </a:solidFill>
          </p:spPr>
          <p:txBody>
            <a:bodyPr wrap="square" lIns="0" tIns="0" rIns="0" bIns="0" rtlCol="0"/>
            <a:lstStyle/>
            <a:p>
              <a:endParaRPr/>
            </a:p>
          </p:txBody>
        </p:sp>
        <p:sp>
          <p:nvSpPr>
            <p:cNvPr id="24" name="object 24"/>
            <p:cNvSpPr/>
            <p:nvPr/>
          </p:nvSpPr>
          <p:spPr>
            <a:xfrm>
              <a:off x="4477332" y="4683402"/>
              <a:ext cx="375285" cy="375285"/>
            </a:xfrm>
            <a:custGeom>
              <a:avLst/>
              <a:gdLst/>
              <a:ahLst/>
              <a:cxnLst/>
              <a:rect l="l" t="t" r="r" b="b"/>
              <a:pathLst>
                <a:path w="375285" h="375285">
                  <a:moveTo>
                    <a:pt x="187336" y="374672"/>
                  </a:moveTo>
                  <a:lnTo>
                    <a:pt x="141806" y="369056"/>
                  </a:lnTo>
                  <a:lnTo>
                    <a:pt x="99025" y="352552"/>
                  </a:lnTo>
                  <a:lnTo>
                    <a:pt x="61536" y="326150"/>
                  </a:lnTo>
                  <a:lnTo>
                    <a:pt x="31571" y="291413"/>
                  </a:lnTo>
                  <a:lnTo>
                    <a:pt x="10945" y="250437"/>
                  </a:lnTo>
                  <a:lnTo>
                    <a:pt x="899" y="205698"/>
                  </a:lnTo>
                  <a:lnTo>
                    <a:pt x="0" y="187336"/>
                  </a:lnTo>
                  <a:lnTo>
                    <a:pt x="224" y="178132"/>
                  </a:lnTo>
                  <a:lnTo>
                    <a:pt x="8064" y="132953"/>
                  </a:lnTo>
                  <a:lnTo>
                    <a:pt x="26645" y="91034"/>
                  </a:lnTo>
                  <a:lnTo>
                    <a:pt x="54869" y="54869"/>
                  </a:lnTo>
                  <a:lnTo>
                    <a:pt x="91034" y="26645"/>
                  </a:lnTo>
                  <a:lnTo>
                    <a:pt x="132954" y="8064"/>
                  </a:lnTo>
                  <a:lnTo>
                    <a:pt x="178132" y="225"/>
                  </a:lnTo>
                  <a:lnTo>
                    <a:pt x="187336" y="0"/>
                  </a:lnTo>
                  <a:lnTo>
                    <a:pt x="196539" y="225"/>
                  </a:lnTo>
                  <a:lnTo>
                    <a:pt x="241717" y="8064"/>
                  </a:lnTo>
                  <a:lnTo>
                    <a:pt x="283636" y="26645"/>
                  </a:lnTo>
                  <a:lnTo>
                    <a:pt x="319802" y="54869"/>
                  </a:lnTo>
                  <a:lnTo>
                    <a:pt x="348025" y="91034"/>
                  </a:lnTo>
                  <a:lnTo>
                    <a:pt x="366607" y="132953"/>
                  </a:lnTo>
                  <a:lnTo>
                    <a:pt x="374447" y="178132"/>
                  </a:lnTo>
                  <a:lnTo>
                    <a:pt x="374672" y="187336"/>
                  </a:lnTo>
                  <a:lnTo>
                    <a:pt x="374447" y="196539"/>
                  </a:lnTo>
                  <a:lnTo>
                    <a:pt x="366607" y="241717"/>
                  </a:lnTo>
                  <a:lnTo>
                    <a:pt x="348025" y="283636"/>
                  </a:lnTo>
                  <a:lnTo>
                    <a:pt x="319802" y="319802"/>
                  </a:lnTo>
                  <a:lnTo>
                    <a:pt x="283636" y="348025"/>
                  </a:lnTo>
                  <a:lnTo>
                    <a:pt x="241717" y="366607"/>
                  </a:lnTo>
                  <a:lnTo>
                    <a:pt x="196539" y="374447"/>
                  </a:lnTo>
                  <a:lnTo>
                    <a:pt x="187336" y="374672"/>
                  </a:lnTo>
                  <a:close/>
                </a:path>
              </a:pathLst>
            </a:custGeom>
            <a:solidFill>
              <a:srgbClr val="A754F6">
                <a:alpha val="19999"/>
              </a:srgbClr>
            </a:solidFill>
          </p:spPr>
          <p:txBody>
            <a:bodyPr wrap="square" lIns="0" tIns="0" rIns="0" bIns="0" rtlCol="0"/>
            <a:lstStyle/>
            <a:p>
              <a:endParaRPr/>
            </a:p>
          </p:txBody>
        </p:sp>
        <p:pic>
          <p:nvPicPr>
            <p:cNvPr id="25" name="object 25"/>
            <p:cNvPicPr/>
            <p:nvPr/>
          </p:nvPicPr>
          <p:blipFill>
            <a:blip r:embed="rId6" cstate="print"/>
            <a:stretch>
              <a:fillRect/>
            </a:stretch>
          </p:blipFill>
          <p:spPr>
            <a:xfrm>
              <a:off x="4542900" y="4739603"/>
              <a:ext cx="234170" cy="262270"/>
            </a:xfrm>
            <a:prstGeom prst="rect">
              <a:avLst/>
            </a:prstGeom>
          </p:spPr>
        </p:pic>
      </p:grpSp>
      <p:sp>
        <p:nvSpPr>
          <p:cNvPr id="26" name="object 26"/>
          <p:cNvSpPr txBox="1"/>
          <p:nvPr/>
        </p:nvSpPr>
        <p:spPr>
          <a:xfrm>
            <a:off x="4948486" y="1336778"/>
            <a:ext cx="1149985" cy="283210"/>
          </a:xfrm>
          <a:prstGeom prst="rect">
            <a:avLst/>
          </a:prstGeom>
        </p:spPr>
        <p:txBody>
          <a:bodyPr vert="horz" wrap="square" lIns="0" tIns="11430" rIns="0" bIns="0" rtlCol="0">
            <a:spAutoFit/>
          </a:bodyPr>
          <a:lstStyle/>
          <a:p>
            <a:pPr marL="12700">
              <a:lnSpc>
                <a:spcPct val="100000"/>
              </a:lnSpc>
              <a:spcBef>
                <a:spcPts val="90"/>
              </a:spcBef>
            </a:pPr>
            <a:r>
              <a:rPr sz="1650" spc="-190" dirty="0">
                <a:solidFill>
                  <a:srgbClr val="FFFFFF"/>
                </a:solidFill>
                <a:latin typeface="SimSun"/>
                <a:cs typeface="SimSun"/>
              </a:rPr>
              <a:t>導</a:t>
            </a:r>
            <a:r>
              <a:rPr sz="1700" spc="-245" dirty="0">
                <a:solidFill>
                  <a:srgbClr val="FFFFFF"/>
                </a:solidFill>
                <a:latin typeface="SimSun"/>
                <a:cs typeface="SimSun"/>
              </a:rPr>
              <a:t>航</a:t>
            </a:r>
            <a:r>
              <a:rPr sz="1650" spc="-190" dirty="0">
                <a:solidFill>
                  <a:srgbClr val="FFFFFF"/>
                </a:solidFill>
                <a:latin typeface="PMingLiU"/>
                <a:cs typeface="PMingLiU"/>
              </a:rPr>
              <a:t>能</a:t>
            </a:r>
            <a:r>
              <a:rPr sz="1650" spc="-190" dirty="0">
                <a:solidFill>
                  <a:srgbClr val="FFFFFF"/>
                </a:solidFill>
                <a:latin typeface="SimSun"/>
                <a:cs typeface="SimSun"/>
              </a:rPr>
              <a:t>力升</a:t>
            </a:r>
            <a:r>
              <a:rPr sz="1600" spc="-50" dirty="0">
                <a:solidFill>
                  <a:srgbClr val="FFFFFF"/>
                </a:solidFill>
                <a:latin typeface="SimSun"/>
                <a:cs typeface="SimSun"/>
              </a:rPr>
              <a:t>級</a:t>
            </a:r>
            <a:endParaRPr sz="1600">
              <a:latin typeface="SimSun"/>
              <a:cs typeface="SimSun"/>
            </a:endParaRPr>
          </a:p>
        </p:txBody>
      </p:sp>
      <p:grpSp>
        <p:nvGrpSpPr>
          <p:cNvPr id="27" name="object 27"/>
          <p:cNvGrpSpPr/>
          <p:nvPr/>
        </p:nvGrpSpPr>
        <p:grpSpPr>
          <a:xfrm>
            <a:off x="4627201" y="1798426"/>
            <a:ext cx="3625215" cy="600075"/>
            <a:chOff x="4627201" y="1798426"/>
            <a:chExt cx="3625215" cy="600075"/>
          </a:xfrm>
        </p:grpSpPr>
        <p:pic>
          <p:nvPicPr>
            <p:cNvPr id="28" name="object 28"/>
            <p:cNvPicPr/>
            <p:nvPr/>
          </p:nvPicPr>
          <p:blipFill>
            <a:blip r:embed="rId7" cstate="print"/>
            <a:stretch>
              <a:fillRect/>
            </a:stretch>
          </p:blipFill>
          <p:spPr>
            <a:xfrm>
              <a:off x="4627201" y="1798426"/>
              <a:ext cx="149868" cy="149868"/>
            </a:xfrm>
            <a:prstGeom prst="rect">
              <a:avLst/>
            </a:prstGeom>
          </p:spPr>
        </p:pic>
        <p:pic>
          <p:nvPicPr>
            <p:cNvPr id="29" name="object 29"/>
            <p:cNvPicPr/>
            <p:nvPr/>
          </p:nvPicPr>
          <p:blipFill>
            <a:blip r:embed="rId8" cstate="print"/>
            <a:stretch>
              <a:fillRect/>
            </a:stretch>
          </p:blipFill>
          <p:spPr>
            <a:xfrm>
              <a:off x="8064818" y="1798426"/>
              <a:ext cx="149868" cy="149868"/>
            </a:xfrm>
            <a:prstGeom prst="rect">
              <a:avLst/>
            </a:prstGeom>
          </p:spPr>
        </p:pic>
        <p:pic>
          <p:nvPicPr>
            <p:cNvPr id="30" name="object 30"/>
            <p:cNvPicPr/>
            <p:nvPr/>
          </p:nvPicPr>
          <p:blipFill>
            <a:blip r:embed="rId9" cstate="print"/>
            <a:stretch>
              <a:fillRect/>
            </a:stretch>
          </p:blipFill>
          <p:spPr>
            <a:xfrm>
              <a:off x="4627201" y="2248033"/>
              <a:ext cx="112401" cy="149868"/>
            </a:xfrm>
            <a:prstGeom prst="rect">
              <a:avLst/>
            </a:prstGeom>
          </p:spPr>
        </p:pic>
        <p:pic>
          <p:nvPicPr>
            <p:cNvPr id="31" name="object 31"/>
            <p:cNvPicPr/>
            <p:nvPr/>
          </p:nvPicPr>
          <p:blipFill>
            <a:blip r:embed="rId10" cstate="print"/>
            <a:stretch>
              <a:fillRect/>
            </a:stretch>
          </p:blipFill>
          <p:spPr>
            <a:xfrm>
              <a:off x="8064818" y="2248033"/>
              <a:ext cx="187336" cy="149868"/>
            </a:xfrm>
            <a:prstGeom prst="rect">
              <a:avLst/>
            </a:prstGeom>
          </p:spPr>
        </p:pic>
      </p:grpSp>
      <p:sp>
        <p:nvSpPr>
          <p:cNvPr id="32" name="object 32"/>
          <p:cNvSpPr txBox="1"/>
          <p:nvPr/>
        </p:nvSpPr>
        <p:spPr>
          <a:xfrm>
            <a:off x="4836085" y="1733584"/>
            <a:ext cx="2835910" cy="362585"/>
          </a:xfrm>
          <a:prstGeom prst="rect">
            <a:avLst/>
          </a:prstGeom>
        </p:spPr>
        <p:txBody>
          <a:bodyPr vert="horz" wrap="square" lIns="0" tIns="40640" rIns="0" bIns="0" rtlCol="0">
            <a:spAutoFit/>
          </a:bodyPr>
          <a:lstStyle/>
          <a:p>
            <a:pPr marL="12700">
              <a:lnSpc>
                <a:spcPct val="100000"/>
              </a:lnSpc>
              <a:spcBef>
                <a:spcPts val="320"/>
              </a:spcBef>
            </a:pPr>
            <a:r>
              <a:rPr sz="1000" spc="-5" dirty="0">
                <a:solidFill>
                  <a:srgbClr val="FFFFFF"/>
                </a:solidFill>
                <a:latin typeface="PMingLiU"/>
                <a:cs typeface="PMingLiU"/>
              </a:rPr>
              <a:t>高精度定位與地圖構建</a:t>
            </a:r>
            <a:endParaRPr sz="1000">
              <a:latin typeface="PMingLiU"/>
              <a:cs typeface="PMingLiU"/>
            </a:endParaRPr>
          </a:p>
          <a:p>
            <a:pPr marL="12700">
              <a:lnSpc>
                <a:spcPct val="100000"/>
              </a:lnSpc>
              <a:spcBef>
                <a:spcPts val="204"/>
              </a:spcBef>
            </a:pPr>
            <a:r>
              <a:rPr sz="850" spc="-5" dirty="0">
                <a:solidFill>
                  <a:srgbClr val="9CA2AF"/>
                </a:solidFill>
                <a:latin typeface="PMingLiU"/>
                <a:cs typeface="PMingLiU"/>
              </a:rPr>
              <a:t>結合視覺慣性里程計與腿部里程計技術，實現更精確定位</a:t>
            </a:r>
            <a:endParaRPr sz="850">
              <a:latin typeface="PMingLiU"/>
              <a:cs typeface="PMingLiU"/>
            </a:endParaRPr>
          </a:p>
        </p:txBody>
      </p:sp>
      <p:sp>
        <p:nvSpPr>
          <p:cNvPr id="33" name="object 33"/>
          <p:cNvSpPr txBox="1"/>
          <p:nvPr/>
        </p:nvSpPr>
        <p:spPr>
          <a:xfrm>
            <a:off x="8275312" y="1733584"/>
            <a:ext cx="3060700" cy="362585"/>
          </a:xfrm>
          <a:prstGeom prst="rect">
            <a:avLst/>
          </a:prstGeom>
        </p:spPr>
        <p:txBody>
          <a:bodyPr vert="horz" wrap="square" lIns="0" tIns="40640" rIns="0" bIns="0" rtlCol="0">
            <a:spAutoFit/>
          </a:bodyPr>
          <a:lstStyle/>
          <a:p>
            <a:pPr marL="12700">
              <a:lnSpc>
                <a:spcPct val="100000"/>
              </a:lnSpc>
              <a:spcBef>
                <a:spcPts val="320"/>
              </a:spcBef>
            </a:pPr>
            <a:r>
              <a:rPr sz="1000" spc="-10" dirty="0">
                <a:solidFill>
                  <a:srgbClr val="FFFFFF"/>
                </a:solidFill>
                <a:latin typeface="PMingLiU"/>
                <a:cs typeface="PMingLiU"/>
              </a:rPr>
              <a:t>動態避障與路徑規劃</a:t>
            </a:r>
            <a:endParaRPr sz="1000">
              <a:latin typeface="PMingLiU"/>
              <a:cs typeface="PMingLiU"/>
            </a:endParaRPr>
          </a:p>
          <a:p>
            <a:pPr marL="12700">
              <a:lnSpc>
                <a:spcPct val="100000"/>
              </a:lnSpc>
              <a:spcBef>
                <a:spcPts val="204"/>
              </a:spcBef>
            </a:pPr>
            <a:r>
              <a:rPr sz="850" spc="-5" dirty="0">
                <a:solidFill>
                  <a:srgbClr val="9CA2AF"/>
                </a:solidFill>
                <a:latin typeface="PMingLiU"/>
                <a:cs typeface="PMingLiU"/>
              </a:rPr>
              <a:t>更強大的避障演算法，確保機器狗在複雜環境中靈活避開障礙</a:t>
            </a:r>
            <a:endParaRPr sz="850">
              <a:latin typeface="PMingLiU"/>
              <a:cs typeface="PMingLiU"/>
            </a:endParaRPr>
          </a:p>
        </p:txBody>
      </p:sp>
      <p:sp>
        <p:nvSpPr>
          <p:cNvPr id="34" name="object 34"/>
          <p:cNvSpPr txBox="1"/>
          <p:nvPr/>
        </p:nvSpPr>
        <p:spPr>
          <a:xfrm>
            <a:off x="4798617" y="2183191"/>
            <a:ext cx="2161540" cy="362585"/>
          </a:xfrm>
          <a:prstGeom prst="rect">
            <a:avLst/>
          </a:prstGeom>
        </p:spPr>
        <p:txBody>
          <a:bodyPr vert="horz" wrap="square" lIns="0" tIns="40640" rIns="0" bIns="0" rtlCol="0">
            <a:spAutoFit/>
          </a:bodyPr>
          <a:lstStyle/>
          <a:p>
            <a:pPr marL="12700">
              <a:lnSpc>
                <a:spcPct val="100000"/>
              </a:lnSpc>
              <a:spcBef>
                <a:spcPts val="320"/>
              </a:spcBef>
            </a:pPr>
            <a:r>
              <a:rPr sz="1000" spc="-10" dirty="0">
                <a:solidFill>
                  <a:srgbClr val="FFFFFF"/>
                </a:solidFill>
                <a:latin typeface="PMingLiU"/>
                <a:cs typeface="PMingLiU"/>
              </a:rPr>
              <a:t>跨樓層自主導航</a:t>
            </a:r>
            <a:endParaRPr sz="1000">
              <a:latin typeface="PMingLiU"/>
              <a:cs typeface="PMingLiU"/>
            </a:endParaRPr>
          </a:p>
          <a:p>
            <a:pPr marL="12700">
              <a:lnSpc>
                <a:spcPct val="100000"/>
              </a:lnSpc>
              <a:spcBef>
                <a:spcPts val="204"/>
              </a:spcBef>
            </a:pPr>
            <a:r>
              <a:rPr sz="850" spc="-5" dirty="0">
                <a:solidFill>
                  <a:srgbClr val="9CA2AF"/>
                </a:solidFill>
                <a:latin typeface="PMingLiU"/>
                <a:cs typeface="PMingLiU"/>
              </a:rPr>
              <a:t>研發機器狗在多樓層環境中的自主導航能力</a:t>
            </a:r>
            <a:endParaRPr sz="850">
              <a:latin typeface="PMingLiU"/>
              <a:cs typeface="PMingLiU"/>
            </a:endParaRPr>
          </a:p>
        </p:txBody>
      </p:sp>
      <p:sp>
        <p:nvSpPr>
          <p:cNvPr id="35" name="object 35"/>
          <p:cNvSpPr txBox="1"/>
          <p:nvPr/>
        </p:nvSpPr>
        <p:spPr>
          <a:xfrm>
            <a:off x="8312779" y="2183191"/>
            <a:ext cx="2948305" cy="362585"/>
          </a:xfrm>
          <a:prstGeom prst="rect">
            <a:avLst/>
          </a:prstGeom>
        </p:spPr>
        <p:txBody>
          <a:bodyPr vert="horz" wrap="square" lIns="0" tIns="40640" rIns="0" bIns="0" rtlCol="0">
            <a:spAutoFit/>
          </a:bodyPr>
          <a:lstStyle/>
          <a:p>
            <a:pPr marL="12700">
              <a:lnSpc>
                <a:spcPct val="100000"/>
              </a:lnSpc>
              <a:spcBef>
                <a:spcPts val="320"/>
              </a:spcBef>
            </a:pPr>
            <a:r>
              <a:rPr sz="1000" spc="-10" dirty="0">
                <a:solidFill>
                  <a:srgbClr val="FFFFFF"/>
                </a:solidFill>
                <a:latin typeface="PMingLiU"/>
                <a:cs typeface="PMingLiU"/>
              </a:rPr>
              <a:t>多機器人協同導航</a:t>
            </a:r>
            <a:endParaRPr sz="1000">
              <a:latin typeface="PMingLiU"/>
              <a:cs typeface="PMingLiU"/>
            </a:endParaRPr>
          </a:p>
          <a:p>
            <a:pPr marL="12700">
              <a:lnSpc>
                <a:spcPct val="100000"/>
              </a:lnSpc>
              <a:spcBef>
                <a:spcPts val="204"/>
              </a:spcBef>
            </a:pPr>
            <a:r>
              <a:rPr sz="850" spc="-5" dirty="0">
                <a:solidFill>
                  <a:srgbClr val="9CA2AF"/>
                </a:solidFill>
                <a:latin typeface="PMingLiU"/>
                <a:cs typeface="PMingLiU"/>
              </a:rPr>
              <a:t>協同導航與任務分配機制，多隻機器狗共同完成大規模巡檢</a:t>
            </a:r>
            <a:endParaRPr sz="850">
              <a:latin typeface="PMingLiU"/>
              <a:cs typeface="PMingLiU"/>
            </a:endParaRPr>
          </a:p>
        </p:txBody>
      </p:sp>
      <p:sp>
        <p:nvSpPr>
          <p:cNvPr id="36" name="object 36"/>
          <p:cNvSpPr txBox="1"/>
          <p:nvPr/>
        </p:nvSpPr>
        <p:spPr>
          <a:xfrm>
            <a:off x="4948486" y="3022803"/>
            <a:ext cx="1337310" cy="283210"/>
          </a:xfrm>
          <a:prstGeom prst="rect">
            <a:avLst/>
          </a:prstGeom>
        </p:spPr>
        <p:txBody>
          <a:bodyPr vert="horz" wrap="square" lIns="0" tIns="11430" rIns="0" bIns="0" rtlCol="0">
            <a:spAutoFit/>
          </a:bodyPr>
          <a:lstStyle/>
          <a:p>
            <a:pPr marL="12700">
              <a:lnSpc>
                <a:spcPct val="100000"/>
              </a:lnSpc>
              <a:spcBef>
                <a:spcPts val="90"/>
              </a:spcBef>
            </a:pPr>
            <a:r>
              <a:rPr sz="1650" spc="-190" dirty="0">
                <a:solidFill>
                  <a:srgbClr val="FFFFFF"/>
                </a:solidFill>
                <a:latin typeface="PMingLiU"/>
                <a:cs typeface="PMingLiU"/>
              </a:rPr>
              <a:t>感</a:t>
            </a:r>
            <a:r>
              <a:rPr sz="1600" spc="-135" dirty="0">
                <a:solidFill>
                  <a:srgbClr val="FFFFFF"/>
                </a:solidFill>
                <a:latin typeface="SimSun"/>
                <a:cs typeface="SimSun"/>
              </a:rPr>
              <a:t>測</a:t>
            </a:r>
            <a:r>
              <a:rPr sz="1700" spc="-245" dirty="0">
                <a:solidFill>
                  <a:srgbClr val="FFFFFF"/>
                </a:solidFill>
                <a:latin typeface="SimSun"/>
                <a:cs typeface="SimSun"/>
              </a:rPr>
              <a:t>與</a:t>
            </a:r>
            <a:r>
              <a:rPr sz="1650" spc="-165" dirty="0">
                <a:solidFill>
                  <a:srgbClr val="FFFFFF"/>
                </a:solidFill>
                <a:latin typeface="SimSun"/>
                <a:cs typeface="SimSun"/>
              </a:rPr>
              <a:t>視覺增強</a:t>
            </a:r>
            <a:endParaRPr sz="1650">
              <a:latin typeface="SimSun"/>
              <a:cs typeface="SimSun"/>
            </a:endParaRPr>
          </a:p>
        </p:txBody>
      </p:sp>
      <p:grpSp>
        <p:nvGrpSpPr>
          <p:cNvPr id="37" name="object 37"/>
          <p:cNvGrpSpPr/>
          <p:nvPr/>
        </p:nvGrpSpPr>
        <p:grpSpPr>
          <a:xfrm>
            <a:off x="4627201" y="3484451"/>
            <a:ext cx="3587750" cy="600075"/>
            <a:chOff x="4627201" y="3484451"/>
            <a:chExt cx="3587750" cy="600075"/>
          </a:xfrm>
        </p:grpSpPr>
        <p:pic>
          <p:nvPicPr>
            <p:cNvPr id="38" name="object 38"/>
            <p:cNvPicPr/>
            <p:nvPr/>
          </p:nvPicPr>
          <p:blipFill>
            <a:blip r:embed="rId11" cstate="print"/>
            <a:stretch>
              <a:fillRect/>
            </a:stretch>
          </p:blipFill>
          <p:spPr>
            <a:xfrm>
              <a:off x="4627201" y="3484451"/>
              <a:ext cx="93668" cy="149868"/>
            </a:xfrm>
            <a:prstGeom prst="rect">
              <a:avLst/>
            </a:prstGeom>
          </p:spPr>
        </p:pic>
        <p:pic>
          <p:nvPicPr>
            <p:cNvPr id="39" name="object 39"/>
            <p:cNvPicPr/>
            <p:nvPr/>
          </p:nvPicPr>
          <p:blipFill>
            <a:blip r:embed="rId12" cstate="print"/>
            <a:stretch>
              <a:fillRect/>
            </a:stretch>
          </p:blipFill>
          <p:spPr>
            <a:xfrm>
              <a:off x="8064818" y="3484451"/>
              <a:ext cx="112401" cy="149868"/>
            </a:xfrm>
            <a:prstGeom prst="rect">
              <a:avLst/>
            </a:prstGeom>
          </p:spPr>
        </p:pic>
        <p:pic>
          <p:nvPicPr>
            <p:cNvPr id="40" name="object 40"/>
            <p:cNvPicPr/>
            <p:nvPr/>
          </p:nvPicPr>
          <p:blipFill>
            <a:blip r:embed="rId13" cstate="print"/>
            <a:stretch>
              <a:fillRect/>
            </a:stretch>
          </p:blipFill>
          <p:spPr>
            <a:xfrm>
              <a:off x="4627201" y="3934057"/>
              <a:ext cx="168602" cy="149868"/>
            </a:xfrm>
            <a:prstGeom prst="rect">
              <a:avLst/>
            </a:prstGeom>
          </p:spPr>
        </p:pic>
        <p:pic>
          <p:nvPicPr>
            <p:cNvPr id="41" name="object 41"/>
            <p:cNvPicPr/>
            <p:nvPr/>
          </p:nvPicPr>
          <p:blipFill>
            <a:blip r:embed="rId14" cstate="print"/>
            <a:stretch>
              <a:fillRect/>
            </a:stretch>
          </p:blipFill>
          <p:spPr>
            <a:xfrm>
              <a:off x="8064818" y="3934057"/>
              <a:ext cx="149868" cy="149868"/>
            </a:xfrm>
            <a:prstGeom prst="rect">
              <a:avLst/>
            </a:prstGeom>
          </p:spPr>
        </p:pic>
      </p:grpSp>
      <p:sp>
        <p:nvSpPr>
          <p:cNvPr id="42" name="object 42"/>
          <p:cNvSpPr txBox="1"/>
          <p:nvPr/>
        </p:nvSpPr>
        <p:spPr>
          <a:xfrm>
            <a:off x="4779884" y="3419609"/>
            <a:ext cx="2383790" cy="362585"/>
          </a:xfrm>
          <a:prstGeom prst="rect">
            <a:avLst/>
          </a:prstGeom>
        </p:spPr>
        <p:txBody>
          <a:bodyPr vert="horz" wrap="square" lIns="0" tIns="40640" rIns="0" bIns="0" rtlCol="0">
            <a:spAutoFit/>
          </a:bodyPr>
          <a:lstStyle/>
          <a:p>
            <a:pPr marL="12700">
              <a:lnSpc>
                <a:spcPct val="100000"/>
              </a:lnSpc>
              <a:spcBef>
                <a:spcPts val="320"/>
              </a:spcBef>
            </a:pPr>
            <a:r>
              <a:rPr sz="1000" spc="-10" dirty="0">
                <a:solidFill>
                  <a:srgbClr val="FFFFFF"/>
                </a:solidFill>
                <a:latin typeface="PMingLiU"/>
                <a:cs typeface="PMingLiU"/>
              </a:rPr>
              <a:t>熱顯像分析能力提升</a:t>
            </a:r>
            <a:endParaRPr sz="1000">
              <a:latin typeface="PMingLiU"/>
              <a:cs typeface="PMingLiU"/>
            </a:endParaRPr>
          </a:p>
          <a:p>
            <a:pPr marL="12700">
              <a:lnSpc>
                <a:spcPct val="100000"/>
              </a:lnSpc>
              <a:spcBef>
                <a:spcPts val="204"/>
              </a:spcBef>
            </a:pPr>
            <a:r>
              <a:rPr sz="850" dirty="0">
                <a:solidFill>
                  <a:srgbClr val="9CA2AF"/>
                </a:solidFill>
                <a:latin typeface="PMingLiU"/>
                <a:cs typeface="PMingLiU"/>
              </a:rPr>
              <a:t>基於</a:t>
            </a:r>
            <a:r>
              <a:rPr sz="850" spc="60" dirty="0">
                <a:solidFill>
                  <a:srgbClr val="9CA2AF"/>
                </a:solidFill>
                <a:latin typeface="Trebuchet MS"/>
                <a:cs typeface="Trebuchet MS"/>
              </a:rPr>
              <a:t>AI</a:t>
            </a:r>
            <a:r>
              <a:rPr sz="850" spc="-5" dirty="0">
                <a:solidFill>
                  <a:srgbClr val="9CA2AF"/>
                </a:solidFill>
                <a:latin typeface="PMingLiU"/>
                <a:cs typeface="PMingLiU"/>
              </a:rPr>
              <a:t>的故障模式識別，自動判斷設備過熱原因</a:t>
            </a:r>
            <a:endParaRPr sz="850">
              <a:latin typeface="PMingLiU"/>
              <a:cs typeface="PMingLiU"/>
            </a:endParaRPr>
          </a:p>
        </p:txBody>
      </p:sp>
      <p:sp>
        <p:nvSpPr>
          <p:cNvPr id="43" name="object 43"/>
          <p:cNvSpPr txBox="1"/>
          <p:nvPr/>
        </p:nvSpPr>
        <p:spPr>
          <a:xfrm>
            <a:off x="8237845" y="3419609"/>
            <a:ext cx="2945765" cy="362585"/>
          </a:xfrm>
          <a:prstGeom prst="rect">
            <a:avLst/>
          </a:prstGeom>
        </p:spPr>
        <p:txBody>
          <a:bodyPr vert="horz" wrap="square" lIns="0" tIns="40640" rIns="0" bIns="0" rtlCol="0">
            <a:spAutoFit/>
          </a:bodyPr>
          <a:lstStyle/>
          <a:p>
            <a:pPr marL="12700">
              <a:lnSpc>
                <a:spcPct val="100000"/>
              </a:lnSpc>
              <a:spcBef>
                <a:spcPts val="320"/>
              </a:spcBef>
            </a:pPr>
            <a:r>
              <a:rPr sz="1000" spc="-15" dirty="0">
                <a:solidFill>
                  <a:srgbClr val="FFFFFF"/>
                </a:solidFill>
                <a:latin typeface="PMingLiU"/>
                <a:cs typeface="PMingLiU"/>
              </a:rPr>
              <a:t>洩漏檢測</a:t>
            </a:r>
            <a:endParaRPr sz="1000">
              <a:latin typeface="PMingLiU"/>
              <a:cs typeface="PMingLiU"/>
            </a:endParaRPr>
          </a:p>
          <a:p>
            <a:pPr marL="12700">
              <a:lnSpc>
                <a:spcPct val="100000"/>
              </a:lnSpc>
              <a:spcBef>
                <a:spcPts val="204"/>
              </a:spcBef>
            </a:pPr>
            <a:r>
              <a:rPr sz="850" dirty="0">
                <a:solidFill>
                  <a:srgbClr val="9CA2AF"/>
                </a:solidFill>
                <a:latin typeface="PMingLiU"/>
                <a:cs typeface="PMingLiU"/>
              </a:rPr>
              <a:t>利用高解析度攝像頭與</a:t>
            </a:r>
            <a:r>
              <a:rPr sz="850" spc="60" dirty="0">
                <a:solidFill>
                  <a:srgbClr val="9CA2AF"/>
                </a:solidFill>
                <a:latin typeface="Trebuchet MS"/>
                <a:cs typeface="Trebuchet MS"/>
              </a:rPr>
              <a:t>AI</a:t>
            </a:r>
            <a:r>
              <a:rPr sz="850" spc="-5" dirty="0">
                <a:solidFill>
                  <a:srgbClr val="9CA2AF"/>
                </a:solidFill>
                <a:latin typeface="PMingLiU"/>
                <a:cs typeface="PMingLiU"/>
              </a:rPr>
              <a:t>影像分析，自動識別設備洩漏跡象</a:t>
            </a:r>
            <a:endParaRPr sz="850">
              <a:latin typeface="PMingLiU"/>
              <a:cs typeface="PMingLiU"/>
            </a:endParaRPr>
          </a:p>
        </p:txBody>
      </p:sp>
      <p:sp>
        <p:nvSpPr>
          <p:cNvPr id="44" name="object 44"/>
          <p:cNvSpPr txBox="1"/>
          <p:nvPr/>
        </p:nvSpPr>
        <p:spPr>
          <a:xfrm>
            <a:off x="4854818" y="3869215"/>
            <a:ext cx="2611120" cy="362585"/>
          </a:xfrm>
          <a:prstGeom prst="rect">
            <a:avLst/>
          </a:prstGeom>
        </p:spPr>
        <p:txBody>
          <a:bodyPr vert="horz" wrap="square" lIns="0" tIns="40640" rIns="0" bIns="0" rtlCol="0">
            <a:spAutoFit/>
          </a:bodyPr>
          <a:lstStyle/>
          <a:p>
            <a:pPr marL="12700">
              <a:lnSpc>
                <a:spcPct val="100000"/>
              </a:lnSpc>
              <a:spcBef>
                <a:spcPts val="320"/>
              </a:spcBef>
            </a:pPr>
            <a:r>
              <a:rPr sz="1000" spc="-10" dirty="0">
                <a:solidFill>
                  <a:srgbClr val="FFFFFF"/>
                </a:solidFill>
                <a:latin typeface="PMingLiU"/>
                <a:cs typeface="PMingLiU"/>
              </a:rPr>
              <a:t>儀表讀取與識別</a:t>
            </a:r>
            <a:endParaRPr sz="1000">
              <a:latin typeface="PMingLiU"/>
              <a:cs typeface="PMingLiU"/>
            </a:endParaRPr>
          </a:p>
          <a:p>
            <a:pPr marL="12700">
              <a:lnSpc>
                <a:spcPct val="100000"/>
              </a:lnSpc>
              <a:spcBef>
                <a:spcPts val="204"/>
              </a:spcBef>
            </a:pPr>
            <a:r>
              <a:rPr sz="850" spc="-5" dirty="0">
                <a:solidFill>
                  <a:srgbClr val="9CA2AF"/>
                </a:solidFill>
                <a:latin typeface="PMingLiU"/>
                <a:cs typeface="PMingLiU"/>
              </a:rPr>
              <a:t>自動讀取指針式或數字式儀表盤數據，識別異常讀數</a:t>
            </a:r>
            <a:endParaRPr sz="850">
              <a:latin typeface="PMingLiU"/>
              <a:cs typeface="PMingLiU"/>
            </a:endParaRPr>
          </a:p>
        </p:txBody>
      </p:sp>
      <p:sp>
        <p:nvSpPr>
          <p:cNvPr id="45" name="object 45"/>
          <p:cNvSpPr txBox="1"/>
          <p:nvPr/>
        </p:nvSpPr>
        <p:spPr>
          <a:xfrm>
            <a:off x="8275312" y="3869215"/>
            <a:ext cx="2948305" cy="362585"/>
          </a:xfrm>
          <a:prstGeom prst="rect">
            <a:avLst/>
          </a:prstGeom>
        </p:spPr>
        <p:txBody>
          <a:bodyPr vert="horz" wrap="square" lIns="0" tIns="40640" rIns="0" bIns="0" rtlCol="0">
            <a:spAutoFit/>
          </a:bodyPr>
          <a:lstStyle/>
          <a:p>
            <a:pPr marL="12700">
              <a:lnSpc>
                <a:spcPct val="100000"/>
              </a:lnSpc>
              <a:spcBef>
                <a:spcPts val="320"/>
              </a:spcBef>
            </a:pPr>
            <a:r>
              <a:rPr sz="1000" spc="-10" dirty="0">
                <a:solidFill>
                  <a:srgbClr val="FFFFFF"/>
                </a:solidFill>
                <a:latin typeface="PMingLiU"/>
                <a:cs typeface="PMingLiU"/>
              </a:rPr>
              <a:t>多感測器融合</a:t>
            </a:r>
            <a:endParaRPr sz="1000">
              <a:latin typeface="PMingLiU"/>
              <a:cs typeface="PMingLiU"/>
            </a:endParaRPr>
          </a:p>
          <a:p>
            <a:pPr marL="12700">
              <a:lnSpc>
                <a:spcPct val="100000"/>
              </a:lnSpc>
              <a:spcBef>
                <a:spcPts val="204"/>
              </a:spcBef>
            </a:pPr>
            <a:r>
              <a:rPr sz="850" spc="-5" dirty="0">
                <a:solidFill>
                  <a:srgbClr val="9CA2AF"/>
                </a:solidFill>
                <a:latin typeface="PMingLiU"/>
                <a:cs typeface="PMingLiU"/>
              </a:rPr>
              <a:t>整合氣體、聲學等多種感測器，提供更豐富的環境感知數據</a:t>
            </a:r>
            <a:endParaRPr sz="850">
              <a:latin typeface="PMingLiU"/>
              <a:cs typeface="PMingLiU"/>
            </a:endParaRPr>
          </a:p>
        </p:txBody>
      </p:sp>
      <p:sp>
        <p:nvSpPr>
          <p:cNvPr id="46" name="object 46"/>
          <p:cNvSpPr txBox="1"/>
          <p:nvPr/>
        </p:nvSpPr>
        <p:spPr>
          <a:xfrm>
            <a:off x="4948486" y="4711755"/>
            <a:ext cx="1337310" cy="280035"/>
          </a:xfrm>
          <a:prstGeom prst="rect">
            <a:avLst/>
          </a:prstGeom>
        </p:spPr>
        <p:txBody>
          <a:bodyPr vert="horz" wrap="square" lIns="0" tIns="14604" rIns="0" bIns="0" rtlCol="0">
            <a:spAutoFit/>
          </a:bodyPr>
          <a:lstStyle/>
          <a:p>
            <a:pPr marL="12700">
              <a:lnSpc>
                <a:spcPct val="100000"/>
              </a:lnSpc>
              <a:spcBef>
                <a:spcPts val="114"/>
              </a:spcBef>
            </a:pPr>
            <a:r>
              <a:rPr sz="1400" spc="70" dirty="0">
                <a:solidFill>
                  <a:srgbClr val="FFFFFF"/>
                </a:solidFill>
                <a:latin typeface="PMingLiU"/>
                <a:cs typeface="PMingLiU"/>
              </a:rPr>
              <a:t>一</a:t>
            </a:r>
            <a:r>
              <a:rPr sz="1600" spc="-135" dirty="0">
                <a:solidFill>
                  <a:srgbClr val="FFFFFF"/>
                </a:solidFill>
                <a:latin typeface="PMingLiU"/>
                <a:cs typeface="PMingLiU"/>
              </a:rPr>
              <a:t>體</a:t>
            </a:r>
            <a:r>
              <a:rPr sz="1650" spc="-190" dirty="0">
                <a:solidFill>
                  <a:srgbClr val="FFFFFF"/>
                </a:solidFill>
                <a:latin typeface="SimSun"/>
                <a:cs typeface="SimSun"/>
              </a:rPr>
              <a:t>化</a:t>
            </a:r>
            <a:r>
              <a:rPr sz="1650" spc="-190" dirty="0">
                <a:solidFill>
                  <a:srgbClr val="FFFFFF"/>
                </a:solidFill>
                <a:latin typeface="PMingLiU"/>
                <a:cs typeface="PMingLiU"/>
              </a:rPr>
              <a:t>巡</a:t>
            </a:r>
            <a:r>
              <a:rPr sz="1600" spc="-135" dirty="0">
                <a:solidFill>
                  <a:srgbClr val="FFFFFF"/>
                </a:solidFill>
                <a:latin typeface="SimSun"/>
                <a:cs typeface="SimSun"/>
              </a:rPr>
              <a:t>檢</a:t>
            </a:r>
            <a:r>
              <a:rPr sz="1550" spc="-85" dirty="0">
                <a:solidFill>
                  <a:srgbClr val="FFFFFF"/>
                </a:solidFill>
                <a:latin typeface="PMingLiU"/>
                <a:cs typeface="PMingLiU"/>
              </a:rPr>
              <a:t>平</a:t>
            </a:r>
            <a:r>
              <a:rPr sz="1650" spc="-100" dirty="0">
                <a:solidFill>
                  <a:srgbClr val="FFFFFF"/>
                </a:solidFill>
                <a:latin typeface="SimSun"/>
                <a:cs typeface="SimSun"/>
              </a:rPr>
              <a:t>台</a:t>
            </a:r>
            <a:endParaRPr sz="1650">
              <a:latin typeface="SimSun"/>
              <a:cs typeface="SimSun"/>
            </a:endParaRPr>
          </a:p>
        </p:txBody>
      </p:sp>
      <p:grpSp>
        <p:nvGrpSpPr>
          <p:cNvPr id="47" name="object 47"/>
          <p:cNvGrpSpPr/>
          <p:nvPr/>
        </p:nvGrpSpPr>
        <p:grpSpPr>
          <a:xfrm>
            <a:off x="4627201" y="5170476"/>
            <a:ext cx="3587750" cy="600075"/>
            <a:chOff x="4627201" y="5170476"/>
            <a:chExt cx="3587750" cy="600075"/>
          </a:xfrm>
        </p:grpSpPr>
        <p:pic>
          <p:nvPicPr>
            <p:cNvPr id="48" name="object 48"/>
            <p:cNvPicPr/>
            <p:nvPr/>
          </p:nvPicPr>
          <p:blipFill>
            <a:blip r:embed="rId15" cstate="print"/>
            <a:stretch>
              <a:fillRect/>
            </a:stretch>
          </p:blipFill>
          <p:spPr>
            <a:xfrm>
              <a:off x="4627201" y="5170476"/>
              <a:ext cx="149868" cy="149868"/>
            </a:xfrm>
            <a:prstGeom prst="rect">
              <a:avLst/>
            </a:prstGeom>
          </p:spPr>
        </p:pic>
        <p:pic>
          <p:nvPicPr>
            <p:cNvPr id="49" name="object 49"/>
            <p:cNvPicPr/>
            <p:nvPr/>
          </p:nvPicPr>
          <p:blipFill>
            <a:blip r:embed="rId16" cstate="print"/>
            <a:stretch>
              <a:fillRect/>
            </a:stretch>
          </p:blipFill>
          <p:spPr>
            <a:xfrm>
              <a:off x="8064818" y="5170476"/>
              <a:ext cx="149868" cy="149868"/>
            </a:xfrm>
            <a:prstGeom prst="rect">
              <a:avLst/>
            </a:prstGeom>
          </p:spPr>
        </p:pic>
        <p:pic>
          <p:nvPicPr>
            <p:cNvPr id="50" name="object 50"/>
            <p:cNvPicPr/>
            <p:nvPr/>
          </p:nvPicPr>
          <p:blipFill>
            <a:blip r:embed="rId17" cstate="print"/>
            <a:stretch>
              <a:fillRect/>
            </a:stretch>
          </p:blipFill>
          <p:spPr>
            <a:xfrm>
              <a:off x="8064818" y="5620082"/>
              <a:ext cx="112401" cy="149868"/>
            </a:xfrm>
            <a:prstGeom prst="rect">
              <a:avLst/>
            </a:prstGeom>
          </p:spPr>
        </p:pic>
      </p:grpSp>
      <p:sp>
        <p:nvSpPr>
          <p:cNvPr id="51" name="object 51"/>
          <p:cNvSpPr txBox="1"/>
          <p:nvPr/>
        </p:nvSpPr>
        <p:spPr>
          <a:xfrm>
            <a:off x="4836085" y="5105634"/>
            <a:ext cx="2948305" cy="362585"/>
          </a:xfrm>
          <a:prstGeom prst="rect">
            <a:avLst/>
          </a:prstGeom>
        </p:spPr>
        <p:txBody>
          <a:bodyPr vert="horz" wrap="square" lIns="0" tIns="40640" rIns="0" bIns="0" rtlCol="0">
            <a:spAutoFit/>
          </a:bodyPr>
          <a:lstStyle/>
          <a:p>
            <a:pPr marL="12700">
              <a:lnSpc>
                <a:spcPct val="100000"/>
              </a:lnSpc>
              <a:spcBef>
                <a:spcPts val="320"/>
              </a:spcBef>
            </a:pPr>
            <a:r>
              <a:rPr sz="1000" spc="-10" dirty="0">
                <a:solidFill>
                  <a:srgbClr val="FFFFFF"/>
                </a:solidFill>
                <a:latin typeface="PMingLiU"/>
                <a:cs typeface="PMingLiU"/>
              </a:rPr>
              <a:t>雲端一體化管理平台</a:t>
            </a:r>
            <a:endParaRPr sz="1000">
              <a:latin typeface="PMingLiU"/>
              <a:cs typeface="PMingLiU"/>
            </a:endParaRPr>
          </a:p>
          <a:p>
            <a:pPr marL="12700">
              <a:lnSpc>
                <a:spcPct val="100000"/>
              </a:lnSpc>
              <a:spcBef>
                <a:spcPts val="204"/>
              </a:spcBef>
            </a:pPr>
            <a:r>
              <a:rPr sz="850" spc="-5" dirty="0">
                <a:solidFill>
                  <a:srgbClr val="9CA2AF"/>
                </a:solidFill>
                <a:latin typeface="PMingLiU"/>
                <a:cs typeface="PMingLiU"/>
              </a:rPr>
              <a:t>作為機器狗巡檢系統的「大腦」，提供全面監控與分析功能</a:t>
            </a:r>
            <a:endParaRPr sz="850">
              <a:latin typeface="PMingLiU"/>
              <a:cs typeface="PMingLiU"/>
            </a:endParaRPr>
          </a:p>
        </p:txBody>
      </p:sp>
      <p:sp>
        <p:nvSpPr>
          <p:cNvPr id="55" name="object 55"/>
          <p:cNvSpPr txBox="1">
            <a:spLocks noGrp="1"/>
          </p:cNvSpPr>
          <p:nvPr>
            <p:ph type="ftr" sz="quarter" idx="5"/>
          </p:nvPr>
        </p:nvSpPr>
        <p:spPr>
          <a:prstGeom prst="rect">
            <a:avLst/>
          </a:prstGeom>
        </p:spPr>
        <p:txBody>
          <a:bodyPr vert="horz" wrap="square" lIns="0" tIns="12065" rIns="0" bIns="0" rtlCol="0">
            <a:spAutoFit/>
          </a:bodyPr>
          <a:lstStyle/>
          <a:p>
            <a:pPr marL="12700">
              <a:lnSpc>
                <a:spcPct val="100000"/>
              </a:lnSpc>
              <a:spcBef>
                <a:spcPts val="95"/>
              </a:spcBef>
            </a:pPr>
            <a:r>
              <a:rPr dirty="0">
                <a:latin typeface="PMingLiU"/>
                <a:cs typeface="PMingLiU"/>
              </a:rPr>
              <a:t>報告日期</a:t>
            </a:r>
            <a:r>
              <a:rPr spc="75" dirty="0"/>
              <a:t>: </a:t>
            </a:r>
            <a:r>
              <a:rPr spc="100" dirty="0"/>
              <a:t>2025-</a:t>
            </a:r>
            <a:r>
              <a:rPr spc="95" dirty="0"/>
              <a:t>09-</a:t>
            </a:r>
            <a:r>
              <a:rPr spc="85" dirty="0"/>
              <a:t>09</a:t>
            </a:r>
          </a:p>
        </p:txBody>
      </p:sp>
      <p:sp>
        <p:nvSpPr>
          <p:cNvPr id="52" name="object 52"/>
          <p:cNvSpPr txBox="1"/>
          <p:nvPr/>
        </p:nvSpPr>
        <p:spPr>
          <a:xfrm>
            <a:off x="8275312" y="5105634"/>
            <a:ext cx="2498725" cy="362585"/>
          </a:xfrm>
          <a:prstGeom prst="rect">
            <a:avLst/>
          </a:prstGeom>
        </p:spPr>
        <p:txBody>
          <a:bodyPr vert="horz" wrap="square" lIns="0" tIns="40640" rIns="0" bIns="0" rtlCol="0">
            <a:spAutoFit/>
          </a:bodyPr>
          <a:lstStyle/>
          <a:p>
            <a:pPr marL="12700">
              <a:lnSpc>
                <a:spcPct val="100000"/>
              </a:lnSpc>
              <a:spcBef>
                <a:spcPts val="320"/>
              </a:spcBef>
            </a:pPr>
            <a:r>
              <a:rPr sz="1000" spc="-5" dirty="0">
                <a:solidFill>
                  <a:srgbClr val="FFFFFF"/>
                </a:solidFill>
                <a:latin typeface="PMingLiU"/>
                <a:cs typeface="PMingLiU"/>
              </a:rPr>
              <a:t>多機器人協同任務調度</a:t>
            </a:r>
            <a:endParaRPr sz="1000">
              <a:latin typeface="PMingLiU"/>
              <a:cs typeface="PMingLiU"/>
            </a:endParaRPr>
          </a:p>
          <a:p>
            <a:pPr marL="12700">
              <a:lnSpc>
                <a:spcPct val="100000"/>
              </a:lnSpc>
              <a:spcBef>
                <a:spcPts val="204"/>
              </a:spcBef>
            </a:pPr>
            <a:r>
              <a:rPr sz="850" spc="-5" dirty="0">
                <a:solidFill>
                  <a:srgbClr val="9CA2AF"/>
                </a:solidFill>
                <a:latin typeface="PMingLiU"/>
                <a:cs typeface="PMingLiU"/>
              </a:rPr>
              <a:t>支援多機器人協同作業，單一介面下分配監控任務</a:t>
            </a:r>
            <a:endParaRPr sz="850">
              <a:latin typeface="PMingLiU"/>
              <a:cs typeface="PMingLiU"/>
            </a:endParaRPr>
          </a:p>
        </p:txBody>
      </p:sp>
      <p:sp>
        <p:nvSpPr>
          <p:cNvPr id="53" name="object 53"/>
          <p:cNvSpPr txBox="1"/>
          <p:nvPr/>
        </p:nvSpPr>
        <p:spPr>
          <a:xfrm>
            <a:off x="4686216" y="5555240"/>
            <a:ext cx="2386330" cy="362585"/>
          </a:xfrm>
          <a:prstGeom prst="rect">
            <a:avLst/>
          </a:prstGeom>
        </p:spPr>
        <p:txBody>
          <a:bodyPr vert="horz" wrap="square" lIns="0" tIns="40640" rIns="0" bIns="0" rtlCol="0">
            <a:spAutoFit/>
          </a:bodyPr>
          <a:lstStyle/>
          <a:p>
            <a:pPr marL="12700">
              <a:lnSpc>
                <a:spcPct val="100000"/>
              </a:lnSpc>
              <a:spcBef>
                <a:spcPts val="320"/>
              </a:spcBef>
            </a:pPr>
            <a:r>
              <a:rPr sz="1000" spc="-10" dirty="0">
                <a:solidFill>
                  <a:srgbClr val="FFFFFF"/>
                </a:solidFill>
                <a:latin typeface="PMingLiU"/>
                <a:cs typeface="PMingLiU"/>
              </a:rPr>
              <a:t>強大數據分析能力</a:t>
            </a:r>
            <a:endParaRPr sz="1000">
              <a:latin typeface="PMingLiU"/>
              <a:cs typeface="PMingLiU"/>
            </a:endParaRPr>
          </a:p>
          <a:p>
            <a:pPr marL="12700">
              <a:lnSpc>
                <a:spcPct val="100000"/>
              </a:lnSpc>
              <a:spcBef>
                <a:spcPts val="204"/>
              </a:spcBef>
            </a:pPr>
            <a:r>
              <a:rPr sz="850" spc="-5" dirty="0">
                <a:solidFill>
                  <a:srgbClr val="9CA2AF"/>
                </a:solidFill>
                <a:latin typeface="PMingLiU"/>
                <a:cs typeface="PMingLiU"/>
              </a:rPr>
              <a:t>深度學習與趨勢分析，自動生成預測性維護建議</a:t>
            </a:r>
            <a:endParaRPr sz="850">
              <a:latin typeface="PMingLiU"/>
              <a:cs typeface="PMingLiU"/>
            </a:endParaRPr>
          </a:p>
        </p:txBody>
      </p:sp>
      <p:sp>
        <p:nvSpPr>
          <p:cNvPr id="54" name="object 54"/>
          <p:cNvSpPr txBox="1"/>
          <p:nvPr/>
        </p:nvSpPr>
        <p:spPr>
          <a:xfrm>
            <a:off x="8237845" y="5555240"/>
            <a:ext cx="2049145" cy="362585"/>
          </a:xfrm>
          <a:prstGeom prst="rect">
            <a:avLst/>
          </a:prstGeom>
        </p:spPr>
        <p:txBody>
          <a:bodyPr vert="horz" wrap="square" lIns="0" tIns="40640" rIns="0" bIns="0" rtlCol="0">
            <a:spAutoFit/>
          </a:bodyPr>
          <a:lstStyle/>
          <a:p>
            <a:pPr marL="12700">
              <a:lnSpc>
                <a:spcPct val="100000"/>
              </a:lnSpc>
              <a:spcBef>
                <a:spcPts val="320"/>
              </a:spcBef>
            </a:pPr>
            <a:r>
              <a:rPr sz="1000" dirty="0">
                <a:solidFill>
                  <a:srgbClr val="FFFFFF"/>
                </a:solidFill>
                <a:latin typeface="PMingLiU"/>
                <a:cs typeface="PMingLiU"/>
              </a:rPr>
              <a:t>標準化</a:t>
            </a:r>
            <a:r>
              <a:rPr sz="1000" spc="65" dirty="0">
                <a:solidFill>
                  <a:srgbClr val="FFFFFF"/>
                </a:solidFill>
                <a:latin typeface="Trebuchet MS"/>
                <a:cs typeface="Trebuchet MS"/>
              </a:rPr>
              <a:t>API</a:t>
            </a:r>
            <a:r>
              <a:rPr sz="1000" spc="-25" dirty="0">
                <a:solidFill>
                  <a:srgbClr val="FFFFFF"/>
                </a:solidFill>
                <a:latin typeface="PMingLiU"/>
                <a:cs typeface="PMingLiU"/>
              </a:rPr>
              <a:t>介面</a:t>
            </a:r>
            <a:endParaRPr sz="1000">
              <a:latin typeface="PMingLiU"/>
              <a:cs typeface="PMingLiU"/>
            </a:endParaRPr>
          </a:p>
          <a:p>
            <a:pPr marL="12700">
              <a:lnSpc>
                <a:spcPct val="100000"/>
              </a:lnSpc>
              <a:spcBef>
                <a:spcPts val="204"/>
              </a:spcBef>
            </a:pPr>
            <a:r>
              <a:rPr sz="850" spc="-5" dirty="0">
                <a:solidFill>
                  <a:srgbClr val="9CA2AF"/>
                </a:solidFill>
                <a:latin typeface="PMingLiU"/>
                <a:cs typeface="PMingLiU"/>
              </a:rPr>
              <a:t>與現有工單系統、倉儲管理系統無縫整合</a:t>
            </a:r>
            <a:endParaRPr sz="850">
              <a:latin typeface="PMingLiU"/>
              <a:cs typeface="PMingLiU"/>
            </a:endParaRPr>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955</TotalTime>
  <Words>676</Words>
  <Application>Microsoft Office PowerPoint</Application>
  <PresentationFormat>寬螢幕</PresentationFormat>
  <Paragraphs>159</Paragraphs>
  <Slides>7</Slides>
  <Notes>0</Notes>
  <HiddenSlides>1</HiddenSlides>
  <MMClips>0</MMClips>
  <ScaleCrop>false</ScaleCrop>
  <HeadingPairs>
    <vt:vector size="6" baseType="variant">
      <vt:variant>
        <vt:lpstr>使用字型</vt:lpstr>
      </vt:variant>
      <vt:variant>
        <vt:i4>12</vt:i4>
      </vt:variant>
      <vt:variant>
        <vt:lpstr>佈景主題</vt:lpstr>
      </vt:variant>
      <vt:variant>
        <vt:i4>1</vt:i4>
      </vt:variant>
      <vt:variant>
        <vt:lpstr>投影片標題</vt:lpstr>
      </vt:variant>
      <vt:variant>
        <vt:i4>7</vt:i4>
      </vt:variant>
    </vt:vector>
  </HeadingPairs>
  <TitlesOfParts>
    <vt:vector size="20" baseType="lpstr">
      <vt:lpstr>Host Grotesk Medium</vt:lpstr>
      <vt:lpstr>Noto Sans TC</vt:lpstr>
      <vt:lpstr>Roboto</vt:lpstr>
      <vt:lpstr>SimSun</vt:lpstr>
      <vt:lpstr>Unbounded</vt:lpstr>
      <vt:lpstr>新細明體</vt:lpstr>
      <vt:lpstr>新細明體</vt:lpstr>
      <vt:lpstr>Arial</vt:lpstr>
      <vt:lpstr>Calibri</vt:lpstr>
      <vt:lpstr>Calibri Light</vt:lpstr>
      <vt:lpstr>Gill Sans MT</vt:lpstr>
      <vt:lpstr>Trebuchet MS</vt:lpstr>
      <vt:lpstr>Office 佈景主題</vt:lpstr>
      <vt:lpstr>PowerPoint 簡報</vt:lpstr>
      <vt:lpstr>PowerPoint 簡報</vt:lpstr>
      <vt:lpstr>PowerPoint 簡報</vt:lpstr>
      <vt:lpstr>PowerPoint 簡報</vt:lpstr>
      <vt:lpstr>機器狗巡檢功能技術開發</vt:lpstr>
      <vt:lpstr>倉庫巡檢需求分析</vt:lpstr>
      <vt:lpstr>未來技術開發計劃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Chen灑脫如風 淡薄如雲</dc:creator>
  <cp:lastModifiedBy>Chen灑脫如風 淡薄如雲</cp:lastModifiedBy>
  <cp:revision>35</cp:revision>
  <dcterms:created xsi:type="dcterms:W3CDTF">2025-09-10T07:38:35Z</dcterms:created>
  <dcterms:modified xsi:type="dcterms:W3CDTF">2025-09-11T06:51:45Z</dcterms:modified>
</cp:coreProperties>
</file>