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1"/>
  </p:sldMasterIdLst>
  <p:notesMasterIdLst>
    <p:notesMasterId r:id="rId15"/>
  </p:notesMasterIdLst>
  <p:handoutMasterIdLst>
    <p:handoutMasterId r:id="rId16"/>
  </p:handoutMasterIdLst>
  <p:sldIdLst>
    <p:sldId id="2147473215" r:id="rId2"/>
    <p:sldId id="2147473762" r:id="rId3"/>
    <p:sldId id="2147473984" r:id="rId4"/>
    <p:sldId id="2147473822" r:id="rId5"/>
    <p:sldId id="2147473823" r:id="rId6"/>
    <p:sldId id="2147473825" r:id="rId7"/>
    <p:sldId id="2147473826" r:id="rId8"/>
    <p:sldId id="2147473824" r:id="rId9"/>
    <p:sldId id="2147473828" r:id="rId10"/>
    <p:sldId id="2147473988" r:id="rId11"/>
    <p:sldId id="574" r:id="rId12"/>
    <p:sldId id="578" r:id="rId13"/>
    <p:sldId id="2147473986" r:id="rId14"/>
  </p:sldIdLst>
  <p:sldSz cx="9144000" cy="5143500" type="screen16x9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DAB08F58-1FAF-4E81-9262-E3FB6EC8AA31}">
          <p14:sldIdLst/>
        </p14:section>
        <p14:section name="L5A 自動剝片" id="{1FD6B641-875D-4F64-B395-4FCAED51009F}">
          <p14:sldIdLst>
            <p14:sldId id="2147473215"/>
            <p14:sldId id="2147473762"/>
            <p14:sldId id="2147473984"/>
            <p14:sldId id="2147473822"/>
            <p14:sldId id="2147473823"/>
            <p14:sldId id="2147473825"/>
            <p14:sldId id="2147473826"/>
            <p14:sldId id="2147473824"/>
            <p14:sldId id="2147473828"/>
            <p14:sldId id="2147473988"/>
            <p14:sldId id="574"/>
            <p14:sldId id="578"/>
            <p14:sldId id="214747398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D9393"/>
    <a:srgbClr val="FF0000"/>
    <a:srgbClr val="FFE664"/>
    <a:srgbClr val="000000"/>
    <a:srgbClr val="999999"/>
    <a:srgbClr val="FFFFFF"/>
    <a:srgbClr val="FFC000"/>
    <a:srgbClr val="F5F5F5"/>
    <a:srgbClr val="F9FAF9"/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淺色樣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8B1032C-EA38-4F05-BA0D-38AFFFC7BED3}" styleName="淺色樣式 3 - 輔色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D083AE6-46FA-4A59-8FB0-9F97EB10719F}" styleName="淺色樣式 3 - 輔色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012ECD-51FC-41F1-AA8D-1B2483CD663E}" styleName="淺色樣式 2 - 輔色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淺色樣式 1 - 輔色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2833802-FEF1-4C79-8D5D-14CF1EAF98D9}" styleName="淺色樣式 2 - 輔色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B301B821-A1FF-4177-AEE7-76D212191A09}" styleName="中等深淺樣式 1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8799B23B-EC83-4686-B30A-512413B5E67A}" styleName="淺色樣式 3 - 輔色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7AC3CCA-C797-4891-BE02-D94E43425B78}" styleName="中等深淺樣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中等深淺樣式 3 - 輔色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中等深淺樣式 1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淺色樣式 2 - 輔色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淺色樣式 1 - 輔色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083E6E3-FA7D-4D7B-A595-EF9225AFEA82}" styleName="淺色樣式 1 - 輔色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E9639D4-E3E2-4D34-9284-5A2195B3D0D7}" styleName="淺色樣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中等深淺樣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8FB837D-C827-4EFA-A057-4D05807E0F7C}" styleName="佈景主題樣式 1 - 輔色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88874" autoAdjust="0"/>
  </p:normalViewPr>
  <p:slideViewPr>
    <p:cSldViewPr snapToGrid="0" showGuides="1">
      <p:cViewPr varScale="1">
        <p:scale>
          <a:sx n="125" d="100"/>
          <a:sy n="125" d="100"/>
        </p:scale>
        <p:origin x="426" y="96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54" d="100"/>
          <a:sy n="54" d="100"/>
        </p:scale>
        <p:origin x="256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工作表3!$C$1</c:f>
              <c:strCache>
                <c:ptCount val="1"/>
                <c:pt idx="0">
                  <c:v>片數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工作表3!$A$2:$B$7</c:f>
              <c:strCache>
                <c:ptCount val="6"/>
                <c:pt idx="0">
                  <c:v>5月4日</c:v>
                </c:pt>
                <c:pt idx="1">
                  <c:v>6月12日</c:v>
                </c:pt>
                <c:pt idx="2">
                  <c:v>6月15日</c:v>
                </c:pt>
                <c:pt idx="3">
                  <c:v>6月23日</c:v>
                </c:pt>
                <c:pt idx="4">
                  <c:v>7月1日</c:v>
                </c:pt>
                <c:pt idx="5">
                  <c:v>TBD</c:v>
                </c:pt>
              </c:strCache>
            </c:strRef>
          </c:cat>
          <c:val>
            <c:numRef>
              <c:f>工作表3!$C$2:$C$7</c:f>
              <c:numCache>
                <c:formatCode>General</c:formatCode>
                <c:ptCount val="6"/>
                <c:pt idx="0">
                  <c:v>3</c:v>
                </c:pt>
                <c:pt idx="1">
                  <c:v>13</c:v>
                </c:pt>
                <c:pt idx="2">
                  <c:v>12</c:v>
                </c:pt>
                <c:pt idx="3">
                  <c:v>10</c:v>
                </c:pt>
                <c:pt idx="4">
                  <c:v>32</c:v>
                </c:pt>
                <c:pt idx="5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658-41D2-9CCF-EECE8AC43C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-304546144"/>
        <c:axId val="-304543968"/>
      </c:barChart>
      <c:lineChart>
        <c:grouping val="standard"/>
        <c:varyColors val="0"/>
        <c:ser>
          <c:idx val="1"/>
          <c:order val="1"/>
          <c:tx>
            <c:strRef>
              <c:f>工作表3!$D$1</c:f>
              <c:strCache>
                <c:ptCount val="1"/>
                <c:pt idx="0">
                  <c:v>成功率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>
                <a:solidFill>
                  <a:schemeClr val="accent2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strRef>
              <c:f>工作表3!$A$2:$B$7</c:f>
              <c:strCache>
                <c:ptCount val="6"/>
                <c:pt idx="0">
                  <c:v>5月4日</c:v>
                </c:pt>
                <c:pt idx="1">
                  <c:v>6月12日</c:v>
                </c:pt>
                <c:pt idx="2">
                  <c:v>6月15日</c:v>
                </c:pt>
                <c:pt idx="3">
                  <c:v>6月23日</c:v>
                </c:pt>
                <c:pt idx="4">
                  <c:v>7月1日</c:v>
                </c:pt>
                <c:pt idx="5">
                  <c:v>TBD</c:v>
                </c:pt>
              </c:strCache>
            </c:strRef>
          </c:cat>
          <c:val>
            <c:numRef>
              <c:f>工作表3!$D$2:$D$7</c:f>
              <c:numCache>
                <c:formatCode>0.00%</c:formatCode>
                <c:ptCount val="6"/>
                <c:pt idx="0">
                  <c:v>0</c:v>
                </c:pt>
                <c:pt idx="1">
                  <c:v>0.55555555555555558</c:v>
                </c:pt>
                <c:pt idx="2">
                  <c:v>0.66666666666666663</c:v>
                </c:pt>
                <c:pt idx="3">
                  <c:v>0.5</c:v>
                </c:pt>
                <c:pt idx="4">
                  <c:v>0.875</c:v>
                </c:pt>
                <c:pt idx="5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658-41D2-9CCF-EECE8AC43C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570116176"/>
        <c:axId val="-304541792"/>
      </c:lineChart>
      <c:catAx>
        <c:axId val="-3045461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-304543968"/>
        <c:crosses val="autoZero"/>
        <c:auto val="0"/>
        <c:lblAlgn val="ctr"/>
        <c:lblOffset val="100"/>
        <c:noMultiLvlLbl val="1"/>
      </c:catAx>
      <c:valAx>
        <c:axId val="-3045439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-304546144"/>
        <c:crosses val="autoZero"/>
        <c:crossBetween val="between"/>
      </c:valAx>
      <c:valAx>
        <c:axId val="-304541792"/>
        <c:scaling>
          <c:orientation val="minMax"/>
          <c:max val="1"/>
        </c:scaling>
        <c:delete val="0"/>
        <c:axPos val="r"/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-570116176"/>
        <c:crosses val="max"/>
        <c:crossBetween val="between"/>
        <c:majorUnit val="0.2"/>
      </c:valAx>
      <c:catAx>
        <c:axId val="-57011617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-304541792"/>
        <c:crosses val="autoZero"/>
        <c:auto val="1"/>
        <c:lblAlgn val="ctr"/>
        <c:lblOffset val="100"/>
        <c:noMultiLvlLbl val="1"/>
      </c:catAx>
      <c:spPr>
        <a:noFill/>
        <a:ln>
          <a:noFill/>
        </a:ln>
        <a:effectLst/>
      </c:spPr>
    </c:plotArea>
    <c:legend>
      <c:legendPos val="l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000"/>
      </a:pPr>
      <a:endParaRPr lang="zh-TW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0319717847769025E-2"/>
          <c:y val="0.17300024606299216"/>
          <c:w val="0.8824543963254593"/>
          <c:h val="0.6267165354330708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片數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工作表1!$A$2:$A$9</c:f>
              <c:numCache>
                <c:formatCode>m"月"d"日"</c:formatCode>
                <c:ptCount val="7"/>
                <c:pt idx="0">
                  <c:v>46146</c:v>
                </c:pt>
                <c:pt idx="1">
                  <c:v>46188</c:v>
                </c:pt>
                <c:pt idx="2">
                  <c:v>46196</c:v>
                </c:pt>
                <c:pt idx="3">
                  <c:v>46215</c:v>
                </c:pt>
                <c:pt idx="4">
                  <c:v>46229</c:v>
                </c:pt>
                <c:pt idx="5">
                  <c:v>46241</c:v>
                </c:pt>
                <c:pt idx="6">
                  <c:v>46246</c:v>
                </c:pt>
              </c:numCache>
            </c:numRef>
          </c:cat>
          <c:val>
            <c:numRef>
              <c:f>工作表1!$B$2:$B$9</c:f>
              <c:numCache>
                <c:formatCode>General</c:formatCode>
                <c:ptCount val="7"/>
                <c:pt idx="0">
                  <c:v>5</c:v>
                </c:pt>
                <c:pt idx="1">
                  <c:v>5</c:v>
                </c:pt>
                <c:pt idx="2">
                  <c:v>10</c:v>
                </c:pt>
                <c:pt idx="3">
                  <c:v>10</c:v>
                </c:pt>
                <c:pt idx="4">
                  <c:v>10</c:v>
                </c:pt>
                <c:pt idx="5">
                  <c:v>15</c:v>
                </c:pt>
                <c:pt idx="6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3E-4ABE-ADC0-C476C12EDD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47"/>
        <c:axId val="-570114544"/>
        <c:axId val="-570104208"/>
      </c:barChart>
      <c:lineChart>
        <c:grouping val="standard"/>
        <c:varyColors val="0"/>
        <c:ser>
          <c:idx val="1"/>
          <c:order val="1"/>
          <c:tx>
            <c:strRef>
              <c:f>工作表1!$C$1</c:f>
              <c:strCache>
                <c:ptCount val="1"/>
                <c:pt idx="0">
                  <c:v>成功率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>
                <a:solidFill>
                  <a:schemeClr val="accent2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numRef>
              <c:f>工作表1!$A$2:$A$9</c:f>
              <c:numCache>
                <c:formatCode>m"月"d"日"</c:formatCode>
                <c:ptCount val="7"/>
                <c:pt idx="0">
                  <c:v>46146</c:v>
                </c:pt>
                <c:pt idx="1">
                  <c:v>46188</c:v>
                </c:pt>
                <c:pt idx="2">
                  <c:v>46196</c:v>
                </c:pt>
                <c:pt idx="3">
                  <c:v>46215</c:v>
                </c:pt>
                <c:pt idx="4">
                  <c:v>46229</c:v>
                </c:pt>
                <c:pt idx="5">
                  <c:v>46241</c:v>
                </c:pt>
                <c:pt idx="6">
                  <c:v>46246</c:v>
                </c:pt>
              </c:numCache>
            </c:numRef>
          </c:cat>
          <c:val>
            <c:numRef>
              <c:f>工作表1!$C$2:$C$9</c:f>
              <c:numCache>
                <c:formatCode>0.00_ </c:formatCode>
                <c:ptCount val="7"/>
                <c:pt idx="0">
                  <c:v>0</c:v>
                </c:pt>
                <c:pt idx="1">
                  <c:v>0.15</c:v>
                </c:pt>
                <c:pt idx="2">
                  <c:v>0.33329999999999999</c:v>
                </c:pt>
                <c:pt idx="3">
                  <c:v>0.67</c:v>
                </c:pt>
                <c:pt idx="4">
                  <c:v>0.52</c:v>
                </c:pt>
                <c:pt idx="5">
                  <c:v>0.83</c:v>
                </c:pt>
                <c:pt idx="6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F3E-4ABE-ADC0-C476C12EDD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570109104"/>
        <c:axId val="-570105840"/>
      </c:lineChart>
      <c:catAx>
        <c:axId val="-570114544"/>
        <c:scaling>
          <c:orientation val="minMax"/>
        </c:scaling>
        <c:delete val="0"/>
        <c:axPos val="b"/>
        <c:numFmt formatCode="m&quot;月&quot;d&quot;日&quot;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-570104208"/>
        <c:crosses val="autoZero"/>
        <c:auto val="0"/>
        <c:lblAlgn val="ctr"/>
        <c:lblOffset val="100"/>
        <c:noMultiLvlLbl val="0"/>
      </c:catAx>
      <c:valAx>
        <c:axId val="-570104208"/>
        <c:scaling>
          <c:orientation val="minMax"/>
          <c:max val="4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-570114544"/>
        <c:crosses val="autoZero"/>
        <c:crossBetween val="between"/>
      </c:valAx>
      <c:valAx>
        <c:axId val="-570105840"/>
        <c:scaling>
          <c:orientation val="minMax"/>
          <c:max val="1.2"/>
          <c:min val="0"/>
        </c:scaling>
        <c:delete val="0"/>
        <c:axPos val="r"/>
        <c:numFmt formatCode="0.0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-570109104"/>
        <c:crosses val="max"/>
        <c:crossBetween val="between"/>
      </c:valAx>
      <c:dateAx>
        <c:axId val="-570109104"/>
        <c:scaling>
          <c:orientation val="minMax"/>
        </c:scaling>
        <c:delete val="1"/>
        <c:axPos val="b"/>
        <c:numFmt formatCode="m&quot;月&quot;d&quot;日&quot;" sourceLinked="1"/>
        <c:majorTickMark val="out"/>
        <c:minorTickMark val="none"/>
        <c:tickLblPos val="nextTo"/>
        <c:crossAx val="-570105840"/>
        <c:crosses val="autoZero"/>
        <c:auto val="1"/>
        <c:lblOffset val="100"/>
        <c:baseTimeUnit val="days"/>
        <c:majorUnit val="1"/>
        <c:minorUnit val="1"/>
      </c:date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5.2525968573413392E-2"/>
          <c:y val="3.0321334520719976E-2"/>
          <c:w val="0.5929034129029066"/>
          <c:h val="8.035153647990793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工作表3!$J$1</c:f>
              <c:strCache>
                <c:ptCount val="1"/>
                <c:pt idx="0">
                  <c:v>片數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工作表3!$H$2:$H$4</c:f>
              <c:numCache>
                <c:formatCode>m"月"d"日"</c:formatCode>
                <c:ptCount val="3"/>
                <c:pt idx="0">
                  <c:v>46146</c:v>
                </c:pt>
                <c:pt idx="1">
                  <c:v>46246</c:v>
                </c:pt>
                <c:pt idx="2">
                  <c:v>46253</c:v>
                </c:pt>
              </c:numCache>
            </c:numRef>
          </c:cat>
          <c:val>
            <c:numRef>
              <c:f>工作表3!$J$2:$J$4</c:f>
              <c:numCache>
                <c:formatCode>General</c:formatCode>
                <c:ptCount val="3"/>
                <c:pt idx="0">
                  <c:v>3</c:v>
                </c:pt>
                <c:pt idx="1">
                  <c:v>8</c:v>
                </c:pt>
                <c:pt idx="2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EE1-44E3-BD35-955767535A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-570108560"/>
        <c:axId val="-570105296"/>
      </c:barChart>
      <c:lineChart>
        <c:grouping val="standard"/>
        <c:varyColors val="0"/>
        <c:ser>
          <c:idx val="1"/>
          <c:order val="1"/>
          <c:tx>
            <c:strRef>
              <c:f>工作表3!$K$1</c:f>
              <c:strCache>
                <c:ptCount val="1"/>
                <c:pt idx="0">
                  <c:v>成功率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工作表3!$H$2:$I$3</c:f>
              <c:multiLvlStrCache>
                <c:ptCount val="2"/>
                <c:lvl>
                  <c:pt idx="0">
                    <c:v>J-CUT</c:v>
                  </c:pt>
                  <c:pt idx="1">
                    <c:v>J-CUT</c:v>
                  </c:pt>
                </c:lvl>
                <c:lvl>
                  <c:pt idx="0">
                    <c:v>5月4日</c:v>
                  </c:pt>
                  <c:pt idx="1">
                    <c:v>8月12日</c:v>
                  </c:pt>
                </c:lvl>
              </c:multiLvlStrCache>
            </c:multiLvlStrRef>
          </c:cat>
          <c:val>
            <c:numRef>
              <c:f>工作表3!$K$2:$K$4</c:f>
              <c:numCache>
                <c:formatCode>0.00%</c:formatCode>
                <c:ptCount val="3"/>
                <c:pt idx="0">
                  <c:v>0</c:v>
                </c:pt>
                <c:pt idx="1">
                  <c:v>0.625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EE1-44E3-BD35-955767535A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570102576"/>
        <c:axId val="-570107472"/>
      </c:lineChart>
      <c:catAx>
        <c:axId val="-570108560"/>
        <c:scaling>
          <c:orientation val="minMax"/>
        </c:scaling>
        <c:delete val="0"/>
        <c:axPos val="b"/>
        <c:numFmt formatCode="m&quot;月&quot;d&quot;日&quot;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-570105296"/>
        <c:crosses val="autoZero"/>
        <c:auto val="0"/>
        <c:lblAlgn val="ctr"/>
        <c:lblOffset val="100"/>
        <c:noMultiLvlLbl val="0"/>
      </c:catAx>
      <c:valAx>
        <c:axId val="-5701052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-570108560"/>
        <c:crosses val="autoZero"/>
        <c:crossBetween val="between"/>
      </c:valAx>
      <c:valAx>
        <c:axId val="-570107472"/>
        <c:scaling>
          <c:orientation val="minMax"/>
          <c:max val="1"/>
        </c:scaling>
        <c:delete val="0"/>
        <c:axPos val="r"/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-570102576"/>
        <c:crosses val="max"/>
        <c:crossBetween val="between"/>
        <c:majorUnit val="0.2"/>
      </c:valAx>
      <c:catAx>
        <c:axId val="-57010257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-57010747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7.1957316815032382E-2"/>
          <c:y val="3.4082583620858538E-2"/>
          <c:w val="0.30544786114712286"/>
          <c:h val="9.031884659527512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57B270-C74B-471D-B383-1C29E946AC0C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40249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C20998-D27E-49AD-A846-29433AB49256}" type="datetimeFigureOut">
              <a:rPr lang="en-US" smtClean="0"/>
              <a:t>10/23/2026</a:t>
            </a:fld>
            <a:endParaRPr lang="en-US" dirty="0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49B736-9D47-4B7E-9D53-4FA46E3FC28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7396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5189A7-4D2B-4C1E-A228-80B085ADD7AB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69415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49B736-9D47-4B7E-9D53-4FA46E3FC28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82695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589091A-6847-473B-B823-0353CC1B2DF7}" type="slidenum">
              <a:rPr lang="zh-TW" altLang="en-US" smtClean="0"/>
              <a:pPr>
                <a:defRPr/>
              </a:pPr>
              <a:t>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275728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Agenda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735089-F81E-4CF4-ADF9-44812E60E2E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23911" y="331531"/>
            <a:ext cx="5390549" cy="1073757"/>
          </a:xfrm>
        </p:spPr>
        <p:txBody>
          <a:bodyPr anchor="t">
            <a:normAutofit/>
          </a:bodyPr>
          <a:lstStyle>
            <a:lvl1pPr algn="l">
              <a:defRPr sz="3600">
                <a:solidFill>
                  <a:srgbClr val="005087"/>
                </a:solidFill>
                <a:latin typeface="+mj-lt"/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2" name="文字版面配置區 11">
            <a:extLst>
              <a:ext uri="{FF2B5EF4-FFF2-40B4-BE49-F238E27FC236}">
                <a16:creationId xmlns:a16="http://schemas.microsoft.com/office/drawing/2014/main" id="{F405D2A6-487D-47BF-A577-784535711A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3912" y="1405288"/>
            <a:ext cx="5390548" cy="273157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zh-TW" dirty="0"/>
              <a:t>Lorem</a:t>
            </a:r>
            <a:r>
              <a:rPr lang="zh-TW" altLang="en-US" dirty="0"/>
              <a:t> </a:t>
            </a:r>
            <a:r>
              <a:rPr lang="en-US" altLang="zh-TW" dirty="0"/>
              <a:t>ipsum dolor sit </a:t>
            </a:r>
            <a:r>
              <a:rPr lang="en-US" altLang="zh-TW" dirty="0" err="1"/>
              <a:t>amet</a:t>
            </a:r>
            <a:endParaRPr lang="en-US" altLang="zh-TW" dirty="0"/>
          </a:p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5087"/>
              </a:buClr>
              <a:buSzPct val="70000"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dirty="0"/>
              <a:t>Lorem</a:t>
            </a:r>
            <a:r>
              <a:rPr lang="zh-TW" altLang="en-US" dirty="0"/>
              <a:t> </a:t>
            </a:r>
            <a:r>
              <a:rPr lang="en-US" altLang="zh-TW" dirty="0"/>
              <a:t>ipsum dolor sit </a:t>
            </a:r>
            <a:r>
              <a:rPr lang="en-US" altLang="zh-TW" dirty="0" err="1"/>
              <a:t>amet</a:t>
            </a:r>
            <a:endParaRPr lang="en-US" dirty="0"/>
          </a:p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5087"/>
              </a:buClr>
              <a:buSzPct val="70000"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dirty="0"/>
              <a:t>Lorem</a:t>
            </a:r>
            <a:r>
              <a:rPr lang="zh-TW" altLang="en-US" dirty="0"/>
              <a:t> </a:t>
            </a:r>
            <a:r>
              <a:rPr lang="en-US" altLang="zh-TW" dirty="0"/>
              <a:t>ipsum dolor sit </a:t>
            </a:r>
            <a:r>
              <a:rPr lang="en-US" altLang="zh-TW" dirty="0" err="1"/>
              <a:t>amet</a:t>
            </a:r>
            <a:endParaRPr lang="en-US" dirty="0"/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828986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reak Page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6DD45B-D11F-4BEE-8C43-E841A2A779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4472" y="940324"/>
            <a:ext cx="6035868" cy="1689755"/>
          </a:xfrm>
        </p:spPr>
        <p:txBody>
          <a:bodyPr anchor="b">
            <a:normAutofit/>
          </a:bodyPr>
          <a:lstStyle>
            <a:lvl1pPr>
              <a:defRPr sz="3600">
                <a:solidFill>
                  <a:srgbClr val="005087"/>
                </a:solidFill>
                <a:latin typeface="+mj-lt"/>
              </a:defRPr>
            </a:lvl1pPr>
          </a:lstStyle>
          <a:p>
            <a:r>
              <a:rPr lang="en-US" dirty="0"/>
              <a:t>Break Page Title</a:t>
            </a:r>
            <a:br>
              <a:rPr lang="en-US" dirty="0"/>
            </a:br>
            <a:r>
              <a:rPr lang="en-US" dirty="0"/>
              <a:t>Goes Here</a:t>
            </a:r>
          </a:p>
        </p:txBody>
      </p:sp>
    </p:spTree>
    <p:extLst>
      <p:ext uri="{BB962C8B-B14F-4D97-AF65-F5344CB8AC3E}">
        <p14:creationId xmlns:p14="http://schemas.microsoft.com/office/powerpoint/2010/main" val="3389699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reak Page_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6DD45B-D11F-4BEE-8C43-E841A2A779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4472" y="940324"/>
            <a:ext cx="6035868" cy="1689755"/>
          </a:xfrm>
        </p:spPr>
        <p:txBody>
          <a:bodyPr anchor="b">
            <a:normAutofit/>
          </a:bodyPr>
          <a:lstStyle>
            <a:lvl1pPr>
              <a:defRPr sz="3600">
                <a:solidFill>
                  <a:srgbClr val="005087"/>
                </a:solidFill>
                <a:latin typeface="+mj-lt"/>
              </a:defRPr>
            </a:lvl1pPr>
          </a:lstStyle>
          <a:p>
            <a:r>
              <a:rPr lang="en-US" dirty="0"/>
              <a:t>Break Page Title</a:t>
            </a:r>
            <a:br>
              <a:rPr lang="en-US" dirty="0"/>
            </a:br>
            <a:r>
              <a:rPr lang="en-US" dirty="0"/>
              <a:t>Goes Here</a:t>
            </a:r>
          </a:p>
        </p:txBody>
      </p:sp>
    </p:spTree>
    <p:extLst>
      <p:ext uri="{BB962C8B-B14F-4D97-AF65-F5344CB8AC3E}">
        <p14:creationId xmlns:p14="http://schemas.microsoft.com/office/powerpoint/2010/main" val="243034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 P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496B6DBE-9812-4B02-815E-036A649150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1421" y="-586026"/>
            <a:ext cx="2299235" cy="2299235"/>
          </a:xfrm>
          <a:prstGeom prst="rect">
            <a:avLst/>
          </a:prstGeom>
        </p:spPr>
      </p:pic>
      <p:sp>
        <p:nvSpPr>
          <p:cNvPr id="6" name="標題 1">
            <a:extLst>
              <a:ext uri="{FF2B5EF4-FFF2-40B4-BE49-F238E27FC236}">
                <a16:creationId xmlns:a16="http://schemas.microsoft.com/office/drawing/2014/main" id="{5F735089-F81E-4CF4-ADF9-44812E60E2E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8148" y="331531"/>
            <a:ext cx="8482972" cy="1064131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rgbClr val="005087"/>
                </a:solidFill>
                <a:latin typeface="+mj-lt"/>
              </a:defRPr>
            </a:lvl1pPr>
          </a:lstStyle>
          <a:p>
            <a:r>
              <a:rPr lang="en-US" altLang="zh-TW" dirty="0"/>
              <a:t>Page Title Goes Here</a:t>
            </a:r>
            <a:br>
              <a:rPr lang="en-US" altLang="zh-TW" dirty="0"/>
            </a:br>
            <a:endParaRPr lang="en-US" dirty="0"/>
          </a:p>
        </p:txBody>
      </p:sp>
      <p:sp>
        <p:nvSpPr>
          <p:cNvPr id="8" name="文字方塊 13">
            <a:extLst>
              <a:ext uri="{FF2B5EF4-FFF2-40B4-BE49-F238E27FC236}">
                <a16:creationId xmlns:a16="http://schemas.microsoft.com/office/drawing/2014/main" id="{100C045E-458C-43C8-A14C-FB9C878D4F9B}"/>
              </a:ext>
            </a:extLst>
          </p:cNvPr>
          <p:cNvSpPr txBox="1"/>
          <p:nvPr userDrawn="1"/>
        </p:nvSpPr>
        <p:spPr>
          <a:xfrm>
            <a:off x="478149" y="4933093"/>
            <a:ext cx="1153376" cy="173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525" b="0" i="0" dirty="0">
                <a:solidFill>
                  <a:schemeClr val="bg1">
                    <a:lumMod val="50000"/>
                  </a:schemeClr>
                </a:solidFill>
                <a:effectLst/>
                <a:latin typeface="+mn-lt"/>
              </a:rPr>
              <a:t>  </a:t>
            </a:r>
            <a:r>
              <a:rPr lang="en-US" sz="525" b="0" i="0" kern="1200" dirty="0">
                <a:solidFill>
                  <a:schemeClr val="tx1">
                    <a:lumMod val="75000"/>
                    <a:lumOff val="25000"/>
                    <a:alpha val="65000"/>
                  </a:schemeClr>
                </a:solidFill>
                <a:effectLst/>
                <a:latin typeface="+mn-lt"/>
                <a:ea typeface="+mn-ea"/>
                <a:cs typeface="+mn-cs"/>
              </a:rPr>
              <a:t>AUO Corporation Proprietary</a:t>
            </a:r>
          </a:p>
        </p:txBody>
      </p:sp>
      <p:sp>
        <p:nvSpPr>
          <p:cNvPr id="9" name="矩形 8"/>
          <p:cNvSpPr/>
          <p:nvPr userDrawn="1"/>
        </p:nvSpPr>
        <p:spPr>
          <a:xfrm>
            <a:off x="520230" y="4961069"/>
            <a:ext cx="62518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altLang="zh-TW" sz="900" b="0" i="0" dirty="0">
                <a:solidFill>
                  <a:schemeClr val="bg1">
                    <a:lumMod val="50000"/>
                  </a:schemeClr>
                </a:solidFill>
                <a:effectLst/>
                <a:latin typeface="+mn-lt"/>
              </a:rPr>
              <a:t>©</a:t>
            </a:r>
            <a:endParaRPr lang="zh-TW" alt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0318132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Blank P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496B6DBE-9812-4B02-815E-036A649150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61423" y="-586026"/>
            <a:ext cx="2299235" cy="2299235"/>
          </a:xfrm>
          <a:prstGeom prst="rect">
            <a:avLst/>
          </a:prstGeom>
        </p:spPr>
      </p:pic>
      <p:sp>
        <p:nvSpPr>
          <p:cNvPr id="6" name="標題 1">
            <a:extLst>
              <a:ext uri="{FF2B5EF4-FFF2-40B4-BE49-F238E27FC236}">
                <a16:creationId xmlns:a16="http://schemas.microsoft.com/office/drawing/2014/main" id="{5F735089-F81E-4CF4-ADF9-44812E60E2E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2293"/>
            <a:ext cx="8482972" cy="1064131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rgbClr val="005087"/>
                </a:solidFill>
                <a:latin typeface="+mj-lt"/>
              </a:defRPr>
            </a:lvl1pPr>
          </a:lstStyle>
          <a:p>
            <a:r>
              <a:rPr lang="en-US" altLang="zh-TW" dirty="0"/>
              <a:t>Page Title Goes Here</a:t>
            </a:r>
            <a:br>
              <a:rPr lang="en-US" altLang="zh-TW" dirty="0"/>
            </a:br>
            <a:endParaRPr lang="en-US" dirty="0"/>
          </a:p>
        </p:txBody>
      </p:sp>
      <p:sp>
        <p:nvSpPr>
          <p:cNvPr id="8" name="文字方塊 13">
            <a:extLst>
              <a:ext uri="{FF2B5EF4-FFF2-40B4-BE49-F238E27FC236}">
                <a16:creationId xmlns:a16="http://schemas.microsoft.com/office/drawing/2014/main" id="{100C045E-458C-43C8-A14C-FB9C878D4F9B}"/>
              </a:ext>
            </a:extLst>
          </p:cNvPr>
          <p:cNvSpPr txBox="1"/>
          <p:nvPr userDrawn="1"/>
        </p:nvSpPr>
        <p:spPr>
          <a:xfrm>
            <a:off x="478150" y="4933095"/>
            <a:ext cx="1153376" cy="173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766"/>
            <a:r>
              <a:rPr lang="en-US" sz="525" dirty="0">
                <a:solidFill>
                  <a:srgbClr val="FFFFFF">
                    <a:lumMod val="50000"/>
                  </a:srgbClr>
                </a:solidFill>
              </a:rPr>
              <a:t>  </a:t>
            </a:r>
            <a:r>
              <a:rPr lang="en-US" sz="525" dirty="0">
                <a:solidFill>
                  <a:srgbClr val="000000">
                    <a:lumMod val="75000"/>
                    <a:lumOff val="25000"/>
                    <a:alpha val="65000"/>
                  </a:srgbClr>
                </a:solidFill>
              </a:rPr>
              <a:t>AUO Corporation Proprietary</a:t>
            </a:r>
          </a:p>
        </p:txBody>
      </p:sp>
      <p:sp>
        <p:nvSpPr>
          <p:cNvPr id="9" name="矩形 8"/>
          <p:cNvSpPr/>
          <p:nvPr userDrawn="1"/>
        </p:nvSpPr>
        <p:spPr>
          <a:xfrm>
            <a:off x="520230" y="4961071"/>
            <a:ext cx="62518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defTabSz="685766"/>
            <a:r>
              <a:rPr lang="en-US" altLang="zh-TW" sz="900" dirty="0">
                <a:solidFill>
                  <a:srgbClr val="FFFFFF">
                    <a:lumMod val="50000"/>
                  </a:srgbClr>
                </a:solidFill>
              </a:rPr>
              <a:t>©</a:t>
            </a:r>
            <a:endParaRPr lang="zh-TW" altLang="en-US" sz="140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7035609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_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altLang="zh-TW" dirty="0"/>
              <a:t>Content</a:t>
            </a:r>
            <a:br>
              <a:rPr lang="en-US" altLang="zh-TW" dirty="0"/>
            </a:br>
            <a:r>
              <a:rPr lang="en-US" altLang="zh-TW" dirty="0"/>
              <a:t>Gill Sans MT or </a:t>
            </a:r>
            <a:r>
              <a:rPr lang="zh-TW" altLang="en-US" dirty="0"/>
              <a:t>微軟正黑</a:t>
            </a: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25899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Blank P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6"/>
          <p:cNvPicPr>
            <a:picLocks noChangeAspect="1"/>
          </p:cNvPicPr>
          <p:nvPr userDrawn="1"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7461250" y="-585787"/>
            <a:ext cx="2298700" cy="22987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5"/>
          <p:cNvPicPr>
            <a:picLocks noChangeAspect="1"/>
          </p:cNvPicPr>
          <p:nvPr userDrawn="1"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8291515" y="4692651"/>
            <a:ext cx="655637" cy="280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標題 1"/>
          <p:cNvSpPr>
            <a:spLocks noGrp="1"/>
          </p:cNvSpPr>
          <p:nvPr>
            <p:ph type="ctrTitle"/>
          </p:nvPr>
        </p:nvSpPr>
        <p:spPr>
          <a:xfrm>
            <a:off x="478148" y="331532"/>
            <a:ext cx="8482972" cy="1064131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rgbClr val="005087"/>
                </a:solidFill>
                <a:latin typeface="+mj-lt"/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467544" y="1635646"/>
            <a:ext cx="8469312" cy="2971800"/>
          </a:xfrm>
        </p:spPr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cxnSp>
        <p:nvCxnSpPr>
          <p:cNvPr id="9" name="直接连接符 18"/>
          <p:cNvCxnSpPr/>
          <p:nvPr userDrawn="1"/>
        </p:nvCxnSpPr>
        <p:spPr>
          <a:xfrm>
            <a:off x="461901" y="483518"/>
            <a:ext cx="627669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3341731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Blank Page with Tti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6"/>
          <p:cNvPicPr>
            <a:picLocks noChangeAspect="1"/>
          </p:cNvPicPr>
          <p:nvPr userDrawn="1"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7461250" y="-585788"/>
            <a:ext cx="2298700" cy="22987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5"/>
          <p:cNvPicPr>
            <a:picLocks noChangeAspect="1"/>
          </p:cNvPicPr>
          <p:nvPr userDrawn="1"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8291513" y="4692650"/>
            <a:ext cx="655637" cy="280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478148" y="67459"/>
            <a:ext cx="8482972" cy="1064131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rgbClr val="005087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cxnSp>
        <p:nvCxnSpPr>
          <p:cNvPr id="7" name="直接连接符 18"/>
          <p:cNvCxnSpPr/>
          <p:nvPr userDrawn="1"/>
        </p:nvCxnSpPr>
        <p:spPr>
          <a:xfrm>
            <a:off x="461901" y="483518"/>
            <a:ext cx="627669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5827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Blank Page with Tti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6"/>
          <p:cNvPicPr>
            <a:picLocks noChangeAspect="1"/>
          </p:cNvPicPr>
          <p:nvPr userDrawn="1"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7461250" y="-585788"/>
            <a:ext cx="2298700" cy="22987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5"/>
          <p:cNvPicPr>
            <a:picLocks noChangeAspect="1"/>
          </p:cNvPicPr>
          <p:nvPr userDrawn="1"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8291513" y="4692650"/>
            <a:ext cx="655637" cy="280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文字方塊 13"/>
          <p:cNvSpPr txBox="1"/>
          <p:nvPr userDrawn="1"/>
        </p:nvSpPr>
        <p:spPr>
          <a:xfrm>
            <a:off x="478149" y="4933093"/>
            <a:ext cx="1153376" cy="17312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525" dirty="0">
                <a:solidFill>
                  <a:srgbClr val="FFFFFF">
                    <a:lumMod val="50000"/>
                  </a:srgbClr>
                </a:solidFill>
              </a:rPr>
              <a:t>  </a:t>
            </a:r>
            <a:r>
              <a:rPr lang="en-US" sz="525" dirty="0">
                <a:solidFill>
                  <a:srgbClr val="000000">
                    <a:lumMod val="75000"/>
                    <a:lumOff val="25000"/>
                    <a:alpha val="65000"/>
                  </a:srgbClr>
                </a:solidFill>
              </a:rPr>
              <a:t>AUO Corporation Proprietary</a:t>
            </a:r>
          </a:p>
        </p:txBody>
      </p:sp>
      <p:sp>
        <p:nvSpPr>
          <p:cNvPr id="6" name="矩形 5"/>
          <p:cNvSpPr/>
          <p:nvPr userDrawn="1"/>
        </p:nvSpPr>
        <p:spPr>
          <a:xfrm>
            <a:off x="520700" y="4960938"/>
            <a:ext cx="61913" cy="13811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900" dirty="0">
                <a:solidFill>
                  <a:srgbClr val="7F7F7F"/>
                </a:solidFill>
              </a:rPr>
              <a:t>©</a:t>
            </a:r>
            <a:endParaRPr lang="zh-TW" altLang="en-US" sz="1400">
              <a:solidFill>
                <a:srgbClr val="7F7F7F"/>
              </a:solidFill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478148" y="67459"/>
            <a:ext cx="8482972" cy="1064131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rgbClr val="005087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cxnSp>
        <p:nvCxnSpPr>
          <p:cNvPr id="7" name="直接连接符 18"/>
          <p:cNvCxnSpPr/>
          <p:nvPr userDrawn="1"/>
        </p:nvCxnSpPr>
        <p:spPr>
          <a:xfrm>
            <a:off x="461901" y="483518"/>
            <a:ext cx="627669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7017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Blank Page with Tti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6"/>
          <p:cNvPicPr>
            <a:picLocks noChangeAspect="1"/>
          </p:cNvPicPr>
          <p:nvPr userDrawn="1"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7461250" y="-585788"/>
            <a:ext cx="2298700" cy="22987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5"/>
          <p:cNvPicPr>
            <a:picLocks noChangeAspect="1"/>
          </p:cNvPicPr>
          <p:nvPr userDrawn="1"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8291513" y="4692650"/>
            <a:ext cx="655637" cy="280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文字方塊 13"/>
          <p:cNvSpPr txBox="1"/>
          <p:nvPr userDrawn="1"/>
        </p:nvSpPr>
        <p:spPr>
          <a:xfrm>
            <a:off x="478149" y="4933093"/>
            <a:ext cx="1153376" cy="17312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525" dirty="0">
                <a:solidFill>
                  <a:srgbClr val="FFFFFF">
                    <a:lumMod val="50000"/>
                  </a:srgbClr>
                </a:solidFill>
              </a:rPr>
              <a:t>  </a:t>
            </a:r>
            <a:r>
              <a:rPr lang="en-US" sz="525" dirty="0">
                <a:solidFill>
                  <a:srgbClr val="000000">
                    <a:lumMod val="75000"/>
                    <a:lumOff val="25000"/>
                    <a:alpha val="65000"/>
                  </a:srgbClr>
                </a:solidFill>
              </a:rPr>
              <a:t>AUO Corporation Proprietary</a:t>
            </a:r>
          </a:p>
        </p:txBody>
      </p:sp>
      <p:sp>
        <p:nvSpPr>
          <p:cNvPr id="6" name="矩形 5"/>
          <p:cNvSpPr/>
          <p:nvPr userDrawn="1"/>
        </p:nvSpPr>
        <p:spPr>
          <a:xfrm>
            <a:off x="520700" y="4960938"/>
            <a:ext cx="61913" cy="13811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900" dirty="0">
                <a:solidFill>
                  <a:srgbClr val="7F7F7F"/>
                </a:solidFill>
              </a:rPr>
              <a:t>©</a:t>
            </a:r>
            <a:endParaRPr lang="zh-TW" altLang="en-US" sz="1400">
              <a:solidFill>
                <a:srgbClr val="7F7F7F"/>
              </a:solidFill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478148" y="67459"/>
            <a:ext cx="8482972" cy="1064131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rgbClr val="005087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cxnSp>
        <p:nvCxnSpPr>
          <p:cNvPr id="7" name="直接连接符 18"/>
          <p:cNvCxnSpPr/>
          <p:nvPr userDrawn="1"/>
        </p:nvCxnSpPr>
        <p:spPr>
          <a:xfrm>
            <a:off x="461901" y="483518"/>
            <a:ext cx="627669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400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Blank P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/>
          <p:cNvPicPr>
            <a:picLocks noChangeAspect="1"/>
          </p:cNvPicPr>
          <p:nvPr userDrawn="1"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8291513" y="4692650"/>
            <a:ext cx="655637" cy="280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圖片 6"/>
          <p:cNvPicPr>
            <a:picLocks noChangeAspect="1"/>
          </p:cNvPicPr>
          <p:nvPr userDrawn="1"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7461250" y="-585788"/>
            <a:ext cx="2298700" cy="22987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文字方塊 13"/>
          <p:cNvSpPr txBox="1"/>
          <p:nvPr userDrawn="1"/>
        </p:nvSpPr>
        <p:spPr>
          <a:xfrm>
            <a:off x="478149" y="4933093"/>
            <a:ext cx="1153376" cy="17312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defTabSz="685800">
              <a:defRPr/>
            </a:pPr>
            <a:r>
              <a:rPr lang="en-US" sz="525" dirty="0">
                <a:solidFill>
                  <a:srgbClr val="FFFFFF">
                    <a:lumMod val="50000"/>
                  </a:srgbClr>
                </a:solidFill>
              </a:rPr>
              <a:t>  </a:t>
            </a:r>
            <a:r>
              <a:rPr lang="en-US" sz="525" dirty="0">
                <a:solidFill>
                  <a:srgbClr val="000000">
                    <a:lumMod val="75000"/>
                    <a:lumOff val="25000"/>
                    <a:alpha val="65000"/>
                  </a:srgbClr>
                </a:solidFill>
              </a:rPr>
              <a:t>AUO Corporation Proprietary</a:t>
            </a:r>
          </a:p>
        </p:txBody>
      </p:sp>
      <p:sp>
        <p:nvSpPr>
          <p:cNvPr id="8" name="矩形 7"/>
          <p:cNvSpPr/>
          <p:nvPr userDrawn="1"/>
        </p:nvSpPr>
        <p:spPr>
          <a:xfrm>
            <a:off x="520700" y="4960938"/>
            <a:ext cx="61913" cy="13811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900" dirty="0">
                <a:solidFill>
                  <a:srgbClr val="7F7F7F"/>
                </a:solidFill>
              </a:rPr>
              <a:t>©</a:t>
            </a:r>
            <a:endParaRPr lang="zh-TW" altLang="en-US" sz="1400">
              <a:solidFill>
                <a:srgbClr val="7F7F7F"/>
              </a:solidFill>
            </a:endParaRPr>
          </a:p>
        </p:txBody>
      </p:sp>
      <p:sp>
        <p:nvSpPr>
          <p:cNvPr id="6" name="標題 1"/>
          <p:cNvSpPr>
            <a:spLocks noGrp="1"/>
          </p:cNvSpPr>
          <p:nvPr>
            <p:ph type="ctrTitle"/>
          </p:nvPr>
        </p:nvSpPr>
        <p:spPr>
          <a:xfrm>
            <a:off x="478148" y="51470"/>
            <a:ext cx="8482972" cy="1064131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rgbClr val="005087"/>
                </a:solidFill>
                <a:latin typeface="+mj-lt"/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cxnSp>
        <p:nvCxnSpPr>
          <p:cNvPr id="9" name="直接连接符 18"/>
          <p:cNvCxnSpPr/>
          <p:nvPr userDrawn="1"/>
        </p:nvCxnSpPr>
        <p:spPr>
          <a:xfrm>
            <a:off x="461901" y="483518"/>
            <a:ext cx="627669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0901472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Blank P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/>
          <p:cNvPicPr>
            <a:picLocks noChangeAspect="1"/>
          </p:cNvPicPr>
          <p:nvPr userDrawn="1"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8291513" y="4692650"/>
            <a:ext cx="655637" cy="280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圖片 6"/>
          <p:cNvPicPr>
            <a:picLocks noChangeAspect="1"/>
          </p:cNvPicPr>
          <p:nvPr userDrawn="1"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7461250" y="-585788"/>
            <a:ext cx="2298700" cy="22987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文字方塊 13"/>
          <p:cNvSpPr txBox="1"/>
          <p:nvPr userDrawn="1"/>
        </p:nvSpPr>
        <p:spPr>
          <a:xfrm>
            <a:off x="478149" y="4933093"/>
            <a:ext cx="1153376" cy="17312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defTabSz="685800">
              <a:defRPr/>
            </a:pPr>
            <a:r>
              <a:rPr lang="en-US" sz="525" dirty="0">
                <a:solidFill>
                  <a:srgbClr val="FFFFFF">
                    <a:lumMod val="50000"/>
                  </a:srgbClr>
                </a:solidFill>
              </a:rPr>
              <a:t>  </a:t>
            </a:r>
            <a:r>
              <a:rPr lang="en-US" sz="525" dirty="0">
                <a:solidFill>
                  <a:srgbClr val="000000">
                    <a:lumMod val="75000"/>
                    <a:lumOff val="25000"/>
                    <a:alpha val="65000"/>
                  </a:srgbClr>
                </a:solidFill>
              </a:rPr>
              <a:t>AUO Corporation Proprietary</a:t>
            </a:r>
          </a:p>
        </p:txBody>
      </p:sp>
      <p:sp>
        <p:nvSpPr>
          <p:cNvPr id="8" name="矩形 7"/>
          <p:cNvSpPr/>
          <p:nvPr userDrawn="1"/>
        </p:nvSpPr>
        <p:spPr>
          <a:xfrm>
            <a:off x="520700" y="4960938"/>
            <a:ext cx="61913" cy="13811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900" dirty="0">
                <a:solidFill>
                  <a:srgbClr val="7F7F7F"/>
                </a:solidFill>
              </a:rPr>
              <a:t>©</a:t>
            </a:r>
            <a:endParaRPr lang="zh-TW" altLang="en-US" sz="1400">
              <a:solidFill>
                <a:srgbClr val="7F7F7F"/>
              </a:solidFill>
            </a:endParaRPr>
          </a:p>
        </p:txBody>
      </p:sp>
      <p:sp>
        <p:nvSpPr>
          <p:cNvPr id="6" name="標題 1"/>
          <p:cNvSpPr>
            <a:spLocks noGrp="1"/>
          </p:cNvSpPr>
          <p:nvPr>
            <p:ph type="ctrTitle"/>
          </p:nvPr>
        </p:nvSpPr>
        <p:spPr>
          <a:xfrm>
            <a:off x="478148" y="51470"/>
            <a:ext cx="8482972" cy="1064131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rgbClr val="005087"/>
                </a:solidFill>
                <a:latin typeface="+mj-lt"/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cxnSp>
        <p:nvCxnSpPr>
          <p:cNvPr id="9" name="直接连接符 18"/>
          <p:cNvCxnSpPr/>
          <p:nvPr userDrawn="1"/>
        </p:nvCxnSpPr>
        <p:spPr>
          <a:xfrm>
            <a:off x="461901" y="483518"/>
            <a:ext cx="627669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6946502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Blank P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/>
          <p:cNvPicPr>
            <a:picLocks noChangeAspect="1"/>
          </p:cNvPicPr>
          <p:nvPr userDrawn="1"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8291513" y="4692650"/>
            <a:ext cx="655637" cy="280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圖片 6"/>
          <p:cNvPicPr>
            <a:picLocks noChangeAspect="1"/>
          </p:cNvPicPr>
          <p:nvPr userDrawn="1"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7461250" y="-585788"/>
            <a:ext cx="2298700" cy="22987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標題 1"/>
          <p:cNvSpPr>
            <a:spLocks noGrp="1"/>
          </p:cNvSpPr>
          <p:nvPr>
            <p:ph type="ctrTitle"/>
          </p:nvPr>
        </p:nvSpPr>
        <p:spPr>
          <a:xfrm>
            <a:off x="478148" y="51470"/>
            <a:ext cx="8482972" cy="1064131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rgbClr val="005087"/>
                </a:solidFill>
                <a:latin typeface="+mj-lt"/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cxnSp>
        <p:nvCxnSpPr>
          <p:cNvPr id="9" name="直接连接符 18"/>
          <p:cNvCxnSpPr/>
          <p:nvPr userDrawn="1"/>
        </p:nvCxnSpPr>
        <p:spPr>
          <a:xfrm>
            <a:off x="461901" y="483518"/>
            <a:ext cx="627669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8254129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Blank P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/>
          <p:cNvPicPr>
            <a:picLocks noChangeAspect="1"/>
          </p:cNvPicPr>
          <p:nvPr userDrawn="1"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8291513" y="4692650"/>
            <a:ext cx="655637" cy="280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圖片 6"/>
          <p:cNvPicPr>
            <a:picLocks noChangeAspect="1"/>
          </p:cNvPicPr>
          <p:nvPr userDrawn="1"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7461250" y="-585788"/>
            <a:ext cx="2298700" cy="22987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標題 1"/>
          <p:cNvSpPr>
            <a:spLocks noGrp="1"/>
          </p:cNvSpPr>
          <p:nvPr>
            <p:ph type="ctrTitle"/>
          </p:nvPr>
        </p:nvSpPr>
        <p:spPr>
          <a:xfrm>
            <a:off x="478148" y="51470"/>
            <a:ext cx="8482972" cy="1064131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rgbClr val="005087"/>
                </a:solidFill>
                <a:latin typeface="+mj-lt"/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cxnSp>
        <p:nvCxnSpPr>
          <p:cNvPr id="9" name="直接连接符 18"/>
          <p:cNvCxnSpPr/>
          <p:nvPr userDrawn="1"/>
        </p:nvCxnSpPr>
        <p:spPr>
          <a:xfrm>
            <a:off x="461901" y="483518"/>
            <a:ext cx="627669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2369441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Whi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文字方塊 13">
            <a:extLst>
              <a:ext uri="{FF2B5EF4-FFF2-40B4-BE49-F238E27FC236}">
                <a16:creationId xmlns:a16="http://schemas.microsoft.com/office/drawing/2014/main" id="{9638B229-4AD8-32A7-683A-A4D4CDF02B67}"/>
              </a:ext>
            </a:extLst>
          </p:cNvPr>
          <p:cNvSpPr txBox="1"/>
          <p:nvPr userDrawn="1"/>
        </p:nvSpPr>
        <p:spPr>
          <a:xfrm>
            <a:off x="415380" y="4910814"/>
            <a:ext cx="1745938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" b="0" i="0" dirty="0">
                <a:solidFill>
                  <a:schemeClr val="bg1">
                    <a:lumMod val="50000"/>
                    <a:alpha val="66000"/>
                  </a:schemeClr>
                </a:solidFill>
                <a:effectLst/>
                <a:latin typeface="+mj-lt"/>
              </a:rPr>
              <a:t> </a:t>
            </a:r>
            <a:r>
              <a:rPr lang="en-US" altLang="zh-TW" sz="400" b="0" i="0" dirty="0">
                <a:solidFill>
                  <a:schemeClr val="bg1">
                    <a:lumMod val="50000"/>
                    <a:alpha val="66000"/>
                  </a:schemeClr>
                </a:solidFill>
                <a:effectLst/>
                <a:latin typeface="+mj-lt"/>
              </a:rPr>
              <a:t>©</a:t>
            </a:r>
            <a:r>
              <a:rPr lang="zh-TW" altLang="en-US" sz="400" b="0" i="0" kern="1200" dirty="0">
                <a:solidFill>
                  <a:schemeClr val="bg1">
                    <a:lumMod val="50000"/>
                    <a:alpha val="66000"/>
                  </a:schemeClr>
                </a:solidFill>
                <a:effectLst/>
                <a:latin typeface="+mj-lt"/>
                <a:ea typeface="+mn-ea"/>
                <a:cs typeface="+mn-cs"/>
              </a:rPr>
              <a:t> </a:t>
            </a:r>
            <a:r>
              <a:rPr lang="en-US" sz="400" b="0" i="0" kern="1200" dirty="0">
                <a:solidFill>
                  <a:schemeClr val="bg1">
                    <a:lumMod val="50000"/>
                    <a:alpha val="66000"/>
                  </a:schemeClr>
                </a:solidFill>
                <a:effectLst/>
                <a:latin typeface="+mj-lt"/>
                <a:ea typeface="+mn-ea"/>
                <a:cs typeface="+mn-cs"/>
              </a:rPr>
              <a:t>AET Corporation Proprietary</a:t>
            </a:r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81EE7DB0-75FB-739D-687E-2CCEF5E9DC3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881121" y="4750480"/>
            <a:ext cx="1080000" cy="237278"/>
            <a:chOff x="-6380162" y="-4630738"/>
            <a:chExt cx="2868613" cy="630238"/>
          </a:xfrm>
        </p:grpSpPr>
        <p:sp>
          <p:nvSpPr>
            <p:cNvPr id="42" name="Freeform 138">
              <a:extLst>
                <a:ext uri="{FF2B5EF4-FFF2-40B4-BE49-F238E27FC236}">
                  <a16:creationId xmlns:a16="http://schemas.microsoft.com/office/drawing/2014/main" id="{61D4A575-164C-4ED4-51BA-2FB0968AE7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5205412" y="-4200525"/>
              <a:ext cx="196850" cy="142875"/>
            </a:xfrm>
            <a:custGeom>
              <a:avLst/>
              <a:gdLst>
                <a:gd name="T0" fmla="*/ 512 w 883"/>
                <a:gd name="T1" fmla="*/ 111 h 642"/>
                <a:gd name="T2" fmla="*/ 720 w 883"/>
                <a:gd name="T3" fmla="*/ 111 h 642"/>
                <a:gd name="T4" fmla="*/ 720 w 883"/>
                <a:gd name="T5" fmla="*/ 0 h 642"/>
                <a:gd name="T6" fmla="*/ 153 w 883"/>
                <a:gd name="T7" fmla="*/ 0 h 642"/>
                <a:gd name="T8" fmla="*/ 153 w 883"/>
                <a:gd name="T9" fmla="*/ 111 h 642"/>
                <a:gd name="T10" fmla="*/ 383 w 883"/>
                <a:gd name="T11" fmla="*/ 111 h 642"/>
                <a:gd name="T12" fmla="*/ 383 w 883"/>
                <a:gd name="T13" fmla="*/ 224 h 642"/>
                <a:gd name="T14" fmla="*/ 0 w 883"/>
                <a:gd name="T15" fmla="*/ 224 h 642"/>
                <a:gd name="T16" fmla="*/ 0 w 883"/>
                <a:gd name="T17" fmla="*/ 338 h 642"/>
                <a:gd name="T18" fmla="*/ 383 w 883"/>
                <a:gd name="T19" fmla="*/ 338 h 642"/>
                <a:gd name="T20" fmla="*/ 383 w 883"/>
                <a:gd name="T21" fmla="*/ 502 h 642"/>
                <a:gd name="T22" fmla="*/ 353 w 883"/>
                <a:gd name="T23" fmla="*/ 525 h 642"/>
                <a:gd name="T24" fmla="*/ 188 w 883"/>
                <a:gd name="T25" fmla="*/ 522 h 642"/>
                <a:gd name="T26" fmla="*/ 240 w 883"/>
                <a:gd name="T27" fmla="*/ 642 h 642"/>
                <a:gd name="T28" fmla="*/ 447 w 883"/>
                <a:gd name="T29" fmla="*/ 621 h 642"/>
                <a:gd name="T30" fmla="*/ 512 w 883"/>
                <a:gd name="T31" fmla="*/ 505 h 642"/>
                <a:gd name="T32" fmla="*/ 512 w 883"/>
                <a:gd name="T33" fmla="*/ 338 h 642"/>
                <a:gd name="T34" fmla="*/ 883 w 883"/>
                <a:gd name="T35" fmla="*/ 338 h 642"/>
                <a:gd name="T36" fmla="*/ 883 w 883"/>
                <a:gd name="T37" fmla="*/ 224 h 642"/>
                <a:gd name="T38" fmla="*/ 512 w 883"/>
                <a:gd name="T39" fmla="*/ 224 h 642"/>
                <a:gd name="T40" fmla="*/ 512 w 883"/>
                <a:gd name="T41" fmla="*/ 111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83" h="642">
                  <a:moveTo>
                    <a:pt x="512" y="111"/>
                  </a:moveTo>
                  <a:cubicBezTo>
                    <a:pt x="720" y="111"/>
                    <a:pt x="720" y="111"/>
                    <a:pt x="720" y="111"/>
                  </a:cubicBezTo>
                  <a:cubicBezTo>
                    <a:pt x="720" y="0"/>
                    <a:pt x="720" y="0"/>
                    <a:pt x="720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53" y="111"/>
                    <a:pt x="153" y="111"/>
                    <a:pt x="153" y="111"/>
                  </a:cubicBezTo>
                  <a:cubicBezTo>
                    <a:pt x="383" y="111"/>
                    <a:pt x="383" y="111"/>
                    <a:pt x="383" y="111"/>
                  </a:cubicBezTo>
                  <a:cubicBezTo>
                    <a:pt x="383" y="224"/>
                    <a:pt x="383" y="224"/>
                    <a:pt x="383" y="224"/>
                  </a:cubicBezTo>
                  <a:cubicBezTo>
                    <a:pt x="0" y="224"/>
                    <a:pt x="0" y="224"/>
                    <a:pt x="0" y="224"/>
                  </a:cubicBezTo>
                  <a:cubicBezTo>
                    <a:pt x="0" y="338"/>
                    <a:pt x="0" y="338"/>
                    <a:pt x="0" y="338"/>
                  </a:cubicBezTo>
                  <a:cubicBezTo>
                    <a:pt x="383" y="338"/>
                    <a:pt x="383" y="338"/>
                    <a:pt x="383" y="338"/>
                  </a:cubicBezTo>
                  <a:cubicBezTo>
                    <a:pt x="383" y="502"/>
                    <a:pt x="383" y="502"/>
                    <a:pt x="383" y="502"/>
                  </a:cubicBezTo>
                  <a:cubicBezTo>
                    <a:pt x="383" y="519"/>
                    <a:pt x="376" y="524"/>
                    <a:pt x="353" y="525"/>
                  </a:cubicBezTo>
                  <a:cubicBezTo>
                    <a:pt x="333" y="525"/>
                    <a:pt x="254" y="525"/>
                    <a:pt x="188" y="522"/>
                  </a:cubicBezTo>
                  <a:cubicBezTo>
                    <a:pt x="208" y="554"/>
                    <a:pt x="233" y="606"/>
                    <a:pt x="240" y="642"/>
                  </a:cubicBezTo>
                  <a:cubicBezTo>
                    <a:pt x="331" y="642"/>
                    <a:pt x="398" y="639"/>
                    <a:pt x="447" y="621"/>
                  </a:cubicBezTo>
                  <a:cubicBezTo>
                    <a:pt x="496" y="602"/>
                    <a:pt x="512" y="572"/>
                    <a:pt x="512" y="505"/>
                  </a:cubicBezTo>
                  <a:cubicBezTo>
                    <a:pt x="512" y="338"/>
                    <a:pt x="512" y="338"/>
                    <a:pt x="512" y="338"/>
                  </a:cubicBezTo>
                  <a:cubicBezTo>
                    <a:pt x="883" y="338"/>
                    <a:pt x="883" y="338"/>
                    <a:pt x="883" y="338"/>
                  </a:cubicBezTo>
                  <a:cubicBezTo>
                    <a:pt x="883" y="224"/>
                    <a:pt x="883" y="224"/>
                    <a:pt x="883" y="224"/>
                  </a:cubicBezTo>
                  <a:cubicBezTo>
                    <a:pt x="512" y="224"/>
                    <a:pt x="512" y="224"/>
                    <a:pt x="512" y="224"/>
                  </a:cubicBezTo>
                  <a:lnTo>
                    <a:pt x="512" y="111"/>
                  </a:lnTo>
                  <a:close/>
                </a:path>
              </a:pathLst>
            </a:custGeom>
            <a:solidFill>
              <a:srgbClr val="002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43" name="Freeform 139">
              <a:extLst>
                <a:ext uri="{FF2B5EF4-FFF2-40B4-BE49-F238E27FC236}">
                  <a16:creationId xmlns:a16="http://schemas.microsoft.com/office/drawing/2014/main" id="{969E6CAF-2C16-2EDF-E70F-C75EC936F10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5207000" y="-4264025"/>
              <a:ext cx="198438" cy="73025"/>
            </a:xfrm>
            <a:custGeom>
              <a:avLst/>
              <a:gdLst>
                <a:gd name="T0" fmla="*/ 473 w 888"/>
                <a:gd name="T1" fmla="*/ 0 h 331"/>
                <a:gd name="T2" fmla="*/ 351 w 888"/>
                <a:gd name="T3" fmla="*/ 34 h 331"/>
                <a:gd name="T4" fmla="*/ 380 w 888"/>
                <a:gd name="T5" fmla="*/ 98 h 331"/>
                <a:gd name="T6" fmla="*/ 0 w 888"/>
                <a:gd name="T7" fmla="*/ 98 h 331"/>
                <a:gd name="T8" fmla="*/ 0 w 888"/>
                <a:gd name="T9" fmla="*/ 331 h 331"/>
                <a:gd name="T10" fmla="*/ 119 w 888"/>
                <a:gd name="T11" fmla="*/ 331 h 331"/>
                <a:gd name="T12" fmla="*/ 119 w 888"/>
                <a:gd name="T13" fmla="*/ 207 h 331"/>
                <a:gd name="T14" fmla="*/ 763 w 888"/>
                <a:gd name="T15" fmla="*/ 207 h 331"/>
                <a:gd name="T16" fmla="*/ 763 w 888"/>
                <a:gd name="T17" fmla="*/ 331 h 331"/>
                <a:gd name="T18" fmla="*/ 888 w 888"/>
                <a:gd name="T19" fmla="*/ 331 h 331"/>
                <a:gd name="T20" fmla="*/ 888 w 888"/>
                <a:gd name="T21" fmla="*/ 98 h 331"/>
                <a:gd name="T22" fmla="*/ 521 w 888"/>
                <a:gd name="T23" fmla="*/ 98 h 331"/>
                <a:gd name="T24" fmla="*/ 473 w 888"/>
                <a:gd name="T25" fmla="*/ 0 h 3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88" h="331">
                  <a:moveTo>
                    <a:pt x="473" y="0"/>
                  </a:moveTo>
                  <a:cubicBezTo>
                    <a:pt x="351" y="34"/>
                    <a:pt x="351" y="34"/>
                    <a:pt x="351" y="34"/>
                  </a:cubicBezTo>
                  <a:cubicBezTo>
                    <a:pt x="361" y="53"/>
                    <a:pt x="372" y="75"/>
                    <a:pt x="380" y="98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331"/>
                    <a:pt x="0" y="331"/>
                    <a:pt x="0" y="331"/>
                  </a:cubicBezTo>
                  <a:cubicBezTo>
                    <a:pt x="119" y="331"/>
                    <a:pt x="119" y="331"/>
                    <a:pt x="119" y="331"/>
                  </a:cubicBezTo>
                  <a:cubicBezTo>
                    <a:pt x="119" y="207"/>
                    <a:pt x="119" y="207"/>
                    <a:pt x="119" y="207"/>
                  </a:cubicBezTo>
                  <a:cubicBezTo>
                    <a:pt x="763" y="207"/>
                    <a:pt x="763" y="207"/>
                    <a:pt x="763" y="207"/>
                  </a:cubicBezTo>
                  <a:cubicBezTo>
                    <a:pt x="763" y="331"/>
                    <a:pt x="763" y="331"/>
                    <a:pt x="763" y="331"/>
                  </a:cubicBezTo>
                  <a:cubicBezTo>
                    <a:pt x="888" y="331"/>
                    <a:pt x="888" y="331"/>
                    <a:pt x="888" y="331"/>
                  </a:cubicBezTo>
                  <a:cubicBezTo>
                    <a:pt x="888" y="98"/>
                    <a:pt x="888" y="98"/>
                    <a:pt x="888" y="98"/>
                  </a:cubicBezTo>
                  <a:cubicBezTo>
                    <a:pt x="521" y="98"/>
                    <a:pt x="521" y="98"/>
                    <a:pt x="521" y="98"/>
                  </a:cubicBezTo>
                  <a:cubicBezTo>
                    <a:pt x="508" y="66"/>
                    <a:pt x="490" y="29"/>
                    <a:pt x="473" y="0"/>
                  </a:cubicBezTo>
                  <a:close/>
                </a:path>
              </a:pathLst>
            </a:custGeom>
            <a:solidFill>
              <a:srgbClr val="002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44" name="Freeform 140">
              <a:extLst>
                <a:ext uri="{FF2B5EF4-FFF2-40B4-BE49-F238E27FC236}">
                  <a16:creationId xmlns:a16="http://schemas.microsoft.com/office/drawing/2014/main" id="{A26F0975-B4A3-6138-ACAE-367964BA935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4848225" y="-4264025"/>
              <a:ext cx="50800" cy="44450"/>
            </a:xfrm>
            <a:custGeom>
              <a:avLst/>
              <a:gdLst>
                <a:gd name="T0" fmla="*/ 0 w 231"/>
                <a:gd name="T1" fmla="*/ 87 h 199"/>
                <a:gd name="T2" fmla="*/ 169 w 231"/>
                <a:gd name="T3" fmla="*/ 199 h 199"/>
                <a:gd name="T4" fmla="*/ 231 w 231"/>
                <a:gd name="T5" fmla="*/ 101 h 199"/>
                <a:gd name="T6" fmla="*/ 59 w 231"/>
                <a:gd name="T7" fmla="*/ 0 h 199"/>
                <a:gd name="T8" fmla="*/ 0 w 231"/>
                <a:gd name="T9" fmla="*/ 87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" h="199">
                  <a:moveTo>
                    <a:pt x="0" y="87"/>
                  </a:moveTo>
                  <a:cubicBezTo>
                    <a:pt x="54" y="119"/>
                    <a:pt x="131" y="168"/>
                    <a:pt x="169" y="199"/>
                  </a:cubicBezTo>
                  <a:cubicBezTo>
                    <a:pt x="231" y="101"/>
                    <a:pt x="231" y="101"/>
                    <a:pt x="231" y="101"/>
                  </a:cubicBezTo>
                  <a:cubicBezTo>
                    <a:pt x="191" y="73"/>
                    <a:pt x="112" y="29"/>
                    <a:pt x="59" y="0"/>
                  </a:cubicBezTo>
                  <a:lnTo>
                    <a:pt x="0" y="87"/>
                  </a:lnTo>
                  <a:close/>
                </a:path>
              </a:pathLst>
            </a:custGeom>
            <a:solidFill>
              <a:srgbClr val="002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46" name="Freeform 141">
              <a:extLst>
                <a:ext uri="{FF2B5EF4-FFF2-40B4-BE49-F238E27FC236}">
                  <a16:creationId xmlns:a16="http://schemas.microsoft.com/office/drawing/2014/main" id="{27B46A86-204F-31C5-C768-3F524B3BCA9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4794250" y="-4267200"/>
              <a:ext cx="146050" cy="209550"/>
            </a:xfrm>
            <a:custGeom>
              <a:avLst/>
              <a:gdLst>
                <a:gd name="T0" fmla="*/ 382 w 653"/>
                <a:gd name="T1" fmla="*/ 0 h 938"/>
                <a:gd name="T2" fmla="*/ 257 w 653"/>
                <a:gd name="T3" fmla="*/ 0 h 938"/>
                <a:gd name="T4" fmla="*/ 257 w 653"/>
                <a:gd name="T5" fmla="*/ 140 h 938"/>
                <a:gd name="T6" fmla="*/ 0 w 653"/>
                <a:gd name="T7" fmla="*/ 140 h 938"/>
                <a:gd name="T8" fmla="*/ 0 w 653"/>
                <a:gd name="T9" fmla="*/ 254 h 938"/>
                <a:gd name="T10" fmla="*/ 257 w 653"/>
                <a:gd name="T11" fmla="*/ 254 h 938"/>
                <a:gd name="T12" fmla="*/ 257 w 653"/>
                <a:gd name="T13" fmla="*/ 347 h 938"/>
                <a:gd name="T14" fmla="*/ 29 w 653"/>
                <a:gd name="T15" fmla="*/ 347 h 938"/>
                <a:gd name="T16" fmla="*/ 29 w 653"/>
                <a:gd name="T17" fmla="*/ 807 h 938"/>
                <a:gd name="T18" fmla="*/ 148 w 653"/>
                <a:gd name="T19" fmla="*/ 807 h 938"/>
                <a:gd name="T20" fmla="*/ 148 w 653"/>
                <a:gd name="T21" fmla="*/ 462 h 938"/>
                <a:gd name="T22" fmla="*/ 257 w 653"/>
                <a:gd name="T23" fmla="*/ 462 h 938"/>
                <a:gd name="T24" fmla="*/ 257 w 653"/>
                <a:gd name="T25" fmla="*/ 938 h 938"/>
                <a:gd name="T26" fmla="*/ 382 w 653"/>
                <a:gd name="T27" fmla="*/ 938 h 938"/>
                <a:gd name="T28" fmla="*/ 382 w 653"/>
                <a:gd name="T29" fmla="*/ 462 h 938"/>
                <a:gd name="T30" fmla="*/ 497 w 653"/>
                <a:gd name="T31" fmla="*/ 462 h 938"/>
                <a:gd name="T32" fmla="*/ 497 w 653"/>
                <a:gd name="T33" fmla="*/ 678 h 938"/>
                <a:gd name="T34" fmla="*/ 483 w 653"/>
                <a:gd name="T35" fmla="*/ 692 h 938"/>
                <a:gd name="T36" fmla="*/ 408 w 653"/>
                <a:gd name="T37" fmla="*/ 691 h 938"/>
                <a:gd name="T38" fmla="*/ 439 w 653"/>
                <a:gd name="T39" fmla="*/ 806 h 938"/>
                <a:gd name="T40" fmla="*/ 576 w 653"/>
                <a:gd name="T41" fmla="*/ 786 h 938"/>
                <a:gd name="T42" fmla="*/ 620 w 653"/>
                <a:gd name="T43" fmla="*/ 681 h 938"/>
                <a:gd name="T44" fmla="*/ 620 w 653"/>
                <a:gd name="T45" fmla="*/ 347 h 938"/>
                <a:gd name="T46" fmla="*/ 382 w 653"/>
                <a:gd name="T47" fmla="*/ 347 h 938"/>
                <a:gd name="T48" fmla="*/ 382 w 653"/>
                <a:gd name="T49" fmla="*/ 254 h 938"/>
                <a:gd name="T50" fmla="*/ 653 w 653"/>
                <a:gd name="T51" fmla="*/ 254 h 938"/>
                <a:gd name="T52" fmla="*/ 653 w 653"/>
                <a:gd name="T53" fmla="*/ 140 h 938"/>
                <a:gd name="T54" fmla="*/ 382 w 653"/>
                <a:gd name="T55" fmla="*/ 140 h 938"/>
                <a:gd name="T56" fmla="*/ 382 w 653"/>
                <a:gd name="T57" fmla="*/ 0 h 9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53" h="938">
                  <a:moveTo>
                    <a:pt x="382" y="0"/>
                  </a:moveTo>
                  <a:cubicBezTo>
                    <a:pt x="257" y="0"/>
                    <a:pt x="257" y="0"/>
                    <a:pt x="257" y="0"/>
                  </a:cubicBezTo>
                  <a:cubicBezTo>
                    <a:pt x="257" y="140"/>
                    <a:pt x="257" y="140"/>
                    <a:pt x="257" y="140"/>
                  </a:cubicBezTo>
                  <a:cubicBezTo>
                    <a:pt x="0" y="140"/>
                    <a:pt x="0" y="140"/>
                    <a:pt x="0" y="140"/>
                  </a:cubicBezTo>
                  <a:cubicBezTo>
                    <a:pt x="0" y="254"/>
                    <a:pt x="0" y="254"/>
                    <a:pt x="0" y="254"/>
                  </a:cubicBezTo>
                  <a:cubicBezTo>
                    <a:pt x="257" y="254"/>
                    <a:pt x="257" y="254"/>
                    <a:pt x="257" y="254"/>
                  </a:cubicBezTo>
                  <a:cubicBezTo>
                    <a:pt x="257" y="347"/>
                    <a:pt x="257" y="347"/>
                    <a:pt x="257" y="347"/>
                  </a:cubicBezTo>
                  <a:cubicBezTo>
                    <a:pt x="29" y="347"/>
                    <a:pt x="29" y="347"/>
                    <a:pt x="29" y="347"/>
                  </a:cubicBezTo>
                  <a:cubicBezTo>
                    <a:pt x="29" y="807"/>
                    <a:pt x="29" y="807"/>
                    <a:pt x="29" y="807"/>
                  </a:cubicBezTo>
                  <a:cubicBezTo>
                    <a:pt x="148" y="807"/>
                    <a:pt x="148" y="807"/>
                    <a:pt x="148" y="807"/>
                  </a:cubicBezTo>
                  <a:cubicBezTo>
                    <a:pt x="148" y="462"/>
                    <a:pt x="148" y="462"/>
                    <a:pt x="148" y="462"/>
                  </a:cubicBezTo>
                  <a:cubicBezTo>
                    <a:pt x="257" y="462"/>
                    <a:pt x="257" y="462"/>
                    <a:pt x="257" y="462"/>
                  </a:cubicBezTo>
                  <a:cubicBezTo>
                    <a:pt x="257" y="938"/>
                    <a:pt x="257" y="938"/>
                    <a:pt x="257" y="938"/>
                  </a:cubicBezTo>
                  <a:cubicBezTo>
                    <a:pt x="382" y="938"/>
                    <a:pt x="382" y="938"/>
                    <a:pt x="382" y="938"/>
                  </a:cubicBezTo>
                  <a:cubicBezTo>
                    <a:pt x="382" y="462"/>
                    <a:pt x="382" y="462"/>
                    <a:pt x="382" y="462"/>
                  </a:cubicBezTo>
                  <a:cubicBezTo>
                    <a:pt x="497" y="462"/>
                    <a:pt x="497" y="462"/>
                    <a:pt x="497" y="462"/>
                  </a:cubicBezTo>
                  <a:cubicBezTo>
                    <a:pt x="497" y="678"/>
                    <a:pt x="497" y="678"/>
                    <a:pt x="497" y="678"/>
                  </a:cubicBezTo>
                  <a:cubicBezTo>
                    <a:pt x="497" y="689"/>
                    <a:pt x="494" y="692"/>
                    <a:pt x="483" y="692"/>
                  </a:cubicBezTo>
                  <a:cubicBezTo>
                    <a:pt x="472" y="692"/>
                    <a:pt x="438" y="692"/>
                    <a:pt x="408" y="691"/>
                  </a:cubicBezTo>
                  <a:cubicBezTo>
                    <a:pt x="422" y="724"/>
                    <a:pt x="436" y="772"/>
                    <a:pt x="439" y="806"/>
                  </a:cubicBezTo>
                  <a:cubicBezTo>
                    <a:pt x="498" y="806"/>
                    <a:pt x="543" y="805"/>
                    <a:pt x="576" y="786"/>
                  </a:cubicBezTo>
                  <a:cubicBezTo>
                    <a:pt x="611" y="766"/>
                    <a:pt x="620" y="735"/>
                    <a:pt x="620" y="681"/>
                  </a:cubicBezTo>
                  <a:cubicBezTo>
                    <a:pt x="620" y="347"/>
                    <a:pt x="620" y="347"/>
                    <a:pt x="620" y="347"/>
                  </a:cubicBezTo>
                  <a:cubicBezTo>
                    <a:pt x="382" y="347"/>
                    <a:pt x="382" y="347"/>
                    <a:pt x="382" y="347"/>
                  </a:cubicBezTo>
                  <a:cubicBezTo>
                    <a:pt x="382" y="254"/>
                    <a:pt x="382" y="254"/>
                    <a:pt x="382" y="254"/>
                  </a:cubicBezTo>
                  <a:cubicBezTo>
                    <a:pt x="653" y="254"/>
                    <a:pt x="653" y="254"/>
                    <a:pt x="653" y="254"/>
                  </a:cubicBezTo>
                  <a:cubicBezTo>
                    <a:pt x="653" y="140"/>
                    <a:pt x="653" y="140"/>
                    <a:pt x="653" y="140"/>
                  </a:cubicBezTo>
                  <a:cubicBezTo>
                    <a:pt x="382" y="140"/>
                    <a:pt x="382" y="140"/>
                    <a:pt x="382" y="140"/>
                  </a:cubicBezTo>
                  <a:lnTo>
                    <a:pt x="382" y="0"/>
                  </a:lnTo>
                  <a:close/>
                </a:path>
              </a:pathLst>
            </a:custGeom>
            <a:solidFill>
              <a:srgbClr val="002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47" name="Freeform 142">
              <a:extLst>
                <a:ext uri="{FF2B5EF4-FFF2-40B4-BE49-F238E27FC236}">
                  <a16:creationId xmlns:a16="http://schemas.microsoft.com/office/drawing/2014/main" id="{D096CF3E-6899-8E4D-66D5-C35FDA184DF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4859337" y="-4202113"/>
              <a:ext cx="50800" cy="42863"/>
            </a:xfrm>
            <a:custGeom>
              <a:avLst/>
              <a:gdLst>
                <a:gd name="T0" fmla="*/ 230 w 230"/>
                <a:gd name="T1" fmla="*/ 98 h 197"/>
                <a:gd name="T2" fmla="*/ 58 w 230"/>
                <a:gd name="T3" fmla="*/ 0 h 197"/>
                <a:gd name="T4" fmla="*/ 0 w 230"/>
                <a:gd name="T5" fmla="*/ 89 h 197"/>
                <a:gd name="T6" fmla="*/ 170 w 230"/>
                <a:gd name="T7" fmla="*/ 197 h 197"/>
                <a:gd name="T8" fmla="*/ 230 w 230"/>
                <a:gd name="T9" fmla="*/ 98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0" h="197">
                  <a:moveTo>
                    <a:pt x="230" y="98"/>
                  </a:moveTo>
                  <a:cubicBezTo>
                    <a:pt x="189" y="69"/>
                    <a:pt x="110" y="26"/>
                    <a:pt x="58" y="0"/>
                  </a:cubicBezTo>
                  <a:cubicBezTo>
                    <a:pt x="0" y="89"/>
                    <a:pt x="0" y="89"/>
                    <a:pt x="0" y="89"/>
                  </a:cubicBezTo>
                  <a:cubicBezTo>
                    <a:pt x="55" y="119"/>
                    <a:pt x="133" y="167"/>
                    <a:pt x="170" y="197"/>
                  </a:cubicBezTo>
                  <a:lnTo>
                    <a:pt x="230" y="98"/>
                  </a:lnTo>
                  <a:close/>
                </a:path>
              </a:pathLst>
            </a:custGeom>
            <a:solidFill>
              <a:srgbClr val="002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48" name="Freeform 143">
              <a:extLst>
                <a:ext uri="{FF2B5EF4-FFF2-40B4-BE49-F238E27FC236}">
                  <a16:creationId xmlns:a16="http://schemas.microsoft.com/office/drawing/2014/main" id="{0BEDC31A-510D-B5D1-8CC0-88C23342E8E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4852987" y="-4148138"/>
              <a:ext cx="55563" cy="88900"/>
            </a:xfrm>
            <a:custGeom>
              <a:avLst/>
              <a:gdLst>
                <a:gd name="T0" fmla="*/ 0 w 250"/>
                <a:gd name="T1" fmla="*/ 317 h 397"/>
                <a:gd name="T2" fmla="*/ 90 w 250"/>
                <a:gd name="T3" fmla="*/ 397 h 397"/>
                <a:gd name="T4" fmla="*/ 250 w 250"/>
                <a:gd name="T5" fmla="*/ 81 h 397"/>
                <a:gd name="T6" fmla="*/ 173 w 250"/>
                <a:gd name="T7" fmla="*/ 0 h 397"/>
                <a:gd name="T8" fmla="*/ 0 w 250"/>
                <a:gd name="T9" fmla="*/ 317 h 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0" h="397">
                  <a:moveTo>
                    <a:pt x="0" y="317"/>
                  </a:moveTo>
                  <a:cubicBezTo>
                    <a:pt x="90" y="397"/>
                    <a:pt x="90" y="397"/>
                    <a:pt x="90" y="397"/>
                  </a:cubicBezTo>
                  <a:cubicBezTo>
                    <a:pt x="144" y="300"/>
                    <a:pt x="203" y="186"/>
                    <a:pt x="250" y="81"/>
                  </a:cubicBezTo>
                  <a:cubicBezTo>
                    <a:pt x="173" y="0"/>
                    <a:pt x="173" y="0"/>
                    <a:pt x="173" y="0"/>
                  </a:cubicBezTo>
                  <a:cubicBezTo>
                    <a:pt x="119" y="117"/>
                    <a:pt x="48" y="241"/>
                    <a:pt x="0" y="317"/>
                  </a:cubicBezTo>
                  <a:close/>
                </a:path>
              </a:pathLst>
            </a:custGeom>
            <a:solidFill>
              <a:srgbClr val="002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49" name="Freeform 144">
              <a:extLst>
                <a:ext uri="{FF2B5EF4-FFF2-40B4-BE49-F238E27FC236}">
                  <a16:creationId xmlns:a16="http://schemas.microsoft.com/office/drawing/2014/main" id="{042EEE9F-C3F4-0FF5-F741-ED303DB4F7E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4471987" y="-4264025"/>
              <a:ext cx="177800" cy="206375"/>
            </a:xfrm>
            <a:custGeom>
              <a:avLst/>
              <a:gdLst>
                <a:gd name="T0" fmla="*/ 515 w 799"/>
                <a:gd name="T1" fmla="*/ 551 h 929"/>
                <a:gd name="T2" fmla="*/ 763 w 799"/>
                <a:gd name="T3" fmla="*/ 357 h 929"/>
                <a:gd name="T4" fmla="*/ 652 w 799"/>
                <a:gd name="T5" fmla="*/ 276 h 929"/>
                <a:gd name="T6" fmla="*/ 457 w 799"/>
                <a:gd name="T7" fmla="*/ 460 h 929"/>
                <a:gd name="T8" fmla="*/ 385 w 799"/>
                <a:gd name="T9" fmla="*/ 284 h 929"/>
                <a:gd name="T10" fmla="*/ 385 w 799"/>
                <a:gd name="T11" fmla="*/ 201 h 929"/>
                <a:gd name="T12" fmla="*/ 449 w 799"/>
                <a:gd name="T13" fmla="*/ 233 h 929"/>
                <a:gd name="T14" fmla="*/ 514 w 799"/>
                <a:gd name="T15" fmla="*/ 122 h 929"/>
                <a:gd name="T16" fmla="*/ 140 w 799"/>
                <a:gd name="T17" fmla="*/ 0 h 929"/>
                <a:gd name="T18" fmla="*/ 79 w 799"/>
                <a:gd name="T19" fmla="*/ 97 h 929"/>
                <a:gd name="T20" fmla="*/ 378 w 799"/>
                <a:gd name="T21" fmla="*/ 198 h 929"/>
                <a:gd name="T22" fmla="*/ 0 w 799"/>
                <a:gd name="T23" fmla="*/ 198 h 929"/>
                <a:gd name="T24" fmla="*/ 0 w 799"/>
                <a:gd name="T25" fmla="*/ 312 h 929"/>
                <a:gd name="T26" fmla="*/ 255 w 799"/>
                <a:gd name="T27" fmla="*/ 312 h 929"/>
                <a:gd name="T28" fmla="*/ 255 w 799"/>
                <a:gd name="T29" fmla="*/ 790 h 929"/>
                <a:gd name="T30" fmla="*/ 230 w 799"/>
                <a:gd name="T31" fmla="*/ 812 h 929"/>
                <a:gd name="T32" fmla="*/ 98 w 799"/>
                <a:gd name="T33" fmla="*/ 810 h 929"/>
                <a:gd name="T34" fmla="*/ 139 w 799"/>
                <a:gd name="T35" fmla="*/ 929 h 929"/>
                <a:gd name="T36" fmla="*/ 328 w 799"/>
                <a:gd name="T37" fmla="*/ 909 h 929"/>
                <a:gd name="T38" fmla="*/ 385 w 799"/>
                <a:gd name="T39" fmla="*/ 792 h 929"/>
                <a:gd name="T40" fmla="*/ 385 w 799"/>
                <a:gd name="T41" fmla="*/ 562 h 929"/>
                <a:gd name="T42" fmla="*/ 714 w 799"/>
                <a:gd name="T43" fmla="*/ 872 h 929"/>
                <a:gd name="T44" fmla="*/ 799 w 799"/>
                <a:gd name="T45" fmla="*/ 768 h 929"/>
                <a:gd name="T46" fmla="*/ 515 w 799"/>
                <a:gd name="T47" fmla="*/ 551 h 9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99" h="929">
                  <a:moveTo>
                    <a:pt x="515" y="551"/>
                  </a:moveTo>
                  <a:cubicBezTo>
                    <a:pt x="593" y="500"/>
                    <a:pt x="686" y="425"/>
                    <a:pt x="763" y="357"/>
                  </a:cubicBezTo>
                  <a:cubicBezTo>
                    <a:pt x="652" y="276"/>
                    <a:pt x="652" y="276"/>
                    <a:pt x="652" y="276"/>
                  </a:cubicBezTo>
                  <a:cubicBezTo>
                    <a:pt x="603" y="336"/>
                    <a:pt x="527" y="406"/>
                    <a:pt x="457" y="460"/>
                  </a:cubicBezTo>
                  <a:cubicBezTo>
                    <a:pt x="429" y="406"/>
                    <a:pt x="404" y="347"/>
                    <a:pt x="385" y="284"/>
                  </a:cubicBezTo>
                  <a:cubicBezTo>
                    <a:pt x="385" y="201"/>
                    <a:pt x="385" y="201"/>
                    <a:pt x="385" y="201"/>
                  </a:cubicBezTo>
                  <a:cubicBezTo>
                    <a:pt x="409" y="212"/>
                    <a:pt x="432" y="223"/>
                    <a:pt x="449" y="233"/>
                  </a:cubicBezTo>
                  <a:cubicBezTo>
                    <a:pt x="514" y="122"/>
                    <a:pt x="514" y="122"/>
                    <a:pt x="514" y="122"/>
                  </a:cubicBezTo>
                  <a:cubicBezTo>
                    <a:pt x="428" y="78"/>
                    <a:pt x="258" y="25"/>
                    <a:pt x="140" y="0"/>
                  </a:cubicBezTo>
                  <a:cubicBezTo>
                    <a:pt x="79" y="97"/>
                    <a:pt x="79" y="97"/>
                    <a:pt x="79" y="97"/>
                  </a:cubicBezTo>
                  <a:cubicBezTo>
                    <a:pt x="173" y="121"/>
                    <a:pt x="291" y="160"/>
                    <a:pt x="378" y="198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312"/>
                    <a:pt x="0" y="312"/>
                    <a:pt x="0" y="312"/>
                  </a:cubicBezTo>
                  <a:cubicBezTo>
                    <a:pt x="255" y="312"/>
                    <a:pt x="255" y="312"/>
                    <a:pt x="255" y="312"/>
                  </a:cubicBezTo>
                  <a:cubicBezTo>
                    <a:pt x="255" y="790"/>
                    <a:pt x="255" y="790"/>
                    <a:pt x="255" y="790"/>
                  </a:cubicBezTo>
                  <a:cubicBezTo>
                    <a:pt x="255" y="806"/>
                    <a:pt x="249" y="811"/>
                    <a:pt x="230" y="812"/>
                  </a:cubicBezTo>
                  <a:cubicBezTo>
                    <a:pt x="212" y="813"/>
                    <a:pt x="149" y="813"/>
                    <a:pt x="98" y="810"/>
                  </a:cubicBezTo>
                  <a:cubicBezTo>
                    <a:pt x="114" y="842"/>
                    <a:pt x="133" y="895"/>
                    <a:pt x="139" y="929"/>
                  </a:cubicBezTo>
                  <a:cubicBezTo>
                    <a:pt x="224" y="929"/>
                    <a:pt x="286" y="928"/>
                    <a:pt x="328" y="909"/>
                  </a:cubicBezTo>
                  <a:cubicBezTo>
                    <a:pt x="372" y="889"/>
                    <a:pt x="385" y="857"/>
                    <a:pt x="385" y="792"/>
                  </a:cubicBezTo>
                  <a:cubicBezTo>
                    <a:pt x="385" y="562"/>
                    <a:pt x="385" y="562"/>
                    <a:pt x="385" y="562"/>
                  </a:cubicBezTo>
                  <a:cubicBezTo>
                    <a:pt x="461" y="700"/>
                    <a:pt x="566" y="807"/>
                    <a:pt x="714" y="872"/>
                  </a:cubicBezTo>
                  <a:cubicBezTo>
                    <a:pt x="732" y="840"/>
                    <a:pt x="770" y="791"/>
                    <a:pt x="799" y="768"/>
                  </a:cubicBezTo>
                  <a:cubicBezTo>
                    <a:pt x="679" y="722"/>
                    <a:pt x="587" y="648"/>
                    <a:pt x="515" y="551"/>
                  </a:cubicBezTo>
                  <a:close/>
                </a:path>
              </a:pathLst>
            </a:custGeom>
            <a:solidFill>
              <a:srgbClr val="002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50" name="Freeform 145">
              <a:extLst>
                <a:ext uri="{FF2B5EF4-FFF2-40B4-BE49-F238E27FC236}">
                  <a16:creationId xmlns:a16="http://schemas.microsoft.com/office/drawing/2014/main" id="{52FB3981-0A25-F635-1322-0F35037F4CD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4510087" y="-4176713"/>
              <a:ext cx="84138" cy="106363"/>
            </a:xfrm>
            <a:custGeom>
              <a:avLst/>
              <a:gdLst>
                <a:gd name="T0" fmla="*/ 295 w 377"/>
                <a:gd name="T1" fmla="*/ 0 h 479"/>
                <a:gd name="T2" fmla="*/ 274 w 377"/>
                <a:gd name="T3" fmla="*/ 5 h 479"/>
                <a:gd name="T4" fmla="*/ 26 w 377"/>
                <a:gd name="T5" fmla="*/ 5 h 479"/>
                <a:gd name="T6" fmla="*/ 26 w 377"/>
                <a:gd name="T7" fmla="*/ 117 h 479"/>
                <a:gd name="T8" fmla="*/ 223 w 377"/>
                <a:gd name="T9" fmla="*/ 117 h 479"/>
                <a:gd name="T10" fmla="*/ 0 w 377"/>
                <a:gd name="T11" fmla="*/ 390 h 479"/>
                <a:gd name="T12" fmla="*/ 98 w 377"/>
                <a:gd name="T13" fmla="*/ 479 h 479"/>
                <a:gd name="T14" fmla="*/ 377 w 377"/>
                <a:gd name="T15" fmla="*/ 34 h 479"/>
                <a:gd name="T16" fmla="*/ 295 w 377"/>
                <a:gd name="T17" fmla="*/ 0 h 4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77" h="479">
                  <a:moveTo>
                    <a:pt x="295" y="0"/>
                  </a:moveTo>
                  <a:cubicBezTo>
                    <a:pt x="274" y="5"/>
                    <a:pt x="274" y="5"/>
                    <a:pt x="274" y="5"/>
                  </a:cubicBezTo>
                  <a:cubicBezTo>
                    <a:pt x="26" y="5"/>
                    <a:pt x="26" y="5"/>
                    <a:pt x="26" y="5"/>
                  </a:cubicBezTo>
                  <a:cubicBezTo>
                    <a:pt x="26" y="117"/>
                    <a:pt x="26" y="117"/>
                    <a:pt x="26" y="117"/>
                  </a:cubicBezTo>
                  <a:cubicBezTo>
                    <a:pt x="223" y="117"/>
                    <a:pt x="223" y="117"/>
                    <a:pt x="223" y="117"/>
                  </a:cubicBezTo>
                  <a:cubicBezTo>
                    <a:pt x="176" y="236"/>
                    <a:pt x="96" y="334"/>
                    <a:pt x="0" y="390"/>
                  </a:cubicBezTo>
                  <a:cubicBezTo>
                    <a:pt x="30" y="408"/>
                    <a:pt x="77" y="454"/>
                    <a:pt x="98" y="479"/>
                  </a:cubicBezTo>
                  <a:cubicBezTo>
                    <a:pt x="222" y="397"/>
                    <a:pt x="328" y="242"/>
                    <a:pt x="377" y="34"/>
                  </a:cubicBezTo>
                  <a:lnTo>
                    <a:pt x="295" y="0"/>
                  </a:lnTo>
                  <a:close/>
                </a:path>
              </a:pathLst>
            </a:custGeom>
            <a:solidFill>
              <a:srgbClr val="002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51" name="Freeform 146">
              <a:extLst>
                <a:ext uri="{FF2B5EF4-FFF2-40B4-BE49-F238E27FC236}">
                  <a16:creationId xmlns:a16="http://schemas.microsoft.com/office/drawing/2014/main" id="{915FFF10-E437-CCAF-D192-BD4CBC9BDBB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-4076700" y="-4211638"/>
              <a:ext cx="130175" cy="46038"/>
            </a:xfrm>
            <a:custGeom>
              <a:avLst/>
              <a:gdLst>
                <a:gd name="T0" fmla="*/ 0 w 82"/>
                <a:gd name="T1" fmla="*/ 29 h 29"/>
                <a:gd name="T2" fmla="*/ 82 w 82"/>
                <a:gd name="T3" fmla="*/ 29 h 29"/>
                <a:gd name="T4" fmla="*/ 82 w 82"/>
                <a:gd name="T5" fmla="*/ 0 h 29"/>
                <a:gd name="T6" fmla="*/ 0 w 82"/>
                <a:gd name="T7" fmla="*/ 0 h 29"/>
                <a:gd name="T8" fmla="*/ 0 w 82"/>
                <a:gd name="T9" fmla="*/ 29 h 29"/>
                <a:gd name="T10" fmla="*/ 58 w 82"/>
                <a:gd name="T11" fmla="*/ 10 h 29"/>
                <a:gd name="T12" fmla="*/ 67 w 82"/>
                <a:gd name="T13" fmla="*/ 10 h 29"/>
                <a:gd name="T14" fmla="*/ 67 w 82"/>
                <a:gd name="T15" fmla="*/ 19 h 29"/>
                <a:gd name="T16" fmla="*/ 58 w 82"/>
                <a:gd name="T17" fmla="*/ 19 h 29"/>
                <a:gd name="T18" fmla="*/ 58 w 82"/>
                <a:gd name="T19" fmla="*/ 10 h 29"/>
                <a:gd name="T20" fmla="*/ 36 w 82"/>
                <a:gd name="T21" fmla="*/ 10 h 29"/>
                <a:gd name="T22" fmla="*/ 46 w 82"/>
                <a:gd name="T23" fmla="*/ 10 h 29"/>
                <a:gd name="T24" fmla="*/ 46 w 82"/>
                <a:gd name="T25" fmla="*/ 19 h 29"/>
                <a:gd name="T26" fmla="*/ 36 w 82"/>
                <a:gd name="T27" fmla="*/ 19 h 29"/>
                <a:gd name="T28" fmla="*/ 36 w 82"/>
                <a:gd name="T29" fmla="*/ 10 h 29"/>
                <a:gd name="T30" fmla="*/ 13 w 82"/>
                <a:gd name="T31" fmla="*/ 10 h 29"/>
                <a:gd name="T32" fmla="*/ 24 w 82"/>
                <a:gd name="T33" fmla="*/ 10 h 29"/>
                <a:gd name="T34" fmla="*/ 24 w 82"/>
                <a:gd name="T35" fmla="*/ 19 h 29"/>
                <a:gd name="T36" fmla="*/ 13 w 82"/>
                <a:gd name="T37" fmla="*/ 19 h 29"/>
                <a:gd name="T38" fmla="*/ 13 w 82"/>
                <a:gd name="T39" fmla="*/ 1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2" h="29">
                  <a:moveTo>
                    <a:pt x="0" y="29"/>
                  </a:moveTo>
                  <a:lnTo>
                    <a:pt x="82" y="29"/>
                  </a:lnTo>
                  <a:lnTo>
                    <a:pt x="82" y="0"/>
                  </a:lnTo>
                  <a:lnTo>
                    <a:pt x="0" y="0"/>
                  </a:lnTo>
                  <a:lnTo>
                    <a:pt x="0" y="29"/>
                  </a:lnTo>
                  <a:close/>
                  <a:moveTo>
                    <a:pt x="58" y="10"/>
                  </a:moveTo>
                  <a:lnTo>
                    <a:pt x="67" y="10"/>
                  </a:lnTo>
                  <a:lnTo>
                    <a:pt x="67" y="19"/>
                  </a:lnTo>
                  <a:lnTo>
                    <a:pt x="58" y="19"/>
                  </a:lnTo>
                  <a:lnTo>
                    <a:pt x="58" y="10"/>
                  </a:lnTo>
                  <a:close/>
                  <a:moveTo>
                    <a:pt x="36" y="10"/>
                  </a:moveTo>
                  <a:lnTo>
                    <a:pt x="46" y="10"/>
                  </a:lnTo>
                  <a:lnTo>
                    <a:pt x="46" y="19"/>
                  </a:lnTo>
                  <a:lnTo>
                    <a:pt x="36" y="19"/>
                  </a:lnTo>
                  <a:lnTo>
                    <a:pt x="36" y="10"/>
                  </a:lnTo>
                  <a:close/>
                  <a:moveTo>
                    <a:pt x="13" y="10"/>
                  </a:moveTo>
                  <a:lnTo>
                    <a:pt x="24" y="10"/>
                  </a:lnTo>
                  <a:lnTo>
                    <a:pt x="24" y="19"/>
                  </a:lnTo>
                  <a:lnTo>
                    <a:pt x="13" y="19"/>
                  </a:lnTo>
                  <a:lnTo>
                    <a:pt x="13" y="10"/>
                  </a:lnTo>
                  <a:close/>
                </a:path>
              </a:pathLst>
            </a:custGeom>
            <a:solidFill>
              <a:srgbClr val="002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52" name="Freeform 147">
              <a:extLst>
                <a:ext uri="{FF2B5EF4-FFF2-40B4-BE49-F238E27FC236}">
                  <a16:creationId xmlns:a16="http://schemas.microsoft.com/office/drawing/2014/main" id="{3DBD5D6B-6205-CAB0-C5AD-4EF4B5F51E1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4078287" y="-4267200"/>
              <a:ext cx="131763" cy="49213"/>
            </a:xfrm>
            <a:custGeom>
              <a:avLst/>
              <a:gdLst>
                <a:gd name="T0" fmla="*/ 34 w 83"/>
                <a:gd name="T1" fmla="*/ 0 h 31"/>
                <a:gd name="T2" fmla="*/ 34 w 83"/>
                <a:gd name="T3" fmla="*/ 6 h 31"/>
                <a:gd name="T4" fmla="*/ 0 w 83"/>
                <a:gd name="T5" fmla="*/ 6 h 31"/>
                <a:gd name="T6" fmla="*/ 0 w 83"/>
                <a:gd name="T7" fmla="*/ 17 h 31"/>
                <a:gd name="T8" fmla="*/ 34 w 83"/>
                <a:gd name="T9" fmla="*/ 17 h 31"/>
                <a:gd name="T10" fmla="*/ 34 w 83"/>
                <a:gd name="T11" fmla="*/ 21 h 31"/>
                <a:gd name="T12" fmla="*/ 5 w 83"/>
                <a:gd name="T13" fmla="*/ 21 h 31"/>
                <a:gd name="T14" fmla="*/ 5 w 83"/>
                <a:gd name="T15" fmla="*/ 31 h 31"/>
                <a:gd name="T16" fmla="*/ 79 w 83"/>
                <a:gd name="T17" fmla="*/ 31 h 31"/>
                <a:gd name="T18" fmla="*/ 79 w 83"/>
                <a:gd name="T19" fmla="*/ 21 h 31"/>
                <a:gd name="T20" fmla="*/ 51 w 83"/>
                <a:gd name="T21" fmla="*/ 21 h 31"/>
                <a:gd name="T22" fmla="*/ 51 w 83"/>
                <a:gd name="T23" fmla="*/ 17 h 31"/>
                <a:gd name="T24" fmla="*/ 83 w 83"/>
                <a:gd name="T25" fmla="*/ 17 h 31"/>
                <a:gd name="T26" fmla="*/ 83 w 83"/>
                <a:gd name="T27" fmla="*/ 6 h 31"/>
                <a:gd name="T28" fmla="*/ 51 w 83"/>
                <a:gd name="T29" fmla="*/ 6 h 31"/>
                <a:gd name="T30" fmla="*/ 51 w 83"/>
                <a:gd name="T31" fmla="*/ 0 h 31"/>
                <a:gd name="T32" fmla="*/ 34 w 83"/>
                <a:gd name="T33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3" h="31">
                  <a:moveTo>
                    <a:pt x="34" y="0"/>
                  </a:moveTo>
                  <a:lnTo>
                    <a:pt x="34" y="6"/>
                  </a:lnTo>
                  <a:lnTo>
                    <a:pt x="0" y="6"/>
                  </a:lnTo>
                  <a:lnTo>
                    <a:pt x="0" y="17"/>
                  </a:lnTo>
                  <a:lnTo>
                    <a:pt x="34" y="17"/>
                  </a:lnTo>
                  <a:lnTo>
                    <a:pt x="34" y="21"/>
                  </a:lnTo>
                  <a:lnTo>
                    <a:pt x="5" y="21"/>
                  </a:lnTo>
                  <a:lnTo>
                    <a:pt x="5" y="31"/>
                  </a:lnTo>
                  <a:lnTo>
                    <a:pt x="79" y="31"/>
                  </a:lnTo>
                  <a:lnTo>
                    <a:pt x="79" y="21"/>
                  </a:lnTo>
                  <a:lnTo>
                    <a:pt x="51" y="21"/>
                  </a:lnTo>
                  <a:lnTo>
                    <a:pt x="51" y="17"/>
                  </a:lnTo>
                  <a:lnTo>
                    <a:pt x="83" y="17"/>
                  </a:lnTo>
                  <a:lnTo>
                    <a:pt x="83" y="6"/>
                  </a:lnTo>
                  <a:lnTo>
                    <a:pt x="51" y="6"/>
                  </a:lnTo>
                  <a:lnTo>
                    <a:pt x="51" y="0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rgbClr val="002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53" name="Freeform 148">
              <a:extLst>
                <a:ext uri="{FF2B5EF4-FFF2-40B4-BE49-F238E27FC236}">
                  <a16:creationId xmlns:a16="http://schemas.microsoft.com/office/drawing/2014/main" id="{47525B68-2726-ECC8-143C-B5D589BEDD1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4156075" y="-4267200"/>
              <a:ext cx="82550" cy="141288"/>
            </a:xfrm>
            <a:custGeom>
              <a:avLst/>
              <a:gdLst>
                <a:gd name="T0" fmla="*/ 145 w 370"/>
                <a:gd name="T1" fmla="*/ 376 h 632"/>
                <a:gd name="T2" fmla="*/ 83 w 370"/>
                <a:gd name="T3" fmla="*/ 464 h 632"/>
                <a:gd name="T4" fmla="*/ 7 w 370"/>
                <a:gd name="T5" fmla="*/ 531 h 632"/>
                <a:gd name="T6" fmla="*/ 42 w 370"/>
                <a:gd name="T7" fmla="*/ 629 h 632"/>
                <a:gd name="T8" fmla="*/ 277 w 370"/>
                <a:gd name="T9" fmla="*/ 583 h 632"/>
                <a:gd name="T10" fmla="*/ 284 w 370"/>
                <a:gd name="T11" fmla="*/ 632 h 632"/>
                <a:gd name="T12" fmla="*/ 370 w 370"/>
                <a:gd name="T13" fmla="*/ 604 h 632"/>
                <a:gd name="T14" fmla="*/ 316 w 370"/>
                <a:gd name="T15" fmla="*/ 395 h 632"/>
                <a:gd name="T16" fmla="*/ 236 w 370"/>
                <a:gd name="T17" fmla="*/ 416 h 632"/>
                <a:gd name="T18" fmla="*/ 258 w 370"/>
                <a:gd name="T19" fmla="*/ 493 h 632"/>
                <a:gd name="T20" fmla="*/ 164 w 370"/>
                <a:gd name="T21" fmla="*/ 504 h 632"/>
                <a:gd name="T22" fmla="*/ 362 w 370"/>
                <a:gd name="T23" fmla="*/ 197 h 632"/>
                <a:gd name="T24" fmla="*/ 270 w 370"/>
                <a:gd name="T25" fmla="*/ 142 h 632"/>
                <a:gd name="T26" fmla="*/ 204 w 370"/>
                <a:gd name="T27" fmla="*/ 277 h 632"/>
                <a:gd name="T28" fmla="*/ 139 w 370"/>
                <a:gd name="T29" fmla="*/ 282 h 632"/>
                <a:gd name="T30" fmla="*/ 264 w 370"/>
                <a:gd name="T31" fmla="*/ 39 h 632"/>
                <a:gd name="T32" fmla="*/ 165 w 370"/>
                <a:gd name="T33" fmla="*/ 0 h 632"/>
                <a:gd name="T34" fmla="*/ 54 w 370"/>
                <a:gd name="T35" fmla="*/ 248 h 632"/>
                <a:gd name="T36" fmla="*/ 0 w 370"/>
                <a:gd name="T37" fmla="*/ 304 h 632"/>
                <a:gd name="T38" fmla="*/ 34 w 370"/>
                <a:gd name="T39" fmla="*/ 397 h 632"/>
                <a:gd name="T40" fmla="*/ 145 w 370"/>
                <a:gd name="T41" fmla="*/ 376 h 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70" h="632">
                  <a:moveTo>
                    <a:pt x="145" y="376"/>
                  </a:moveTo>
                  <a:cubicBezTo>
                    <a:pt x="117" y="418"/>
                    <a:pt x="95" y="449"/>
                    <a:pt x="83" y="464"/>
                  </a:cubicBezTo>
                  <a:cubicBezTo>
                    <a:pt x="52" y="502"/>
                    <a:pt x="32" y="526"/>
                    <a:pt x="7" y="531"/>
                  </a:cubicBezTo>
                  <a:cubicBezTo>
                    <a:pt x="20" y="558"/>
                    <a:pt x="36" y="608"/>
                    <a:pt x="42" y="629"/>
                  </a:cubicBezTo>
                  <a:cubicBezTo>
                    <a:pt x="63" y="618"/>
                    <a:pt x="97" y="609"/>
                    <a:pt x="277" y="583"/>
                  </a:cubicBezTo>
                  <a:cubicBezTo>
                    <a:pt x="280" y="601"/>
                    <a:pt x="282" y="617"/>
                    <a:pt x="284" y="632"/>
                  </a:cubicBezTo>
                  <a:cubicBezTo>
                    <a:pt x="370" y="604"/>
                    <a:pt x="370" y="604"/>
                    <a:pt x="370" y="604"/>
                  </a:cubicBezTo>
                  <a:cubicBezTo>
                    <a:pt x="363" y="551"/>
                    <a:pt x="339" y="463"/>
                    <a:pt x="316" y="395"/>
                  </a:cubicBezTo>
                  <a:cubicBezTo>
                    <a:pt x="236" y="416"/>
                    <a:pt x="236" y="416"/>
                    <a:pt x="236" y="416"/>
                  </a:cubicBezTo>
                  <a:cubicBezTo>
                    <a:pt x="244" y="439"/>
                    <a:pt x="251" y="466"/>
                    <a:pt x="258" y="493"/>
                  </a:cubicBezTo>
                  <a:cubicBezTo>
                    <a:pt x="164" y="504"/>
                    <a:pt x="164" y="504"/>
                    <a:pt x="164" y="504"/>
                  </a:cubicBezTo>
                  <a:cubicBezTo>
                    <a:pt x="238" y="413"/>
                    <a:pt x="308" y="302"/>
                    <a:pt x="362" y="197"/>
                  </a:cubicBezTo>
                  <a:cubicBezTo>
                    <a:pt x="270" y="142"/>
                    <a:pt x="270" y="142"/>
                    <a:pt x="270" y="142"/>
                  </a:cubicBezTo>
                  <a:cubicBezTo>
                    <a:pt x="251" y="188"/>
                    <a:pt x="227" y="235"/>
                    <a:pt x="204" y="277"/>
                  </a:cubicBezTo>
                  <a:cubicBezTo>
                    <a:pt x="139" y="282"/>
                    <a:pt x="139" y="282"/>
                    <a:pt x="139" y="282"/>
                  </a:cubicBezTo>
                  <a:cubicBezTo>
                    <a:pt x="186" y="210"/>
                    <a:pt x="231" y="121"/>
                    <a:pt x="264" y="39"/>
                  </a:cubicBezTo>
                  <a:cubicBezTo>
                    <a:pt x="165" y="0"/>
                    <a:pt x="165" y="0"/>
                    <a:pt x="165" y="0"/>
                  </a:cubicBezTo>
                  <a:cubicBezTo>
                    <a:pt x="133" y="106"/>
                    <a:pt x="74" y="221"/>
                    <a:pt x="54" y="248"/>
                  </a:cubicBezTo>
                  <a:cubicBezTo>
                    <a:pt x="35" y="279"/>
                    <a:pt x="19" y="299"/>
                    <a:pt x="0" y="304"/>
                  </a:cubicBezTo>
                  <a:cubicBezTo>
                    <a:pt x="12" y="329"/>
                    <a:pt x="29" y="377"/>
                    <a:pt x="34" y="397"/>
                  </a:cubicBezTo>
                  <a:cubicBezTo>
                    <a:pt x="49" y="390"/>
                    <a:pt x="71" y="385"/>
                    <a:pt x="145" y="376"/>
                  </a:cubicBezTo>
                  <a:close/>
                </a:path>
              </a:pathLst>
            </a:custGeom>
            <a:solidFill>
              <a:srgbClr val="002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54" name="Freeform 149">
              <a:extLst>
                <a:ext uri="{FF2B5EF4-FFF2-40B4-BE49-F238E27FC236}">
                  <a16:creationId xmlns:a16="http://schemas.microsoft.com/office/drawing/2014/main" id="{D95B7F38-AF7D-07C6-FA2B-737B646AA13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4121150" y="-4121150"/>
              <a:ext cx="22225" cy="55563"/>
            </a:xfrm>
            <a:custGeom>
              <a:avLst/>
              <a:gdLst>
                <a:gd name="T0" fmla="*/ 0 w 103"/>
                <a:gd name="T1" fmla="*/ 14 h 245"/>
                <a:gd name="T2" fmla="*/ 17 w 103"/>
                <a:gd name="T3" fmla="*/ 245 h 245"/>
                <a:gd name="T4" fmla="*/ 103 w 103"/>
                <a:gd name="T5" fmla="*/ 230 h 245"/>
                <a:gd name="T6" fmla="*/ 80 w 103"/>
                <a:gd name="T7" fmla="*/ 0 h 245"/>
                <a:gd name="T8" fmla="*/ 0 w 103"/>
                <a:gd name="T9" fmla="*/ 14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3" h="245">
                  <a:moveTo>
                    <a:pt x="0" y="14"/>
                  </a:moveTo>
                  <a:cubicBezTo>
                    <a:pt x="9" y="88"/>
                    <a:pt x="17" y="182"/>
                    <a:pt x="17" y="245"/>
                  </a:cubicBezTo>
                  <a:cubicBezTo>
                    <a:pt x="103" y="230"/>
                    <a:pt x="103" y="230"/>
                    <a:pt x="103" y="230"/>
                  </a:cubicBezTo>
                  <a:cubicBezTo>
                    <a:pt x="101" y="167"/>
                    <a:pt x="92" y="74"/>
                    <a:pt x="80" y="0"/>
                  </a:cubicBezTo>
                  <a:lnTo>
                    <a:pt x="0" y="14"/>
                  </a:lnTo>
                  <a:close/>
                </a:path>
              </a:pathLst>
            </a:custGeom>
            <a:solidFill>
              <a:srgbClr val="002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55" name="Freeform 150">
              <a:extLst>
                <a:ext uri="{FF2B5EF4-FFF2-40B4-BE49-F238E27FC236}">
                  <a16:creationId xmlns:a16="http://schemas.microsoft.com/office/drawing/2014/main" id="{F398CFF7-2B43-3EBE-55F3-B818676BED4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4156075" y="-4121150"/>
              <a:ext cx="30163" cy="61913"/>
            </a:xfrm>
            <a:custGeom>
              <a:avLst/>
              <a:gdLst>
                <a:gd name="T0" fmla="*/ 0 w 135"/>
                <a:gd name="T1" fmla="*/ 242 h 272"/>
                <a:gd name="T2" fmla="*/ 89 w 135"/>
                <a:gd name="T3" fmla="*/ 272 h 272"/>
                <a:gd name="T4" fmla="*/ 135 w 135"/>
                <a:gd name="T5" fmla="*/ 14 h 272"/>
                <a:gd name="T6" fmla="*/ 43 w 135"/>
                <a:gd name="T7" fmla="*/ 0 h 272"/>
                <a:gd name="T8" fmla="*/ 0 w 135"/>
                <a:gd name="T9" fmla="*/ 242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5" h="272">
                  <a:moveTo>
                    <a:pt x="0" y="242"/>
                  </a:moveTo>
                  <a:cubicBezTo>
                    <a:pt x="25" y="248"/>
                    <a:pt x="69" y="261"/>
                    <a:pt x="89" y="272"/>
                  </a:cubicBezTo>
                  <a:cubicBezTo>
                    <a:pt x="110" y="208"/>
                    <a:pt x="127" y="108"/>
                    <a:pt x="135" y="14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37" y="87"/>
                    <a:pt x="24" y="179"/>
                    <a:pt x="0" y="242"/>
                  </a:cubicBezTo>
                  <a:close/>
                </a:path>
              </a:pathLst>
            </a:custGeom>
            <a:solidFill>
              <a:srgbClr val="002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56" name="Freeform 151">
              <a:extLst>
                <a:ext uri="{FF2B5EF4-FFF2-40B4-BE49-F238E27FC236}">
                  <a16:creationId xmlns:a16="http://schemas.microsoft.com/office/drawing/2014/main" id="{5134BD3D-A392-8D8F-CE1C-23111922168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4100512" y="-4125913"/>
              <a:ext cx="26988" cy="44450"/>
            </a:xfrm>
            <a:custGeom>
              <a:avLst/>
              <a:gdLst>
                <a:gd name="T0" fmla="*/ 74 w 124"/>
                <a:gd name="T1" fmla="*/ 0 h 205"/>
                <a:gd name="T2" fmla="*/ 0 w 124"/>
                <a:gd name="T3" fmla="*/ 21 h 205"/>
                <a:gd name="T4" fmla="*/ 47 w 124"/>
                <a:gd name="T5" fmla="*/ 205 h 205"/>
                <a:gd name="T6" fmla="*/ 124 w 124"/>
                <a:gd name="T7" fmla="*/ 179 h 205"/>
                <a:gd name="T8" fmla="*/ 74 w 124"/>
                <a:gd name="T9" fmla="*/ 0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4" h="205">
                  <a:moveTo>
                    <a:pt x="74" y="0"/>
                  </a:moveTo>
                  <a:cubicBezTo>
                    <a:pt x="0" y="21"/>
                    <a:pt x="0" y="21"/>
                    <a:pt x="0" y="21"/>
                  </a:cubicBezTo>
                  <a:cubicBezTo>
                    <a:pt x="18" y="79"/>
                    <a:pt x="38" y="155"/>
                    <a:pt x="47" y="205"/>
                  </a:cubicBezTo>
                  <a:cubicBezTo>
                    <a:pt x="124" y="179"/>
                    <a:pt x="124" y="179"/>
                    <a:pt x="124" y="179"/>
                  </a:cubicBezTo>
                  <a:cubicBezTo>
                    <a:pt x="116" y="130"/>
                    <a:pt x="93" y="56"/>
                    <a:pt x="74" y="0"/>
                  </a:cubicBezTo>
                  <a:close/>
                </a:path>
              </a:pathLst>
            </a:custGeom>
            <a:solidFill>
              <a:srgbClr val="002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57" name="Freeform 152">
              <a:extLst>
                <a:ext uri="{FF2B5EF4-FFF2-40B4-BE49-F238E27FC236}">
                  <a16:creationId xmlns:a16="http://schemas.microsoft.com/office/drawing/2014/main" id="{5E86188A-AFAB-87D6-1DC0-15FC8657EAD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-4081462" y="-4159250"/>
              <a:ext cx="139700" cy="101600"/>
            </a:xfrm>
            <a:custGeom>
              <a:avLst/>
              <a:gdLst>
                <a:gd name="T0" fmla="*/ 572 w 623"/>
                <a:gd name="T1" fmla="*/ 301 h 455"/>
                <a:gd name="T2" fmla="*/ 572 w 623"/>
                <a:gd name="T3" fmla="*/ 0 h 455"/>
                <a:gd name="T4" fmla="*/ 56 w 623"/>
                <a:gd name="T5" fmla="*/ 0 h 455"/>
                <a:gd name="T6" fmla="*/ 56 w 623"/>
                <a:gd name="T7" fmla="*/ 301 h 455"/>
                <a:gd name="T8" fmla="*/ 193 w 623"/>
                <a:gd name="T9" fmla="*/ 301 h 455"/>
                <a:gd name="T10" fmla="*/ 0 w 623"/>
                <a:gd name="T11" fmla="*/ 373 h 455"/>
                <a:gd name="T12" fmla="*/ 42 w 623"/>
                <a:gd name="T13" fmla="*/ 455 h 455"/>
                <a:gd name="T14" fmla="*/ 299 w 623"/>
                <a:gd name="T15" fmla="*/ 360 h 455"/>
                <a:gd name="T16" fmla="*/ 238 w 623"/>
                <a:gd name="T17" fmla="*/ 301 h 455"/>
                <a:gd name="T18" fmla="*/ 388 w 623"/>
                <a:gd name="T19" fmla="*/ 301 h 455"/>
                <a:gd name="T20" fmla="*/ 355 w 623"/>
                <a:gd name="T21" fmla="*/ 361 h 455"/>
                <a:gd name="T22" fmla="*/ 575 w 623"/>
                <a:gd name="T23" fmla="*/ 450 h 455"/>
                <a:gd name="T24" fmla="*/ 623 w 623"/>
                <a:gd name="T25" fmla="*/ 367 h 455"/>
                <a:gd name="T26" fmla="*/ 439 w 623"/>
                <a:gd name="T27" fmla="*/ 301 h 455"/>
                <a:gd name="T28" fmla="*/ 572 w 623"/>
                <a:gd name="T29" fmla="*/ 301 h 455"/>
                <a:gd name="T30" fmla="*/ 163 w 623"/>
                <a:gd name="T31" fmla="*/ 61 h 455"/>
                <a:gd name="T32" fmla="*/ 459 w 623"/>
                <a:gd name="T33" fmla="*/ 61 h 455"/>
                <a:gd name="T34" fmla="*/ 459 w 623"/>
                <a:gd name="T35" fmla="*/ 91 h 455"/>
                <a:gd name="T36" fmla="*/ 163 w 623"/>
                <a:gd name="T37" fmla="*/ 91 h 455"/>
                <a:gd name="T38" fmla="*/ 163 w 623"/>
                <a:gd name="T39" fmla="*/ 61 h 455"/>
                <a:gd name="T40" fmla="*/ 163 w 623"/>
                <a:gd name="T41" fmla="*/ 135 h 455"/>
                <a:gd name="T42" fmla="*/ 459 w 623"/>
                <a:gd name="T43" fmla="*/ 135 h 455"/>
                <a:gd name="T44" fmla="*/ 459 w 623"/>
                <a:gd name="T45" fmla="*/ 166 h 455"/>
                <a:gd name="T46" fmla="*/ 163 w 623"/>
                <a:gd name="T47" fmla="*/ 166 h 455"/>
                <a:gd name="T48" fmla="*/ 163 w 623"/>
                <a:gd name="T49" fmla="*/ 135 h 455"/>
                <a:gd name="T50" fmla="*/ 163 w 623"/>
                <a:gd name="T51" fmla="*/ 241 h 455"/>
                <a:gd name="T52" fmla="*/ 163 w 623"/>
                <a:gd name="T53" fmla="*/ 209 h 455"/>
                <a:gd name="T54" fmla="*/ 459 w 623"/>
                <a:gd name="T55" fmla="*/ 209 h 455"/>
                <a:gd name="T56" fmla="*/ 459 w 623"/>
                <a:gd name="T57" fmla="*/ 241 h 455"/>
                <a:gd name="T58" fmla="*/ 163 w 623"/>
                <a:gd name="T59" fmla="*/ 241 h 4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623" h="455">
                  <a:moveTo>
                    <a:pt x="572" y="301"/>
                  </a:moveTo>
                  <a:cubicBezTo>
                    <a:pt x="572" y="0"/>
                    <a:pt x="572" y="0"/>
                    <a:pt x="57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6" y="301"/>
                    <a:pt x="56" y="301"/>
                    <a:pt x="56" y="301"/>
                  </a:cubicBezTo>
                  <a:cubicBezTo>
                    <a:pt x="193" y="301"/>
                    <a:pt x="193" y="301"/>
                    <a:pt x="193" y="301"/>
                  </a:cubicBezTo>
                  <a:cubicBezTo>
                    <a:pt x="135" y="328"/>
                    <a:pt x="56" y="355"/>
                    <a:pt x="0" y="373"/>
                  </a:cubicBezTo>
                  <a:cubicBezTo>
                    <a:pt x="15" y="397"/>
                    <a:pt x="33" y="433"/>
                    <a:pt x="42" y="455"/>
                  </a:cubicBezTo>
                  <a:cubicBezTo>
                    <a:pt x="116" y="431"/>
                    <a:pt x="218" y="394"/>
                    <a:pt x="299" y="360"/>
                  </a:cubicBezTo>
                  <a:cubicBezTo>
                    <a:pt x="238" y="301"/>
                    <a:pt x="238" y="301"/>
                    <a:pt x="238" y="301"/>
                  </a:cubicBezTo>
                  <a:cubicBezTo>
                    <a:pt x="388" y="301"/>
                    <a:pt x="388" y="301"/>
                    <a:pt x="388" y="301"/>
                  </a:cubicBezTo>
                  <a:cubicBezTo>
                    <a:pt x="355" y="361"/>
                    <a:pt x="355" y="361"/>
                    <a:pt x="355" y="361"/>
                  </a:cubicBezTo>
                  <a:cubicBezTo>
                    <a:pt x="432" y="389"/>
                    <a:pt x="521" y="425"/>
                    <a:pt x="575" y="450"/>
                  </a:cubicBezTo>
                  <a:cubicBezTo>
                    <a:pt x="623" y="367"/>
                    <a:pt x="623" y="367"/>
                    <a:pt x="623" y="367"/>
                  </a:cubicBezTo>
                  <a:cubicBezTo>
                    <a:pt x="577" y="349"/>
                    <a:pt x="508" y="323"/>
                    <a:pt x="439" y="301"/>
                  </a:cubicBezTo>
                  <a:lnTo>
                    <a:pt x="572" y="301"/>
                  </a:lnTo>
                  <a:close/>
                  <a:moveTo>
                    <a:pt x="163" y="61"/>
                  </a:moveTo>
                  <a:cubicBezTo>
                    <a:pt x="459" y="61"/>
                    <a:pt x="459" y="61"/>
                    <a:pt x="459" y="61"/>
                  </a:cubicBezTo>
                  <a:cubicBezTo>
                    <a:pt x="459" y="91"/>
                    <a:pt x="459" y="91"/>
                    <a:pt x="459" y="91"/>
                  </a:cubicBezTo>
                  <a:cubicBezTo>
                    <a:pt x="163" y="91"/>
                    <a:pt x="163" y="91"/>
                    <a:pt x="163" y="91"/>
                  </a:cubicBezTo>
                  <a:lnTo>
                    <a:pt x="163" y="61"/>
                  </a:lnTo>
                  <a:close/>
                  <a:moveTo>
                    <a:pt x="163" y="135"/>
                  </a:moveTo>
                  <a:cubicBezTo>
                    <a:pt x="459" y="135"/>
                    <a:pt x="459" y="135"/>
                    <a:pt x="459" y="135"/>
                  </a:cubicBezTo>
                  <a:cubicBezTo>
                    <a:pt x="459" y="166"/>
                    <a:pt x="459" y="166"/>
                    <a:pt x="459" y="166"/>
                  </a:cubicBezTo>
                  <a:cubicBezTo>
                    <a:pt x="163" y="166"/>
                    <a:pt x="163" y="166"/>
                    <a:pt x="163" y="166"/>
                  </a:cubicBezTo>
                  <a:lnTo>
                    <a:pt x="163" y="135"/>
                  </a:lnTo>
                  <a:close/>
                  <a:moveTo>
                    <a:pt x="163" y="241"/>
                  </a:moveTo>
                  <a:cubicBezTo>
                    <a:pt x="163" y="209"/>
                    <a:pt x="163" y="209"/>
                    <a:pt x="163" y="209"/>
                  </a:cubicBezTo>
                  <a:cubicBezTo>
                    <a:pt x="459" y="209"/>
                    <a:pt x="459" y="209"/>
                    <a:pt x="459" y="209"/>
                  </a:cubicBezTo>
                  <a:cubicBezTo>
                    <a:pt x="459" y="241"/>
                    <a:pt x="459" y="241"/>
                    <a:pt x="459" y="241"/>
                  </a:cubicBezTo>
                  <a:lnTo>
                    <a:pt x="163" y="241"/>
                  </a:lnTo>
                  <a:close/>
                </a:path>
              </a:pathLst>
            </a:custGeom>
            <a:solidFill>
              <a:srgbClr val="002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58" name="Freeform 153">
              <a:extLst>
                <a:ext uri="{FF2B5EF4-FFF2-40B4-BE49-F238E27FC236}">
                  <a16:creationId xmlns:a16="http://schemas.microsoft.com/office/drawing/2014/main" id="{DC9E6753-96BE-02B0-0A8C-DA36DBFDE45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5637212" y="-4565650"/>
              <a:ext cx="203200" cy="220663"/>
            </a:xfrm>
            <a:custGeom>
              <a:avLst/>
              <a:gdLst>
                <a:gd name="T0" fmla="*/ 93 w 128"/>
                <a:gd name="T1" fmla="*/ 139 h 139"/>
                <a:gd name="T2" fmla="*/ 128 w 128"/>
                <a:gd name="T3" fmla="*/ 139 h 139"/>
                <a:gd name="T4" fmla="*/ 84 w 128"/>
                <a:gd name="T5" fmla="*/ 0 h 139"/>
                <a:gd name="T6" fmla="*/ 44 w 128"/>
                <a:gd name="T7" fmla="*/ 0 h 139"/>
                <a:gd name="T8" fmla="*/ 0 w 128"/>
                <a:gd name="T9" fmla="*/ 139 h 139"/>
                <a:gd name="T10" fmla="*/ 35 w 128"/>
                <a:gd name="T11" fmla="*/ 139 h 139"/>
                <a:gd name="T12" fmla="*/ 40 w 128"/>
                <a:gd name="T13" fmla="*/ 118 h 139"/>
                <a:gd name="T14" fmla="*/ 68 w 128"/>
                <a:gd name="T15" fmla="*/ 118 h 139"/>
                <a:gd name="T16" fmla="*/ 68 w 128"/>
                <a:gd name="T17" fmla="*/ 90 h 139"/>
                <a:gd name="T18" fmla="*/ 47 w 128"/>
                <a:gd name="T19" fmla="*/ 90 h 139"/>
                <a:gd name="T20" fmla="*/ 63 w 128"/>
                <a:gd name="T21" fmla="*/ 25 h 139"/>
                <a:gd name="T22" fmla="*/ 93 w 128"/>
                <a:gd name="T23" fmla="*/ 139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8" h="139">
                  <a:moveTo>
                    <a:pt x="93" y="139"/>
                  </a:moveTo>
                  <a:lnTo>
                    <a:pt x="128" y="139"/>
                  </a:lnTo>
                  <a:lnTo>
                    <a:pt x="84" y="0"/>
                  </a:lnTo>
                  <a:lnTo>
                    <a:pt x="44" y="0"/>
                  </a:lnTo>
                  <a:lnTo>
                    <a:pt x="0" y="139"/>
                  </a:lnTo>
                  <a:lnTo>
                    <a:pt x="35" y="139"/>
                  </a:lnTo>
                  <a:lnTo>
                    <a:pt x="40" y="118"/>
                  </a:lnTo>
                  <a:lnTo>
                    <a:pt x="68" y="118"/>
                  </a:lnTo>
                  <a:lnTo>
                    <a:pt x="68" y="90"/>
                  </a:lnTo>
                  <a:lnTo>
                    <a:pt x="47" y="90"/>
                  </a:lnTo>
                  <a:lnTo>
                    <a:pt x="63" y="25"/>
                  </a:lnTo>
                  <a:lnTo>
                    <a:pt x="93" y="139"/>
                  </a:lnTo>
                  <a:close/>
                </a:path>
              </a:pathLst>
            </a:custGeom>
            <a:solidFill>
              <a:srgbClr val="002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59" name="Freeform 154">
              <a:extLst>
                <a:ext uri="{FF2B5EF4-FFF2-40B4-BE49-F238E27FC236}">
                  <a16:creationId xmlns:a16="http://schemas.microsoft.com/office/drawing/2014/main" id="{4B9B61F8-822F-601A-15FA-CF31912564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5410200" y="-4565650"/>
              <a:ext cx="141288" cy="220663"/>
            </a:xfrm>
            <a:custGeom>
              <a:avLst/>
              <a:gdLst>
                <a:gd name="T0" fmla="*/ 89 w 89"/>
                <a:gd name="T1" fmla="*/ 28 h 139"/>
                <a:gd name="T2" fmla="*/ 89 w 89"/>
                <a:gd name="T3" fmla="*/ 0 h 139"/>
                <a:gd name="T4" fmla="*/ 0 w 89"/>
                <a:gd name="T5" fmla="*/ 0 h 139"/>
                <a:gd name="T6" fmla="*/ 0 w 89"/>
                <a:gd name="T7" fmla="*/ 139 h 139"/>
                <a:gd name="T8" fmla="*/ 89 w 89"/>
                <a:gd name="T9" fmla="*/ 139 h 139"/>
                <a:gd name="T10" fmla="*/ 89 w 89"/>
                <a:gd name="T11" fmla="*/ 111 h 139"/>
                <a:gd name="T12" fmla="*/ 34 w 89"/>
                <a:gd name="T13" fmla="*/ 111 h 139"/>
                <a:gd name="T14" fmla="*/ 34 w 89"/>
                <a:gd name="T15" fmla="*/ 28 h 139"/>
                <a:gd name="T16" fmla="*/ 89 w 89"/>
                <a:gd name="T17" fmla="*/ 28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9" h="139">
                  <a:moveTo>
                    <a:pt x="89" y="28"/>
                  </a:moveTo>
                  <a:lnTo>
                    <a:pt x="89" y="0"/>
                  </a:lnTo>
                  <a:lnTo>
                    <a:pt x="0" y="0"/>
                  </a:lnTo>
                  <a:lnTo>
                    <a:pt x="0" y="139"/>
                  </a:lnTo>
                  <a:lnTo>
                    <a:pt x="89" y="139"/>
                  </a:lnTo>
                  <a:lnTo>
                    <a:pt x="89" y="111"/>
                  </a:lnTo>
                  <a:lnTo>
                    <a:pt x="34" y="111"/>
                  </a:lnTo>
                  <a:lnTo>
                    <a:pt x="34" y="28"/>
                  </a:lnTo>
                  <a:lnTo>
                    <a:pt x="89" y="28"/>
                  </a:lnTo>
                  <a:close/>
                </a:path>
              </a:pathLst>
            </a:custGeom>
            <a:solidFill>
              <a:srgbClr val="002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60" name="Freeform 155">
              <a:extLst>
                <a:ext uri="{FF2B5EF4-FFF2-40B4-BE49-F238E27FC236}">
                  <a16:creationId xmlns:a16="http://schemas.microsoft.com/office/drawing/2014/main" id="{6C7F39DB-255A-2432-42E6-9F95AD4EB55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5238750" y="-4565650"/>
              <a:ext cx="174625" cy="220663"/>
            </a:xfrm>
            <a:custGeom>
              <a:avLst/>
              <a:gdLst>
                <a:gd name="T0" fmla="*/ 0 w 110"/>
                <a:gd name="T1" fmla="*/ 28 h 139"/>
                <a:gd name="T2" fmla="*/ 38 w 110"/>
                <a:gd name="T3" fmla="*/ 28 h 139"/>
                <a:gd name="T4" fmla="*/ 38 w 110"/>
                <a:gd name="T5" fmla="*/ 139 h 139"/>
                <a:gd name="T6" fmla="*/ 72 w 110"/>
                <a:gd name="T7" fmla="*/ 139 h 139"/>
                <a:gd name="T8" fmla="*/ 72 w 110"/>
                <a:gd name="T9" fmla="*/ 28 h 139"/>
                <a:gd name="T10" fmla="*/ 110 w 110"/>
                <a:gd name="T11" fmla="*/ 28 h 139"/>
                <a:gd name="T12" fmla="*/ 110 w 110"/>
                <a:gd name="T13" fmla="*/ 0 h 139"/>
                <a:gd name="T14" fmla="*/ 0 w 110"/>
                <a:gd name="T15" fmla="*/ 0 h 139"/>
                <a:gd name="T16" fmla="*/ 0 w 110"/>
                <a:gd name="T17" fmla="*/ 28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0" h="139">
                  <a:moveTo>
                    <a:pt x="0" y="28"/>
                  </a:moveTo>
                  <a:lnTo>
                    <a:pt x="38" y="28"/>
                  </a:lnTo>
                  <a:lnTo>
                    <a:pt x="38" y="139"/>
                  </a:lnTo>
                  <a:lnTo>
                    <a:pt x="72" y="139"/>
                  </a:lnTo>
                  <a:lnTo>
                    <a:pt x="72" y="28"/>
                  </a:lnTo>
                  <a:lnTo>
                    <a:pt x="110" y="28"/>
                  </a:lnTo>
                  <a:lnTo>
                    <a:pt x="110" y="0"/>
                  </a:lnTo>
                  <a:lnTo>
                    <a:pt x="0" y="0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002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61" name="Freeform 156">
              <a:extLst>
                <a:ext uri="{FF2B5EF4-FFF2-40B4-BE49-F238E27FC236}">
                  <a16:creationId xmlns:a16="http://schemas.microsoft.com/office/drawing/2014/main" id="{6E5858B3-D4F9-7451-13C9-9163EBDFD11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5014912" y="-4565650"/>
              <a:ext cx="163513" cy="220663"/>
            </a:xfrm>
            <a:custGeom>
              <a:avLst/>
              <a:gdLst>
                <a:gd name="T0" fmla="*/ 729 w 729"/>
                <a:gd name="T1" fmla="*/ 688 h 985"/>
                <a:gd name="T2" fmla="*/ 538 w 729"/>
                <a:gd name="T3" fmla="*/ 427 h 985"/>
                <a:gd name="T4" fmla="*/ 417 w 729"/>
                <a:gd name="T5" fmla="*/ 380 h 985"/>
                <a:gd name="T6" fmla="*/ 272 w 729"/>
                <a:gd name="T7" fmla="*/ 273 h 985"/>
                <a:gd name="T8" fmla="*/ 386 w 729"/>
                <a:gd name="T9" fmla="*/ 195 h 985"/>
                <a:gd name="T10" fmla="*/ 585 w 729"/>
                <a:gd name="T11" fmla="*/ 268 h 985"/>
                <a:gd name="T12" fmla="*/ 700 w 729"/>
                <a:gd name="T13" fmla="*/ 125 h 985"/>
                <a:gd name="T14" fmla="*/ 386 w 729"/>
                <a:gd name="T15" fmla="*/ 0 h 985"/>
                <a:gd name="T16" fmla="*/ 36 w 729"/>
                <a:gd name="T17" fmla="*/ 287 h 985"/>
                <a:gd name="T18" fmla="*/ 232 w 729"/>
                <a:gd name="T19" fmla="*/ 547 h 985"/>
                <a:gd name="T20" fmla="*/ 355 w 729"/>
                <a:gd name="T21" fmla="*/ 598 h 985"/>
                <a:gd name="T22" fmla="*/ 491 w 729"/>
                <a:gd name="T23" fmla="*/ 705 h 985"/>
                <a:gd name="T24" fmla="*/ 365 w 729"/>
                <a:gd name="T25" fmla="*/ 788 h 985"/>
                <a:gd name="T26" fmla="*/ 132 w 729"/>
                <a:gd name="T27" fmla="*/ 691 h 985"/>
                <a:gd name="T28" fmla="*/ 0 w 729"/>
                <a:gd name="T29" fmla="*/ 848 h 985"/>
                <a:gd name="T30" fmla="*/ 360 w 729"/>
                <a:gd name="T31" fmla="*/ 985 h 985"/>
                <a:gd name="T32" fmla="*/ 729 w 729"/>
                <a:gd name="T33" fmla="*/ 688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29" h="985">
                  <a:moveTo>
                    <a:pt x="729" y="688"/>
                  </a:moveTo>
                  <a:cubicBezTo>
                    <a:pt x="729" y="554"/>
                    <a:pt x="657" y="474"/>
                    <a:pt x="538" y="427"/>
                  </a:cubicBezTo>
                  <a:cubicBezTo>
                    <a:pt x="417" y="380"/>
                    <a:pt x="417" y="380"/>
                    <a:pt x="417" y="380"/>
                  </a:cubicBezTo>
                  <a:cubicBezTo>
                    <a:pt x="332" y="347"/>
                    <a:pt x="272" y="326"/>
                    <a:pt x="272" y="273"/>
                  </a:cubicBezTo>
                  <a:cubicBezTo>
                    <a:pt x="272" y="223"/>
                    <a:pt x="315" y="195"/>
                    <a:pt x="386" y="195"/>
                  </a:cubicBezTo>
                  <a:cubicBezTo>
                    <a:pt x="461" y="195"/>
                    <a:pt x="521" y="220"/>
                    <a:pt x="585" y="268"/>
                  </a:cubicBezTo>
                  <a:cubicBezTo>
                    <a:pt x="700" y="125"/>
                    <a:pt x="700" y="125"/>
                    <a:pt x="700" y="125"/>
                  </a:cubicBezTo>
                  <a:cubicBezTo>
                    <a:pt x="616" y="42"/>
                    <a:pt x="498" y="0"/>
                    <a:pt x="386" y="0"/>
                  </a:cubicBezTo>
                  <a:cubicBezTo>
                    <a:pt x="181" y="0"/>
                    <a:pt x="36" y="127"/>
                    <a:pt x="36" y="287"/>
                  </a:cubicBezTo>
                  <a:cubicBezTo>
                    <a:pt x="36" y="425"/>
                    <a:pt x="131" y="508"/>
                    <a:pt x="232" y="547"/>
                  </a:cubicBezTo>
                  <a:cubicBezTo>
                    <a:pt x="355" y="598"/>
                    <a:pt x="355" y="598"/>
                    <a:pt x="355" y="598"/>
                  </a:cubicBezTo>
                  <a:cubicBezTo>
                    <a:pt x="438" y="633"/>
                    <a:pt x="491" y="651"/>
                    <a:pt x="491" y="705"/>
                  </a:cubicBezTo>
                  <a:cubicBezTo>
                    <a:pt x="491" y="756"/>
                    <a:pt x="451" y="788"/>
                    <a:pt x="365" y="788"/>
                  </a:cubicBezTo>
                  <a:cubicBezTo>
                    <a:pt x="289" y="788"/>
                    <a:pt x="199" y="749"/>
                    <a:pt x="132" y="691"/>
                  </a:cubicBezTo>
                  <a:cubicBezTo>
                    <a:pt x="0" y="848"/>
                    <a:pt x="0" y="848"/>
                    <a:pt x="0" y="848"/>
                  </a:cubicBezTo>
                  <a:cubicBezTo>
                    <a:pt x="99" y="939"/>
                    <a:pt x="234" y="985"/>
                    <a:pt x="360" y="985"/>
                  </a:cubicBezTo>
                  <a:cubicBezTo>
                    <a:pt x="594" y="985"/>
                    <a:pt x="729" y="846"/>
                    <a:pt x="729" y="688"/>
                  </a:cubicBezTo>
                  <a:close/>
                </a:path>
              </a:pathLst>
            </a:custGeom>
            <a:solidFill>
              <a:srgbClr val="002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62" name="Freeform 157">
              <a:extLst>
                <a:ext uri="{FF2B5EF4-FFF2-40B4-BE49-F238E27FC236}">
                  <a16:creationId xmlns:a16="http://schemas.microsoft.com/office/drawing/2014/main" id="{CF458969-5810-1F56-619E-A6B896B0622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4670425" y="-4511675"/>
              <a:ext cx="133350" cy="166688"/>
            </a:xfrm>
            <a:custGeom>
              <a:avLst/>
              <a:gdLst>
                <a:gd name="T0" fmla="*/ 397 w 592"/>
                <a:gd name="T1" fmla="*/ 298 h 742"/>
                <a:gd name="T2" fmla="*/ 257 w 592"/>
                <a:gd name="T3" fmla="*/ 214 h 742"/>
                <a:gd name="T4" fmla="*/ 335 w 592"/>
                <a:gd name="T5" fmla="*/ 163 h 742"/>
                <a:gd name="T6" fmla="*/ 488 w 592"/>
                <a:gd name="T7" fmla="*/ 223 h 742"/>
                <a:gd name="T8" fmla="*/ 590 w 592"/>
                <a:gd name="T9" fmla="*/ 91 h 742"/>
                <a:gd name="T10" fmla="*/ 327 w 592"/>
                <a:gd name="T11" fmla="*/ 0 h 742"/>
                <a:gd name="T12" fmla="*/ 42 w 592"/>
                <a:gd name="T13" fmla="*/ 224 h 742"/>
                <a:gd name="T14" fmla="*/ 230 w 592"/>
                <a:gd name="T15" fmla="*/ 433 h 742"/>
                <a:gd name="T16" fmla="*/ 376 w 592"/>
                <a:gd name="T17" fmla="*/ 523 h 742"/>
                <a:gd name="T18" fmla="*/ 289 w 592"/>
                <a:gd name="T19" fmla="*/ 579 h 742"/>
                <a:gd name="T20" fmla="*/ 103 w 592"/>
                <a:gd name="T21" fmla="*/ 505 h 742"/>
                <a:gd name="T22" fmla="*/ 0 w 592"/>
                <a:gd name="T23" fmla="*/ 642 h 742"/>
                <a:gd name="T24" fmla="*/ 284 w 592"/>
                <a:gd name="T25" fmla="*/ 742 h 742"/>
                <a:gd name="T26" fmla="*/ 592 w 592"/>
                <a:gd name="T27" fmla="*/ 511 h 742"/>
                <a:gd name="T28" fmla="*/ 397 w 592"/>
                <a:gd name="T29" fmla="*/ 298 h 7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92" h="742">
                  <a:moveTo>
                    <a:pt x="397" y="298"/>
                  </a:moveTo>
                  <a:cubicBezTo>
                    <a:pt x="321" y="272"/>
                    <a:pt x="257" y="256"/>
                    <a:pt x="257" y="214"/>
                  </a:cubicBezTo>
                  <a:cubicBezTo>
                    <a:pt x="257" y="180"/>
                    <a:pt x="282" y="163"/>
                    <a:pt x="335" y="163"/>
                  </a:cubicBezTo>
                  <a:cubicBezTo>
                    <a:pt x="383" y="163"/>
                    <a:pt x="435" y="187"/>
                    <a:pt x="488" y="223"/>
                  </a:cubicBezTo>
                  <a:cubicBezTo>
                    <a:pt x="590" y="91"/>
                    <a:pt x="590" y="91"/>
                    <a:pt x="590" y="91"/>
                  </a:cubicBezTo>
                  <a:cubicBezTo>
                    <a:pt x="528" y="45"/>
                    <a:pt x="443" y="0"/>
                    <a:pt x="327" y="0"/>
                  </a:cubicBezTo>
                  <a:cubicBezTo>
                    <a:pt x="154" y="0"/>
                    <a:pt x="42" y="91"/>
                    <a:pt x="42" y="224"/>
                  </a:cubicBezTo>
                  <a:cubicBezTo>
                    <a:pt x="42" y="342"/>
                    <a:pt x="141" y="399"/>
                    <a:pt x="230" y="433"/>
                  </a:cubicBezTo>
                  <a:cubicBezTo>
                    <a:pt x="305" y="461"/>
                    <a:pt x="376" y="481"/>
                    <a:pt x="376" y="523"/>
                  </a:cubicBezTo>
                  <a:cubicBezTo>
                    <a:pt x="376" y="558"/>
                    <a:pt x="350" y="579"/>
                    <a:pt x="289" y="579"/>
                  </a:cubicBezTo>
                  <a:cubicBezTo>
                    <a:pt x="231" y="579"/>
                    <a:pt x="170" y="553"/>
                    <a:pt x="103" y="505"/>
                  </a:cubicBezTo>
                  <a:cubicBezTo>
                    <a:pt x="0" y="642"/>
                    <a:pt x="0" y="642"/>
                    <a:pt x="0" y="642"/>
                  </a:cubicBezTo>
                  <a:cubicBezTo>
                    <a:pt x="75" y="702"/>
                    <a:pt x="188" y="742"/>
                    <a:pt x="284" y="742"/>
                  </a:cubicBezTo>
                  <a:cubicBezTo>
                    <a:pt x="485" y="742"/>
                    <a:pt x="592" y="641"/>
                    <a:pt x="592" y="511"/>
                  </a:cubicBezTo>
                  <a:cubicBezTo>
                    <a:pt x="592" y="383"/>
                    <a:pt x="489" y="332"/>
                    <a:pt x="397" y="298"/>
                  </a:cubicBezTo>
                  <a:close/>
                </a:path>
              </a:pathLst>
            </a:custGeom>
            <a:solidFill>
              <a:srgbClr val="002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63" name="Freeform 158">
              <a:extLst>
                <a:ext uri="{FF2B5EF4-FFF2-40B4-BE49-F238E27FC236}">
                  <a16:creationId xmlns:a16="http://schemas.microsoft.com/office/drawing/2014/main" id="{C1034C3A-DCC9-2261-3221-2D103C39A8A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4514850" y="-4554538"/>
              <a:ext cx="96838" cy="209550"/>
            </a:xfrm>
            <a:custGeom>
              <a:avLst/>
              <a:gdLst>
                <a:gd name="T0" fmla="*/ 428 w 428"/>
                <a:gd name="T1" fmla="*/ 918 h 937"/>
                <a:gd name="T2" fmla="*/ 428 w 428"/>
                <a:gd name="T3" fmla="*/ 745 h 937"/>
                <a:gd name="T4" fmla="*/ 325 w 428"/>
                <a:gd name="T5" fmla="*/ 759 h 937"/>
                <a:gd name="T6" fmla="*/ 231 w 428"/>
                <a:gd name="T7" fmla="*/ 647 h 937"/>
                <a:gd name="T8" fmla="*/ 231 w 428"/>
                <a:gd name="T9" fmla="*/ 370 h 937"/>
                <a:gd name="T10" fmla="*/ 405 w 428"/>
                <a:gd name="T11" fmla="*/ 370 h 937"/>
                <a:gd name="T12" fmla="*/ 405 w 428"/>
                <a:gd name="T13" fmla="*/ 193 h 937"/>
                <a:gd name="T14" fmla="*/ 231 w 428"/>
                <a:gd name="T15" fmla="*/ 193 h 937"/>
                <a:gd name="T16" fmla="*/ 231 w 428"/>
                <a:gd name="T17" fmla="*/ 0 h 937"/>
                <a:gd name="T18" fmla="*/ 0 w 428"/>
                <a:gd name="T19" fmla="*/ 0 h 937"/>
                <a:gd name="T20" fmla="*/ 0 w 428"/>
                <a:gd name="T21" fmla="*/ 193 h 937"/>
                <a:gd name="T22" fmla="*/ 0 w 428"/>
                <a:gd name="T23" fmla="*/ 370 h 937"/>
                <a:gd name="T24" fmla="*/ 0 w 428"/>
                <a:gd name="T25" fmla="*/ 650 h 937"/>
                <a:gd name="T26" fmla="*/ 261 w 428"/>
                <a:gd name="T27" fmla="*/ 937 h 937"/>
                <a:gd name="T28" fmla="*/ 428 w 428"/>
                <a:gd name="T29" fmla="*/ 918 h 9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28" h="937">
                  <a:moveTo>
                    <a:pt x="428" y="918"/>
                  </a:moveTo>
                  <a:cubicBezTo>
                    <a:pt x="428" y="745"/>
                    <a:pt x="428" y="745"/>
                    <a:pt x="428" y="745"/>
                  </a:cubicBezTo>
                  <a:cubicBezTo>
                    <a:pt x="410" y="752"/>
                    <a:pt x="348" y="759"/>
                    <a:pt x="325" y="759"/>
                  </a:cubicBezTo>
                  <a:cubicBezTo>
                    <a:pt x="270" y="759"/>
                    <a:pt x="231" y="728"/>
                    <a:pt x="231" y="647"/>
                  </a:cubicBezTo>
                  <a:cubicBezTo>
                    <a:pt x="231" y="370"/>
                    <a:pt x="231" y="370"/>
                    <a:pt x="231" y="370"/>
                  </a:cubicBezTo>
                  <a:cubicBezTo>
                    <a:pt x="405" y="370"/>
                    <a:pt x="405" y="370"/>
                    <a:pt x="405" y="370"/>
                  </a:cubicBezTo>
                  <a:cubicBezTo>
                    <a:pt x="405" y="193"/>
                    <a:pt x="405" y="193"/>
                    <a:pt x="405" y="193"/>
                  </a:cubicBezTo>
                  <a:cubicBezTo>
                    <a:pt x="231" y="193"/>
                    <a:pt x="231" y="193"/>
                    <a:pt x="231" y="193"/>
                  </a:cubicBezTo>
                  <a:cubicBezTo>
                    <a:pt x="231" y="0"/>
                    <a:pt x="231" y="0"/>
                    <a:pt x="23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93"/>
                    <a:pt x="0" y="193"/>
                    <a:pt x="0" y="193"/>
                  </a:cubicBezTo>
                  <a:cubicBezTo>
                    <a:pt x="0" y="370"/>
                    <a:pt x="0" y="370"/>
                    <a:pt x="0" y="370"/>
                  </a:cubicBezTo>
                  <a:cubicBezTo>
                    <a:pt x="0" y="650"/>
                    <a:pt x="0" y="650"/>
                    <a:pt x="0" y="650"/>
                  </a:cubicBezTo>
                  <a:cubicBezTo>
                    <a:pt x="0" y="821"/>
                    <a:pt x="75" y="937"/>
                    <a:pt x="261" y="937"/>
                  </a:cubicBezTo>
                  <a:cubicBezTo>
                    <a:pt x="336" y="937"/>
                    <a:pt x="389" y="929"/>
                    <a:pt x="428" y="918"/>
                  </a:cubicBezTo>
                  <a:close/>
                </a:path>
              </a:pathLst>
            </a:custGeom>
            <a:solidFill>
              <a:srgbClr val="002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64" name="Freeform 159">
              <a:extLst>
                <a:ext uri="{FF2B5EF4-FFF2-40B4-BE49-F238E27FC236}">
                  <a16:creationId xmlns:a16="http://schemas.microsoft.com/office/drawing/2014/main" id="{DB1976C4-D861-EF2B-0D6F-EBB43234E5B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3989387" y="-4565650"/>
              <a:ext cx="168275" cy="220663"/>
            </a:xfrm>
            <a:custGeom>
              <a:avLst/>
              <a:gdLst>
                <a:gd name="T0" fmla="*/ 36 w 106"/>
                <a:gd name="T1" fmla="*/ 139 h 139"/>
                <a:gd name="T2" fmla="*/ 69 w 106"/>
                <a:gd name="T3" fmla="*/ 139 h 139"/>
                <a:gd name="T4" fmla="*/ 69 w 106"/>
                <a:gd name="T5" fmla="*/ 28 h 139"/>
                <a:gd name="T6" fmla="*/ 106 w 106"/>
                <a:gd name="T7" fmla="*/ 28 h 139"/>
                <a:gd name="T8" fmla="*/ 106 w 106"/>
                <a:gd name="T9" fmla="*/ 0 h 139"/>
                <a:gd name="T10" fmla="*/ 0 w 106"/>
                <a:gd name="T11" fmla="*/ 0 h 139"/>
                <a:gd name="T12" fmla="*/ 0 w 106"/>
                <a:gd name="T13" fmla="*/ 28 h 139"/>
                <a:gd name="T14" fmla="*/ 36 w 106"/>
                <a:gd name="T15" fmla="*/ 28 h 139"/>
                <a:gd name="T16" fmla="*/ 36 w 106"/>
                <a:gd name="T17" fmla="*/ 139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6" h="139">
                  <a:moveTo>
                    <a:pt x="36" y="139"/>
                  </a:moveTo>
                  <a:lnTo>
                    <a:pt x="69" y="139"/>
                  </a:lnTo>
                  <a:lnTo>
                    <a:pt x="69" y="28"/>
                  </a:lnTo>
                  <a:lnTo>
                    <a:pt x="106" y="28"/>
                  </a:lnTo>
                  <a:lnTo>
                    <a:pt x="106" y="0"/>
                  </a:lnTo>
                  <a:lnTo>
                    <a:pt x="0" y="0"/>
                  </a:lnTo>
                  <a:lnTo>
                    <a:pt x="0" y="28"/>
                  </a:lnTo>
                  <a:lnTo>
                    <a:pt x="36" y="28"/>
                  </a:lnTo>
                  <a:lnTo>
                    <a:pt x="36" y="139"/>
                  </a:lnTo>
                  <a:close/>
                </a:path>
              </a:pathLst>
            </a:custGeom>
            <a:solidFill>
              <a:srgbClr val="002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65" name="Rectangle 160">
              <a:extLst>
                <a:ext uri="{FF2B5EF4-FFF2-40B4-BE49-F238E27FC236}">
                  <a16:creationId xmlns:a16="http://schemas.microsoft.com/office/drawing/2014/main" id="{7A91E28E-3953-EB40-F8E1-34437B78CDF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-5332412" y="-4478338"/>
              <a:ext cx="63500" cy="44450"/>
            </a:xfrm>
            <a:prstGeom prst="rect">
              <a:avLst/>
            </a:prstGeom>
            <a:solidFill>
              <a:srgbClr val="002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66" name="Freeform 161">
              <a:extLst>
                <a:ext uri="{FF2B5EF4-FFF2-40B4-BE49-F238E27FC236}">
                  <a16:creationId xmlns:a16="http://schemas.microsoft.com/office/drawing/2014/main" id="{59A95E00-3D59-FA81-24FA-77B84A2856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4400550" y="-4511675"/>
              <a:ext cx="168275" cy="166688"/>
            </a:xfrm>
            <a:custGeom>
              <a:avLst/>
              <a:gdLst>
                <a:gd name="T0" fmla="*/ 53 w 106"/>
                <a:gd name="T1" fmla="*/ 24 h 105"/>
                <a:gd name="T2" fmla="*/ 54 w 106"/>
                <a:gd name="T3" fmla="*/ 24 h 105"/>
                <a:gd name="T4" fmla="*/ 74 w 106"/>
                <a:gd name="T5" fmla="*/ 105 h 105"/>
                <a:gd name="T6" fmla="*/ 106 w 106"/>
                <a:gd name="T7" fmla="*/ 105 h 105"/>
                <a:gd name="T8" fmla="*/ 78 w 106"/>
                <a:gd name="T9" fmla="*/ 0 h 105"/>
                <a:gd name="T10" fmla="*/ 29 w 106"/>
                <a:gd name="T11" fmla="*/ 0 h 105"/>
                <a:gd name="T12" fmla="*/ 0 w 106"/>
                <a:gd name="T13" fmla="*/ 105 h 105"/>
                <a:gd name="T14" fmla="*/ 33 w 106"/>
                <a:gd name="T15" fmla="*/ 105 h 105"/>
                <a:gd name="T16" fmla="*/ 36 w 106"/>
                <a:gd name="T17" fmla="*/ 91 h 105"/>
                <a:gd name="T18" fmla="*/ 55 w 106"/>
                <a:gd name="T19" fmla="*/ 91 h 105"/>
                <a:gd name="T20" fmla="*/ 55 w 106"/>
                <a:gd name="T21" fmla="*/ 64 h 105"/>
                <a:gd name="T22" fmla="*/ 43 w 106"/>
                <a:gd name="T23" fmla="*/ 64 h 105"/>
                <a:gd name="T24" fmla="*/ 43 w 106"/>
                <a:gd name="T25" fmla="*/ 64 h 105"/>
                <a:gd name="T26" fmla="*/ 53 w 106"/>
                <a:gd name="T27" fmla="*/ 24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6" h="105">
                  <a:moveTo>
                    <a:pt x="53" y="24"/>
                  </a:moveTo>
                  <a:lnTo>
                    <a:pt x="54" y="24"/>
                  </a:lnTo>
                  <a:lnTo>
                    <a:pt x="74" y="105"/>
                  </a:lnTo>
                  <a:lnTo>
                    <a:pt x="106" y="105"/>
                  </a:lnTo>
                  <a:lnTo>
                    <a:pt x="78" y="0"/>
                  </a:lnTo>
                  <a:lnTo>
                    <a:pt x="29" y="0"/>
                  </a:lnTo>
                  <a:lnTo>
                    <a:pt x="0" y="105"/>
                  </a:lnTo>
                  <a:lnTo>
                    <a:pt x="33" y="105"/>
                  </a:lnTo>
                  <a:lnTo>
                    <a:pt x="36" y="91"/>
                  </a:lnTo>
                  <a:lnTo>
                    <a:pt x="55" y="91"/>
                  </a:lnTo>
                  <a:lnTo>
                    <a:pt x="55" y="64"/>
                  </a:lnTo>
                  <a:lnTo>
                    <a:pt x="43" y="64"/>
                  </a:lnTo>
                  <a:lnTo>
                    <a:pt x="43" y="64"/>
                  </a:lnTo>
                  <a:lnTo>
                    <a:pt x="53" y="24"/>
                  </a:lnTo>
                  <a:close/>
                </a:path>
              </a:pathLst>
            </a:custGeom>
            <a:solidFill>
              <a:srgbClr val="002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67" name="Freeform 162">
              <a:extLst>
                <a:ext uri="{FF2B5EF4-FFF2-40B4-BE49-F238E27FC236}">
                  <a16:creationId xmlns:a16="http://schemas.microsoft.com/office/drawing/2014/main" id="{8270C4A3-DB2F-1384-C7D3-A02B5B67AA8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3846512" y="-4511675"/>
              <a:ext cx="149225" cy="166688"/>
            </a:xfrm>
            <a:custGeom>
              <a:avLst/>
              <a:gdLst>
                <a:gd name="T0" fmla="*/ 351 w 667"/>
                <a:gd name="T1" fmla="*/ 0 h 742"/>
                <a:gd name="T2" fmla="*/ 0 w 667"/>
                <a:gd name="T3" fmla="*/ 370 h 742"/>
                <a:gd name="T4" fmla="*/ 377 w 667"/>
                <a:gd name="T5" fmla="*/ 742 h 742"/>
                <a:gd name="T6" fmla="*/ 640 w 667"/>
                <a:gd name="T7" fmla="*/ 661 h 742"/>
                <a:gd name="T8" fmla="*/ 563 w 667"/>
                <a:gd name="T9" fmla="*/ 528 h 742"/>
                <a:gd name="T10" fmla="*/ 408 w 667"/>
                <a:gd name="T11" fmla="*/ 573 h 742"/>
                <a:gd name="T12" fmla="*/ 223 w 667"/>
                <a:gd name="T13" fmla="*/ 436 h 742"/>
                <a:gd name="T14" fmla="*/ 220 w 667"/>
                <a:gd name="T15" fmla="*/ 291 h 742"/>
                <a:gd name="T16" fmla="*/ 355 w 667"/>
                <a:gd name="T17" fmla="*/ 169 h 742"/>
                <a:gd name="T18" fmla="*/ 471 w 667"/>
                <a:gd name="T19" fmla="*/ 291 h 742"/>
                <a:gd name="T20" fmla="*/ 337 w 667"/>
                <a:gd name="T21" fmla="*/ 291 h 742"/>
                <a:gd name="T22" fmla="*/ 337 w 667"/>
                <a:gd name="T23" fmla="*/ 436 h 742"/>
                <a:gd name="T24" fmla="*/ 657 w 667"/>
                <a:gd name="T25" fmla="*/ 436 h 742"/>
                <a:gd name="T26" fmla="*/ 667 w 667"/>
                <a:gd name="T27" fmla="*/ 341 h 742"/>
                <a:gd name="T28" fmla="*/ 351 w 667"/>
                <a:gd name="T29" fmla="*/ 0 h 7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67" h="742">
                  <a:moveTo>
                    <a:pt x="351" y="0"/>
                  </a:moveTo>
                  <a:cubicBezTo>
                    <a:pt x="173" y="0"/>
                    <a:pt x="0" y="142"/>
                    <a:pt x="0" y="370"/>
                  </a:cubicBezTo>
                  <a:cubicBezTo>
                    <a:pt x="0" y="605"/>
                    <a:pt x="164" y="742"/>
                    <a:pt x="377" y="742"/>
                  </a:cubicBezTo>
                  <a:cubicBezTo>
                    <a:pt x="462" y="742"/>
                    <a:pt x="563" y="713"/>
                    <a:pt x="640" y="661"/>
                  </a:cubicBezTo>
                  <a:cubicBezTo>
                    <a:pt x="563" y="528"/>
                    <a:pt x="563" y="528"/>
                    <a:pt x="563" y="528"/>
                  </a:cubicBezTo>
                  <a:cubicBezTo>
                    <a:pt x="510" y="558"/>
                    <a:pt x="461" y="573"/>
                    <a:pt x="408" y="573"/>
                  </a:cubicBezTo>
                  <a:cubicBezTo>
                    <a:pt x="314" y="573"/>
                    <a:pt x="244" y="533"/>
                    <a:pt x="223" y="436"/>
                  </a:cubicBezTo>
                  <a:cubicBezTo>
                    <a:pt x="223" y="436"/>
                    <a:pt x="203" y="360"/>
                    <a:pt x="220" y="291"/>
                  </a:cubicBezTo>
                  <a:cubicBezTo>
                    <a:pt x="235" y="208"/>
                    <a:pt x="291" y="169"/>
                    <a:pt x="355" y="169"/>
                  </a:cubicBezTo>
                  <a:cubicBezTo>
                    <a:pt x="439" y="169"/>
                    <a:pt x="471" y="221"/>
                    <a:pt x="471" y="291"/>
                  </a:cubicBezTo>
                  <a:cubicBezTo>
                    <a:pt x="337" y="291"/>
                    <a:pt x="337" y="291"/>
                    <a:pt x="337" y="291"/>
                  </a:cubicBezTo>
                  <a:cubicBezTo>
                    <a:pt x="337" y="436"/>
                    <a:pt x="337" y="436"/>
                    <a:pt x="337" y="436"/>
                  </a:cubicBezTo>
                  <a:cubicBezTo>
                    <a:pt x="657" y="436"/>
                    <a:pt x="657" y="436"/>
                    <a:pt x="657" y="436"/>
                  </a:cubicBezTo>
                  <a:cubicBezTo>
                    <a:pt x="662" y="419"/>
                    <a:pt x="667" y="380"/>
                    <a:pt x="667" y="341"/>
                  </a:cubicBezTo>
                  <a:cubicBezTo>
                    <a:pt x="667" y="148"/>
                    <a:pt x="563" y="0"/>
                    <a:pt x="351" y="0"/>
                  </a:cubicBezTo>
                  <a:close/>
                </a:path>
              </a:pathLst>
            </a:custGeom>
            <a:solidFill>
              <a:srgbClr val="002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68" name="Freeform 163">
              <a:extLst>
                <a:ext uri="{FF2B5EF4-FFF2-40B4-BE49-F238E27FC236}">
                  <a16:creationId xmlns:a16="http://schemas.microsoft.com/office/drawing/2014/main" id="{8BEECF89-32F5-8DF3-E54E-82466A41070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3673475" y="-4573588"/>
              <a:ext cx="157163" cy="228600"/>
            </a:xfrm>
            <a:custGeom>
              <a:avLst/>
              <a:gdLst>
                <a:gd name="T0" fmla="*/ 64 w 99"/>
                <a:gd name="T1" fmla="*/ 39 h 144"/>
                <a:gd name="T2" fmla="*/ 33 w 99"/>
                <a:gd name="T3" fmla="*/ 80 h 144"/>
                <a:gd name="T4" fmla="*/ 32 w 99"/>
                <a:gd name="T5" fmla="*/ 80 h 144"/>
                <a:gd name="T6" fmla="*/ 32 w 99"/>
                <a:gd name="T7" fmla="*/ 0 h 144"/>
                <a:gd name="T8" fmla="*/ 0 w 99"/>
                <a:gd name="T9" fmla="*/ 0 h 144"/>
                <a:gd name="T10" fmla="*/ 0 w 99"/>
                <a:gd name="T11" fmla="*/ 144 h 144"/>
                <a:gd name="T12" fmla="*/ 32 w 99"/>
                <a:gd name="T13" fmla="*/ 144 h 144"/>
                <a:gd name="T14" fmla="*/ 32 w 99"/>
                <a:gd name="T15" fmla="*/ 118 h 144"/>
                <a:gd name="T16" fmla="*/ 99 w 99"/>
                <a:gd name="T17" fmla="*/ 39 h 144"/>
                <a:gd name="T18" fmla="*/ 64 w 99"/>
                <a:gd name="T19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9" h="144">
                  <a:moveTo>
                    <a:pt x="64" y="39"/>
                  </a:moveTo>
                  <a:lnTo>
                    <a:pt x="33" y="80"/>
                  </a:lnTo>
                  <a:lnTo>
                    <a:pt x="32" y="80"/>
                  </a:lnTo>
                  <a:lnTo>
                    <a:pt x="32" y="0"/>
                  </a:lnTo>
                  <a:lnTo>
                    <a:pt x="0" y="0"/>
                  </a:lnTo>
                  <a:lnTo>
                    <a:pt x="0" y="144"/>
                  </a:lnTo>
                  <a:lnTo>
                    <a:pt x="32" y="144"/>
                  </a:lnTo>
                  <a:lnTo>
                    <a:pt x="32" y="118"/>
                  </a:lnTo>
                  <a:lnTo>
                    <a:pt x="99" y="39"/>
                  </a:lnTo>
                  <a:lnTo>
                    <a:pt x="64" y="39"/>
                  </a:lnTo>
                  <a:close/>
                </a:path>
              </a:pathLst>
            </a:custGeom>
            <a:solidFill>
              <a:srgbClr val="002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69" name="Freeform 164">
              <a:extLst>
                <a:ext uri="{FF2B5EF4-FFF2-40B4-BE49-F238E27FC236}">
                  <a16:creationId xmlns:a16="http://schemas.microsoft.com/office/drawing/2014/main" id="{5B667E84-44A9-EC4D-2108-45F41EE709B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3589337" y="-4419600"/>
              <a:ext cx="77788" cy="74613"/>
            </a:xfrm>
            <a:custGeom>
              <a:avLst/>
              <a:gdLst>
                <a:gd name="T0" fmla="*/ 19 w 49"/>
                <a:gd name="T1" fmla="*/ 0 h 47"/>
                <a:gd name="T2" fmla="*/ 0 w 49"/>
                <a:gd name="T3" fmla="*/ 20 h 47"/>
                <a:gd name="T4" fmla="*/ 15 w 49"/>
                <a:gd name="T5" fmla="*/ 47 h 47"/>
                <a:gd name="T6" fmla="*/ 49 w 49"/>
                <a:gd name="T7" fmla="*/ 47 h 47"/>
                <a:gd name="T8" fmla="*/ 19 w 49"/>
                <a:gd name="T9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" h="47">
                  <a:moveTo>
                    <a:pt x="19" y="0"/>
                  </a:moveTo>
                  <a:lnTo>
                    <a:pt x="0" y="20"/>
                  </a:lnTo>
                  <a:lnTo>
                    <a:pt x="15" y="47"/>
                  </a:lnTo>
                  <a:lnTo>
                    <a:pt x="49" y="47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rgbClr val="002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70" name="Freeform 165">
              <a:extLst>
                <a:ext uri="{FF2B5EF4-FFF2-40B4-BE49-F238E27FC236}">
                  <a16:creationId xmlns:a16="http://schemas.microsoft.com/office/drawing/2014/main" id="{8C0B10DA-19BD-E1EB-15BE-6D80E411637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4827587" y="-4511675"/>
              <a:ext cx="142875" cy="166688"/>
            </a:xfrm>
            <a:custGeom>
              <a:avLst/>
              <a:gdLst>
                <a:gd name="T0" fmla="*/ 405 w 636"/>
                <a:gd name="T1" fmla="*/ 421 h 744"/>
                <a:gd name="T2" fmla="*/ 405 w 636"/>
                <a:gd name="T3" fmla="*/ 428 h 744"/>
                <a:gd name="T4" fmla="*/ 231 w 636"/>
                <a:gd name="T5" fmla="*/ 428 h 744"/>
                <a:gd name="T6" fmla="*/ 231 w 636"/>
                <a:gd name="T7" fmla="*/ 421 h 744"/>
                <a:gd name="T8" fmla="*/ 231 w 636"/>
                <a:gd name="T9" fmla="*/ 0 h 744"/>
                <a:gd name="T10" fmla="*/ 0 w 636"/>
                <a:gd name="T11" fmla="*/ 0 h 744"/>
                <a:gd name="T12" fmla="*/ 0 w 636"/>
                <a:gd name="T13" fmla="*/ 449 h 744"/>
                <a:gd name="T14" fmla="*/ 318 w 636"/>
                <a:gd name="T15" fmla="*/ 744 h 744"/>
                <a:gd name="T16" fmla="*/ 636 w 636"/>
                <a:gd name="T17" fmla="*/ 449 h 744"/>
                <a:gd name="T18" fmla="*/ 636 w 636"/>
                <a:gd name="T19" fmla="*/ 0 h 744"/>
                <a:gd name="T20" fmla="*/ 405 w 636"/>
                <a:gd name="T21" fmla="*/ 0 h 744"/>
                <a:gd name="T22" fmla="*/ 405 w 636"/>
                <a:gd name="T23" fmla="*/ 421 h 7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36" h="744">
                  <a:moveTo>
                    <a:pt x="405" y="421"/>
                  </a:moveTo>
                  <a:cubicBezTo>
                    <a:pt x="405" y="423"/>
                    <a:pt x="405" y="426"/>
                    <a:pt x="405" y="428"/>
                  </a:cubicBezTo>
                  <a:cubicBezTo>
                    <a:pt x="402" y="537"/>
                    <a:pt x="235" y="537"/>
                    <a:pt x="231" y="428"/>
                  </a:cubicBezTo>
                  <a:cubicBezTo>
                    <a:pt x="231" y="426"/>
                    <a:pt x="231" y="423"/>
                    <a:pt x="231" y="421"/>
                  </a:cubicBezTo>
                  <a:cubicBezTo>
                    <a:pt x="231" y="0"/>
                    <a:pt x="231" y="0"/>
                    <a:pt x="23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49"/>
                    <a:pt x="0" y="449"/>
                    <a:pt x="0" y="449"/>
                  </a:cubicBezTo>
                  <a:cubicBezTo>
                    <a:pt x="0" y="630"/>
                    <a:pt x="156" y="744"/>
                    <a:pt x="318" y="744"/>
                  </a:cubicBezTo>
                  <a:cubicBezTo>
                    <a:pt x="480" y="744"/>
                    <a:pt x="636" y="630"/>
                    <a:pt x="636" y="449"/>
                  </a:cubicBezTo>
                  <a:cubicBezTo>
                    <a:pt x="636" y="0"/>
                    <a:pt x="636" y="0"/>
                    <a:pt x="636" y="0"/>
                  </a:cubicBezTo>
                  <a:cubicBezTo>
                    <a:pt x="405" y="0"/>
                    <a:pt x="405" y="0"/>
                    <a:pt x="405" y="0"/>
                  </a:cubicBezTo>
                  <a:lnTo>
                    <a:pt x="405" y="421"/>
                  </a:lnTo>
                  <a:close/>
                </a:path>
              </a:pathLst>
            </a:custGeom>
            <a:solidFill>
              <a:srgbClr val="002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71" name="Freeform 166">
              <a:extLst>
                <a:ext uri="{FF2B5EF4-FFF2-40B4-BE49-F238E27FC236}">
                  <a16:creationId xmlns:a16="http://schemas.microsoft.com/office/drawing/2014/main" id="{3D8DE8F0-CCE3-EC98-7C01-9455BA05068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4124325" y="-4511675"/>
              <a:ext cx="141288" cy="166688"/>
            </a:xfrm>
            <a:custGeom>
              <a:avLst/>
              <a:gdLst>
                <a:gd name="T0" fmla="*/ 636 w 636"/>
                <a:gd name="T1" fmla="*/ 744 h 744"/>
                <a:gd name="T2" fmla="*/ 636 w 636"/>
                <a:gd name="T3" fmla="*/ 295 h 744"/>
                <a:gd name="T4" fmla="*/ 318 w 636"/>
                <a:gd name="T5" fmla="*/ 0 h 744"/>
                <a:gd name="T6" fmla="*/ 0 w 636"/>
                <a:gd name="T7" fmla="*/ 295 h 744"/>
                <a:gd name="T8" fmla="*/ 0 w 636"/>
                <a:gd name="T9" fmla="*/ 744 h 744"/>
                <a:gd name="T10" fmla="*/ 231 w 636"/>
                <a:gd name="T11" fmla="*/ 744 h 744"/>
                <a:gd name="T12" fmla="*/ 231 w 636"/>
                <a:gd name="T13" fmla="*/ 323 h 744"/>
                <a:gd name="T14" fmla="*/ 231 w 636"/>
                <a:gd name="T15" fmla="*/ 316 h 744"/>
                <a:gd name="T16" fmla="*/ 405 w 636"/>
                <a:gd name="T17" fmla="*/ 316 h 744"/>
                <a:gd name="T18" fmla="*/ 405 w 636"/>
                <a:gd name="T19" fmla="*/ 323 h 744"/>
                <a:gd name="T20" fmla="*/ 405 w 636"/>
                <a:gd name="T21" fmla="*/ 744 h 744"/>
                <a:gd name="T22" fmla="*/ 636 w 636"/>
                <a:gd name="T23" fmla="*/ 744 h 7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36" h="744">
                  <a:moveTo>
                    <a:pt x="636" y="744"/>
                  </a:moveTo>
                  <a:cubicBezTo>
                    <a:pt x="636" y="295"/>
                    <a:pt x="636" y="295"/>
                    <a:pt x="636" y="295"/>
                  </a:cubicBezTo>
                  <a:cubicBezTo>
                    <a:pt x="636" y="113"/>
                    <a:pt x="480" y="0"/>
                    <a:pt x="318" y="0"/>
                  </a:cubicBezTo>
                  <a:cubicBezTo>
                    <a:pt x="156" y="0"/>
                    <a:pt x="0" y="113"/>
                    <a:pt x="0" y="295"/>
                  </a:cubicBezTo>
                  <a:cubicBezTo>
                    <a:pt x="0" y="744"/>
                    <a:pt x="0" y="744"/>
                    <a:pt x="0" y="744"/>
                  </a:cubicBezTo>
                  <a:cubicBezTo>
                    <a:pt x="231" y="744"/>
                    <a:pt x="231" y="744"/>
                    <a:pt x="231" y="744"/>
                  </a:cubicBezTo>
                  <a:cubicBezTo>
                    <a:pt x="231" y="323"/>
                    <a:pt x="231" y="323"/>
                    <a:pt x="231" y="323"/>
                  </a:cubicBezTo>
                  <a:cubicBezTo>
                    <a:pt x="231" y="320"/>
                    <a:pt x="231" y="318"/>
                    <a:pt x="231" y="316"/>
                  </a:cubicBezTo>
                  <a:cubicBezTo>
                    <a:pt x="235" y="207"/>
                    <a:pt x="402" y="207"/>
                    <a:pt x="405" y="316"/>
                  </a:cubicBezTo>
                  <a:cubicBezTo>
                    <a:pt x="405" y="318"/>
                    <a:pt x="405" y="320"/>
                    <a:pt x="405" y="323"/>
                  </a:cubicBezTo>
                  <a:cubicBezTo>
                    <a:pt x="405" y="744"/>
                    <a:pt x="405" y="744"/>
                    <a:pt x="405" y="744"/>
                  </a:cubicBezTo>
                  <a:lnTo>
                    <a:pt x="636" y="744"/>
                  </a:lnTo>
                  <a:close/>
                </a:path>
              </a:pathLst>
            </a:custGeom>
            <a:solidFill>
              <a:srgbClr val="002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72" name="Freeform 167">
              <a:extLst>
                <a:ext uri="{FF2B5EF4-FFF2-40B4-BE49-F238E27FC236}">
                  <a16:creationId xmlns:a16="http://schemas.microsoft.com/office/drawing/2014/main" id="{984983DA-1A4C-AFD8-3FBF-958F75714F8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4156075" y="-4487863"/>
              <a:ext cx="0" cy="0"/>
            </a:xfrm>
            <a:custGeom>
              <a:avLst/>
              <a:gdLst>
                <a:gd name="T0" fmla="*/ 1 h 1"/>
                <a:gd name="T1" fmla="*/ 1 h 1"/>
                <a:gd name="T2" fmla="*/ 1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1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1"/>
                  </a:cubicBezTo>
                  <a:close/>
                </a:path>
              </a:pathLst>
            </a:custGeom>
            <a:solidFill>
              <a:srgbClr val="002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73" name="Rectangle 168">
              <a:extLst>
                <a:ext uri="{FF2B5EF4-FFF2-40B4-BE49-F238E27FC236}">
                  <a16:creationId xmlns:a16="http://schemas.microsoft.com/office/drawing/2014/main" id="{5CC5522A-40C6-7376-64F0-759A7728831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-4206875" y="-4487863"/>
              <a:ext cx="50800" cy="142875"/>
            </a:xfrm>
            <a:prstGeom prst="rect">
              <a:avLst/>
            </a:prstGeom>
            <a:solidFill>
              <a:srgbClr val="002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74" name="Freeform 169">
              <a:extLst>
                <a:ext uri="{FF2B5EF4-FFF2-40B4-BE49-F238E27FC236}">
                  <a16:creationId xmlns:a16="http://schemas.microsoft.com/office/drawing/2014/main" id="{894FE80E-05CD-EC46-65F4-C47E6D87BCD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4156075" y="-4487863"/>
              <a:ext cx="0" cy="0"/>
            </a:xfrm>
            <a:custGeom>
              <a:avLst/>
              <a:gdLst>
                <a:gd name="T0" fmla="*/ 0 h 2"/>
                <a:gd name="T1" fmla="*/ 0 h 2"/>
                <a:gd name="T2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2"/>
                    <a:pt x="0" y="0"/>
                  </a:cubicBezTo>
                  <a:close/>
                </a:path>
              </a:pathLst>
            </a:custGeom>
            <a:solidFill>
              <a:srgbClr val="002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75" name="Freeform 170">
              <a:extLst>
                <a:ext uri="{FF2B5EF4-FFF2-40B4-BE49-F238E27FC236}">
                  <a16:creationId xmlns:a16="http://schemas.microsoft.com/office/drawing/2014/main" id="{4F3FA3C5-0FC7-85AA-885C-5CD7E0BF99D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4206875" y="-4557713"/>
              <a:ext cx="50800" cy="50800"/>
            </a:xfrm>
            <a:custGeom>
              <a:avLst/>
              <a:gdLst>
                <a:gd name="T0" fmla="*/ 115 w 231"/>
                <a:gd name="T1" fmla="*/ 227 h 227"/>
                <a:gd name="T2" fmla="*/ 115 w 231"/>
                <a:gd name="T3" fmla="*/ 227 h 227"/>
                <a:gd name="T4" fmla="*/ 231 w 231"/>
                <a:gd name="T5" fmla="*/ 114 h 227"/>
                <a:gd name="T6" fmla="*/ 231 w 231"/>
                <a:gd name="T7" fmla="*/ 114 h 227"/>
                <a:gd name="T8" fmla="*/ 115 w 231"/>
                <a:gd name="T9" fmla="*/ 0 h 227"/>
                <a:gd name="T10" fmla="*/ 115 w 231"/>
                <a:gd name="T11" fmla="*/ 0 h 227"/>
                <a:gd name="T12" fmla="*/ 0 w 231"/>
                <a:gd name="T13" fmla="*/ 114 h 227"/>
                <a:gd name="T14" fmla="*/ 0 w 231"/>
                <a:gd name="T15" fmla="*/ 114 h 227"/>
                <a:gd name="T16" fmla="*/ 115 w 231"/>
                <a:gd name="T17" fmla="*/ 227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1" h="227">
                  <a:moveTo>
                    <a:pt x="115" y="227"/>
                  </a:moveTo>
                  <a:cubicBezTo>
                    <a:pt x="115" y="227"/>
                    <a:pt x="115" y="227"/>
                    <a:pt x="115" y="227"/>
                  </a:cubicBezTo>
                  <a:cubicBezTo>
                    <a:pt x="179" y="227"/>
                    <a:pt x="231" y="176"/>
                    <a:pt x="231" y="114"/>
                  </a:cubicBezTo>
                  <a:cubicBezTo>
                    <a:pt x="231" y="114"/>
                    <a:pt x="231" y="114"/>
                    <a:pt x="231" y="114"/>
                  </a:cubicBezTo>
                  <a:cubicBezTo>
                    <a:pt x="231" y="51"/>
                    <a:pt x="179" y="0"/>
                    <a:pt x="115" y="0"/>
                  </a:cubicBezTo>
                  <a:cubicBezTo>
                    <a:pt x="115" y="0"/>
                    <a:pt x="115" y="0"/>
                    <a:pt x="115" y="0"/>
                  </a:cubicBezTo>
                  <a:cubicBezTo>
                    <a:pt x="51" y="0"/>
                    <a:pt x="0" y="51"/>
                    <a:pt x="0" y="114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176"/>
                    <a:pt x="51" y="227"/>
                    <a:pt x="115" y="227"/>
                  </a:cubicBezTo>
                  <a:close/>
                </a:path>
              </a:pathLst>
            </a:custGeom>
            <a:solidFill>
              <a:srgbClr val="002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76" name="Oval 171">
              <a:extLst>
                <a:ext uri="{FF2B5EF4-FFF2-40B4-BE49-F238E27FC236}">
                  <a16:creationId xmlns:a16="http://schemas.microsoft.com/office/drawing/2014/main" id="{580F3A20-0879-7094-C860-36CD1A90A47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-6380162" y="-4630738"/>
              <a:ext cx="630238" cy="630238"/>
            </a:xfrm>
            <a:prstGeom prst="ellipse">
              <a:avLst/>
            </a:prstGeom>
            <a:solidFill>
              <a:srgbClr val="002D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77" name="Freeform 172">
              <a:extLst>
                <a:ext uri="{FF2B5EF4-FFF2-40B4-BE49-F238E27FC236}">
                  <a16:creationId xmlns:a16="http://schemas.microsoft.com/office/drawing/2014/main" id="{D74A111E-607D-8215-64A0-121584E9125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6315075" y="-4489450"/>
              <a:ext cx="201613" cy="203200"/>
            </a:xfrm>
            <a:custGeom>
              <a:avLst/>
              <a:gdLst>
                <a:gd name="T0" fmla="*/ 449 w 904"/>
                <a:gd name="T1" fmla="*/ 903 h 904"/>
                <a:gd name="T2" fmla="*/ 902 w 904"/>
                <a:gd name="T3" fmla="*/ 450 h 904"/>
                <a:gd name="T4" fmla="*/ 454 w 904"/>
                <a:gd name="T5" fmla="*/ 2 h 904"/>
                <a:gd name="T6" fmla="*/ 1 w 904"/>
                <a:gd name="T7" fmla="*/ 455 h 904"/>
                <a:gd name="T8" fmla="*/ 449 w 904"/>
                <a:gd name="T9" fmla="*/ 903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4" h="904">
                  <a:moveTo>
                    <a:pt x="449" y="903"/>
                  </a:moveTo>
                  <a:cubicBezTo>
                    <a:pt x="699" y="904"/>
                    <a:pt x="904" y="700"/>
                    <a:pt x="902" y="450"/>
                  </a:cubicBezTo>
                  <a:cubicBezTo>
                    <a:pt x="901" y="203"/>
                    <a:pt x="701" y="3"/>
                    <a:pt x="454" y="2"/>
                  </a:cubicBezTo>
                  <a:cubicBezTo>
                    <a:pt x="204" y="0"/>
                    <a:pt x="0" y="205"/>
                    <a:pt x="1" y="455"/>
                  </a:cubicBezTo>
                  <a:cubicBezTo>
                    <a:pt x="2" y="702"/>
                    <a:pt x="202" y="902"/>
                    <a:pt x="449" y="903"/>
                  </a:cubicBezTo>
                  <a:close/>
                </a:path>
              </a:pathLst>
            </a:custGeom>
            <a:solidFill>
              <a:srgbClr val="8EDF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78" name="Freeform 173">
              <a:extLst>
                <a:ext uri="{FF2B5EF4-FFF2-40B4-BE49-F238E27FC236}">
                  <a16:creationId xmlns:a16="http://schemas.microsoft.com/office/drawing/2014/main" id="{8449E4D4-1702-8FAF-D86C-DE5094FE52F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5915025" y="-4411663"/>
              <a:ext cx="98425" cy="98425"/>
            </a:xfrm>
            <a:custGeom>
              <a:avLst/>
              <a:gdLst>
                <a:gd name="T0" fmla="*/ 217 w 438"/>
                <a:gd name="T1" fmla="*/ 437 h 438"/>
                <a:gd name="T2" fmla="*/ 437 w 438"/>
                <a:gd name="T3" fmla="*/ 217 h 438"/>
                <a:gd name="T4" fmla="*/ 221 w 438"/>
                <a:gd name="T5" fmla="*/ 1 h 438"/>
                <a:gd name="T6" fmla="*/ 1 w 438"/>
                <a:gd name="T7" fmla="*/ 221 h 438"/>
                <a:gd name="T8" fmla="*/ 217 w 438"/>
                <a:gd name="T9" fmla="*/ 437 h 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8" h="438">
                  <a:moveTo>
                    <a:pt x="217" y="437"/>
                  </a:moveTo>
                  <a:cubicBezTo>
                    <a:pt x="339" y="438"/>
                    <a:pt x="438" y="339"/>
                    <a:pt x="437" y="217"/>
                  </a:cubicBezTo>
                  <a:cubicBezTo>
                    <a:pt x="436" y="99"/>
                    <a:pt x="339" y="2"/>
                    <a:pt x="221" y="1"/>
                  </a:cubicBezTo>
                  <a:cubicBezTo>
                    <a:pt x="99" y="0"/>
                    <a:pt x="0" y="99"/>
                    <a:pt x="1" y="221"/>
                  </a:cubicBezTo>
                  <a:cubicBezTo>
                    <a:pt x="2" y="339"/>
                    <a:pt x="98" y="436"/>
                    <a:pt x="217" y="437"/>
                  </a:cubicBezTo>
                  <a:close/>
                </a:path>
              </a:pathLst>
            </a:custGeom>
            <a:solidFill>
              <a:srgbClr val="00B6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79" name="Freeform 174">
              <a:extLst>
                <a:ext uri="{FF2B5EF4-FFF2-40B4-BE49-F238E27FC236}">
                  <a16:creationId xmlns:a16="http://schemas.microsoft.com/office/drawing/2014/main" id="{51D5D7AC-61D1-8BB3-23A8-E75220553F1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6211887" y="-4497388"/>
              <a:ext cx="279400" cy="365125"/>
            </a:xfrm>
            <a:custGeom>
              <a:avLst/>
              <a:gdLst>
                <a:gd name="T0" fmla="*/ 279 w 1252"/>
                <a:gd name="T1" fmla="*/ 1019 h 1633"/>
                <a:gd name="T2" fmla="*/ 247 w 1252"/>
                <a:gd name="T3" fmla="*/ 1027 h 1633"/>
                <a:gd name="T4" fmla="*/ 85 w 1252"/>
                <a:gd name="T5" fmla="*/ 1151 h 1633"/>
                <a:gd name="T6" fmla="*/ 83 w 1252"/>
                <a:gd name="T7" fmla="*/ 1153 h 1633"/>
                <a:gd name="T8" fmla="*/ 180 w 1252"/>
                <a:gd name="T9" fmla="*/ 1550 h 1633"/>
                <a:gd name="T10" fmla="*/ 578 w 1252"/>
                <a:gd name="T11" fmla="*/ 1453 h 1633"/>
                <a:gd name="T12" fmla="*/ 579 w 1252"/>
                <a:gd name="T13" fmla="*/ 1452 h 1633"/>
                <a:gd name="T14" fmla="*/ 615 w 1252"/>
                <a:gd name="T15" fmla="*/ 1250 h 1633"/>
                <a:gd name="T16" fmla="*/ 607 w 1252"/>
                <a:gd name="T17" fmla="*/ 1219 h 1633"/>
                <a:gd name="T18" fmla="*/ 590 w 1252"/>
                <a:gd name="T19" fmla="*/ 1138 h 1633"/>
                <a:gd name="T20" fmla="*/ 658 w 1252"/>
                <a:gd name="T21" fmla="*/ 836 h 1633"/>
                <a:gd name="T22" fmla="*/ 895 w 1252"/>
                <a:gd name="T23" fmla="*/ 636 h 1633"/>
                <a:gd name="T24" fmla="*/ 974 w 1252"/>
                <a:gd name="T25" fmla="*/ 614 h 1633"/>
                <a:gd name="T26" fmla="*/ 1006 w 1252"/>
                <a:gd name="T27" fmla="*/ 607 h 1633"/>
                <a:gd name="T28" fmla="*/ 1168 w 1252"/>
                <a:gd name="T29" fmla="*/ 482 h 1633"/>
                <a:gd name="T30" fmla="*/ 1169 w 1252"/>
                <a:gd name="T31" fmla="*/ 480 h 1633"/>
                <a:gd name="T32" fmla="*/ 1072 w 1252"/>
                <a:gd name="T33" fmla="*/ 83 h 1633"/>
                <a:gd name="T34" fmla="*/ 675 w 1252"/>
                <a:gd name="T35" fmla="*/ 180 h 1633"/>
                <a:gd name="T36" fmla="*/ 674 w 1252"/>
                <a:gd name="T37" fmla="*/ 182 h 1633"/>
                <a:gd name="T38" fmla="*/ 638 w 1252"/>
                <a:gd name="T39" fmla="*/ 383 h 1633"/>
                <a:gd name="T40" fmla="*/ 646 w 1252"/>
                <a:gd name="T41" fmla="*/ 415 h 1633"/>
                <a:gd name="T42" fmla="*/ 663 w 1252"/>
                <a:gd name="T43" fmla="*/ 495 h 1633"/>
                <a:gd name="T44" fmla="*/ 595 w 1252"/>
                <a:gd name="T45" fmla="*/ 798 h 1633"/>
                <a:gd name="T46" fmla="*/ 358 w 1252"/>
                <a:gd name="T47" fmla="*/ 997 h 1633"/>
                <a:gd name="T48" fmla="*/ 279 w 1252"/>
                <a:gd name="T49" fmla="*/ 1019 h 16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252" h="1633">
                  <a:moveTo>
                    <a:pt x="279" y="1019"/>
                  </a:moveTo>
                  <a:cubicBezTo>
                    <a:pt x="268" y="1021"/>
                    <a:pt x="257" y="1023"/>
                    <a:pt x="247" y="1027"/>
                  </a:cubicBezTo>
                  <a:cubicBezTo>
                    <a:pt x="182" y="1046"/>
                    <a:pt x="123" y="1089"/>
                    <a:pt x="85" y="1151"/>
                  </a:cubicBezTo>
                  <a:cubicBezTo>
                    <a:pt x="84" y="1152"/>
                    <a:pt x="84" y="1153"/>
                    <a:pt x="83" y="1153"/>
                  </a:cubicBezTo>
                  <a:cubicBezTo>
                    <a:pt x="0" y="1290"/>
                    <a:pt x="44" y="1467"/>
                    <a:pt x="180" y="1550"/>
                  </a:cubicBezTo>
                  <a:cubicBezTo>
                    <a:pt x="317" y="1633"/>
                    <a:pt x="495" y="1590"/>
                    <a:pt x="578" y="1453"/>
                  </a:cubicBezTo>
                  <a:cubicBezTo>
                    <a:pt x="578" y="1453"/>
                    <a:pt x="578" y="1452"/>
                    <a:pt x="579" y="1452"/>
                  </a:cubicBezTo>
                  <a:cubicBezTo>
                    <a:pt x="616" y="1389"/>
                    <a:pt x="627" y="1317"/>
                    <a:pt x="615" y="1250"/>
                  </a:cubicBezTo>
                  <a:cubicBezTo>
                    <a:pt x="613" y="1240"/>
                    <a:pt x="610" y="1229"/>
                    <a:pt x="607" y="1219"/>
                  </a:cubicBezTo>
                  <a:cubicBezTo>
                    <a:pt x="599" y="1192"/>
                    <a:pt x="593" y="1166"/>
                    <a:pt x="590" y="1138"/>
                  </a:cubicBezTo>
                  <a:cubicBezTo>
                    <a:pt x="579" y="1033"/>
                    <a:pt x="604" y="926"/>
                    <a:pt x="658" y="836"/>
                  </a:cubicBezTo>
                  <a:cubicBezTo>
                    <a:pt x="713" y="747"/>
                    <a:pt x="797" y="675"/>
                    <a:pt x="895" y="636"/>
                  </a:cubicBezTo>
                  <a:cubicBezTo>
                    <a:pt x="921" y="626"/>
                    <a:pt x="947" y="619"/>
                    <a:pt x="974" y="614"/>
                  </a:cubicBezTo>
                  <a:cubicBezTo>
                    <a:pt x="985" y="612"/>
                    <a:pt x="996" y="610"/>
                    <a:pt x="1006" y="607"/>
                  </a:cubicBezTo>
                  <a:cubicBezTo>
                    <a:pt x="1071" y="587"/>
                    <a:pt x="1130" y="544"/>
                    <a:pt x="1168" y="482"/>
                  </a:cubicBezTo>
                  <a:cubicBezTo>
                    <a:pt x="1168" y="481"/>
                    <a:pt x="1169" y="481"/>
                    <a:pt x="1169" y="480"/>
                  </a:cubicBezTo>
                  <a:cubicBezTo>
                    <a:pt x="1252" y="344"/>
                    <a:pt x="1209" y="166"/>
                    <a:pt x="1072" y="83"/>
                  </a:cubicBezTo>
                  <a:cubicBezTo>
                    <a:pt x="936" y="0"/>
                    <a:pt x="758" y="43"/>
                    <a:pt x="675" y="180"/>
                  </a:cubicBezTo>
                  <a:cubicBezTo>
                    <a:pt x="675" y="180"/>
                    <a:pt x="674" y="181"/>
                    <a:pt x="674" y="182"/>
                  </a:cubicBezTo>
                  <a:cubicBezTo>
                    <a:pt x="636" y="244"/>
                    <a:pt x="625" y="316"/>
                    <a:pt x="638" y="383"/>
                  </a:cubicBezTo>
                  <a:cubicBezTo>
                    <a:pt x="640" y="394"/>
                    <a:pt x="643" y="404"/>
                    <a:pt x="646" y="415"/>
                  </a:cubicBezTo>
                  <a:cubicBezTo>
                    <a:pt x="654" y="441"/>
                    <a:pt x="660" y="468"/>
                    <a:pt x="663" y="495"/>
                  </a:cubicBezTo>
                  <a:cubicBezTo>
                    <a:pt x="674" y="600"/>
                    <a:pt x="648" y="707"/>
                    <a:pt x="595" y="798"/>
                  </a:cubicBezTo>
                  <a:cubicBezTo>
                    <a:pt x="540" y="886"/>
                    <a:pt x="456" y="958"/>
                    <a:pt x="358" y="997"/>
                  </a:cubicBezTo>
                  <a:cubicBezTo>
                    <a:pt x="332" y="1007"/>
                    <a:pt x="305" y="1014"/>
                    <a:pt x="279" y="1019"/>
                  </a:cubicBezTo>
                  <a:close/>
                </a:path>
              </a:pathLst>
            </a:custGeom>
            <a:solidFill>
              <a:srgbClr val="2ECD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80" name="Freeform 175">
              <a:extLst>
                <a:ext uri="{FF2B5EF4-FFF2-40B4-BE49-F238E27FC236}">
                  <a16:creationId xmlns:a16="http://schemas.microsoft.com/office/drawing/2014/main" id="{ED2ECE2B-72B6-1638-CBD8-D415291C9D7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6040437" y="-4324350"/>
              <a:ext cx="230188" cy="184150"/>
            </a:xfrm>
            <a:custGeom>
              <a:avLst/>
              <a:gdLst>
                <a:gd name="T0" fmla="*/ 371 w 1026"/>
                <a:gd name="T1" fmla="*/ 62 h 825"/>
                <a:gd name="T2" fmla="*/ 51 w 1026"/>
                <a:gd name="T3" fmla="*/ 146 h 825"/>
                <a:gd name="T4" fmla="*/ 57 w 1026"/>
                <a:gd name="T5" fmla="*/ 405 h 825"/>
                <a:gd name="T6" fmla="*/ 296 w 1026"/>
                <a:gd name="T7" fmla="*/ 508 h 825"/>
                <a:gd name="T8" fmla="*/ 308 w 1026"/>
                <a:gd name="T9" fmla="*/ 505 h 825"/>
                <a:gd name="T10" fmla="*/ 329 w 1026"/>
                <a:gd name="T11" fmla="*/ 502 h 825"/>
                <a:gd name="T12" fmla="*/ 441 w 1026"/>
                <a:gd name="T13" fmla="*/ 527 h 825"/>
                <a:gd name="T14" fmla="*/ 515 w 1026"/>
                <a:gd name="T15" fmla="*/ 616 h 825"/>
                <a:gd name="T16" fmla="*/ 522 w 1026"/>
                <a:gd name="T17" fmla="*/ 636 h 825"/>
                <a:gd name="T18" fmla="*/ 525 w 1026"/>
                <a:gd name="T19" fmla="*/ 648 h 825"/>
                <a:gd name="T20" fmla="*/ 725 w 1026"/>
                <a:gd name="T21" fmla="*/ 814 h 825"/>
                <a:gd name="T22" fmla="*/ 959 w 1026"/>
                <a:gd name="T23" fmla="*/ 702 h 825"/>
                <a:gd name="T24" fmla="*/ 887 w 1026"/>
                <a:gd name="T25" fmla="*/ 379 h 825"/>
                <a:gd name="T26" fmla="*/ 754 w 1026"/>
                <a:gd name="T27" fmla="*/ 337 h 825"/>
                <a:gd name="T28" fmla="*/ 738 w 1026"/>
                <a:gd name="T29" fmla="*/ 338 h 825"/>
                <a:gd name="T30" fmla="*/ 690 w 1026"/>
                <a:gd name="T31" fmla="*/ 344 h 825"/>
                <a:gd name="T32" fmla="*/ 593 w 1026"/>
                <a:gd name="T33" fmla="*/ 335 h 825"/>
                <a:gd name="T34" fmla="*/ 567 w 1026"/>
                <a:gd name="T35" fmla="*/ 322 h 825"/>
                <a:gd name="T36" fmla="*/ 544 w 1026"/>
                <a:gd name="T37" fmla="*/ 305 h 825"/>
                <a:gd name="T38" fmla="*/ 491 w 1026"/>
                <a:gd name="T39" fmla="*/ 222 h 825"/>
                <a:gd name="T40" fmla="*/ 476 w 1026"/>
                <a:gd name="T41" fmla="*/ 177 h 825"/>
                <a:gd name="T42" fmla="*/ 468 w 1026"/>
                <a:gd name="T43" fmla="*/ 162 h 825"/>
                <a:gd name="T44" fmla="*/ 371 w 1026"/>
                <a:gd name="T45" fmla="*/ 62 h 8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026" h="825">
                  <a:moveTo>
                    <a:pt x="371" y="62"/>
                  </a:moveTo>
                  <a:cubicBezTo>
                    <a:pt x="260" y="0"/>
                    <a:pt x="118" y="36"/>
                    <a:pt x="51" y="146"/>
                  </a:cubicBezTo>
                  <a:cubicBezTo>
                    <a:pt x="0" y="228"/>
                    <a:pt x="6" y="329"/>
                    <a:pt x="57" y="405"/>
                  </a:cubicBezTo>
                  <a:cubicBezTo>
                    <a:pt x="110" y="484"/>
                    <a:pt x="205" y="523"/>
                    <a:pt x="296" y="508"/>
                  </a:cubicBezTo>
                  <a:cubicBezTo>
                    <a:pt x="300" y="507"/>
                    <a:pt x="304" y="506"/>
                    <a:pt x="308" y="505"/>
                  </a:cubicBezTo>
                  <a:cubicBezTo>
                    <a:pt x="315" y="504"/>
                    <a:pt x="322" y="503"/>
                    <a:pt x="329" y="502"/>
                  </a:cubicBezTo>
                  <a:cubicBezTo>
                    <a:pt x="368" y="499"/>
                    <a:pt x="407" y="508"/>
                    <a:pt x="441" y="527"/>
                  </a:cubicBezTo>
                  <a:cubicBezTo>
                    <a:pt x="474" y="549"/>
                    <a:pt x="500" y="580"/>
                    <a:pt x="515" y="616"/>
                  </a:cubicBezTo>
                  <a:cubicBezTo>
                    <a:pt x="518" y="623"/>
                    <a:pt x="520" y="629"/>
                    <a:pt x="522" y="636"/>
                  </a:cubicBezTo>
                  <a:cubicBezTo>
                    <a:pt x="523" y="640"/>
                    <a:pt x="524" y="644"/>
                    <a:pt x="525" y="648"/>
                  </a:cubicBezTo>
                  <a:cubicBezTo>
                    <a:pt x="553" y="736"/>
                    <a:pt x="630" y="803"/>
                    <a:pt x="725" y="814"/>
                  </a:cubicBezTo>
                  <a:cubicBezTo>
                    <a:pt x="815" y="825"/>
                    <a:pt x="908" y="784"/>
                    <a:pt x="959" y="702"/>
                  </a:cubicBezTo>
                  <a:cubicBezTo>
                    <a:pt x="1026" y="592"/>
                    <a:pt x="994" y="449"/>
                    <a:pt x="887" y="379"/>
                  </a:cubicBezTo>
                  <a:cubicBezTo>
                    <a:pt x="849" y="353"/>
                    <a:pt x="804" y="338"/>
                    <a:pt x="754" y="337"/>
                  </a:cubicBezTo>
                  <a:cubicBezTo>
                    <a:pt x="749" y="337"/>
                    <a:pt x="743" y="337"/>
                    <a:pt x="738" y="338"/>
                  </a:cubicBezTo>
                  <a:cubicBezTo>
                    <a:pt x="723" y="339"/>
                    <a:pt x="706" y="341"/>
                    <a:pt x="690" y="344"/>
                  </a:cubicBezTo>
                  <a:cubicBezTo>
                    <a:pt x="658" y="351"/>
                    <a:pt x="623" y="348"/>
                    <a:pt x="593" y="335"/>
                  </a:cubicBezTo>
                  <a:cubicBezTo>
                    <a:pt x="584" y="331"/>
                    <a:pt x="575" y="327"/>
                    <a:pt x="567" y="322"/>
                  </a:cubicBezTo>
                  <a:cubicBezTo>
                    <a:pt x="559" y="317"/>
                    <a:pt x="551" y="312"/>
                    <a:pt x="544" y="305"/>
                  </a:cubicBezTo>
                  <a:cubicBezTo>
                    <a:pt x="518" y="284"/>
                    <a:pt x="500" y="255"/>
                    <a:pt x="491" y="222"/>
                  </a:cubicBezTo>
                  <a:cubicBezTo>
                    <a:pt x="487" y="207"/>
                    <a:pt x="481" y="190"/>
                    <a:pt x="476" y="177"/>
                  </a:cubicBezTo>
                  <a:cubicBezTo>
                    <a:pt x="473" y="172"/>
                    <a:pt x="471" y="167"/>
                    <a:pt x="468" y="162"/>
                  </a:cubicBezTo>
                  <a:cubicBezTo>
                    <a:pt x="446" y="118"/>
                    <a:pt x="411" y="84"/>
                    <a:pt x="371" y="62"/>
                  </a:cubicBezTo>
                  <a:close/>
                </a:path>
              </a:pathLst>
            </a:custGeom>
            <a:solidFill>
              <a:srgbClr val="8EDF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3776221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Blank P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496B6DBE-9812-4B02-815E-036A649150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61421" y="-586026"/>
            <a:ext cx="2299235" cy="2299235"/>
          </a:xfrm>
          <a:prstGeom prst="rect">
            <a:avLst/>
          </a:prstGeom>
        </p:spPr>
      </p:pic>
      <p:pic>
        <p:nvPicPr>
          <p:cNvPr id="9" name="Picture 5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91393" y="4692853"/>
            <a:ext cx="655383" cy="280878"/>
          </a:xfrm>
          <a:prstGeom prst="rect">
            <a:avLst/>
          </a:prstGeom>
        </p:spPr>
      </p:pic>
      <p:sp>
        <p:nvSpPr>
          <p:cNvPr id="6" name="標題 1">
            <a:extLst>
              <a:ext uri="{FF2B5EF4-FFF2-40B4-BE49-F238E27FC236}">
                <a16:creationId xmlns:a16="http://schemas.microsoft.com/office/drawing/2014/main" id="{5F735089-F81E-4CF4-ADF9-44812E60E2E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8148" y="331531"/>
            <a:ext cx="8482972" cy="1064131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rgbClr val="005087"/>
                </a:solidFill>
                <a:latin typeface="+mj-lt"/>
              </a:defRPr>
            </a:lvl1pPr>
          </a:lstStyle>
          <a:p>
            <a:r>
              <a:rPr lang="en-US" altLang="zh-TW" dirty="0"/>
              <a:t>Page Title Goes Here</a:t>
            </a:r>
            <a:br>
              <a:rPr lang="en-US" altLang="zh-TW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477838" y="1606550"/>
            <a:ext cx="8469312" cy="2971800"/>
          </a:xfrm>
        </p:spPr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8" name="文字方塊 13">
            <a:extLst>
              <a:ext uri="{FF2B5EF4-FFF2-40B4-BE49-F238E27FC236}">
                <a16:creationId xmlns:a16="http://schemas.microsoft.com/office/drawing/2014/main" id="{100C045E-458C-43C8-A14C-FB9C878D4F9B}"/>
              </a:ext>
            </a:extLst>
          </p:cNvPr>
          <p:cNvSpPr txBox="1"/>
          <p:nvPr userDrawn="1"/>
        </p:nvSpPr>
        <p:spPr>
          <a:xfrm>
            <a:off x="478149" y="4933093"/>
            <a:ext cx="1153376" cy="173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525" b="0" i="0" dirty="0">
                <a:solidFill>
                  <a:schemeClr val="bg1">
                    <a:lumMod val="50000"/>
                  </a:schemeClr>
                </a:solidFill>
                <a:effectLst/>
                <a:latin typeface="+mn-lt"/>
              </a:rPr>
              <a:t>  </a:t>
            </a:r>
            <a:r>
              <a:rPr lang="en-US" sz="525" b="0" i="0" kern="1200" dirty="0">
                <a:solidFill>
                  <a:schemeClr val="tx1">
                    <a:lumMod val="75000"/>
                    <a:lumOff val="25000"/>
                    <a:alpha val="65000"/>
                  </a:schemeClr>
                </a:solidFill>
                <a:effectLst/>
                <a:latin typeface="+mn-lt"/>
                <a:ea typeface="+mn-ea"/>
                <a:cs typeface="+mn-cs"/>
              </a:rPr>
              <a:t>AUO Corporation Proprietary</a:t>
            </a:r>
          </a:p>
        </p:txBody>
      </p:sp>
      <p:sp>
        <p:nvSpPr>
          <p:cNvPr id="11" name="矩形 10"/>
          <p:cNvSpPr/>
          <p:nvPr userDrawn="1"/>
        </p:nvSpPr>
        <p:spPr>
          <a:xfrm>
            <a:off x="520230" y="4961069"/>
            <a:ext cx="62518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altLang="zh-TW" sz="900" b="0" i="0" dirty="0">
                <a:solidFill>
                  <a:schemeClr val="bg1">
                    <a:lumMod val="50000"/>
                  </a:schemeClr>
                </a:solidFill>
                <a:effectLst/>
                <a:latin typeface="+mn-lt"/>
              </a:rPr>
              <a:t>©</a:t>
            </a:r>
            <a:endParaRPr lang="zh-TW" alt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419336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Blank P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496B6DBE-9812-4B02-815E-036A649150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1423" y="-586026"/>
            <a:ext cx="2299235" cy="2299235"/>
          </a:xfrm>
          <a:prstGeom prst="rect">
            <a:avLst/>
          </a:prstGeom>
        </p:spPr>
      </p:pic>
      <p:pic>
        <p:nvPicPr>
          <p:cNvPr id="9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1393" y="4692853"/>
            <a:ext cx="655383" cy="280878"/>
          </a:xfrm>
          <a:prstGeom prst="rect">
            <a:avLst/>
          </a:prstGeom>
        </p:spPr>
      </p:pic>
      <p:sp>
        <p:nvSpPr>
          <p:cNvPr id="6" name="標題 1">
            <a:extLst>
              <a:ext uri="{FF2B5EF4-FFF2-40B4-BE49-F238E27FC236}">
                <a16:creationId xmlns:a16="http://schemas.microsoft.com/office/drawing/2014/main" id="{5F735089-F81E-4CF4-ADF9-44812E60E2E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8149" y="331533"/>
            <a:ext cx="8482972" cy="1064131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rgbClr val="005087"/>
                </a:solidFill>
                <a:latin typeface="+mj-lt"/>
              </a:defRPr>
            </a:lvl1pPr>
          </a:lstStyle>
          <a:p>
            <a:r>
              <a:rPr lang="en-US" altLang="zh-TW" dirty="0"/>
              <a:t>Page Title Goes Here</a:t>
            </a:r>
            <a:br>
              <a:rPr lang="en-US" altLang="zh-TW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477838" y="1606550"/>
            <a:ext cx="8469312" cy="2971800"/>
          </a:xfrm>
        </p:spPr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8" name="文字方塊 13">
            <a:extLst>
              <a:ext uri="{FF2B5EF4-FFF2-40B4-BE49-F238E27FC236}">
                <a16:creationId xmlns:a16="http://schemas.microsoft.com/office/drawing/2014/main" id="{100C045E-458C-43C8-A14C-FB9C878D4F9B}"/>
              </a:ext>
            </a:extLst>
          </p:cNvPr>
          <p:cNvSpPr txBox="1"/>
          <p:nvPr userDrawn="1"/>
        </p:nvSpPr>
        <p:spPr>
          <a:xfrm>
            <a:off x="478150" y="4919549"/>
            <a:ext cx="3378473" cy="173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25" dirty="0">
                <a:solidFill>
                  <a:srgbClr val="000000">
                    <a:alpha val="65000"/>
                  </a:srgbClr>
                </a:solidFill>
                <a:latin typeface="arial" panose="020B0604020202020204" pitchFamily="34" charset="0"/>
              </a:rPr>
              <a:t>©</a:t>
            </a:r>
            <a:r>
              <a:rPr lang="en-US" sz="525" dirty="0">
                <a:solidFill>
                  <a:srgbClr val="000000">
                    <a:alpha val="65000"/>
                  </a:srgbClr>
                </a:solidFill>
              </a:rPr>
              <a:t>2022 AUO Corporation 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2680986572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_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\\au3fs6\CorpCom\Library\Design\Amelie\2015\20151102_lobbytemplate\20141008_tvppttemplate1920x1080_inside.jpg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2"/>
            <a:ext cx="9144000" cy="2203037"/>
          </a:xfrm>
          <a:prstGeom prst="rect">
            <a:avLst/>
          </a:prstGeom>
          <a:noFill/>
        </p:spPr>
      </p:pic>
      <p:sp>
        <p:nvSpPr>
          <p:cNvPr id="8" name="文字方塊 7"/>
          <p:cNvSpPr txBox="1">
            <a:spLocks noChangeArrowheads="1"/>
          </p:cNvSpPr>
          <p:nvPr userDrawn="1"/>
        </p:nvSpPr>
        <p:spPr bwMode="auto">
          <a:xfrm>
            <a:off x="395288" y="4983164"/>
            <a:ext cx="3429000" cy="160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2000" rIns="72000" anchor="b"/>
          <a:lstStyle/>
          <a:p>
            <a:pPr eaLnBrk="1" hangingPunct="1">
              <a:lnSpc>
                <a:spcPct val="80000"/>
              </a:lnSpc>
              <a:defRPr/>
            </a:pPr>
            <a:r>
              <a:rPr kumimoji="0" lang="en-US" altLang="zh-TW" sz="500" dirty="0">
                <a:solidFill>
                  <a:srgbClr val="333333"/>
                </a:solidFill>
                <a:latin typeface="Gill Sans MT" pitchFamily="34" charset="0"/>
                <a:ea typeface="微軟正黑體" pitchFamily="34" charset="-120"/>
                <a:cs typeface="Times New Roman" pitchFamily="18" charset="0"/>
                <a:sym typeface="Symbol" pitchFamily="18" charset="2"/>
              </a:rPr>
              <a:t></a:t>
            </a:r>
            <a:r>
              <a:rPr kumimoji="0" lang="en-US" altLang="zh-TW" sz="500" dirty="0">
                <a:solidFill>
                  <a:srgbClr val="333333"/>
                </a:solidFill>
                <a:latin typeface="Gill Sans MT" pitchFamily="34" charset="0"/>
                <a:ea typeface="微軟正黑體" pitchFamily="34" charset="-120"/>
              </a:rPr>
              <a:t>2016 AU </a:t>
            </a:r>
            <a:r>
              <a:rPr kumimoji="0" lang="en-US" altLang="zh-TW" sz="500" dirty="0" err="1">
                <a:solidFill>
                  <a:srgbClr val="333333"/>
                </a:solidFill>
                <a:latin typeface="Gill Sans MT" pitchFamily="34" charset="0"/>
                <a:ea typeface="微軟正黑體" pitchFamily="34" charset="-120"/>
              </a:rPr>
              <a:t>Optronics</a:t>
            </a:r>
            <a:r>
              <a:rPr kumimoji="0" lang="en-US" altLang="zh-TW" sz="500" dirty="0">
                <a:solidFill>
                  <a:srgbClr val="333333"/>
                </a:solidFill>
                <a:latin typeface="Gill Sans MT" pitchFamily="34" charset="0"/>
                <a:ea typeface="微軟正黑體" pitchFamily="34" charset="-120"/>
              </a:rPr>
              <a:t> Corporation</a:t>
            </a:r>
            <a:endParaRPr kumimoji="0" lang="zh-TW" altLang="en-US" sz="500" dirty="0">
              <a:solidFill>
                <a:srgbClr val="333333"/>
              </a:solidFill>
              <a:latin typeface="Gill Sans MT" pitchFamily="34" charset="0"/>
              <a:ea typeface="微軟正黑體" pitchFamily="34" charset="-120"/>
            </a:endParaRPr>
          </a:p>
        </p:txBody>
      </p:sp>
      <p:sp>
        <p:nvSpPr>
          <p:cNvPr id="6" name="文字版面配置區 12"/>
          <p:cNvSpPr>
            <a:spLocks noGrp="1"/>
          </p:cNvSpPr>
          <p:nvPr>
            <p:ph type="body" sz="quarter" idx="19"/>
          </p:nvPr>
        </p:nvSpPr>
        <p:spPr>
          <a:xfrm>
            <a:off x="251520" y="195486"/>
            <a:ext cx="7416824" cy="1008112"/>
          </a:xfrm>
        </p:spPr>
        <p:txBody>
          <a:bodyPr>
            <a:normAutofit/>
          </a:bodyPr>
          <a:lstStyle>
            <a:lvl1pPr marL="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3200">
                <a:solidFill>
                  <a:srgbClr val="333333"/>
                </a:solidFill>
                <a:latin typeface="Gill Sans MT" pitchFamily="34" charset="0"/>
                <a:ea typeface="微軟正黑體" pitchFamily="34" charset="-120"/>
              </a:defRPr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17" name="內容版面配置區 16"/>
          <p:cNvSpPr>
            <a:spLocks noGrp="1"/>
          </p:cNvSpPr>
          <p:nvPr>
            <p:ph sz="quarter" idx="22"/>
          </p:nvPr>
        </p:nvSpPr>
        <p:spPr>
          <a:xfrm>
            <a:off x="467544" y="1221602"/>
            <a:ext cx="7920880" cy="3582397"/>
          </a:xfrm>
        </p:spPr>
        <p:txBody>
          <a:bodyPr/>
          <a:lstStyle>
            <a:lvl1pPr>
              <a:defRPr>
                <a:solidFill>
                  <a:srgbClr val="333333"/>
                </a:solidFill>
                <a:latin typeface="Gill Sans MT" pitchFamily="34" charset="0"/>
                <a:ea typeface="微軟正黑體" pitchFamily="34" charset="-120"/>
              </a:defRPr>
            </a:lvl1pPr>
            <a:lvl2pPr>
              <a:defRPr baseline="0">
                <a:solidFill>
                  <a:srgbClr val="333333"/>
                </a:solidFill>
                <a:latin typeface="Gill Sans MT" pitchFamily="34" charset="0"/>
                <a:ea typeface="微軟正黑體" pitchFamily="34" charset="-120"/>
              </a:defRPr>
            </a:lvl2pPr>
            <a:lvl3pPr>
              <a:defRPr baseline="0">
                <a:solidFill>
                  <a:srgbClr val="333333"/>
                </a:solidFill>
                <a:latin typeface="Gill Sans MT" pitchFamily="34" charset="0"/>
                <a:ea typeface="微軟正黑體" pitchFamily="34" charset="-120"/>
              </a:defRPr>
            </a:lvl3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</p:txBody>
      </p:sp>
      <p:sp>
        <p:nvSpPr>
          <p:cNvPr id="13" name="投影片編號版面配置區 3"/>
          <p:cNvSpPr>
            <a:spLocks noGrp="1"/>
          </p:cNvSpPr>
          <p:nvPr>
            <p:ph type="sldNum" sz="quarter" idx="4"/>
          </p:nvPr>
        </p:nvSpPr>
        <p:spPr>
          <a:xfrm>
            <a:off x="0" y="4817394"/>
            <a:ext cx="91440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rgbClr val="333333"/>
                </a:solidFill>
                <a:latin typeface="Gill Sans MT" pitchFamily="34" charset="0"/>
                <a:ea typeface="微軟正黑體" pitchFamily="34" charset="-120"/>
              </a:defRPr>
            </a:lvl1pPr>
          </a:lstStyle>
          <a:p>
            <a:fld id="{AA5B013B-7480-43EE-B457-EA78BB4C658D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73710931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Blank P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496B6DBE-9812-4B02-815E-036A649150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1422" y="-586026"/>
            <a:ext cx="2299235" cy="2299235"/>
          </a:xfrm>
          <a:prstGeom prst="rect">
            <a:avLst/>
          </a:prstGeom>
        </p:spPr>
      </p:pic>
      <p:pic>
        <p:nvPicPr>
          <p:cNvPr id="9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1393" y="4692853"/>
            <a:ext cx="655383" cy="280878"/>
          </a:xfrm>
          <a:prstGeom prst="rect">
            <a:avLst/>
          </a:prstGeom>
        </p:spPr>
      </p:pic>
      <p:sp>
        <p:nvSpPr>
          <p:cNvPr id="6" name="標題 1">
            <a:extLst>
              <a:ext uri="{FF2B5EF4-FFF2-40B4-BE49-F238E27FC236}">
                <a16:creationId xmlns:a16="http://schemas.microsoft.com/office/drawing/2014/main" id="{5F735089-F81E-4CF4-ADF9-44812E60E2E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8149" y="331532"/>
            <a:ext cx="8482972" cy="1064131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rgbClr val="005087"/>
                </a:solidFill>
                <a:latin typeface="+mj-lt"/>
              </a:defRPr>
            </a:lvl1pPr>
          </a:lstStyle>
          <a:p>
            <a:r>
              <a:rPr lang="en-US" altLang="zh-TW" dirty="0"/>
              <a:t>Page Title Goes Here</a:t>
            </a:r>
            <a:br>
              <a:rPr lang="en-US" altLang="zh-TW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477838" y="1606550"/>
            <a:ext cx="8469312" cy="2971800"/>
          </a:xfrm>
        </p:spPr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8" name="文字方塊 13">
            <a:extLst>
              <a:ext uri="{FF2B5EF4-FFF2-40B4-BE49-F238E27FC236}">
                <a16:creationId xmlns:a16="http://schemas.microsoft.com/office/drawing/2014/main" id="{100C045E-458C-43C8-A14C-FB9C878D4F9B}"/>
              </a:ext>
            </a:extLst>
          </p:cNvPr>
          <p:cNvSpPr txBox="1"/>
          <p:nvPr userDrawn="1"/>
        </p:nvSpPr>
        <p:spPr>
          <a:xfrm>
            <a:off x="478150" y="4933094"/>
            <a:ext cx="1153376" cy="173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766" fontAlgn="auto">
              <a:spcBef>
                <a:spcPts val="0"/>
              </a:spcBef>
              <a:spcAft>
                <a:spcPts val="0"/>
              </a:spcAft>
            </a:pPr>
            <a:r>
              <a:rPr kumimoji="0" lang="en-US" sz="525" dirty="0">
                <a:solidFill>
                  <a:srgbClr val="FFFFFF">
                    <a:lumMod val="50000"/>
                  </a:srgbClr>
                </a:solidFill>
                <a:latin typeface="Mabry Pro"/>
                <a:ea typeface="Noto Sans TC"/>
              </a:rPr>
              <a:t>  </a:t>
            </a:r>
            <a:r>
              <a:rPr kumimoji="0" lang="en-US" sz="525" dirty="0">
                <a:solidFill>
                  <a:srgbClr val="000000">
                    <a:lumMod val="75000"/>
                    <a:lumOff val="25000"/>
                    <a:alpha val="65000"/>
                  </a:srgbClr>
                </a:solidFill>
                <a:latin typeface="Mabry Pro"/>
                <a:ea typeface="Noto Sans TC"/>
              </a:rPr>
              <a:t>AUO Corporation Proprietary</a:t>
            </a:r>
          </a:p>
        </p:txBody>
      </p:sp>
      <p:sp>
        <p:nvSpPr>
          <p:cNvPr id="11" name="矩形 10"/>
          <p:cNvSpPr/>
          <p:nvPr userDrawn="1"/>
        </p:nvSpPr>
        <p:spPr>
          <a:xfrm>
            <a:off x="520230" y="4961070"/>
            <a:ext cx="96180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defTabSz="685766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900" dirty="0">
                <a:solidFill>
                  <a:srgbClr val="FFFFFF">
                    <a:lumMod val="50000"/>
                  </a:srgbClr>
                </a:solidFill>
                <a:latin typeface="Mabry Pro"/>
                <a:ea typeface="Noto Sans TC"/>
              </a:rPr>
              <a:t>©</a:t>
            </a:r>
            <a:endParaRPr kumimoji="0" lang="zh-TW" altLang="en-US" sz="1400" dirty="0">
              <a:solidFill>
                <a:srgbClr val="FFFFFF">
                  <a:lumMod val="50000"/>
                </a:srgbClr>
              </a:solidFill>
              <a:latin typeface="Mabry Pro"/>
              <a:ea typeface="Noto Sans TC"/>
            </a:endParaRPr>
          </a:p>
        </p:txBody>
      </p:sp>
    </p:spTree>
    <p:extLst>
      <p:ext uri="{BB962C8B-B14F-4D97-AF65-F5344CB8AC3E}">
        <p14:creationId xmlns:p14="http://schemas.microsoft.com/office/powerpoint/2010/main" val="3032132085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Blank Page with Tti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8716136D-A099-46A3-A097-F57CDBAEF91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61423" y="-586026"/>
            <a:ext cx="2299235" cy="2299235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5F735089-F81E-4CF4-ADF9-44812E60E2E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8149" y="331533"/>
            <a:ext cx="8482972" cy="1064131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rgbClr val="005087"/>
                </a:solidFill>
                <a:latin typeface="+mj-lt"/>
              </a:defRPr>
            </a:lvl1pPr>
          </a:lstStyle>
          <a:p>
            <a:r>
              <a:rPr lang="en-US" altLang="zh-TW" dirty="0"/>
              <a:t>Page Title Goes Here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91393" y="4692853"/>
            <a:ext cx="655383" cy="280878"/>
          </a:xfrm>
          <a:prstGeom prst="rect">
            <a:avLst/>
          </a:prstGeom>
        </p:spPr>
      </p:pic>
      <p:sp>
        <p:nvSpPr>
          <p:cNvPr id="9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477840" y="1626645"/>
            <a:ext cx="8234362" cy="2857500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 altLang="zh-TW" dirty="0"/>
              <a:t>Mabry Pro + Noto Sans TC</a:t>
            </a:r>
          </a:p>
          <a:p>
            <a:pPr lvl="0"/>
            <a:endParaRPr lang="en-US" altLang="zh-TW" dirty="0"/>
          </a:p>
        </p:txBody>
      </p:sp>
      <p:sp>
        <p:nvSpPr>
          <p:cNvPr id="7" name="文字方塊 13">
            <a:extLst>
              <a:ext uri="{FF2B5EF4-FFF2-40B4-BE49-F238E27FC236}">
                <a16:creationId xmlns:a16="http://schemas.microsoft.com/office/drawing/2014/main" id="{100C045E-458C-43C8-A14C-FB9C878D4F9B}"/>
              </a:ext>
            </a:extLst>
          </p:cNvPr>
          <p:cNvSpPr txBox="1"/>
          <p:nvPr userDrawn="1"/>
        </p:nvSpPr>
        <p:spPr>
          <a:xfrm>
            <a:off x="478150" y="4933095"/>
            <a:ext cx="1153376" cy="173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766"/>
            <a:r>
              <a:rPr lang="en-US" sz="525" dirty="0">
                <a:solidFill>
                  <a:srgbClr val="FFFFFF">
                    <a:lumMod val="50000"/>
                  </a:srgbClr>
                </a:solidFill>
              </a:rPr>
              <a:t>  </a:t>
            </a:r>
            <a:r>
              <a:rPr lang="en-US" sz="525" dirty="0">
                <a:solidFill>
                  <a:srgbClr val="000000">
                    <a:lumMod val="75000"/>
                    <a:lumOff val="25000"/>
                    <a:alpha val="65000"/>
                  </a:srgbClr>
                </a:solidFill>
              </a:rPr>
              <a:t>AUO Corporation Proprietary</a:t>
            </a:r>
          </a:p>
        </p:txBody>
      </p:sp>
      <p:sp>
        <p:nvSpPr>
          <p:cNvPr id="11" name="矩形 10"/>
          <p:cNvSpPr/>
          <p:nvPr userDrawn="1"/>
        </p:nvSpPr>
        <p:spPr>
          <a:xfrm>
            <a:off x="520230" y="4961071"/>
            <a:ext cx="96180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defTabSz="685766"/>
            <a:r>
              <a:rPr lang="en-US" altLang="zh-TW" sz="900" dirty="0">
                <a:solidFill>
                  <a:srgbClr val="FFFFFF">
                    <a:lumMod val="50000"/>
                  </a:srgbClr>
                </a:solidFill>
              </a:rPr>
              <a:t>©</a:t>
            </a:r>
            <a:endParaRPr lang="zh-TW" altLang="en-US" sz="140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0572929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Blank P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496B6DBE-9812-4B02-815E-036A649150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1422" y="-586026"/>
            <a:ext cx="2299235" cy="2299235"/>
          </a:xfrm>
          <a:prstGeom prst="rect">
            <a:avLst/>
          </a:prstGeom>
        </p:spPr>
      </p:pic>
      <p:pic>
        <p:nvPicPr>
          <p:cNvPr id="9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1393" y="4692853"/>
            <a:ext cx="655383" cy="280878"/>
          </a:xfrm>
          <a:prstGeom prst="rect">
            <a:avLst/>
          </a:prstGeom>
        </p:spPr>
      </p:pic>
      <p:sp>
        <p:nvSpPr>
          <p:cNvPr id="6" name="標題 1">
            <a:extLst>
              <a:ext uri="{FF2B5EF4-FFF2-40B4-BE49-F238E27FC236}">
                <a16:creationId xmlns:a16="http://schemas.microsoft.com/office/drawing/2014/main" id="{5F735089-F81E-4CF4-ADF9-44812E60E2E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8149" y="331532"/>
            <a:ext cx="8482972" cy="1064131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rgbClr val="005087"/>
                </a:solidFill>
                <a:latin typeface="+mj-lt"/>
              </a:defRPr>
            </a:lvl1pPr>
          </a:lstStyle>
          <a:p>
            <a:r>
              <a:rPr lang="en-US" altLang="zh-TW" dirty="0"/>
              <a:t>Page Title Goes Here</a:t>
            </a:r>
            <a:br>
              <a:rPr lang="en-US" altLang="zh-TW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477838" y="1606550"/>
            <a:ext cx="8469312" cy="2971800"/>
          </a:xfrm>
        </p:spPr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8" name="文字方塊 13">
            <a:extLst>
              <a:ext uri="{FF2B5EF4-FFF2-40B4-BE49-F238E27FC236}">
                <a16:creationId xmlns:a16="http://schemas.microsoft.com/office/drawing/2014/main" id="{100C045E-458C-43C8-A14C-FB9C878D4F9B}"/>
              </a:ext>
            </a:extLst>
          </p:cNvPr>
          <p:cNvSpPr txBox="1"/>
          <p:nvPr userDrawn="1"/>
        </p:nvSpPr>
        <p:spPr>
          <a:xfrm>
            <a:off x="478150" y="4933094"/>
            <a:ext cx="1153376" cy="173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766" fontAlgn="auto">
              <a:spcBef>
                <a:spcPts val="0"/>
              </a:spcBef>
              <a:spcAft>
                <a:spcPts val="0"/>
              </a:spcAft>
            </a:pPr>
            <a:r>
              <a:rPr kumimoji="0" lang="en-US" sz="525" dirty="0">
                <a:solidFill>
                  <a:srgbClr val="FFFFFF">
                    <a:lumMod val="50000"/>
                  </a:srgbClr>
                </a:solidFill>
                <a:latin typeface="Mabry Pro"/>
                <a:ea typeface="Noto Sans TC"/>
              </a:rPr>
              <a:t>  </a:t>
            </a:r>
            <a:r>
              <a:rPr kumimoji="0" lang="en-US" sz="525" dirty="0">
                <a:solidFill>
                  <a:srgbClr val="000000">
                    <a:lumMod val="75000"/>
                    <a:lumOff val="25000"/>
                    <a:alpha val="65000"/>
                  </a:srgbClr>
                </a:solidFill>
                <a:latin typeface="Mabry Pro"/>
                <a:ea typeface="Noto Sans TC"/>
              </a:rPr>
              <a:t>AUO Corporation Proprietary</a:t>
            </a:r>
          </a:p>
        </p:txBody>
      </p:sp>
      <p:sp>
        <p:nvSpPr>
          <p:cNvPr id="11" name="矩形 10"/>
          <p:cNvSpPr/>
          <p:nvPr userDrawn="1"/>
        </p:nvSpPr>
        <p:spPr>
          <a:xfrm>
            <a:off x="520230" y="4961070"/>
            <a:ext cx="96180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defTabSz="685766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900" dirty="0">
                <a:solidFill>
                  <a:srgbClr val="FFFFFF">
                    <a:lumMod val="50000"/>
                  </a:srgbClr>
                </a:solidFill>
                <a:latin typeface="Mabry Pro"/>
                <a:ea typeface="Noto Sans TC"/>
              </a:rPr>
              <a:t>©</a:t>
            </a:r>
            <a:endParaRPr kumimoji="0" lang="zh-TW" altLang="en-US" sz="1400" dirty="0">
              <a:solidFill>
                <a:srgbClr val="FFFFFF">
                  <a:lumMod val="50000"/>
                </a:srgbClr>
              </a:solidFill>
              <a:latin typeface="Mabry Pro"/>
              <a:ea typeface="Noto Sans TC"/>
            </a:endParaRPr>
          </a:p>
        </p:txBody>
      </p:sp>
    </p:spTree>
    <p:extLst>
      <p:ext uri="{BB962C8B-B14F-4D97-AF65-F5344CB8AC3E}">
        <p14:creationId xmlns:p14="http://schemas.microsoft.com/office/powerpoint/2010/main" val="910891665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尾版面配置區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770602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Blank P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496B6DBE-9812-4B02-815E-036A649150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61422" y="-586026"/>
            <a:ext cx="2299235" cy="2299235"/>
          </a:xfrm>
          <a:prstGeom prst="rect">
            <a:avLst/>
          </a:prstGeom>
        </p:spPr>
      </p:pic>
      <p:pic>
        <p:nvPicPr>
          <p:cNvPr id="9" name="Picture 5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91393" y="4692853"/>
            <a:ext cx="655383" cy="280878"/>
          </a:xfrm>
          <a:prstGeom prst="rect">
            <a:avLst/>
          </a:prstGeom>
        </p:spPr>
      </p:pic>
      <p:sp>
        <p:nvSpPr>
          <p:cNvPr id="6" name="標題 1">
            <a:extLst>
              <a:ext uri="{FF2B5EF4-FFF2-40B4-BE49-F238E27FC236}">
                <a16:creationId xmlns:a16="http://schemas.microsoft.com/office/drawing/2014/main" id="{5F735089-F81E-4CF4-ADF9-44812E60E2E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8149" y="331532"/>
            <a:ext cx="8482972" cy="1064131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rgbClr val="005087"/>
                </a:solidFill>
                <a:latin typeface="+mj-lt"/>
              </a:defRPr>
            </a:lvl1pPr>
          </a:lstStyle>
          <a:p>
            <a:r>
              <a:rPr lang="en-US" altLang="zh-TW" dirty="0"/>
              <a:t>Page Title Goes Here</a:t>
            </a:r>
            <a:br>
              <a:rPr lang="en-US" altLang="zh-TW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477838" y="1606550"/>
            <a:ext cx="8469312" cy="2971800"/>
          </a:xfrm>
        </p:spPr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8" name="文字方塊 13">
            <a:extLst>
              <a:ext uri="{FF2B5EF4-FFF2-40B4-BE49-F238E27FC236}">
                <a16:creationId xmlns:a16="http://schemas.microsoft.com/office/drawing/2014/main" id="{100C045E-458C-43C8-A14C-FB9C878D4F9B}"/>
              </a:ext>
            </a:extLst>
          </p:cNvPr>
          <p:cNvSpPr txBox="1"/>
          <p:nvPr userDrawn="1"/>
        </p:nvSpPr>
        <p:spPr>
          <a:xfrm>
            <a:off x="478150" y="4933094"/>
            <a:ext cx="1153376" cy="173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525" b="0" i="0" dirty="0">
                <a:solidFill>
                  <a:schemeClr val="bg1">
                    <a:lumMod val="50000"/>
                  </a:schemeClr>
                </a:solidFill>
                <a:effectLst/>
                <a:latin typeface="+mn-lt"/>
              </a:rPr>
              <a:t>  </a:t>
            </a:r>
            <a:r>
              <a:rPr lang="en-US" sz="525" b="0" i="0" kern="1200" dirty="0">
                <a:solidFill>
                  <a:schemeClr val="tx1">
                    <a:lumMod val="75000"/>
                    <a:lumOff val="25000"/>
                    <a:alpha val="65000"/>
                  </a:schemeClr>
                </a:solidFill>
                <a:effectLst/>
                <a:latin typeface="+mn-lt"/>
                <a:ea typeface="+mn-ea"/>
                <a:cs typeface="+mn-cs"/>
              </a:rPr>
              <a:t>AUO Corporation Proprietary</a:t>
            </a:r>
          </a:p>
        </p:txBody>
      </p:sp>
      <p:sp>
        <p:nvSpPr>
          <p:cNvPr id="11" name="矩形 10"/>
          <p:cNvSpPr/>
          <p:nvPr userDrawn="1"/>
        </p:nvSpPr>
        <p:spPr>
          <a:xfrm>
            <a:off x="520230" y="4961070"/>
            <a:ext cx="96180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altLang="zh-TW" sz="900" b="0" i="0" dirty="0">
                <a:solidFill>
                  <a:schemeClr val="bg1">
                    <a:lumMod val="50000"/>
                  </a:schemeClr>
                </a:solidFill>
                <a:effectLst/>
                <a:latin typeface="+mn-lt"/>
              </a:rPr>
              <a:t>©</a:t>
            </a:r>
            <a:endParaRPr lang="zh-TW" alt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4828014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YYYY/MM/DD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D4F6FD-3A3C-4BEB-A0CF-E776CFFA09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215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7" r:id="rId2"/>
    <p:sldLayoutId id="2147483763" r:id="rId3"/>
    <p:sldLayoutId id="2147483687" r:id="rId4"/>
    <p:sldLayoutId id="2147483736" r:id="rId5"/>
    <p:sldLayoutId id="2147483762" r:id="rId6"/>
    <p:sldLayoutId id="2147483855" r:id="rId7"/>
    <p:sldLayoutId id="2147483882" r:id="rId8"/>
    <p:sldLayoutId id="2147483932" r:id="rId9"/>
    <p:sldLayoutId id="2147483933" r:id="rId10"/>
    <p:sldLayoutId id="2147483976" r:id="rId11"/>
    <p:sldLayoutId id="2147483977" r:id="rId12"/>
    <p:sldLayoutId id="2147483987" r:id="rId13"/>
    <p:sldLayoutId id="2147484032" r:id="rId14"/>
    <p:sldLayoutId id="2147484047" r:id="rId15"/>
    <p:sldLayoutId id="2147484100" r:id="rId16"/>
    <p:sldLayoutId id="2147484121" r:id="rId17"/>
    <p:sldLayoutId id="2147484179" r:id="rId18"/>
    <p:sldLayoutId id="2147484194" r:id="rId19"/>
    <p:sldLayoutId id="2147484195" r:id="rId20"/>
    <p:sldLayoutId id="2147484197" r:id="rId21"/>
    <p:sldLayoutId id="2147484204" r:id="rId22"/>
    <p:sldLayoutId id="2147484214" r:id="rId23"/>
  </p:sldLayoutIdLst>
  <p:hf sldNum="0"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3.jpe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6.png"/><Relationship Id="rId7" Type="http://schemas.openxmlformats.org/officeDocument/2006/relationships/image" Target="../media/image27.pn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2.pn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1.png"/><Relationship Id="rId5" Type="http://schemas.openxmlformats.org/officeDocument/2006/relationships/chart" Target="../charts/chart3.xml"/><Relationship Id="rId4" Type="http://schemas.openxmlformats.org/officeDocument/2006/relationships/image" Target="../media/image30.gi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L5A</a:t>
            </a:r>
            <a:br>
              <a:rPr lang="en-US" altLang="zh-TW" dirty="0"/>
            </a:br>
            <a:r>
              <a:rPr lang="en-US" altLang="zh-TW" dirty="0"/>
              <a:t>CGL</a:t>
            </a:r>
            <a:r>
              <a:rPr lang="zh-TW" altLang="en-US" dirty="0"/>
              <a:t>自動化省人專案</a:t>
            </a:r>
            <a:br>
              <a:rPr lang="en-US" altLang="zh-TW" dirty="0"/>
            </a:br>
            <a:r>
              <a:rPr lang="en-US" altLang="zh-TW" dirty="0"/>
              <a:t>Cell One Up </a:t>
            </a:r>
            <a:r>
              <a:rPr lang="zh-TW" altLang="en-US" dirty="0"/>
              <a:t>自動剝片</a:t>
            </a:r>
          </a:p>
        </p:txBody>
      </p:sp>
    </p:spTree>
    <p:extLst>
      <p:ext uri="{BB962C8B-B14F-4D97-AF65-F5344CB8AC3E}">
        <p14:creationId xmlns:p14="http://schemas.microsoft.com/office/powerpoint/2010/main" val="2603280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圖片 1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901" y="2038935"/>
            <a:ext cx="2459387" cy="2942927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478149" y="132526"/>
            <a:ext cx="8482972" cy="1064131"/>
          </a:xfrm>
        </p:spPr>
        <p:txBody>
          <a:bodyPr/>
          <a:lstStyle/>
          <a:p>
            <a:r>
              <a:rPr lang="en-US" altLang="zh-TW" dirty="0"/>
              <a:t>L5A</a:t>
            </a:r>
            <a:r>
              <a:rPr lang="zh-TW" altLang="en-US" dirty="0"/>
              <a:t> </a:t>
            </a:r>
            <a:r>
              <a:rPr lang="en-US" altLang="zh-TW" dirty="0"/>
              <a:t>CGL</a:t>
            </a:r>
            <a:r>
              <a:rPr lang="zh-TW" altLang="en-US" dirty="0"/>
              <a:t>自動化省人專案</a:t>
            </a:r>
          </a:p>
        </p:txBody>
      </p:sp>
      <p:sp>
        <p:nvSpPr>
          <p:cNvPr id="121" name="文字方塊 120"/>
          <p:cNvSpPr txBox="1"/>
          <p:nvPr/>
        </p:nvSpPr>
        <p:spPr>
          <a:xfrm>
            <a:off x="478156" y="1854269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800" b="1" u="sng" dirty="0"/>
              <a:t>硬體架構：</a:t>
            </a:r>
          </a:p>
        </p:txBody>
      </p:sp>
      <p:grpSp>
        <p:nvGrpSpPr>
          <p:cNvPr id="122" name="群組 121"/>
          <p:cNvGrpSpPr/>
          <p:nvPr/>
        </p:nvGrpSpPr>
        <p:grpSpPr>
          <a:xfrm>
            <a:off x="173592" y="653882"/>
            <a:ext cx="8750105" cy="1138104"/>
            <a:chOff x="3179956" y="1106360"/>
            <a:chExt cx="8820000" cy="1101444"/>
          </a:xfrm>
        </p:grpSpPr>
        <p:sp>
          <p:nvSpPr>
            <p:cNvPr id="123" name="圓角矩形 122"/>
            <p:cNvSpPr/>
            <p:nvPr/>
          </p:nvSpPr>
          <p:spPr>
            <a:xfrm>
              <a:off x="3179956" y="1106360"/>
              <a:ext cx="8820000" cy="1101444"/>
            </a:xfrm>
            <a:prstGeom prst="roundRect">
              <a:avLst>
                <a:gd name="adj" fmla="val 3574"/>
              </a:avLst>
            </a:prstGeom>
            <a:solidFill>
              <a:schemeClr val="bg2">
                <a:lumMod val="95000"/>
              </a:schemeClr>
            </a:solidFill>
            <a:ln>
              <a:noFill/>
            </a:ln>
            <a:effectLst>
              <a:outerShdw blurRad="50800" dist="25400" dir="2700000" sx="99000" sy="99000" algn="tl" rotWithShape="0">
                <a:prstClr val="black">
                  <a:alpha val="4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13">
                <a:solidFill>
                  <a:srgbClr val="FFFFFF"/>
                </a:solidFill>
              </a:endParaRPr>
            </a:p>
          </p:txBody>
        </p:sp>
        <p:cxnSp>
          <p:nvCxnSpPr>
            <p:cNvPr id="124" name="直線單箭頭接點 123"/>
            <p:cNvCxnSpPr/>
            <p:nvPr/>
          </p:nvCxnSpPr>
          <p:spPr>
            <a:xfrm flipV="1">
              <a:off x="3504055" y="1787412"/>
              <a:ext cx="8100000" cy="0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5" name="群組 8"/>
            <p:cNvGrpSpPr/>
            <p:nvPr/>
          </p:nvGrpSpPr>
          <p:grpSpPr>
            <a:xfrm>
              <a:off x="3302387" y="1320807"/>
              <a:ext cx="809837" cy="762669"/>
              <a:chOff x="4921707" y="858874"/>
              <a:chExt cx="809837" cy="762669"/>
            </a:xfrm>
          </p:grpSpPr>
          <p:sp>
            <p:nvSpPr>
              <p:cNvPr id="174" name="橢圓 173"/>
              <p:cNvSpPr/>
              <p:nvPr/>
            </p:nvSpPr>
            <p:spPr>
              <a:xfrm>
                <a:off x="5233434" y="1244897"/>
                <a:ext cx="144000" cy="144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675">
                  <a:solidFill>
                    <a:srgbClr val="FFFFFF"/>
                  </a:solidFill>
                </a:endParaRPr>
              </a:p>
            </p:txBody>
          </p:sp>
          <p:sp>
            <p:nvSpPr>
              <p:cNvPr id="175" name="文字方塊 174"/>
              <p:cNvSpPr txBox="1"/>
              <p:nvPr/>
            </p:nvSpPr>
            <p:spPr>
              <a:xfrm>
                <a:off x="4921707" y="858874"/>
                <a:ext cx="809837" cy="2904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TW" altLang="en-US" sz="675" dirty="0">
                    <a:solidFill>
                      <a:srgbClr val="147891">
                        <a:lumMod val="75000"/>
                      </a:srgbClr>
                    </a:solidFill>
                  </a:rPr>
                  <a:t>現場會勘</a:t>
                </a:r>
                <a:endParaRPr lang="en-US" altLang="zh-TW" sz="675" dirty="0">
                  <a:solidFill>
                    <a:srgbClr val="147891">
                      <a:lumMod val="75000"/>
                    </a:srgbClr>
                  </a:solidFill>
                </a:endParaRPr>
              </a:p>
              <a:p>
                <a:pPr algn="ctr"/>
                <a:r>
                  <a:rPr lang="zh-TW" altLang="en-US" sz="675" dirty="0">
                    <a:solidFill>
                      <a:srgbClr val="147891">
                        <a:lumMod val="75000"/>
                      </a:srgbClr>
                    </a:solidFill>
                  </a:rPr>
                  <a:t>流程確認</a:t>
                </a:r>
                <a:endParaRPr lang="en-US" altLang="zh-TW" sz="675" dirty="0">
                  <a:solidFill>
                    <a:srgbClr val="147891">
                      <a:lumMod val="75000"/>
                    </a:srgbClr>
                  </a:solidFill>
                </a:endParaRPr>
              </a:p>
            </p:txBody>
          </p:sp>
          <p:sp>
            <p:nvSpPr>
              <p:cNvPr id="176" name="文字方塊 175"/>
              <p:cNvSpPr txBox="1"/>
              <p:nvPr/>
            </p:nvSpPr>
            <p:spPr>
              <a:xfrm>
                <a:off x="5055468" y="1431655"/>
                <a:ext cx="488298" cy="1898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sz="675" b="1" dirty="0">
                    <a:solidFill>
                      <a:srgbClr val="000000"/>
                    </a:solidFill>
                  </a:rPr>
                  <a:t>25/10E</a:t>
                </a:r>
                <a:endParaRPr lang="zh-TW" altLang="en-US" sz="675" b="1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126" name="群組 59"/>
            <p:cNvGrpSpPr/>
            <p:nvPr/>
          </p:nvGrpSpPr>
          <p:grpSpPr>
            <a:xfrm>
              <a:off x="3948070" y="1320806"/>
              <a:ext cx="656689" cy="762670"/>
              <a:chOff x="5986389" y="865044"/>
              <a:chExt cx="656689" cy="762670"/>
            </a:xfrm>
          </p:grpSpPr>
          <p:sp>
            <p:nvSpPr>
              <p:cNvPr id="171" name="橢圓 170"/>
              <p:cNvSpPr/>
              <p:nvPr/>
            </p:nvSpPr>
            <p:spPr>
              <a:xfrm>
                <a:off x="6222570" y="1244548"/>
                <a:ext cx="144000" cy="1440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675" dirty="0">
                  <a:solidFill>
                    <a:schemeClr val="accent3"/>
                  </a:solidFill>
                </a:endParaRPr>
              </a:p>
            </p:txBody>
          </p:sp>
          <p:sp>
            <p:nvSpPr>
              <p:cNvPr id="172" name="文字方塊 171"/>
              <p:cNvSpPr txBox="1"/>
              <p:nvPr/>
            </p:nvSpPr>
            <p:spPr>
              <a:xfrm>
                <a:off x="5986389" y="865044"/>
                <a:ext cx="656689" cy="2904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TW" altLang="en-US" sz="675" dirty="0">
                    <a:solidFill>
                      <a:srgbClr val="147891">
                        <a:lumMod val="75000"/>
                      </a:srgbClr>
                    </a:solidFill>
                  </a:rPr>
                  <a:t>電控通訊</a:t>
                </a:r>
                <a:endParaRPr lang="en-US" altLang="zh-TW" sz="675" dirty="0">
                  <a:solidFill>
                    <a:srgbClr val="147891">
                      <a:lumMod val="75000"/>
                    </a:srgbClr>
                  </a:solidFill>
                </a:endParaRPr>
              </a:p>
              <a:p>
                <a:pPr algn="ctr"/>
                <a:r>
                  <a:rPr lang="zh-TW" altLang="en-US" sz="675" dirty="0">
                    <a:solidFill>
                      <a:srgbClr val="147891">
                        <a:lumMod val="75000"/>
                      </a:srgbClr>
                    </a:solidFill>
                  </a:rPr>
                  <a:t>電料確認</a:t>
                </a:r>
              </a:p>
            </p:txBody>
          </p:sp>
          <p:sp>
            <p:nvSpPr>
              <p:cNvPr id="173" name="文字方塊 172"/>
              <p:cNvSpPr txBox="1"/>
              <p:nvPr/>
            </p:nvSpPr>
            <p:spPr>
              <a:xfrm>
                <a:off x="6042016" y="1437826"/>
                <a:ext cx="512535" cy="1898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sz="675" b="1" dirty="0">
                    <a:solidFill>
                      <a:srgbClr val="000000"/>
                    </a:solidFill>
                  </a:rPr>
                  <a:t>25/12M</a:t>
                </a:r>
                <a:endParaRPr lang="zh-TW" altLang="en-US" sz="675" b="1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127" name="群組 59"/>
            <p:cNvGrpSpPr/>
            <p:nvPr/>
          </p:nvGrpSpPr>
          <p:grpSpPr>
            <a:xfrm>
              <a:off x="10888320" y="1311052"/>
              <a:ext cx="688142" cy="772424"/>
              <a:chOff x="5925940" y="849889"/>
              <a:chExt cx="688142" cy="772424"/>
            </a:xfrm>
          </p:grpSpPr>
          <p:sp>
            <p:nvSpPr>
              <p:cNvPr id="168" name="橢圓 167"/>
              <p:cNvSpPr/>
              <p:nvPr/>
            </p:nvSpPr>
            <p:spPr>
              <a:xfrm>
                <a:off x="6222570" y="1245467"/>
                <a:ext cx="144000" cy="1440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675">
                  <a:solidFill>
                    <a:srgbClr val="FFFFFF"/>
                  </a:solidFill>
                </a:endParaRPr>
              </a:p>
            </p:txBody>
          </p:sp>
          <p:sp>
            <p:nvSpPr>
              <p:cNvPr id="169" name="文字方塊 168"/>
              <p:cNvSpPr txBox="1"/>
              <p:nvPr/>
            </p:nvSpPr>
            <p:spPr>
              <a:xfrm>
                <a:off x="5925940" y="849889"/>
                <a:ext cx="688142" cy="189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675" dirty="0">
                    <a:solidFill>
                      <a:srgbClr val="147891">
                        <a:lumMod val="75000"/>
                      </a:srgbClr>
                    </a:solidFill>
                  </a:rPr>
                  <a:t>release</a:t>
                </a:r>
              </a:p>
            </p:txBody>
          </p:sp>
          <p:sp>
            <p:nvSpPr>
              <p:cNvPr id="170" name="文字方塊 169"/>
              <p:cNvSpPr txBox="1"/>
              <p:nvPr/>
            </p:nvSpPr>
            <p:spPr>
              <a:xfrm>
                <a:off x="6034754" y="1432425"/>
                <a:ext cx="470524" cy="1898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sz="675" b="1" dirty="0">
                    <a:solidFill>
                      <a:srgbClr val="000000"/>
                    </a:solidFill>
                  </a:rPr>
                  <a:t>27/5M</a:t>
                </a:r>
                <a:endParaRPr lang="zh-TW" altLang="en-US" sz="675" b="1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128" name="群組 127"/>
            <p:cNvGrpSpPr/>
            <p:nvPr/>
          </p:nvGrpSpPr>
          <p:grpSpPr>
            <a:xfrm>
              <a:off x="10274213" y="1287437"/>
              <a:ext cx="866544" cy="796854"/>
              <a:chOff x="5800610" y="812924"/>
              <a:chExt cx="866544" cy="796854"/>
            </a:xfrm>
          </p:grpSpPr>
          <p:sp>
            <p:nvSpPr>
              <p:cNvPr id="165" name="橢圓 164"/>
              <p:cNvSpPr/>
              <p:nvPr/>
            </p:nvSpPr>
            <p:spPr>
              <a:xfrm>
                <a:off x="6136929" y="1232117"/>
                <a:ext cx="144000" cy="1440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675">
                  <a:solidFill>
                    <a:srgbClr val="FFFFFF"/>
                  </a:solidFill>
                </a:endParaRPr>
              </a:p>
            </p:txBody>
          </p:sp>
          <p:sp>
            <p:nvSpPr>
              <p:cNvPr id="166" name="文字方塊 165"/>
              <p:cNvSpPr txBox="1"/>
              <p:nvPr/>
            </p:nvSpPr>
            <p:spPr>
              <a:xfrm>
                <a:off x="5800610" y="812924"/>
                <a:ext cx="866544" cy="3909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675" dirty="0">
                    <a:solidFill>
                      <a:srgbClr val="147891">
                        <a:lumMod val="75000"/>
                      </a:srgbClr>
                    </a:solidFill>
                  </a:rPr>
                  <a:t>PLC</a:t>
                </a:r>
              </a:p>
              <a:p>
                <a:pPr algn="ctr"/>
                <a:r>
                  <a:rPr lang="zh-TW" altLang="en-US" sz="675" dirty="0">
                    <a:solidFill>
                      <a:srgbClr val="147891">
                        <a:lumMod val="75000"/>
                      </a:srgbClr>
                    </a:solidFill>
                  </a:rPr>
                  <a:t>功能測試</a:t>
                </a:r>
                <a:endParaRPr lang="en-US" altLang="zh-TW" sz="675" dirty="0">
                  <a:solidFill>
                    <a:srgbClr val="147891">
                      <a:lumMod val="75000"/>
                    </a:srgbClr>
                  </a:solidFill>
                </a:endParaRPr>
              </a:p>
              <a:p>
                <a:pPr algn="ctr"/>
                <a:r>
                  <a:rPr lang="en-US" altLang="zh-TW" sz="675" dirty="0">
                    <a:solidFill>
                      <a:srgbClr val="147891">
                        <a:lumMod val="75000"/>
                      </a:srgbClr>
                    </a:solidFill>
                  </a:rPr>
                  <a:t>debug</a:t>
                </a:r>
              </a:p>
            </p:txBody>
          </p:sp>
          <p:sp>
            <p:nvSpPr>
              <p:cNvPr id="167" name="文字方塊 166"/>
              <p:cNvSpPr txBox="1"/>
              <p:nvPr/>
            </p:nvSpPr>
            <p:spPr>
              <a:xfrm>
                <a:off x="5988941" y="1419890"/>
                <a:ext cx="470524" cy="1898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sz="675" b="1" dirty="0">
                    <a:solidFill>
                      <a:srgbClr val="000000"/>
                    </a:solidFill>
                  </a:rPr>
                  <a:t>27/4M</a:t>
                </a:r>
                <a:endParaRPr lang="zh-TW" altLang="en-US" sz="675" b="1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129" name="群組 59"/>
            <p:cNvGrpSpPr/>
            <p:nvPr/>
          </p:nvGrpSpPr>
          <p:grpSpPr>
            <a:xfrm>
              <a:off x="4460156" y="1320806"/>
              <a:ext cx="679309" cy="762670"/>
              <a:chOff x="5371261" y="857950"/>
              <a:chExt cx="679309" cy="762670"/>
            </a:xfrm>
          </p:grpSpPr>
          <p:sp>
            <p:nvSpPr>
              <p:cNvPr id="162" name="橢圓 161"/>
              <p:cNvSpPr/>
              <p:nvPr/>
            </p:nvSpPr>
            <p:spPr>
              <a:xfrm>
                <a:off x="5639173" y="1250348"/>
                <a:ext cx="144000" cy="1440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675">
                  <a:solidFill>
                    <a:srgbClr val="FFFFFF"/>
                  </a:solidFill>
                </a:endParaRPr>
              </a:p>
            </p:txBody>
          </p:sp>
          <p:sp>
            <p:nvSpPr>
              <p:cNvPr id="163" name="文字方塊 162"/>
              <p:cNvSpPr txBox="1"/>
              <p:nvPr/>
            </p:nvSpPr>
            <p:spPr>
              <a:xfrm>
                <a:off x="5371261" y="857950"/>
                <a:ext cx="679309" cy="4914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TW" altLang="en-US" sz="675" dirty="0">
                    <a:solidFill>
                      <a:srgbClr val="147891">
                        <a:lumMod val="75000"/>
                      </a:srgbClr>
                    </a:solidFill>
                  </a:rPr>
                  <a:t>新架構評估</a:t>
                </a:r>
                <a:endParaRPr lang="en-US" altLang="zh-TW" sz="675" dirty="0">
                  <a:solidFill>
                    <a:srgbClr val="147891">
                      <a:lumMod val="75000"/>
                    </a:srgbClr>
                  </a:solidFill>
                </a:endParaRPr>
              </a:p>
              <a:p>
                <a:pPr algn="ctr"/>
                <a:r>
                  <a:rPr lang="en-US" altLang="zh-TW" sz="675" dirty="0">
                    <a:solidFill>
                      <a:srgbClr val="147891">
                        <a:lumMod val="75000"/>
                      </a:srgbClr>
                    </a:solidFill>
                  </a:rPr>
                  <a:t>(</a:t>
                </a:r>
                <a:r>
                  <a:rPr lang="zh-TW" altLang="en-US" sz="675" dirty="0">
                    <a:solidFill>
                      <a:srgbClr val="147891">
                        <a:lumMod val="75000"/>
                      </a:srgbClr>
                    </a:solidFill>
                  </a:rPr>
                  <a:t>吸盤版本</a:t>
                </a:r>
                <a:r>
                  <a:rPr lang="en-US" altLang="zh-TW" sz="675" dirty="0">
                    <a:solidFill>
                      <a:srgbClr val="147891">
                        <a:lumMod val="75000"/>
                      </a:srgbClr>
                    </a:solidFill>
                  </a:rPr>
                  <a:t>)</a:t>
                </a:r>
              </a:p>
              <a:p>
                <a:pPr algn="ctr"/>
                <a:r>
                  <a:rPr lang="en-US" altLang="zh-TW" sz="675" dirty="0">
                    <a:solidFill>
                      <a:srgbClr val="147891">
                        <a:lumMod val="75000"/>
                      </a:srgbClr>
                    </a:solidFill>
                  </a:rPr>
                  <a:t>POC</a:t>
                </a:r>
                <a:r>
                  <a:rPr lang="zh-TW" altLang="en-US" sz="675" dirty="0">
                    <a:solidFill>
                      <a:srgbClr val="147891">
                        <a:lumMod val="75000"/>
                      </a:srgbClr>
                    </a:solidFill>
                  </a:rPr>
                  <a:t>驗證</a:t>
                </a:r>
              </a:p>
              <a:p>
                <a:pPr algn="ctr"/>
                <a:endParaRPr lang="zh-TW" altLang="en-US" sz="675" dirty="0">
                  <a:solidFill>
                    <a:srgbClr val="147891">
                      <a:lumMod val="75000"/>
                    </a:srgbClr>
                  </a:solidFill>
                </a:endParaRPr>
              </a:p>
            </p:txBody>
          </p:sp>
          <p:sp>
            <p:nvSpPr>
              <p:cNvPr id="164" name="文字方塊 163"/>
              <p:cNvSpPr txBox="1"/>
              <p:nvPr/>
            </p:nvSpPr>
            <p:spPr>
              <a:xfrm>
                <a:off x="5496791" y="1430732"/>
                <a:ext cx="476986" cy="1898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sz="675" b="1" dirty="0">
                    <a:solidFill>
                      <a:srgbClr val="000000"/>
                    </a:solidFill>
                  </a:rPr>
                  <a:t>26/4M</a:t>
                </a:r>
                <a:endParaRPr lang="zh-TW" altLang="en-US" sz="675" b="1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130" name="群組 59"/>
            <p:cNvGrpSpPr/>
            <p:nvPr/>
          </p:nvGrpSpPr>
          <p:grpSpPr>
            <a:xfrm>
              <a:off x="8514328" y="1329305"/>
              <a:ext cx="788584" cy="754171"/>
              <a:chOff x="6561880" y="854792"/>
              <a:chExt cx="788584" cy="754171"/>
            </a:xfrm>
          </p:grpSpPr>
          <p:sp>
            <p:nvSpPr>
              <p:cNvPr id="159" name="橢圓 158"/>
              <p:cNvSpPr/>
              <p:nvPr/>
            </p:nvSpPr>
            <p:spPr>
              <a:xfrm>
                <a:off x="6867832" y="1232117"/>
                <a:ext cx="144000" cy="1440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675">
                  <a:solidFill>
                    <a:srgbClr val="FFFFFF"/>
                  </a:solidFill>
                </a:endParaRPr>
              </a:p>
            </p:txBody>
          </p:sp>
          <p:sp>
            <p:nvSpPr>
              <p:cNvPr id="160" name="文字方塊 159"/>
              <p:cNvSpPr txBox="1"/>
              <p:nvPr/>
            </p:nvSpPr>
            <p:spPr>
              <a:xfrm>
                <a:off x="6561880" y="854792"/>
                <a:ext cx="788584" cy="189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TW" altLang="en-US" sz="675" dirty="0">
                    <a:solidFill>
                      <a:srgbClr val="147891">
                        <a:lumMod val="75000"/>
                      </a:srgbClr>
                    </a:solidFill>
                  </a:rPr>
                  <a:t>審核撥款</a:t>
                </a:r>
              </a:p>
            </p:txBody>
          </p:sp>
          <p:sp>
            <p:nvSpPr>
              <p:cNvPr id="161" name="文字方塊 160"/>
              <p:cNvSpPr txBox="1"/>
              <p:nvPr/>
            </p:nvSpPr>
            <p:spPr>
              <a:xfrm>
                <a:off x="6648863" y="1419075"/>
                <a:ext cx="517382" cy="1898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sz="675" b="1" dirty="0">
                    <a:solidFill>
                      <a:srgbClr val="000000"/>
                    </a:solidFill>
                  </a:rPr>
                  <a:t>26/10M</a:t>
                </a:r>
                <a:endParaRPr lang="zh-TW" altLang="en-US" sz="675" b="1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131" name="群組 59"/>
            <p:cNvGrpSpPr/>
            <p:nvPr/>
          </p:nvGrpSpPr>
          <p:grpSpPr>
            <a:xfrm>
              <a:off x="8995439" y="1323314"/>
              <a:ext cx="693823" cy="760162"/>
              <a:chOff x="6695798" y="856904"/>
              <a:chExt cx="693823" cy="760162"/>
            </a:xfrm>
          </p:grpSpPr>
          <p:sp>
            <p:nvSpPr>
              <p:cNvPr id="156" name="橢圓 155"/>
              <p:cNvSpPr/>
              <p:nvPr/>
            </p:nvSpPr>
            <p:spPr>
              <a:xfrm>
                <a:off x="6964122" y="1240220"/>
                <a:ext cx="144000" cy="1440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675">
                  <a:solidFill>
                    <a:srgbClr val="FFFFFF"/>
                  </a:solidFill>
                </a:endParaRPr>
              </a:p>
            </p:txBody>
          </p:sp>
          <p:sp>
            <p:nvSpPr>
              <p:cNvPr id="157" name="文字方塊 156"/>
              <p:cNvSpPr txBox="1"/>
              <p:nvPr/>
            </p:nvSpPr>
            <p:spPr>
              <a:xfrm>
                <a:off x="6695798" y="856904"/>
                <a:ext cx="693823" cy="189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675" dirty="0">
                    <a:solidFill>
                      <a:srgbClr val="147891">
                        <a:lumMod val="75000"/>
                      </a:srgbClr>
                    </a:solidFill>
                  </a:rPr>
                  <a:t>PR/PO</a:t>
                </a:r>
                <a:endParaRPr lang="zh-TW" altLang="en-US" sz="675" dirty="0">
                  <a:solidFill>
                    <a:srgbClr val="147891">
                      <a:lumMod val="75000"/>
                    </a:srgbClr>
                  </a:solidFill>
                </a:endParaRPr>
              </a:p>
            </p:txBody>
          </p:sp>
          <p:sp>
            <p:nvSpPr>
              <p:cNvPr id="158" name="文字方塊 157"/>
              <p:cNvSpPr txBox="1"/>
              <p:nvPr/>
            </p:nvSpPr>
            <p:spPr>
              <a:xfrm>
                <a:off x="6793754" y="1427178"/>
                <a:ext cx="497992" cy="1898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sz="675" b="1" dirty="0">
                    <a:solidFill>
                      <a:srgbClr val="000000"/>
                    </a:solidFill>
                  </a:rPr>
                  <a:t>26/11M</a:t>
                </a:r>
                <a:endParaRPr lang="zh-TW" altLang="en-US" sz="675" b="1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133" name="文字方塊 132"/>
            <p:cNvSpPr txBox="1"/>
            <p:nvPr/>
          </p:nvSpPr>
          <p:spPr>
            <a:xfrm>
              <a:off x="5080052" y="1305370"/>
              <a:ext cx="618636" cy="39094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TW" altLang="en-US" sz="675" dirty="0">
                  <a:solidFill>
                    <a:srgbClr val="147891">
                      <a:lumMod val="75000"/>
                    </a:srgbClr>
                  </a:solidFill>
                </a:rPr>
                <a:t>機構設計彙整</a:t>
              </a:r>
              <a:r>
                <a:rPr lang="en-US" altLang="zh-TW" sz="675" dirty="0">
                  <a:solidFill>
                    <a:srgbClr val="147891">
                      <a:lumMod val="75000"/>
                    </a:srgbClr>
                  </a:solidFill>
                </a:rPr>
                <a:t>(</a:t>
              </a:r>
              <a:r>
                <a:rPr lang="zh-TW" altLang="en-US" sz="675" dirty="0">
                  <a:solidFill>
                    <a:srgbClr val="147891">
                      <a:lumMod val="75000"/>
                    </a:srgbClr>
                  </a:solidFill>
                </a:rPr>
                <a:t>風刀</a:t>
              </a:r>
              <a:r>
                <a:rPr lang="en-US" altLang="zh-TW" sz="675" dirty="0">
                  <a:solidFill>
                    <a:srgbClr val="147891">
                      <a:lumMod val="75000"/>
                    </a:srgbClr>
                  </a:solidFill>
                </a:rPr>
                <a:t>/AOI</a:t>
              </a:r>
              <a:r>
                <a:rPr lang="zh-TW" altLang="en-US" sz="675" dirty="0">
                  <a:solidFill>
                    <a:srgbClr val="147891">
                      <a:lumMod val="75000"/>
                    </a:srgbClr>
                  </a:solidFill>
                </a:rPr>
                <a:t>打包</a:t>
              </a:r>
              <a:r>
                <a:rPr lang="en-US" altLang="zh-TW" sz="675" dirty="0">
                  <a:solidFill>
                    <a:srgbClr val="147891">
                      <a:lumMod val="75000"/>
                    </a:srgbClr>
                  </a:solidFill>
                </a:rPr>
                <a:t>)</a:t>
              </a:r>
            </a:p>
          </p:txBody>
        </p:sp>
        <p:sp>
          <p:nvSpPr>
            <p:cNvPr id="134" name="文字方塊 133"/>
            <p:cNvSpPr txBox="1"/>
            <p:nvPr/>
          </p:nvSpPr>
          <p:spPr>
            <a:xfrm>
              <a:off x="5135982" y="1893588"/>
              <a:ext cx="476986" cy="189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675" b="1" dirty="0">
                  <a:solidFill>
                    <a:srgbClr val="000000"/>
                  </a:solidFill>
                </a:rPr>
                <a:t>26/5M</a:t>
              </a:r>
              <a:endParaRPr lang="zh-TW" altLang="en-US" sz="675" b="1" dirty="0">
                <a:solidFill>
                  <a:srgbClr val="000000"/>
                </a:solidFill>
              </a:endParaRPr>
            </a:p>
          </p:txBody>
        </p:sp>
        <p:grpSp>
          <p:nvGrpSpPr>
            <p:cNvPr id="135" name="群組 21"/>
            <p:cNvGrpSpPr/>
            <p:nvPr/>
          </p:nvGrpSpPr>
          <p:grpSpPr>
            <a:xfrm>
              <a:off x="9822079" y="1309161"/>
              <a:ext cx="866544" cy="774315"/>
              <a:chOff x="6187396" y="834648"/>
              <a:chExt cx="866544" cy="774315"/>
            </a:xfrm>
          </p:grpSpPr>
          <p:sp>
            <p:nvSpPr>
              <p:cNvPr id="153" name="橢圓 152"/>
              <p:cNvSpPr/>
              <p:nvPr/>
            </p:nvSpPr>
            <p:spPr>
              <a:xfrm>
                <a:off x="6532864" y="1232118"/>
                <a:ext cx="144000" cy="1440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675">
                  <a:solidFill>
                    <a:srgbClr val="FFFFFF"/>
                  </a:solidFill>
                </a:endParaRPr>
              </a:p>
            </p:txBody>
          </p:sp>
          <p:sp>
            <p:nvSpPr>
              <p:cNvPr id="154" name="文字方塊 153"/>
              <p:cNvSpPr txBox="1"/>
              <p:nvPr/>
            </p:nvSpPr>
            <p:spPr>
              <a:xfrm>
                <a:off x="6187396" y="834648"/>
                <a:ext cx="866544" cy="2904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675" dirty="0">
                    <a:solidFill>
                      <a:srgbClr val="147891">
                        <a:lumMod val="75000"/>
                      </a:srgbClr>
                    </a:solidFill>
                  </a:rPr>
                  <a:t>Move in</a:t>
                </a:r>
              </a:p>
              <a:p>
                <a:pPr algn="ctr"/>
                <a:r>
                  <a:rPr lang="zh-TW" altLang="en-US" sz="675" dirty="0">
                    <a:solidFill>
                      <a:srgbClr val="147891">
                        <a:lumMod val="75000"/>
                      </a:srgbClr>
                    </a:solidFill>
                  </a:rPr>
                  <a:t>廠內調機</a:t>
                </a:r>
                <a:endParaRPr lang="en-US" altLang="zh-TW" sz="675" dirty="0">
                  <a:solidFill>
                    <a:srgbClr val="147891">
                      <a:lumMod val="75000"/>
                    </a:srgbClr>
                  </a:solidFill>
                </a:endParaRPr>
              </a:p>
            </p:txBody>
          </p:sp>
          <p:sp>
            <p:nvSpPr>
              <p:cNvPr id="155" name="文字方塊 154"/>
              <p:cNvSpPr txBox="1"/>
              <p:nvPr/>
            </p:nvSpPr>
            <p:spPr>
              <a:xfrm>
                <a:off x="6379740" y="1419075"/>
                <a:ext cx="468908" cy="1898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sz="675" b="1" dirty="0">
                    <a:solidFill>
                      <a:srgbClr val="000000"/>
                    </a:solidFill>
                  </a:rPr>
                  <a:t>27/2M</a:t>
                </a:r>
                <a:endParaRPr lang="zh-TW" altLang="en-US" sz="675" b="1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136" name="群組 59"/>
            <p:cNvGrpSpPr/>
            <p:nvPr/>
          </p:nvGrpSpPr>
          <p:grpSpPr>
            <a:xfrm>
              <a:off x="9457345" y="1323314"/>
              <a:ext cx="693823" cy="760162"/>
              <a:chOff x="6371786" y="863761"/>
              <a:chExt cx="693823" cy="760162"/>
            </a:xfrm>
          </p:grpSpPr>
          <p:sp>
            <p:nvSpPr>
              <p:cNvPr id="150" name="橢圓 149"/>
              <p:cNvSpPr/>
              <p:nvPr/>
            </p:nvSpPr>
            <p:spPr>
              <a:xfrm>
                <a:off x="6613231" y="1247078"/>
                <a:ext cx="144000" cy="1440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675">
                  <a:solidFill>
                    <a:srgbClr val="FFFFFF"/>
                  </a:solidFill>
                </a:endParaRPr>
              </a:p>
            </p:txBody>
          </p:sp>
          <p:sp>
            <p:nvSpPr>
              <p:cNvPr id="151" name="文字方塊 150"/>
              <p:cNvSpPr txBox="1"/>
              <p:nvPr/>
            </p:nvSpPr>
            <p:spPr>
              <a:xfrm>
                <a:off x="6371786" y="863761"/>
                <a:ext cx="693823" cy="189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TW" altLang="en-US" sz="675" dirty="0">
                    <a:solidFill>
                      <a:srgbClr val="147891">
                        <a:lumMod val="75000"/>
                      </a:srgbClr>
                    </a:solidFill>
                  </a:rPr>
                  <a:t>廠外組裝</a:t>
                </a:r>
              </a:p>
            </p:txBody>
          </p:sp>
          <p:sp>
            <p:nvSpPr>
              <p:cNvPr id="152" name="文字方塊 151"/>
              <p:cNvSpPr txBox="1"/>
              <p:nvPr/>
            </p:nvSpPr>
            <p:spPr>
              <a:xfrm>
                <a:off x="6512171" y="1434035"/>
                <a:ext cx="454364" cy="1898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sz="675" b="1" dirty="0">
                    <a:solidFill>
                      <a:srgbClr val="000000"/>
                    </a:solidFill>
                  </a:rPr>
                  <a:t>27/1M</a:t>
                </a:r>
                <a:endParaRPr lang="zh-TW" altLang="en-US" sz="675" b="1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137" name="向下箭號 136"/>
            <p:cNvSpPr/>
            <p:nvPr/>
          </p:nvSpPr>
          <p:spPr>
            <a:xfrm>
              <a:off x="7858993" y="1376941"/>
              <a:ext cx="202175" cy="332590"/>
            </a:xfrm>
            <a:prstGeom prst="downArrow">
              <a:avLst/>
            </a:prstGeom>
            <a:solidFill>
              <a:srgbClr val="FFC000">
                <a:alpha val="43922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13"/>
            </a:p>
          </p:txBody>
        </p:sp>
        <p:sp>
          <p:nvSpPr>
            <p:cNvPr id="138" name="矩形 137"/>
            <p:cNvSpPr/>
            <p:nvPr/>
          </p:nvSpPr>
          <p:spPr>
            <a:xfrm>
              <a:off x="7715069" y="1829164"/>
              <a:ext cx="513102" cy="24984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750" b="1" dirty="0">
                  <a:solidFill>
                    <a:schemeClr val="accent4">
                      <a:lumMod val="75000"/>
                    </a:schemeClr>
                  </a:solidFill>
                </a:rPr>
                <a:t>now</a:t>
              </a:r>
              <a:endParaRPr lang="zh-TW" altLang="en-US" sz="750" b="1" dirty="0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  <p:sp>
          <p:nvSpPr>
            <p:cNvPr id="139" name="橢圓 138"/>
            <p:cNvSpPr/>
            <p:nvPr/>
          </p:nvSpPr>
          <p:spPr>
            <a:xfrm>
              <a:off x="4185013" y="1696367"/>
              <a:ext cx="144000" cy="144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675">
                <a:solidFill>
                  <a:srgbClr val="FFFFFF"/>
                </a:solidFill>
              </a:endParaRPr>
            </a:p>
          </p:txBody>
        </p:sp>
        <p:sp>
          <p:nvSpPr>
            <p:cNvPr id="140" name="橢圓 139"/>
            <p:cNvSpPr/>
            <p:nvPr/>
          </p:nvSpPr>
          <p:spPr>
            <a:xfrm>
              <a:off x="7387026" y="1706631"/>
              <a:ext cx="144000" cy="144000"/>
            </a:xfrm>
            <a:prstGeom prst="ellipse">
              <a:avLst/>
            </a:prstGeom>
            <a:solidFill>
              <a:schemeClr val="accent3"/>
            </a:solidFill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675">
                <a:solidFill>
                  <a:srgbClr val="FFFFFF"/>
                </a:solidFill>
              </a:endParaRPr>
            </a:p>
          </p:txBody>
        </p:sp>
        <p:sp>
          <p:nvSpPr>
            <p:cNvPr id="141" name="橢圓 140"/>
            <p:cNvSpPr/>
            <p:nvPr/>
          </p:nvSpPr>
          <p:spPr>
            <a:xfrm>
              <a:off x="4725070" y="1712161"/>
              <a:ext cx="155113" cy="146468"/>
            </a:xfrm>
            <a:prstGeom prst="ellipse">
              <a:avLst/>
            </a:prstGeom>
            <a:solidFill>
              <a:srgbClr val="BFBFBF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675">
                <a:solidFill>
                  <a:srgbClr val="FFFFFF"/>
                </a:solidFill>
              </a:endParaRPr>
            </a:p>
          </p:txBody>
        </p:sp>
        <p:sp>
          <p:nvSpPr>
            <p:cNvPr id="143" name="文字方塊 142"/>
            <p:cNvSpPr txBox="1"/>
            <p:nvPr/>
          </p:nvSpPr>
          <p:spPr>
            <a:xfrm>
              <a:off x="5718114" y="1910346"/>
              <a:ext cx="476986" cy="189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675" b="1" dirty="0">
                  <a:solidFill>
                    <a:srgbClr val="000000"/>
                  </a:solidFill>
                </a:rPr>
                <a:t>26/6M</a:t>
              </a:r>
              <a:endParaRPr lang="zh-TW" altLang="en-US" sz="675" b="1" dirty="0">
                <a:solidFill>
                  <a:srgbClr val="000000"/>
                </a:solidFill>
              </a:endParaRPr>
            </a:p>
          </p:txBody>
        </p:sp>
        <p:sp>
          <p:nvSpPr>
            <p:cNvPr id="144" name="文字方塊 143"/>
            <p:cNvSpPr txBox="1"/>
            <p:nvPr/>
          </p:nvSpPr>
          <p:spPr>
            <a:xfrm>
              <a:off x="7258343" y="1893588"/>
              <a:ext cx="476986" cy="189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675" b="1" dirty="0">
                  <a:solidFill>
                    <a:srgbClr val="000000"/>
                  </a:solidFill>
                </a:rPr>
                <a:t>26/8M</a:t>
              </a:r>
              <a:endParaRPr lang="zh-TW" altLang="en-US" sz="675" b="1" dirty="0">
                <a:solidFill>
                  <a:srgbClr val="000000"/>
                </a:solidFill>
              </a:endParaRPr>
            </a:p>
          </p:txBody>
        </p:sp>
        <p:sp>
          <p:nvSpPr>
            <p:cNvPr id="146" name="文字方塊 145"/>
            <p:cNvSpPr txBox="1"/>
            <p:nvPr/>
          </p:nvSpPr>
          <p:spPr>
            <a:xfrm>
              <a:off x="5658616" y="1320805"/>
              <a:ext cx="632141" cy="390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675" dirty="0">
                  <a:solidFill>
                    <a:schemeClr val="accent6">
                      <a:lumMod val="75000"/>
                    </a:schemeClr>
                  </a:solidFill>
                </a:rPr>
                <a:t>撥耳料機機構設計</a:t>
              </a:r>
              <a:endParaRPr lang="en-US" altLang="zh-TW" sz="675" dirty="0">
                <a:solidFill>
                  <a:schemeClr val="accent6">
                    <a:lumMod val="75000"/>
                  </a:schemeClr>
                </a:solidFill>
              </a:endParaRPr>
            </a:p>
            <a:p>
              <a:pPr algn="ctr"/>
              <a:r>
                <a:rPr lang="en-US" altLang="zh-TW" sz="675" dirty="0">
                  <a:solidFill>
                    <a:schemeClr val="accent6">
                      <a:lumMod val="75000"/>
                    </a:schemeClr>
                  </a:solidFill>
                </a:rPr>
                <a:t>(</a:t>
              </a:r>
              <a:r>
                <a:rPr lang="zh-TW" altLang="en-US" sz="675" dirty="0">
                  <a:solidFill>
                    <a:schemeClr val="accent6">
                      <a:lumMod val="75000"/>
                    </a:schemeClr>
                  </a:solidFill>
                </a:rPr>
                <a:t>第二版</a:t>
              </a:r>
              <a:r>
                <a:rPr lang="en-US" altLang="zh-TW" sz="675" dirty="0">
                  <a:solidFill>
                    <a:schemeClr val="accent6">
                      <a:lumMod val="75000"/>
                    </a:schemeClr>
                  </a:solidFill>
                </a:rPr>
                <a:t>)</a:t>
              </a:r>
              <a:endParaRPr lang="zh-TW" altLang="en-US" sz="675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147" name="文字方塊 146"/>
            <p:cNvSpPr txBox="1"/>
            <p:nvPr/>
          </p:nvSpPr>
          <p:spPr>
            <a:xfrm>
              <a:off x="7983855" y="1329306"/>
              <a:ext cx="752126" cy="189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675" dirty="0">
                  <a:solidFill>
                    <a:srgbClr val="147891">
                      <a:lumMod val="75000"/>
                    </a:srgbClr>
                  </a:solidFill>
                </a:rPr>
                <a:t>預算審查會整</a:t>
              </a:r>
            </a:p>
          </p:txBody>
        </p:sp>
        <p:sp>
          <p:nvSpPr>
            <p:cNvPr id="148" name="橢圓 147"/>
            <p:cNvSpPr/>
            <p:nvPr/>
          </p:nvSpPr>
          <p:spPr>
            <a:xfrm>
              <a:off x="8281798" y="1706631"/>
              <a:ext cx="144000" cy="1440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675">
                <a:solidFill>
                  <a:srgbClr val="FFFFFF"/>
                </a:solidFill>
              </a:endParaRPr>
            </a:p>
          </p:txBody>
        </p:sp>
        <p:sp>
          <p:nvSpPr>
            <p:cNvPr id="149" name="文字方塊 148"/>
            <p:cNvSpPr txBox="1"/>
            <p:nvPr/>
          </p:nvSpPr>
          <p:spPr>
            <a:xfrm>
              <a:off x="8084437" y="1893588"/>
              <a:ext cx="476986" cy="189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675" b="1" dirty="0">
                  <a:solidFill>
                    <a:srgbClr val="000000"/>
                  </a:solidFill>
                </a:rPr>
                <a:t>26/9M</a:t>
              </a:r>
              <a:endParaRPr lang="zh-TW" altLang="en-US" sz="675" b="1" dirty="0">
                <a:solidFill>
                  <a:srgbClr val="000000"/>
                </a:solidFill>
              </a:endParaRPr>
            </a:p>
          </p:txBody>
        </p:sp>
      </p:grpSp>
      <p:sp>
        <p:nvSpPr>
          <p:cNvPr id="177" name="圓角矩形 176"/>
          <p:cNvSpPr/>
          <p:nvPr/>
        </p:nvSpPr>
        <p:spPr>
          <a:xfrm>
            <a:off x="3414620" y="1922755"/>
            <a:ext cx="927183" cy="259663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800" dirty="0"/>
              <a:t>站點</a:t>
            </a:r>
          </a:p>
        </p:txBody>
      </p:sp>
      <p:sp>
        <p:nvSpPr>
          <p:cNvPr id="178" name="圓角矩形 177"/>
          <p:cNvSpPr/>
          <p:nvPr/>
        </p:nvSpPr>
        <p:spPr>
          <a:xfrm>
            <a:off x="4401679" y="1922755"/>
            <a:ext cx="784844" cy="259663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/>
              <a:t>Status</a:t>
            </a:r>
            <a:endParaRPr lang="zh-TW" altLang="en-US" sz="1400" dirty="0"/>
          </a:p>
        </p:txBody>
      </p:sp>
      <p:sp>
        <p:nvSpPr>
          <p:cNvPr id="179" name="圓角矩形 178"/>
          <p:cNvSpPr/>
          <p:nvPr/>
        </p:nvSpPr>
        <p:spPr>
          <a:xfrm>
            <a:off x="5239938" y="1922755"/>
            <a:ext cx="2315182" cy="259663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800" dirty="0"/>
              <a:t>Detail</a:t>
            </a:r>
            <a:endParaRPr lang="zh-TW" altLang="en-US" sz="1800" dirty="0"/>
          </a:p>
        </p:txBody>
      </p:sp>
      <p:sp>
        <p:nvSpPr>
          <p:cNvPr id="180" name="圓角矩形 179"/>
          <p:cNvSpPr/>
          <p:nvPr/>
        </p:nvSpPr>
        <p:spPr>
          <a:xfrm>
            <a:off x="7606401" y="1922755"/>
            <a:ext cx="1354720" cy="259663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13" dirty="0"/>
              <a:t>Need Support</a:t>
            </a:r>
            <a:endParaRPr lang="zh-TW" altLang="en-US" sz="1013" dirty="0"/>
          </a:p>
        </p:txBody>
      </p:sp>
      <p:cxnSp>
        <p:nvCxnSpPr>
          <p:cNvPr id="182" name="直線接點 181"/>
          <p:cNvCxnSpPr/>
          <p:nvPr/>
        </p:nvCxnSpPr>
        <p:spPr>
          <a:xfrm>
            <a:off x="3414621" y="2798694"/>
            <a:ext cx="5441602" cy="0"/>
          </a:xfrm>
          <a:prstGeom prst="line">
            <a:avLst/>
          </a:prstGeom>
          <a:ln w="22225">
            <a:solidFill>
              <a:schemeClr val="accent6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直線接點 185"/>
          <p:cNvCxnSpPr/>
          <p:nvPr/>
        </p:nvCxnSpPr>
        <p:spPr>
          <a:xfrm>
            <a:off x="3418749" y="3314183"/>
            <a:ext cx="5441602" cy="0"/>
          </a:xfrm>
          <a:prstGeom prst="line">
            <a:avLst/>
          </a:prstGeom>
          <a:ln w="22225">
            <a:solidFill>
              <a:schemeClr val="accent6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直線接點 186"/>
          <p:cNvCxnSpPr/>
          <p:nvPr/>
        </p:nvCxnSpPr>
        <p:spPr>
          <a:xfrm>
            <a:off x="3438825" y="4412787"/>
            <a:ext cx="5441602" cy="0"/>
          </a:xfrm>
          <a:prstGeom prst="line">
            <a:avLst/>
          </a:prstGeom>
          <a:ln w="22225">
            <a:solidFill>
              <a:schemeClr val="accent6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文字方塊 187"/>
          <p:cNvSpPr txBox="1"/>
          <p:nvPr/>
        </p:nvSpPr>
        <p:spPr>
          <a:xfrm>
            <a:off x="3502540" y="2265242"/>
            <a:ext cx="723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dirty="0"/>
              <a:t>剝耳料</a:t>
            </a:r>
            <a:endParaRPr lang="en-US" altLang="zh-TW" sz="1400" dirty="0"/>
          </a:p>
          <a:p>
            <a:r>
              <a:rPr lang="en-US" altLang="zh-TW" sz="1400" dirty="0"/>
              <a:t>(</a:t>
            </a:r>
            <a:r>
              <a:rPr lang="zh-TW" altLang="en-US" sz="1400" dirty="0"/>
              <a:t>誌軒</a:t>
            </a:r>
            <a:r>
              <a:rPr lang="en-US" altLang="zh-TW" sz="1400" dirty="0"/>
              <a:t>)</a:t>
            </a:r>
            <a:endParaRPr lang="zh-TW" altLang="en-US" sz="1400" dirty="0"/>
          </a:p>
        </p:txBody>
      </p:sp>
      <p:sp>
        <p:nvSpPr>
          <p:cNvPr id="189" name="文字方塊 188"/>
          <p:cNvSpPr txBox="1"/>
          <p:nvPr/>
        </p:nvSpPr>
        <p:spPr>
          <a:xfrm>
            <a:off x="3442721" y="2895066"/>
            <a:ext cx="769763" cy="404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013" dirty="0"/>
              <a:t>風刀</a:t>
            </a:r>
            <a:r>
              <a:rPr lang="en-US" altLang="zh-TW" sz="1013" dirty="0"/>
              <a:t>/</a:t>
            </a:r>
            <a:r>
              <a:rPr lang="zh-TW" altLang="en-US" sz="1013" dirty="0"/>
              <a:t>流片</a:t>
            </a:r>
            <a:endParaRPr lang="en-US" altLang="zh-TW" sz="1013" dirty="0"/>
          </a:p>
          <a:p>
            <a:pPr algn="ctr"/>
            <a:r>
              <a:rPr lang="en-US" altLang="zh-TW" sz="1013" dirty="0"/>
              <a:t>(</a:t>
            </a:r>
            <a:r>
              <a:rPr lang="zh-TW" altLang="en-US" sz="1013" dirty="0"/>
              <a:t>技哲</a:t>
            </a:r>
            <a:r>
              <a:rPr lang="en-US" altLang="zh-TW" sz="1013" dirty="0"/>
              <a:t>)</a:t>
            </a:r>
            <a:endParaRPr lang="zh-TW" altLang="en-US" sz="1013" dirty="0"/>
          </a:p>
        </p:txBody>
      </p:sp>
      <p:sp>
        <p:nvSpPr>
          <p:cNvPr id="191" name="文字方塊 190"/>
          <p:cNvSpPr txBox="1"/>
          <p:nvPr/>
        </p:nvSpPr>
        <p:spPr>
          <a:xfrm>
            <a:off x="3508281" y="4500131"/>
            <a:ext cx="6992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1400" dirty="0"/>
              <a:t>SI</a:t>
            </a:r>
            <a:r>
              <a:rPr lang="zh-TW" altLang="en-US" sz="1400" dirty="0"/>
              <a:t>整合</a:t>
            </a:r>
            <a:endParaRPr lang="en-US" altLang="zh-TW" sz="1400" dirty="0"/>
          </a:p>
          <a:p>
            <a:pPr algn="ctr"/>
            <a:r>
              <a:rPr lang="en-US" altLang="zh-TW" sz="1400" dirty="0"/>
              <a:t>(</a:t>
            </a:r>
            <a:r>
              <a:rPr lang="zh-TW" altLang="en-US" sz="1400" dirty="0"/>
              <a:t>裕峰</a:t>
            </a:r>
            <a:r>
              <a:rPr lang="en-US" altLang="zh-TW" sz="1400" dirty="0"/>
              <a:t>)</a:t>
            </a:r>
          </a:p>
        </p:txBody>
      </p:sp>
      <p:sp>
        <p:nvSpPr>
          <p:cNvPr id="203" name="文字方塊 202"/>
          <p:cNvSpPr txBox="1"/>
          <p:nvPr/>
        </p:nvSpPr>
        <p:spPr>
          <a:xfrm>
            <a:off x="7688144" y="2957024"/>
            <a:ext cx="112723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050" dirty="0"/>
              <a:t>待第二廠商報價</a:t>
            </a:r>
            <a:endParaRPr lang="en-US" altLang="zh-TW" sz="1050" dirty="0"/>
          </a:p>
        </p:txBody>
      </p:sp>
      <p:sp>
        <p:nvSpPr>
          <p:cNvPr id="205" name="文字方塊 204"/>
          <p:cNvSpPr txBox="1"/>
          <p:nvPr/>
        </p:nvSpPr>
        <p:spPr>
          <a:xfrm>
            <a:off x="5292812" y="2302377"/>
            <a:ext cx="225167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50" dirty="0"/>
              <a:t>1.7/1</a:t>
            </a:r>
            <a:r>
              <a:rPr lang="zh-TW" altLang="en-US" sz="1050" dirty="0"/>
              <a:t> </a:t>
            </a:r>
            <a:r>
              <a:rPr lang="en-US" altLang="zh-TW" sz="1050" dirty="0"/>
              <a:t>POC</a:t>
            </a:r>
            <a:r>
              <a:rPr lang="zh-TW" altLang="en-US" sz="1050" dirty="0"/>
              <a:t> 小量驗證 </a:t>
            </a:r>
            <a:r>
              <a:rPr lang="en-US" altLang="zh-TW" sz="1050" dirty="0"/>
              <a:t>14 chip</a:t>
            </a:r>
            <a:r>
              <a:rPr lang="zh-TW" altLang="en-US" sz="1050" dirty="0"/>
              <a:t>全檢 </a:t>
            </a:r>
            <a:r>
              <a:rPr lang="en-US" altLang="zh-TW" sz="1050" dirty="0"/>
              <a:t>ok</a:t>
            </a:r>
          </a:p>
          <a:p>
            <a:r>
              <a:rPr lang="en-US" altLang="zh-TW" sz="1050" dirty="0"/>
              <a:t>2.</a:t>
            </a:r>
            <a:r>
              <a:rPr lang="zh-TW" altLang="en-US" sz="1050" dirty="0"/>
              <a:t>機構設計中</a:t>
            </a:r>
            <a:endParaRPr lang="en-US" altLang="zh-TW" sz="1050" dirty="0"/>
          </a:p>
        </p:txBody>
      </p:sp>
      <p:sp>
        <p:nvSpPr>
          <p:cNvPr id="208" name="文字方塊 207"/>
          <p:cNvSpPr txBox="1"/>
          <p:nvPr/>
        </p:nvSpPr>
        <p:spPr>
          <a:xfrm>
            <a:off x="5312505" y="4561505"/>
            <a:ext cx="223198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50" dirty="0"/>
              <a:t>1.</a:t>
            </a:r>
            <a:r>
              <a:rPr lang="zh-TW" altLang="en-US" sz="1050" dirty="0"/>
              <a:t>威綸人機測試</a:t>
            </a:r>
            <a:r>
              <a:rPr lang="en-US" altLang="zh-TW" sz="1050" dirty="0"/>
              <a:t>80%</a:t>
            </a:r>
          </a:p>
          <a:p>
            <a:r>
              <a:rPr lang="en-US" altLang="zh-TW" sz="1050" dirty="0"/>
              <a:t>2.</a:t>
            </a:r>
            <a:r>
              <a:rPr lang="zh-TW" altLang="en-US" sz="1050" dirty="0"/>
              <a:t>機面板設計與頁面規劃</a:t>
            </a:r>
          </a:p>
        </p:txBody>
      </p:sp>
      <p:sp>
        <p:nvSpPr>
          <p:cNvPr id="93" name="文字方塊 92"/>
          <p:cNvSpPr txBox="1"/>
          <p:nvPr/>
        </p:nvSpPr>
        <p:spPr>
          <a:xfrm>
            <a:off x="3529678" y="3913367"/>
            <a:ext cx="6944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1400" dirty="0"/>
              <a:t>AOI</a:t>
            </a:r>
          </a:p>
          <a:p>
            <a:r>
              <a:rPr lang="en-US" altLang="zh-TW" sz="1400" dirty="0"/>
              <a:t>(</a:t>
            </a:r>
            <a:r>
              <a:rPr lang="zh-TW" altLang="en-US" sz="1400" dirty="0"/>
              <a:t>育晟</a:t>
            </a:r>
            <a:r>
              <a:rPr lang="en-US" altLang="zh-TW" sz="1400" dirty="0"/>
              <a:t>)</a:t>
            </a:r>
            <a:endParaRPr lang="zh-TW" altLang="en-US" sz="1400" dirty="0"/>
          </a:p>
        </p:txBody>
      </p:sp>
      <p:sp>
        <p:nvSpPr>
          <p:cNvPr id="96" name="文字方塊 95"/>
          <p:cNvSpPr txBox="1"/>
          <p:nvPr/>
        </p:nvSpPr>
        <p:spPr>
          <a:xfrm>
            <a:off x="5316757" y="3965683"/>
            <a:ext cx="223282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50" dirty="0"/>
              <a:t>1.</a:t>
            </a:r>
            <a:r>
              <a:rPr lang="zh-TW" altLang="en-US" sz="1050" dirty="0"/>
              <a:t>光學廠商已報價</a:t>
            </a:r>
            <a:r>
              <a:rPr lang="en-US" altLang="zh-TW" sz="1050" dirty="0"/>
              <a:t>38W</a:t>
            </a:r>
          </a:p>
          <a:p>
            <a:r>
              <a:rPr lang="en-US" altLang="zh-TW" sz="1050" dirty="0"/>
              <a:t>2.</a:t>
            </a:r>
            <a:r>
              <a:rPr lang="zh-TW" altLang="en-US" sz="1050" dirty="0"/>
              <a:t>電腦報價</a:t>
            </a:r>
            <a:r>
              <a:rPr lang="en-US" altLang="zh-TW" sz="1050" dirty="0"/>
              <a:t>38W</a:t>
            </a:r>
          </a:p>
        </p:txBody>
      </p:sp>
      <p:sp>
        <p:nvSpPr>
          <p:cNvPr id="98" name="文字方塊 97"/>
          <p:cNvSpPr txBox="1"/>
          <p:nvPr/>
        </p:nvSpPr>
        <p:spPr>
          <a:xfrm>
            <a:off x="110937" y="3283135"/>
            <a:ext cx="1109599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100" dirty="0">
                <a:latin typeface="Noto Sans TC" panose="020B0200000000000000" pitchFamily="34" charset="-120"/>
                <a:ea typeface="Noto Sans TC" panose="020B0200000000000000" pitchFamily="34" charset="-120"/>
              </a:rPr>
              <a:t>人工裝箱</a:t>
            </a:r>
            <a:r>
              <a:rPr lang="en-US" altLang="zh-TW" sz="1100" dirty="0">
                <a:latin typeface="Noto Sans TC" panose="020B0200000000000000" pitchFamily="34" charset="-120"/>
                <a:ea typeface="Noto Sans TC" panose="020B0200000000000000" pitchFamily="34" charset="-120"/>
              </a:rPr>
              <a:t>+</a:t>
            </a:r>
            <a:r>
              <a:rPr lang="zh-TW" altLang="en-US" sz="1100" dirty="0">
                <a:latin typeface="Noto Sans TC" panose="020B0200000000000000" pitchFamily="34" charset="-120"/>
                <a:ea typeface="Noto Sans TC" panose="020B0200000000000000" pitchFamily="34" charset="-120"/>
              </a:rPr>
              <a:t>打帶</a:t>
            </a:r>
            <a:endParaRPr lang="en-US" altLang="zh-TW" sz="1100" dirty="0">
              <a:latin typeface="Noto Sans TC" panose="020B0200000000000000" pitchFamily="34" charset="-120"/>
              <a:ea typeface="Noto Sans TC" panose="020B0200000000000000" pitchFamily="34" charset="-120"/>
            </a:endParaRPr>
          </a:p>
          <a:p>
            <a:r>
              <a:rPr lang="en-US" altLang="zh-TW" sz="1100" dirty="0">
                <a:latin typeface="Noto Sans TC" panose="020B0200000000000000" pitchFamily="34" charset="-120"/>
                <a:ea typeface="Noto Sans TC" panose="020B0200000000000000" pitchFamily="34" charset="-120"/>
              </a:rPr>
              <a:t>1.</a:t>
            </a:r>
            <a:r>
              <a:rPr lang="zh-TW" altLang="en-US" sz="1100" dirty="0">
                <a:latin typeface="Noto Sans TC" panose="020B0200000000000000" pitchFamily="34" charset="-120"/>
                <a:ea typeface="Noto Sans TC" panose="020B0200000000000000" pitchFamily="34" charset="-120"/>
              </a:rPr>
              <a:t>底箱</a:t>
            </a:r>
            <a:endParaRPr lang="en-US" altLang="zh-TW" sz="1100" dirty="0">
              <a:latin typeface="Noto Sans TC" panose="020B0200000000000000" pitchFamily="34" charset="-120"/>
              <a:ea typeface="Noto Sans TC" panose="020B0200000000000000" pitchFamily="34" charset="-120"/>
            </a:endParaRPr>
          </a:p>
          <a:p>
            <a:r>
              <a:rPr lang="en-US" altLang="zh-TW" sz="1100" dirty="0">
                <a:latin typeface="Noto Sans TC" panose="020B0200000000000000" pitchFamily="34" charset="-120"/>
                <a:ea typeface="Noto Sans TC" panose="020B0200000000000000" pitchFamily="34" charset="-120"/>
              </a:rPr>
              <a:t>2.Spacer</a:t>
            </a:r>
          </a:p>
          <a:p>
            <a:r>
              <a:rPr lang="en-US" altLang="zh-TW" sz="1100" dirty="0">
                <a:latin typeface="Noto Sans TC" panose="020B0200000000000000" pitchFamily="34" charset="-120"/>
                <a:ea typeface="Noto Sans TC" panose="020B0200000000000000" pitchFamily="34" charset="-120"/>
              </a:rPr>
              <a:t>3.</a:t>
            </a:r>
            <a:r>
              <a:rPr lang="zh-TW" altLang="en-US" sz="1100" dirty="0">
                <a:latin typeface="Noto Sans TC" panose="020B0200000000000000" pitchFamily="34" charset="-120"/>
                <a:ea typeface="Noto Sans TC" panose="020B0200000000000000" pitchFamily="34" charset="-120"/>
              </a:rPr>
              <a:t>面內檢</a:t>
            </a:r>
          </a:p>
          <a:p>
            <a:r>
              <a:rPr lang="en-US" altLang="zh-TW" sz="1100" dirty="0">
                <a:latin typeface="Noto Sans TC" panose="020B0200000000000000" pitchFamily="34" charset="-120"/>
                <a:ea typeface="Noto Sans TC" panose="020B0200000000000000" pitchFamily="34" charset="-120"/>
              </a:rPr>
              <a:t>4.</a:t>
            </a:r>
            <a:r>
              <a:rPr lang="zh-TW" altLang="en-US" sz="1100" dirty="0">
                <a:latin typeface="Noto Sans TC" panose="020B0200000000000000" pitchFamily="34" charset="-120"/>
                <a:ea typeface="Noto Sans TC" panose="020B0200000000000000" pitchFamily="34" charset="-120"/>
              </a:rPr>
              <a:t>蓋上蓋</a:t>
            </a:r>
            <a:endParaRPr lang="en-US" altLang="zh-TW" sz="1100" dirty="0">
              <a:latin typeface="Noto Sans TC" panose="020B0200000000000000" pitchFamily="34" charset="-120"/>
              <a:ea typeface="Noto Sans TC" panose="020B0200000000000000" pitchFamily="34" charset="-120"/>
            </a:endParaRPr>
          </a:p>
          <a:p>
            <a:r>
              <a:rPr lang="en-US" altLang="zh-TW" sz="1100" dirty="0">
                <a:latin typeface="Noto Sans TC" panose="020B0200000000000000" pitchFamily="34" charset="-120"/>
                <a:ea typeface="Noto Sans TC" panose="020B0200000000000000" pitchFamily="34" charset="-120"/>
              </a:rPr>
              <a:t>5.</a:t>
            </a:r>
            <a:r>
              <a:rPr lang="zh-TW" altLang="en-US" sz="1100" dirty="0">
                <a:latin typeface="Noto Sans TC" panose="020B0200000000000000" pitchFamily="34" charset="-120"/>
                <a:ea typeface="Noto Sans TC" panose="020B0200000000000000" pitchFamily="34" charset="-120"/>
              </a:rPr>
              <a:t>貼條碼</a:t>
            </a:r>
            <a:endParaRPr lang="en-US" altLang="zh-TW" sz="1100" dirty="0">
              <a:latin typeface="Noto Sans TC" panose="020B0200000000000000" pitchFamily="34" charset="-120"/>
              <a:ea typeface="Noto Sans TC" panose="020B0200000000000000" pitchFamily="34" charset="-120"/>
            </a:endParaRPr>
          </a:p>
          <a:p>
            <a:r>
              <a:rPr lang="en-US" altLang="zh-TW" sz="1100" dirty="0">
                <a:latin typeface="Noto Sans TC" panose="020B0200000000000000" pitchFamily="34" charset="-120"/>
                <a:ea typeface="Noto Sans TC" panose="020B0200000000000000" pitchFamily="34" charset="-120"/>
              </a:rPr>
              <a:t>6.</a:t>
            </a:r>
            <a:r>
              <a:rPr lang="zh-TW" altLang="en-US" sz="1100" dirty="0">
                <a:latin typeface="Noto Sans TC" panose="020B0200000000000000" pitchFamily="34" charset="-120"/>
                <a:ea typeface="Noto Sans TC" panose="020B0200000000000000" pitchFamily="34" charset="-120"/>
              </a:rPr>
              <a:t>打帶</a:t>
            </a:r>
            <a:endParaRPr lang="en-US" altLang="zh-TW" sz="1100" dirty="0">
              <a:latin typeface="Noto Sans TC" panose="020B0200000000000000" pitchFamily="34" charset="-120"/>
              <a:ea typeface="Noto Sans TC" panose="020B0200000000000000" pitchFamily="34" charset="-120"/>
            </a:endParaRPr>
          </a:p>
          <a:p>
            <a:r>
              <a:rPr lang="en-US" altLang="zh-TW" sz="1100" dirty="0">
                <a:latin typeface="Noto Sans TC" panose="020B0200000000000000" pitchFamily="34" charset="-120"/>
                <a:ea typeface="Noto Sans TC" panose="020B0200000000000000" pitchFamily="34" charset="-120"/>
              </a:rPr>
              <a:t>7.</a:t>
            </a:r>
            <a:r>
              <a:rPr lang="zh-TW" altLang="en-US" sz="1100" dirty="0">
                <a:latin typeface="Noto Sans TC" panose="020B0200000000000000" pitchFamily="34" charset="-120"/>
                <a:ea typeface="Noto Sans TC" panose="020B0200000000000000" pitchFamily="34" charset="-120"/>
              </a:rPr>
              <a:t>堆疊</a:t>
            </a:r>
            <a:endParaRPr lang="en-US" altLang="zh-TW" sz="1100" dirty="0"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  <p:sp>
        <p:nvSpPr>
          <p:cNvPr id="100" name="文字方塊 99"/>
          <p:cNvSpPr txBox="1"/>
          <p:nvPr/>
        </p:nvSpPr>
        <p:spPr>
          <a:xfrm>
            <a:off x="7688142" y="2398632"/>
            <a:ext cx="123463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050" dirty="0"/>
              <a:t>待機構設計</a:t>
            </a:r>
            <a:r>
              <a:rPr lang="en-US" altLang="zh-TW" sz="1050" dirty="0"/>
              <a:t>&amp;</a:t>
            </a:r>
            <a:r>
              <a:rPr lang="zh-TW" altLang="en-US" sz="1050" dirty="0"/>
              <a:t>報價</a:t>
            </a:r>
            <a:endParaRPr lang="en-US" altLang="zh-TW" sz="1050" dirty="0"/>
          </a:p>
        </p:txBody>
      </p:sp>
      <p:sp>
        <p:nvSpPr>
          <p:cNvPr id="101" name="文字方塊 100"/>
          <p:cNvSpPr txBox="1"/>
          <p:nvPr/>
        </p:nvSpPr>
        <p:spPr>
          <a:xfrm>
            <a:off x="5312505" y="2894424"/>
            <a:ext cx="162416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50" dirty="0"/>
              <a:t>1.</a:t>
            </a:r>
            <a:r>
              <a:rPr lang="zh-TW" altLang="en-US" sz="1050" dirty="0"/>
              <a:t>報價單取得 </a:t>
            </a:r>
            <a:r>
              <a:rPr lang="en-US" altLang="zh-TW" sz="1050" dirty="0"/>
              <a:t>(</a:t>
            </a:r>
            <a:r>
              <a:rPr lang="zh-TW" altLang="en-US" sz="1050" dirty="0"/>
              <a:t>廠商奇裕</a:t>
            </a:r>
            <a:r>
              <a:rPr lang="en-US" altLang="zh-TW" sz="1050" dirty="0"/>
              <a:t>)</a:t>
            </a:r>
          </a:p>
          <a:p>
            <a:r>
              <a:rPr lang="en-US" altLang="zh-TW" sz="1050" dirty="0"/>
              <a:t>2.</a:t>
            </a:r>
            <a:r>
              <a:rPr lang="zh-TW" altLang="en-US" sz="1050" dirty="0"/>
              <a:t>第二家廠商報價中</a:t>
            </a:r>
            <a:endParaRPr lang="en-US" altLang="zh-TW" sz="1050" dirty="0"/>
          </a:p>
        </p:txBody>
      </p:sp>
      <p:sp>
        <p:nvSpPr>
          <p:cNvPr id="102" name="文字方塊 101"/>
          <p:cNvSpPr txBox="1"/>
          <p:nvPr/>
        </p:nvSpPr>
        <p:spPr>
          <a:xfrm>
            <a:off x="7619874" y="4316626"/>
            <a:ext cx="18473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zh-TW" sz="1050" dirty="0"/>
          </a:p>
        </p:txBody>
      </p:sp>
      <p:sp>
        <p:nvSpPr>
          <p:cNvPr id="105" name="橢圓 104"/>
          <p:cNvSpPr/>
          <p:nvPr/>
        </p:nvSpPr>
        <p:spPr>
          <a:xfrm>
            <a:off x="4661863" y="4006410"/>
            <a:ext cx="297000" cy="297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sp>
        <p:nvSpPr>
          <p:cNvPr id="106" name="文字方塊 105"/>
          <p:cNvSpPr txBox="1"/>
          <p:nvPr/>
        </p:nvSpPr>
        <p:spPr>
          <a:xfrm>
            <a:off x="7688144" y="4038912"/>
            <a:ext cx="704039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013" dirty="0"/>
              <a:t>進度良好</a:t>
            </a:r>
            <a:endParaRPr lang="en-US" altLang="zh-TW" sz="1013" dirty="0"/>
          </a:p>
        </p:txBody>
      </p:sp>
      <p:sp>
        <p:nvSpPr>
          <p:cNvPr id="107" name="橢圓 106"/>
          <p:cNvSpPr/>
          <p:nvPr/>
        </p:nvSpPr>
        <p:spPr>
          <a:xfrm>
            <a:off x="2306770" y="1280925"/>
            <a:ext cx="142859" cy="148793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675">
              <a:solidFill>
                <a:srgbClr val="FFFFFF"/>
              </a:solidFill>
            </a:endParaRPr>
          </a:p>
        </p:txBody>
      </p:sp>
      <p:sp>
        <p:nvSpPr>
          <p:cNvPr id="86" name="橢圓 85"/>
          <p:cNvSpPr/>
          <p:nvPr/>
        </p:nvSpPr>
        <p:spPr>
          <a:xfrm>
            <a:off x="4662734" y="2376344"/>
            <a:ext cx="297000" cy="297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sp>
        <p:nvSpPr>
          <p:cNvPr id="87" name="橢圓 86"/>
          <p:cNvSpPr/>
          <p:nvPr/>
        </p:nvSpPr>
        <p:spPr>
          <a:xfrm>
            <a:off x="3384768" y="1272155"/>
            <a:ext cx="142859" cy="14879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675">
              <a:solidFill>
                <a:srgbClr val="FFFFFF"/>
              </a:solidFill>
            </a:endParaRPr>
          </a:p>
        </p:txBody>
      </p:sp>
      <p:sp>
        <p:nvSpPr>
          <p:cNvPr id="88" name="文字方塊 87"/>
          <p:cNvSpPr txBox="1"/>
          <p:nvPr/>
        </p:nvSpPr>
        <p:spPr>
          <a:xfrm>
            <a:off x="3228639" y="1480876"/>
            <a:ext cx="473206" cy="1962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675" b="1" dirty="0">
                <a:solidFill>
                  <a:srgbClr val="000000"/>
                </a:solidFill>
              </a:rPr>
              <a:t>26/6M</a:t>
            </a:r>
            <a:endParaRPr lang="zh-TW" altLang="en-US" sz="675" b="1" dirty="0">
              <a:solidFill>
                <a:srgbClr val="000000"/>
              </a:solidFill>
            </a:endParaRPr>
          </a:p>
        </p:txBody>
      </p:sp>
      <p:sp>
        <p:nvSpPr>
          <p:cNvPr id="89" name="文字方塊 88"/>
          <p:cNvSpPr txBox="1"/>
          <p:nvPr/>
        </p:nvSpPr>
        <p:spPr>
          <a:xfrm>
            <a:off x="3266206" y="876754"/>
            <a:ext cx="410672" cy="40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675" dirty="0">
                <a:solidFill>
                  <a:schemeClr val="accent6">
                    <a:lumMod val="75000"/>
                  </a:schemeClr>
                </a:solidFill>
              </a:rPr>
              <a:t>報價單取得</a:t>
            </a:r>
            <a:endParaRPr lang="en-US" altLang="zh-TW" sz="675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92" name="橢圓 91"/>
          <p:cNvSpPr/>
          <p:nvPr/>
        </p:nvSpPr>
        <p:spPr>
          <a:xfrm>
            <a:off x="3829432" y="1269416"/>
            <a:ext cx="142859" cy="14879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675">
              <a:solidFill>
                <a:srgbClr val="FFFFFF"/>
              </a:solidFill>
            </a:endParaRPr>
          </a:p>
        </p:txBody>
      </p:sp>
      <p:sp>
        <p:nvSpPr>
          <p:cNvPr id="94" name="文字方塊 93"/>
          <p:cNvSpPr txBox="1"/>
          <p:nvPr/>
        </p:nvSpPr>
        <p:spPr>
          <a:xfrm>
            <a:off x="3657479" y="1488915"/>
            <a:ext cx="542136" cy="1962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675" b="1" dirty="0">
                <a:solidFill>
                  <a:srgbClr val="000000"/>
                </a:solidFill>
              </a:rPr>
              <a:t>26/6/30</a:t>
            </a:r>
            <a:endParaRPr lang="zh-TW" altLang="en-US" sz="675" b="1" dirty="0">
              <a:solidFill>
                <a:srgbClr val="000000"/>
              </a:solidFill>
            </a:endParaRPr>
          </a:p>
        </p:txBody>
      </p:sp>
      <p:sp>
        <p:nvSpPr>
          <p:cNvPr id="95" name="文字方塊 94"/>
          <p:cNvSpPr txBox="1"/>
          <p:nvPr/>
        </p:nvSpPr>
        <p:spPr>
          <a:xfrm>
            <a:off x="3715183" y="868196"/>
            <a:ext cx="410672" cy="40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675" dirty="0">
                <a:solidFill>
                  <a:schemeClr val="accent6">
                    <a:lumMod val="75000"/>
                  </a:schemeClr>
                </a:solidFill>
              </a:rPr>
              <a:t>電控通訊測試</a:t>
            </a:r>
            <a:endParaRPr lang="en-US" altLang="zh-TW" sz="675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97" name="橢圓 96"/>
          <p:cNvSpPr/>
          <p:nvPr/>
        </p:nvSpPr>
        <p:spPr>
          <a:xfrm>
            <a:off x="4661863" y="4601746"/>
            <a:ext cx="297000" cy="297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sp>
        <p:nvSpPr>
          <p:cNvPr id="103" name="文字方塊 102"/>
          <p:cNvSpPr txBox="1"/>
          <p:nvPr/>
        </p:nvSpPr>
        <p:spPr>
          <a:xfrm>
            <a:off x="7688144" y="4637667"/>
            <a:ext cx="704039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013" dirty="0"/>
              <a:t>進度良好</a:t>
            </a:r>
            <a:endParaRPr lang="en-US" altLang="zh-TW" sz="1013" dirty="0"/>
          </a:p>
        </p:txBody>
      </p:sp>
      <p:sp>
        <p:nvSpPr>
          <p:cNvPr id="104" name="橢圓 103"/>
          <p:cNvSpPr/>
          <p:nvPr/>
        </p:nvSpPr>
        <p:spPr>
          <a:xfrm>
            <a:off x="3387568" y="1272352"/>
            <a:ext cx="153884" cy="151343"/>
          </a:xfrm>
          <a:prstGeom prst="ellipse">
            <a:avLst/>
          </a:prstGeom>
          <a:solidFill>
            <a:srgbClr val="BFBFBF"/>
          </a:solidFill>
          <a:ln>
            <a:solidFill>
              <a:schemeClr val="accent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675">
              <a:solidFill>
                <a:srgbClr val="FFFFFF"/>
              </a:solidFill>
            </a:endParaRPr>
          </a:p>
        </p:txBody>
      </p:sp>
      <p:sp>
        <p:nvSpPr>
          <p:cNvPr id="108" name="橢圓 107"/>
          <p:cNvSpPr/>
          <p:nvPr/>
        </p:nvSpPr>
        <p:spPr>
          <a:xfrm>
            <a:off x="3825474" y="1265151"/>
            <a:ext cx="142859" cy="148793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675">
              <a:solidFill>
                <a:srgbClr val="FFFFFF"/>
              </a:solidFill>
            </a:endParaRPr>
          </a:p>
        </p:txBody>
      </p:sp>
      <p:cxnSp>
        <p:nvCxnSpPr>
          <p:cNvPr id="109" name="直線接點 108"/>
          <p:cNvCxnSpPr/>
          <p:nvPr/>
        </p:nvCxnSpPr>
        <p:spPr>
          <a:xfrm>
            <a:off x="3414621" y="3920828"/>
            <a:ext cx="5441602" cy="0"/>
          </a:xfrm>
          <a:prstGeom prst="line">
            <a:avLst/>
          </a:prstGeom>
          <a:ln w="22225">
            <a:solidFill>
              <a:schemeClr val="accent6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文字方塊 109"/>
          <p:cNvSpPr txBox="1"/>
          <p:nvPr/>
        </p:nvSpPr>
        <p:spPr>
          <a:xfrm>
            <a:off x="3379528" y="3386909"/>
            <a:ext cx="928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1200" dirty="0"/>
              <a:t>流片機構</a:t>
            </a:r>
            <a:endParaRPr lang="en-US" altLang="zh-TW" sz="1200" dirty="0"/>
          </a:p>
          <a:p>
            <a:pPr algn="ctr"/>
            <a:r>
              <a:rPr lang="zh-TW" altLang="en-US" sz="1200" dirty="0"/>
              <a:t>電控</a:t>
            </a:r>
            <a:r>
              <a:rPr lang="en-US" altLang="zh-TW" sz="1200" dirty="0"/>
              <a:t>(</a:t>
            </a:r>
            <a:r>
              <a:rPr lang="zh-TW" altLang="en-US" sz="1200" dirty="0"/>
              <a:t>裕峰</a:t>
            </a:r>
            <a:r>
              <a:rPr lang="en-US" altLang="zh-TW" sz="1200" dirty="0"/>
              <a:t>)</a:t>
            </a:r>
          </a:p>
        </p:txBody>
      </p:sp>
      <p:sp>
        <p:nvSpPr>
          <p:cNvPr id="111" name="文字方塊 110"/>
          <p:cNvSpPr txBox="1"/>
          <p:nvPr/>
        </p:nvSpPr>
        <p:spPr>
          <a:xfrm>
            <a:off x="5315438" y="3442832"/>
            <a:ext cx="222208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766">
              <a:defRPr/>
            </a:pPr>
            <a:r>
              <a:rPr lang="en-US" altLang="zh-TW" sz="1050" dirty="0"/>
              <a:t>1.</a:t>
            </a:r>
            <a:r>
              <a:rPr lang="zh-TW" altLang="en-US" sz="1050" dirty="0"/>
              <a:t>整理流片機構電控</a:t>
            </a:r>
            <a:r>
              <a:rPr lang="en-US" altLang="zh-TW" sz="1050" dirty="0"/>
              <a:t>BOM</a:t>
            </a:r>
            <a:r>
              <a:rPr lang="zh-TW" altLang="en-US" sz="1050" dirty="0"/>
              <a:t>清單</a:t>
            </a:r>
            <a:r>
              <a:rPr lang="en-US" altLang="zh-TW" sz="1050" dirty="0"/>
              <a:t>60%</a:t>
            </a:r>
            <a:endParaRPr lang="zh-TW" altLang="en-US" sz="1050" dirty="0"/>
          </a:p>
          <a:p>
            <a:pPr defTabSz="685766">
              <a:defRPr/>
            </a:pPr>
            <a:r>
              <a:rPr lang="en-US" altLang="zh-TW" sz="1050" dirty="0"/>
              <a:t>2.</a:t>
            </a:r>
            <a:r>
              <a:rPr lang="zh-TW" altLang="en-US" sz="1050" dirty="0"/>
              <a:t>東方馬達架設測試平台</a:t>
            </a:r>
          </a:p>
        </p:txBody>
      </p:sp>
      <p:sp>
        <p:nvSpPr>
          <p:cNvPr id="113" name="橢圓 112"/>
          <p:cNvSpPr/>
          <p:nvPr/>
        </p:nvSpPr>
        <p:spPr>
          <a:xfrm>
            <a:off x="4667003" y="3466486"/>
            <a:ext cx="297000" cy="297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sp>
        <p:nvSpPr>
          <p:cNvPr id="114" name="文字方塊 113"/>
          <p:cNvSpPr txBox="1"/>
          <p:nvPr/>
        </p:nvSpPr>
        <p:spPr>
          <a:xfrm>
            <a:off x="7691946" y="3504421"/>
            <a:ext cx="1093569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013" dirty="0"/>
              <a:t>電料協調借料中</a:t>
            </a:r>
            <a:endParaRPr lang="en-US" altLang="zh-TW" sz="1013" dirty="0"/>
          </a:p>
        </p:txBody>
      </p:sp>
      <p:sp>
        <p:nvSpPr>
          <p:cNvPr id="112" name="橢圓 111"/>
          <p:cNvSpPr/>
          <p:nvPr/>
        </p:nvSpPr>
        <p:spPr>
          <a:xfrm>
            <a:off x="4661863" y="2907444"/>
            <a:ext cx="297000" cy="297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sp>
        <p:nvSpPr>
          <p:cNvPr id="99" name="橢圓 98"/>
          <p:cNvSpPr/>
          <p:nvPr/>
        </p:nvSpPr>
        <p:spPr>
          <a:xfrm>
            <a:off x="2847819" y="1269774"/>
            <a:ext cx="153884" cy="151343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675">
              <a:solidFill>
                <a:srgbClr val="FFFFFF"/>
              </a:solidFill>
            </a:endParaRPr>
          </a:p>
        </p:txBody>
      </p:sp>
      <p:sp>
        <p:nvSpPr>
          <p:cNvPr id="115" name="文字方塊 114"/>
          <p:cNvSpPr txBox="1"/>
          <p:nvPr/>
        </p:nvSpPr>
        <p:spPr>
          <a:xfrm>
            <a:off x="4096311" y="860624"/>
            <a:ext cx="627131" cy="40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675" dirty="0">
                <a:solidFill>
                  <a:schemeClr val="accent6">
                    <a:lumMod val="75000"/>
                  </a:schemeClr>
                </a:solidFill>
              </a:rPr>
              <a:t>撥耳料機機構設計</a:t>
            </a:r>
            <a:endParaRPr lang="en-US" altLang="zh-TW" sz="675" dirty="0">
              <a:solidFill>
                <a:schemeClr val="accent6">
                  <a:lumMod val="75000"/>
                </a:schemeClr>
              </a:solidFill>
            </a:endParaRPr>
          </a:p>
          <a:p>
            <a:pPr algn="ctr"/>
            <a:r>
              <a:rPr lang="en-US" altLang="zh-TW" sz="675" dirty="0">
                <a:solidFill>
                  <a:schemeClr val="accent6">
                    <a:lumMod val="75000"/>
                  </a:schemeClr>
                </a:solidFill>
              </a:rPr>
              <a:t>(</a:t>
            </a:r>
            <a:r>
              <a:rPr lang="zh-TW" altLang="en-US" sz="675" dirty="0">
                <a:solidFill>
                  <a:schemeClr val="accent6">
                    <a:lumMod val="75000"/>
                  </a:schemeClr>
                </a:solidFill>
              </a:rPr>
              <a:t>第三版</a:t>
            </a:r>
            <a:r>
              <a:rPr lang="en-US" altLang="zh-TW" sz="675" dirty="0">
                <a:solidFill>
                  <a:schemeClr val="accent6">
                    <a:lumMod val="75000"/>
                  </a:schemeClr>
                </a:solidFill>
              </a:rPr>
              <a:t>)</a:t>
            </a:r>
            <a:endParaRPr lang="zh-TW" altLang="en-US" sz="675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7050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4DC4A0-2B76-F117-CCC4-AFA250D60F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L5A CGL </a:t>
            </a:r>
            <a:r>
              <a:rPr lang="zh-TW" altLang="en-US" dirty="0"/>
              <a:t>自動化省人專案 </a:t>
            </a:r>
            <a:r>
              <a:rPr lang="en-US" altLang="zh-TW" dirty="0"/>
              <a:t>–</a:t>
            </a:r>
            <a:r>
              <a:rPr lang="zh-TW" altLang="en-US" dirty="0"/>
              <a:t> 架構說明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D2EA2AFB-46B4-D46B-1595-BE2B4FB15C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805" y="1006714"/>
            <a:ext cx="4712025" cy="3290003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AB1C852A-032A-EEE3-4CA1-1099487B83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215" y="1800430"/>
            <a:ext cx="2459387" cy="2942927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874B9643-0233-4BE4-BF40-89DECBBDC8DA}"/>
              </a:ext>
            </a:extLst>
          </p:cNvPr>
          <p:cNvSpPr txBox="1"/>
          <p:nvPr/>
        </p:nvSpPr>
        <p:spPr>
          <a:xfrm>
            <a:off x="543470" y="1615764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800" b="1" u="sng" dirty="0"/>
              <a:t>硬體架構：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B14196D-5D36-686A-75CC-62286CBA6E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3468" y="1637595"/>
            <a:ext cx="4827731" cy="3238208"/>
          </a:xfrm>
          <a:prstGeom prst="rect">
            <a:avLst/>
          </a:prstGeom>
        </p:spPr>
      </p:pic>
      <p:cxnSp>
        <p:nvCxnSpPr>
          <p:cNvPr id="6" name="接點: 肘形 5">
            <a:extLst>
              <a:ext uri="{FF2B5EF4-FFF2-40B4-BE49-F238E27FC236}">
                <a16:creationId xmlns:a16="http://schemas.microsoft.com/office/drawing/2014/main" id="{4DDF9216-F49B-B399-454C-6BE3D0851C45}"/>
              </a:ext>
            </a:extLst>
          </p:cNvPr>
          <p:cNvCxnSpPr/>
          <p:nvPr/>
        </p:nvCxnSpPr>
        <p:spPr>
          <a:xfrm>
            <a:off x="1585044" y="3780000"/>
            <a:ext cx="4003200" cy="820800"/>
          </a:xfrm>
          <a:prstGeom prst="bentConnector3">
            <a:avLst/>
          </a:prstGeom>
          <a:ln w="22225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8" name="接點: 肘形 7">
            <a:extLst>
              <a:ext uri="{FF2B5EF4-FFF2-40B4-BE49-F238E27FC236}">
                <a16:creationId xmlns:a16="http://schemas.microsoft.com/office/drawing/2014/main" id="{F2AF3094-D340-CC31-5821-C43250806DFE}"/>
              </a:ext>
            </a:extLst>
          </p:cNvPr>
          <p:cNvCxnSpPr>
            <a:cxnSpLocks/>
          </p:cNvCxnSpPr>
          <p:nvPr/>
        </p:nvCxnSpPr>
        <p:spPr>
          <a:xfrm>
            <a:off x="2127954" y="2643337"/>
            <a:ext cx="3336846" cy="431063"/>
          </a:xfrm>
          <a:prstGeom prst="bentConnector3">
            <a:avLst/>
          </a:prstGeom>
          <a:ln w="22225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C7F17070-03D9-3070-4E06-91E23EF7C19F}"/>
              </a:ext>
            </a:extLst>
          </p:cNvPr>
          <p:cNvSpPr txBox="1"/>
          <p:nvPr/>
        </p:nvSpPr>
        <p:spPr>
          <a:xfrm>
            <a:off x="3346509" y="2374717"/>
            <a:ext cx="4498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/>
              <a:t>AOI</a:t>
            </a:r>
            <a:endParaRPr lang="zh-TW" altLang="en-US" sz="1200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896E83F-F25E-3ED8-6539-DA414047A5BE}"/>
              </a:ext>
            </a:extLst>
          </p:cNvPr>
          <p:cNvSpPr txBox="1"/>
          <p:nvPr/>
        </p:nvSpPr>
        <p:spPr>
          <a:xfrm>
            <a:off x="3539712" y="4366984"/>
            <a:ext cx="10933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50" dirty="0"/>
              <a:t>撥耳料機</a:t>
            </a:r>
          </a:p>
        </p:txBody>
      </p:sp>
    </p:spTree>
    <p:extLst>
      <p:ext uri="{BB962C8B-B14F-4D97-AF65-F5344CB8AC3E}">
        <p14:creationId xmlns:p14="http://schemas.microsoft.com/office/powerpoint/2010/main" val="1273675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圖片 85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3871" t="23521" r="43419" b="23884"/>
          <a:stretch/>
        </p:blipFill>
        <p:spPr>
          <a:xfrm>
            <a:off x="8360916" y="2884070"/>
            <a:ext cx="677635" cy="1885594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9EE4FEC4-2DA8-B870-BE15-9531820012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剝片技術分類 </a:t>
            </a:r>
            <a:r>
              <a:rPr lang="en-US" altLang="zh-TW" dirty="0"/>
              <a:t>-</a:t>
            </a:r>
            <a:r>
              <a:rPr lang="zh-TW" altLang="en-US" dirty="0"/>
              <a:t> </a:t>
            </a:r>
            <a:r>
              <a:rPr lang="en-US" altLang="zh-TW" dirty="0"/>
              <a:t>COS</a:t>
            </a:r>
            <a:r>
              <a:rPr lang="zh-TW" altLang="en-US" dirty="0"/>
              <a:t>、</a:t>
            </a:r>
            <a:r>
              <a:rPr lang="en-US" altLang="zh-TW" dirty="0"/>
              <a:t>N-Cut</a:t>
            </a:r>
            <a:r>
              <a:rPr lang="zh-TW" altLang="en-US" dirty="0"/>
              <a:t>、</a:t>
            </a:r>
            <a:r>
              <a:rPr lang="en-US" altLang="zh-TW" dirty="0"/>
              <a:t>J-Cut</a:t>
            </a:r>
            <a:endParaRPr lang="zh-TW" altLang="en-US" dirty="0"/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6388C1B4-6298-1C4F-B7B5-535EAF0E7197}"/>
              </a:ext>
            </a:extLst>
          </p:cNvPr>
          <p:cNvGrpSpPr/>
          <p:nvPr/>
        </p:nvGrpSpPr>
        <p:grpSpPr>
          <a:xfrm>
            <a:off x="184151" y="3212005"/>
            <a:ext cx="2614788" cy="670089"/>
            <a:chOff x="3025592" y="3607069"/>
            <a:chExt cx="2614788" cy="670089"/>
          </a:xfrm>
        </p:grpSpPr>
        <p:cxnSp>
          <p:nvCxnSpPr>
            <p:cNvPr id="5" name="直線接點 4">
              <a:extLst>
                <a:ext uri="{FF2B5EF4-FFF2-40B4-BE49-F238E27FC236}">
                  <a16:creationId xmlns:a16="http://schemas.microsoft.com/office/drawing/2014/main" id="{9A5D8DC8-8D07-3196-5F16-6042E9175466}"/>
                </a:ext>
              </a:extLst>
            </p:cNvPr>
            <p:cNvCxnSpPr>
              <a:cxnSpLocks/>
            </p:cNvCxnSpPr>
            <p:nvPr/>
          </p:nvCxnSpPr>
          <p:spPr>
            <a:xfrm>
              <a:off x="3025592" y="4269752"/>
              <a:ext cx="361447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線接點 5">
              <a:extLst>
                <a:ext uri="{FF2B5EF4-FFF2-40B4-BE49-F238E27FC236}">
                  <a16:creationId xmlns:a16="http://schemas.microsoft.com/office/drawing/2014/main" id="{CEBBD8D8-A0FB-5F1D-93D4-FC3F87AA2D46}"/>
                </a:ext>
              </a:extLst>
            </p:cNvPr>
            <p:cNvCxnSpPr/>
            <p:nvPr/>
          </p:nvCxnSpPr>
          <p:spPr>
            <a:xfrm>
              <a:off x="3387039" y="4269752"/>
              <a:ext cx="792088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線接點 6">
              <a:extLst>
                <a:ext uri="{FF2B5EF4-FFF2-40B4-BE49-F238E27FC236}">
                  <a16:creationId xmlns:a16="http://schemas.microsoft.com/office/drawing/2014/main" id="{795248E5-E9AF-074C-97A1-BAB12D18F08C}"/>
                </a:ext>
              </a:extLst>
            </p:cNvPr>
            <p:cNvCxnSpPr/>
            <p:nvPr/>
          </p:nvCxnSpPr>
          <p:spPr>
            <a:xfrm>
              <a:off x="3387039" y="3621680"/>
              <a:ext cx="792088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線接點 7">
              <a:extLst>
                <a:ext uri="{FF2B5EF4-FFF2-40B4-BE49-F238E27FC236}">
                  <a16:creationId xmlns:a16="http://schemas.microsoft.com/office/drawing/2014/main" id="{3488E8F3-0A7E-B1FE-4403-21747427F57B}"/>
                </a:ext>
              </a:extLst>
            </p:cNvPr>
            <p:cNvCxnSpPr/>
            <p:nvPr/>
          </p:nvCxnSpPr>
          <p:spPr>
            <a:xfrm>
              <a:off x="4179127" y="3614480"/>
              <a:ext cx="0" cy="324036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線接點 8">
              <a:extLst>
                <a:ext uri="{FF2B5EF4-FFF2-40B4-BE49-F238E27FC236}">
                  <a16:creationId xmlns:a16="http://schemas.microsoft.com/office/drawing/2014/main" id="{3045814E-47F1-5A53-0864-FAB73EFD201A}"/>
                </a:ext>
              </a:extLst>
            </p:cNvPr>
            <p:cNvCxnSpPr/>
            <p:nvPr/>
          </p:nvCxnSpPr>
          <p:spPr>
            <a:xfrm>
              <a:off x="4179127" y="3981720"/>
              <a:ext cx="0" cy="288032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線接點 9">
              <a:extLst>
                <a:ext uri="{FF2B5EF4-FFF2-40B4-BE49-F238E27FC236}">
                  <a16:creationId xmlns:a16="http://schemas.microsoft.com/office/drawing/2014/main" id="{0B11882A-2900-AF6F-BBEE-0D2CE8EE3333}"/>
                </a:ext>
              </a:extLst>
            </p:cNvPr>
            <p:cNvCxnSpPr/>
            <p:nvPr/>
          </p:nvCxnSpPr>
          <p:spPr>
            <a:xfrm>
              <a:off x="3387039" y="3967440"/>
              <a:ext cx="792088" cy="0"/>
            </a:xfrm>
            <a:prstGeom prst="line">
              <a:avLst/>
            </a:prstGeom>
            <a:ln w="38100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87876DAE-20A0-76AD-2A34-A79939A2F2B9}"/>
                </a:ext>
              </a:extLst>
            </p:cNvPr>
            <p:cNvSpPr txBox="1"/>
            <p:nvPr/>
          </p:nvSpPr>
          <p:spPr>
            <a:xfrm>
              <a:off x="3260542" y="3645632"/>
              <a:ext cx="74551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600" b="1" dirty="0">
                  <a:latin typeface="微軟正黑體" pitchFamily="34" charset="-120"/>
                  <a:ea typeface="微軟正黑體" pitchFamily="34" charset="-120"/>
                </a:rPr>
                <a:t>Seal</a:t>
              </a:r>
              <a:endParaRPr lang="zh-TW" altLang="en-US" sz="1600" b="1" dirty="0">
                <a:latin typeface="微軟正黑體" pitchFamily="34" charset="-120"/>
                <a:ea typeface="微軟正黑體" pitchFamily="34" charset="-120"/>
              </a:endParaRPr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412BC955-82A4-A00A-B382-8F09EA6FCCAE}"/>
                </a:ext>
              </a:extLst>
            </p:cNvPr>
            <p:cNvSpPr txBox="1"/>
            <p:nvPr/>
          </p:nvSpPr>
          <p:spPr>
            <a:xfrm>
              <a:off x="4665969" y="3720110"/>
              <a:ext cx="504056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b="1" dirty="0">
                  <a:latin typeface="微軟正黑體" pitchFamily="34" charset="-120"/>
                  <a:ea typeface="微軟正黑體" pitchFamily="34" charset="-120"/>
                </a:rPr>
                <a:t>殘邊</a:t>
              </a:r>
            </a:p>
          </p:txBody>
        </p:sp>
        <p:grpSp>
          <p:nvGrpSpPr>
            <p:cNvPr id="13" name="群組 12">
              <a:extLst>
                <a:ext uri="{FF2B5EF4-FFF2-40B4-BE49-F238E27FC236}">
                  <a16:creationId xmlns:a16="http://schemas.microsoft.com/office/drawing/2014/main" id="{9B3EE359-74CA-6192-3F83-2CBFFE6D619D}"/>
                </a:ext>
              </a:extLst>
            </p:cNvPr>
            <p:cNvGrpSpPr/>
            <p:nvPr/>
          </p:nvGrpSpPr>
          <p:grpSpPr>
            <a:xfrm>
              <a:off x="4230041" y="3607069"/>
              <a:ext cx="1410339" cy="670089"/>
              <a:chOff x="4244441" y="3614063"/>
              <a:chExt cx="1410339" cy="670089"/>
            </a:xfrm>
          </p:grpSpPr>
          <p:cxnSp>
            <p:nvCxnSpPr>
              <p:cNvPr id="16" name="直線接點 15">
                <a:extLst>
                  <a:ext uri="{FF2B5EF4-FFF2-40B4-BE49-F238E27FC236}">
                    <a16:creationId xmlns:a16="http://schemas.microsoft.com/office/drawing/2014/main" id="{364A92DB-1886-9453-D6ED-1209B5B39994}"/>
                  </a:ext>
                </a:extLst>
              </p:cNvPr>
              <p:cNvCxnSpPr/>
              <p:nvPr/>
            </p:nvCxnSpPr>
            <p:spPr>
              <a:xfrm>
                <a:off x="5654780" y="3630064"/>
                <a:ext cx="0" cy="648072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線接點 16">
                <a:extLst>
                  <a:ext uri="{FF2B5EF4-FFF2-40B4-BE49-F238E27FC236}">
                    <a16:creationId xmlns:a16="http://schemas.microsoft.com/office/drawing/2014/main" id="{E3B6CC63-2F2C-5BDC-3210-62C4C7D8D0D7}"/>
                  </a:ext>
                </a:extLst>
              </p:cNvPr>
              <p:cNvCxnSpPr/>
              <p:nvPr/>
            </p:nvCxnSpPr>
            <p:spPr>
              <a:xfrm flipV="1">
                <a:off x="4244441" y="4276746"/>
                <a:ext cx="1410339" cy="139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線接點 17">
                <a:extLst>
                  <a:ext uri="{FF2B5EF4-FFF2-40B4-BE49-F238E27FC236}">
                    <a16:creationId xmlns:a16="http://schemas.microsoft.com/office/drawing/2014/main" id="{313623BC-FD13-7D61-3CC1-C4B344DCBEE8}"/>
                  </a:ext>
                </a:extLst>
              </p:cNvPr>
              <p:cNvCxnSpPr/>
              <p:nvPr/>
            </p:nvCxnSpPr>
            <p:spPr>
              <a:xfrm>
                <a:off x="4244441" y="3630064"/>
                <a:ext cx="1410339" cy="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線接點 18">
                <a:extLst>
                  <a:ext uri="{FF2B5EF4-FFF2-40B4-BE49-F238E27FC236}">
                    <a16:creationId xmlns:a16="http://schemas.microsoft.com/office/drawing/2014/main" id="{7380EFCC-B995-0136-1BD7-198A5B5FF444}"/>
                  </a:ext>
                </a:extLst>
              </p:cNvPr>
              <p:cNvCxnSpPr/>
              <p:nvPr/>
            </p:nvCxnSpPr>
            <p:spPr>
              <a:xfrm>
                <a:off x="4244441" y="3614063"/>
                <a:ext cx="0" cy="324036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線接點 19">
                <a:extLst>
                  <a:ext uri="{FF2B5EF4-FFF2-40B4-BE49-F238E27FC236}">
                    <a16:creationId xmlns:a16="http://schemas.microsoft.com/office/drawing/2014/main" id="{FF6ECB10-45BF-59EE-2A79-2180F516E45C}"/>
                  </a:ext>
                </a:extLst>
              </p:cNvPr>
              <p:cNvCxnSpPr/>
              <p:nvPr/>
            </p:nvCxnSpPr>
            <p:spPr>
              <a:xfrm>
                <a:off x="4244441" y="3996120"/>
                <a:ext cx="0" cy="288032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線接點 20">
                <a:extLst>
                  <a:ext uri="{FF2B5EF4-FFF2-40B4-BE49-F238E27FC236}">
                    <a16:creationId xmlns:a16="http://schemas.microsoft.com/office/drawing/2014/main" id="{54CFB068-8973-7221-DCF2-EAE1B92203C1}"/>
                  </a:ext>
                </a:extLst>
              </p:cNvPr>
              <p:cNvCxnSpPr/>
              <p:nvPr/>
            </p:nvCxnSpPr>
            <p:spPr>
              <a:xfrm flipV="1">
                <a:off x="4244441" y="3974434"/>
                <a:ext cx="1410339" cy="1390"/>
              </a:xfrm>
              <a:prstGeom prst="line">
                <a:avLst/>
              </a:prstGeom>
              <a:ln w="3810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" name="圓角矩形 50">
              <a:extLst>
                <a:ext uri="{FF2B5EF4-FFF2-40B4-BE49-F238E27FC236}">
                  <a16:creationId xmlns:a16="http://schemas.microsoft.com/office/drawing/2014/main" id="{1AD46A05-C039-51E5-DDF5-4F59722A8DF4}"/>
                </a:ext>
              </a:extLst>
            </p:cNvPr>
            <p:cNvSpPr/>
            <p:nvPr/>
          </p:nvSpPr>
          <p:spPr>
            <a:xfrm>
              <a:off x="4101186" y="3896822"/>
              <a:ext cx="201424" cy="144016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5" name="直線單箭頭接點 14">
              <a:extLst>
                <a:ext uri="{FF2B5EF4-FFF2-40B4-BE49-F238E27FC236}">
                  <a16:creationId xmlns:a16="http://schemas.microsoft.com/office/drawing/2014/main" id="{0DF5CF07-C39A-F9D0-F644-4A76DAD1B96A}"/>
                </a:ext>
              </a:extLst>
            </p:cNvPr>
            <p:cNvCxnSpPr>
              <a:cxnSpLocks/>
              <a:stCxn id="14" idx="1"/>
              <a:endCxn id="11" idx="3"/>
            </p:cNvCxnSpPr>
            <p:nvPr/>
          </p:nvCxnSpPr>
          <p:spPr>
            <a:xfrm flipH="1" flipV="1">
              <a:off x="4006059" y="3814909"/>
              <a:ext cx="95127" cy="15392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矩形 22">
            <a:extLst>
              <a:ext uri="{FF2B5EF4-FFF2-40B4-BE49-F238E27FC236}">
                <a16:creationId xmlns:a16="http://schemas.microsoft.com/office/drawing/2014/main" id="{246DF285-E3E0-7700-C91B-45E0FCA30E5B}"/>
              </a:ext>
            </a:extLst>
          </p:cNvPr>
          <p:cNvSpPr/>
          <p:nvPr/>
        </p:nvSpPr>
        <p:spPr>
          <a:xfrm>
            <a:off x="575642" y="2807249"/>
            <a:ext cx="658667" cy="3960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ysClr val="windowText" lastClr="000000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夾具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D125851-3D49-58E6-4437-993ED956F570}"/>
              </a:ext>
            </a:extLst>
          </p:cNvPr>
          <p:cNvSpPr/>
          <p:nvPr/>
        </p:nvSpPr>
        <p:spPr>
          <a:xfrm>
            <a:off x="2085426" y="2985254"/>
            <a:ext cx="956377" cy="22245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solidFill>
                  <a:sysClr val="windowText" lastClr="000000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汽缸夾具</a:t>
            </a:r>
          </a:p>
        </p:txBody>
      </p:sp>
      <p:sp>
        <p:nvSpPr>
          <p:cNvPr id="26" name="向右箭號 84">
            <a:extLst>
              <a:ext uri="{FF2B5EF4-FFF2-40B4-BE49-F238E27FC236}">
                <a16:creationId xmlns:a16="http://schemas.microsoft.com/office/drawing/2014/main" id="{997A33A4-22B9-736C-B85B-962316284D08}"/>
              </a:ext>
            </a:extLst>
          </p:cNvPr>
          <p:cNvSpPr/>
          <p:nvPr/>
        </p:nvSpPr>
        <p:spPr>
          <a:xfrm>
            <a:off x="1461169" y="2618239"/>
            <a:ext cx="598043" cy="2583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A762B719-91FF-2283-4E61-41087384FBB6}"/>
              </a:ext>
            </a:extLst>
          </p:cNvPr>
          <p:cNvSpPr txBox="1"/>
          <p:nvPr/>
        </p:nvSpPr>
        <p:spPr>
          <a:xfrm>
            <a:off x="478149" y="1291816"/>
            <a:ext cx="236328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/>
              <a:t>Cutting on Seal</a:t>
            </a:r>
            <a:r>
              <a:rPr lang="zh-TW" altLang="en-US" sz="1600" dirty="0"/>
              <a:t> </a:t>
            </a:r>
            <a:r>
              <a:rPr lang="en-US" altLang="zh-TW" sz="1600" dirty="0"/>
              <a:t>(COS)</a:t>
            </a:r>
          </a:p>
          <a:p>
            <a:pPr algn="ctr"/>
            <a:r>
              <a:rPr lang="en-US" altLang="zh-TW" sz="1600" dirty="0"/>
              <a:t>-</a:t>
            </a:r>
            <a:r>
              <a:rPr lang="zh-TW" altLang="en-US" sz="1600" dirty="0"/>
              <a:t>專用夾具機構</a:t>
            </a:r>
            <a:endParaRPr lang="en-US" altLang="zh-TW" sz="1600" dirty="0"/>
          </a:p>
          <a:p>
            <a:pPr algn="ctr"/>
            <a:r>
              <a:rPr lang="en-US" altLang="zh-TW" sz="1600" dirty="0"/>
              <a:t>(</a:t>
            </a:r>
            <a:r>
              <a:rPr lang="zh-TW" altLang="en-US" sz="1600" dirty="0"/>
              <a:t>占比</a:t>
            </a:r>
            <a:r>
              <a:rPr lang="en-US" altLang="zh-TW" sz="1600" dirty="0"/>
              <a:t>:30%)</a:t>
            </a:r>
          </a:p>
          <a:p>
            <a:pPr algn="ctr"/>
            <a:endParaRPr lang="zh-TW" altLang="en-US" sz="1600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CC64177-9F8C-7B2C-3F39-3FB84EA69176}"/>
              </a:ext>
            </a:extLst>
          </p:cNvPr>
          <p:cNvSpPr/>
          <p:nvPr/>
        </p:nvSpPr>
        <p:spPr>
          <a:xfrm>
            <a:off x="184151" y="3902863"/>
            <a:ext cx="1153533" cy="2556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ysClr val="windowText" lastClr="000000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平台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A52D3F2-A427-026C-D12E-3D95560FED8B}"/>
              </a:ext>
            </a:extLst>
          </p:cNvPr>
          <p:cNvSpPr/>
          <p:nvPr/>
        </p:nvSpPr>
        <p:spPr>
          <a:xfrm>
            <a:off x="2085427" y="3892079"/>
            <a:ext cx="956377" cy="22245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ysClr val="windowText" lastClr="000000"/>
              </a:solidFill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3B8D84A-0A31-77A2-4B2F-A85F4A4EDB36}"/>
              </a:ext>
            </a:extLst>
          </p:cNvPr>
          <p:cNvSpPr/>
          <p:nvPr/>
        </p:nvSpPr>
        <p:spPr>
          <a:xfrm>
            <a:off x="2827607" y="3203298"/>
            <a:ext cx="214198" cy="71418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ysClr val="windowText" lastClr="000000"/>
              </a:solidFill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5228530C-5804-D000-45E2-810CB3894523}"/>
              </a:ext>
            </a:extLst>
          </p:cNvPr>
          <p:cNvCxnSpPr>
            <a:cxnSpLocks/>
          </p:cNvCxnSpPr>
          <p:nvPr/>
        </p:nvCxnSpPr>
        <p:spPr>
          <a:xfrm>
            <a:off x="3305026" y="1291816"/>
            <a:ext cx="0" cy="3261134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箭號: 向下 32">
            <a:extLst>
              <a:ext uri="{FF2B5EF4-FFF2-40B4-BE49-F238E27FC236}">
                <a16:creationId xmlns:a16="http://schemas.microsoft.com/office/drawing/2014/main" id="{73CB428B-7D5F-51A4-704A-4A4B48B40C5D}"/>
              </a:ext>
            </a:extLst>
          </p:cNvPr>
          <p:cNvSpPr/>
          <p:nvPr/>
        </p:nvSpPr>
        <p:spPr>
          <a:xfrm>
            <a:off x="372211" y="2853377"/>
            <a:ext cx="180003" cy="300596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900" b="1" dirty="0">
              <a:solidFill>
                <a:schemeClr val="bg1"/>
              </a:solidFill>
            </a:endParaRPr>
          </a:p>
        </p:txBody>
      </p:sp>
      <p:cxnSp>
        <p:nvCxnSpPr>
          <p:cNvPr id="36" name="直線接點 35">
            <a:extLst>
              <a:ext uri="{FF2B5EF4-FFF2-40B4-BE49-F238E27FC236}">
                <a16:creationId xmlns:a16="http://schemas.microsoft.com/office/drawing/2014/main" id="{ABFC4081-501A-34C0-4157-70DF47297842}"/>
              </a:ext>
            </a:extLst>
          </p:cNvPr>
          <p:cNvCxnSpPr>
            <a:cxnSpLocks/>
          </p:cNvCxnSpPr>
          <p:nvPr/>
        </p:nvCxnSpPr>
        <p:spPr>
          <a:xfrm>
            <a:off x="184151" y="3226616"/>
            <a:ext cx="36144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箭號: 向下 37">
            <a:extLst>
              <a:ext uri="{FF2B5EF4-FFF2-40B4-BE49-F238E27FC236}">
                <a16:creationId xmlns:a16="http://schemas.microsoft.com/office/drawing/2014/main" id="{01AD6F04-9248-0217-E9B4-03D93D89E28E}"/>
              </a:ext>
            </a:extLst>
          </p:cNvPr>
          <p:cNvSpPr/>
          <p:nvPr/>
        </p:nvSpPr>
        <p:spPr>
          <a:xfrm>
            <a:off x="2836899" y="3271780"/>
            <a:ext cx="180003" cy="300596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900" b="1" dirty="0">
              <a:solidFill>
                <a:schemeClr val="bg1"/>
              </a:solidFill>
            </a:endParaRPr>
          </a:p>
        </p:txBody>
      </p:sp>
      <p:sp>
        <p:nvSpPr>
          <p:cNvPr id="40" name="箭號: 向下 39">
            <a:extLst>
              <a:ext uri="{FF2B5EF4-FFF2-40B4-BE49-F238E27FC236}">
                <a16:creationId xmlns:a16="http://schemas.microsoft.com/office/drawing/2014/main" id="{A3180D90-888D-F3C3-B41D-2831017BEC0F}"/>
              </a:ext>
            </a:extLst>
          </p:cNvPr>
          <p:cNvSpPr/>
          <p:nvPr/>
        </p:nvSpPr>
        <p:spPr>
          <a:xfrm rot="10800000">
            <a:off x="2836899" y="3591483"/>
            <a:ext cx="180003" cy="300596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900" b="1" dirty="0">
              <a:solidFill>
                <a:schemeClr val="bg1"/>
              </a:solidFill>
            </a:endParaRPr>
          </a:p>
        </p:txBody>
      </p:sp>
      <p:sp>
        <p:nvSpPr>
          <p:cNvPr id="69" name="向右箭號 67">
            <a:extLst>
              <a:ext uri="{FF2B5EF4-FFF2-40B4-BE49-F238E27FC236}">
                <a16:creationId xmlns:a16="http://schemas.microsoft.com/office/drawing/2014/main" id="{9B3B3DC4-F943-78F1-1E93-CF62FDA7DF9B}"/>
              </a:ext>
            </a:extLst>
          </p:cNvPr>
          <p:cNvSpPr/>
          <p:nvPr/>
        </p:nvSpPr>
        <p:spPr>
          <a:xfrm rot="17596966">
            <a:off x="5522271" y="2404347"/>
            <a:ext cx="598043" cy="2583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0" name="文字方塊 69">
            <a:extLst>
              <a:ext uri="{FF2B5EF4-FFF2-40B4-BE49-F238E27FC236}">
                <a16:creationId xmlns:a16="http://schemas.microsoft.com/office/drawing/2014/main" id="{E432B584-E294-7D63-B71B-DD0D7FABB73C}"/>
              </a:ext>
            </a:extLst>
          </p:cNvPr>
          <p:cNvSpPr txBox="1"/>
          <p:nvPr/>
        </p:nvSpPr>
        <p:spPr>
          <a:xfrm>
            <a:off x="3592508" y="1262746"/>
            <a:ext cx="22662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/>
              <a:t>Normal Cut</a:t>
            </a:r>
            <a:br>
              <a:rPr lang="en-US" altLang="zh-TW" sz="1600" dirty="0"/>
            </a:br>
            <a:r>
              <a:rPr lang="en-US" altLang="zh-TW" sz="1600" dirty="0"/>
              <a:t>-</a:t>
            </a:r>
            <a:r>
              <a:rPr lang="zh-TW" altLang="en-US" sz="1600" dirty="0"/>
              <a:t>翻轉角度型治具</a:t>
            </a:r>
            <a:endParaRPr lang="en-US" altLang="zh-TW" sz="1600" dirty="0"/>
          </a:p>
          <a:p>
            <a:pPr algn="ctr"/>
            <a:r>
              <a:rPr lang="en-US" altLang="zh-TW" sz="1600" dirty="0"/>
              <a:t>(</a:t>
            </a:r>
            <a:r>
              <a:rPr lang="zh-TW" altLang="en-US" sz="1600" dirty="0"/>
              <a:t>占比</a:t>
            </a:r>
            <a:r>
              <a:rPr lang="en-US" altLang="zh-TW" sz="1600" dirty="0"/>
              <a:t>:70%)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B320BD78-C031-AEFB-F402-01308D333D20}"/>
              </a:ext>
            </a:extLst>
          </p:cNvPr>
          <p:cNvSpPr/>
          <p:nvPr/>
        </p:nvSpPr>
        <p:spPr>
          <a:xfrm>
            <a:off x="3697220" y="2807249"/>
            <a:ext cx="658667" cy="3960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ysClr val="windowText" lastClr="000000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夾具</a:t>
            </a:r>
          </a:p>
        </p:txBody>
      </p:sp>
      <p:sp>
        <p:nvSpPr>
          <p:cNvPr id="74" name="箭號: 向下 73">
            <a:extLst>
              <a:ext uri="{FF2B5EF4-FFF2-40B4-BE49-F238E27FC236}">
                <a16:creationId xmlns:a16="http://schemas.microsoft.com/office/drawing/2014/main" id="{E22F327B-2587-9504-FF49-B0E08FB4E6DC}"/>
              </a:ext>
            </a:extLst>
          </p:cNvPr>
          <p:cNvSpPr/>
          <p:nvPr/>
        </p:nvSpPr>
        <p:spPr>
          <a:xfrm>
            <a:off x="3420069" y="2818669"/>
            <a:ext cx="180003" cy="300596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900" b="1" dirty="0">
              <a:solidFill>
                <a:schemeClr val="bg1"/>
              </a:solidFill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DC691485-A1B8-F4CB-6C25-69D42C783D0F}"/>
              </a:ext>
            </a:extLst>
          </p:cNvPr>
          <p:cNvSpPr/>
          <p:nvPr/>
        </p:nvSpPr>
        <p:spPr>
          <a:xfrm>
            <a:off x="3703554" y="3896879"/>
            <a:ext cx="792088" cy="2556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ysClr val="windowText" lastClr="000000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平台</a:t>
            </a:r>
          </a:p>
        </p:txBody>
      </p:sp>
      <p:grpSp>
        <p:nvGrpSpPr>
          <p:cNvPr id="105" name="群組 104">
            <a:extLst>
              <a:ext uri="{FF2B5EF4-FFF2-40B4-BE49-F238E27FC236}">
                <a16:creationId xmlns:a16="http://schemas.microsoft.com/office/drawing/2014/main" id="{0BDBA471-1958-121F-05D8-88BEA5C34344}"/>
              </a:ext>
            </a:extLst>
          </p:cNvPr>
          <p:cNvGrpSpPr/>
          <p:nvPr/>
        </p:nvGrpSpPr>
        <p:grpSpPr>
          <a:xfrm>
            <a:off x="3703554" y="3221303"/>
            <a:ext cx="1656184" cy="648072"/>
            <a:chOff x="3724807" y="3514648"/>
            <a:chExt cx="1656184" cy="648072"/>
          </a:xfrm>
          <a:scene3d>
            <a:camera prst="orthographicFront">
              <a:rot lat="10800000" lon="0" rev="0"/>
            </a:camera>
            <a:lightRig rig="threePt" dir="t"/>
          </a:scene3d>
        </p:grpSpPr>
        <p:cxnSp>
          <p:nvCxnSpPr>
            <p:cNvPr id="97" name="直線接點 96">
              <a:extLst>
                <a:ext uri="{FF2B5EF4-FFF2-40B4-BE49-F238E27FC236}">
                  <a16:creationId xmlns:a16="http://schemas.microsoft.com/office/drawing/2014/main" id="{EDBBA407-681B-3A9E-26B8-D0B24FB29FD3}"/>
                </a:ext>
              </a:extLst>
            </p:cNvPr>
            <p:cNvCxnSpPr/>
            <p:nvPr/>
          </p:nvCxnSpPr>
          <p:spPr>
            <a:xfrm>
              <a:off x="3724807" y="3514648"/>
              <a:ext cx="0" cy="648072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線接點 97">
              <a:extLst>
                <a:ext uri="{FF2B5EF4-FFF2-40B4-BE49-F238E27FC236}">
                  <a16:creationId xmlns:a16="http://schemas.microsoft.com/office/drawing/2014/main" id="{E8A26522-6B26-7055-4239-BBDA1DD5423C}"/>
                </a:ext>
              </a:extLst>
            </p:cNvPr>
            <p:cNvCxnSpPr/>
            <p:nvPr/>
          </p:nvCxnSpPr>
          <p:spPr>
            <a:xfrm>
              <a:off x="3724807" y="4162720"/>
              <a:ext cx="1656184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線接點 98">
              <a:extLst>
                <a:ext uri="{FF2B5EF4-FFF2-40B4-BE49-F238E27FC236}">
                  <a16:creationId xmlns:a16="http://schemas.microsoft.com/office/drawing/2014/main" id="{12638C8C-1908-E6C6-41EE-231E1F1B48DE}"/>
                </a:ext>
              </a:extLst>
            </p:cNvPr>
            <p:cNvCxnSpPr/>
            <p:nvPr/>
          </p:nvCxnSpPr>
          <p:spPr>
            <a:xfrm>
              <a:off x="3724807" y="3514648"/>
              <a:ext cx="792088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線接點 99">
              <a:extLst>
                <a:ext uri="{FF2B5EF4-FFF2-40B4-BE49-F238E27FC236}">
                  <a16:creationId xmlns:a16="http://schemas.microsoft.com/office/drawing/2014/main" id="{AC53C09C-1B0B-0D72-495F-5A1502109977}"/>
                </a:ext>
              </a:extLst>
            </p:cNvPr>
            <p:cNvCxnSpPr/>
            <p:nvPr/>
          </p:nvCxnSpPr>
          <p:spPr>
            <a:xfrm>
              <a:off x="4516895" y="3514648"/>
              <a:ext cx="0" cy="36004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線接點 100">
              <a:extLst>
                <a:ext uri="{FF2B5EF4-FFF2-40B4-BE49-F238E27FC236}">
                  <a16:creationId xmlns:a16="http://schemas.microsoft.com/office/drawing/2014/main" id="{1787CB1E-E57F-9ADB-94B0-8E71113F99DB}"/>
                </a:ext>
              </a:extLst>
            </p:cNvPr>
            <p:cNvCxnSpPr/>
            <p:nvPr/>
          </p:nvCxnSpPr>
          <p:spPr>
            <a:xfrm>
              <a:off x="4516895" y="3874688"/>
              <a:ext cx="864096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線接點 101">
              <a:extLst>
                <a:ext uri="{FF2B5EF4-FFF2-40B4-BE49-F238E27FC236}">
                  <a16:creationId xmlns:a16="http://schemas.microsoft.com/office/drawing/2014/main" id="{7C43309B-BC77-AB9D-F033-C557C104BEEC}"/>
                </a:ext>
              </a:extLst>
            </p:cNvPr>
            <p:cNvCxnSpPr/>
            <p:nvPr/>
          </p:nvCxnSpPr>
          <p:spPr>
            <a:xfrm>
              <a:off x="5380991" y="3874688"/>
              <a:ext cx="0" cy="288032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線接點 102">
              <a:extLst>
                <a:ext uri="{FF2B5EF4-FFF2-40B4-BE49-F238E27FC236}">
                  <a16:creationId xmlns:a16="http://schemas.microsoft.com/office/drawing/2014/main" id="{18C2A449-908A-79ED-F500-F5F8729337F0}"/>
                </a:ext>
              </a:extLst>
            </p:cNvPr>
            <p:cNvCxnSpPr/>
            <p:nvPr/>
          </p:nvCxnSpPr>
          <p:spPr>
            <a:xfrm>
              <a:off x="3724807" y="3874688"/>
              <a:ext cx="792088" cy="0"/>
            </a:xfrm>
            <a:prstGeom prst="line">
              <a:avLst/>
            </a:prstGeom>
            <a:ln w="38100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4" name="文字方塊 103">
            <a:extLst>
              <a:ext uri="{FF2B5EF4-FFF2-40B4-BE49-F238E27FC236}">
                <a16:creationId xmlns:a16="http://schemas.microsoft.com/office/drawing/2014/main" id="{BBFBD3D6-F451-8FEF-C322-C02CEB0AA91B}"/>
              </a:ext>
            </a:extLst>
          </p:cNvPr>
          <p:cNvSpPr txBox="1"/>
          <p:nvPr/>
        </p:nvSpPr>
        <p:spPr>
          <a:xfrm>
            <a:off x="4529588" y="3203460"/>
            <a:ext cx="800219" cy="338554"/>
          </a:xfrm>
          <a:prstGeom prst="rect">
            <a:avLst/>
          </a:prstGeom>
          <a:noFill/>
          <a:scene3d>
            <a:camera prst="orthographicFront">
              <a:rot lat="60000" lon="0" rev="0"/>
            </a:camera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lang="zh-TW" altLang="en-US" sz="1600" b="1" dirty="0">
                <a:latin typeface="微軟正黑體" pitchFamily="34" charset="-120"/>
                <a:ea typeface="微軟正黑體" pitchFamily="34" charset="-120"/>
              </a:rPr>
              <a:t>金手指</a:t>
            </a:r>
          </a:p>
        </p:txBody>
      </p:sp>
      <p:grpSp>
        <p:nvGrpSpPr>
          <p:cNvPr id="139" name="群組 138">
            <a:extLst>
              <a:ext uri="{FF2B5EF4-FFF2-40B4-BE49-F238E27FC236}">
                <a16:creationId xmlns:a16="http://schemas.microsoft.com/office/drawing/2014/main" id="{51A97356-1444-40CE-E666-9D6B9B9F8EDA}"/>
              </a:ext>
            </a:extLst>
          </p:cNvPr>
          <p:cNvGrpSpPr/>
          <p:nvPr/>
        </p:nvGrpSpPr>
        <p:grpSpPr>
          <a:xfrm rot="21250510">
            <a:off x="4541887" y="3203460"/>
            <a:ext cx="1437701" cy="687656"/>
            <a:chOff x="4563140" y="3496805"/>
            <a:chExt cx="1437701" cy="687656"/>
          </a:xfrm>
        </p:grpSpPr>
        <p:cxnSp>
          <p:nvCxnSpPr>
            <p:cNvPr id="119" name="直線接點 118">
              <a:extLst>
                <a:ext uri="{FF2B5EF4-FFF2-40B4-BE49-F238E27FC236}">
                  <a16:creationId xmlns:a16="http://schemas.microsoft.com/office/drawing/2014/main" id="{649DC2C3-6F80-5E52-44A4-87F6F5E0093D}"/>
                </a:ext>
              </a:extLst>
            </p:cNvPr>
            <p:cNvCxnSpPr>
              <a:cxnSpLocks/>
            </p:cNvCxnSpPr>
            <p:nvPr/>
          </p:nvCxnSpPr>
          <p:spPr>
            <a:xfrm>
              <a:off x="4563140" y="4159899"/>
              <a:ext cx="1437610" cy="0"/>
            </a:xfrm>
            <a:prstGeom prst="line">
              <a:avLst/>
            </a:prstGeom>
            <a:ln w="38100"/>
            <a:scene3d>
              <a:camera prst="orthographicFront">
                <a:rot lat="10800000" lon="0" rev="0"/>
              </a:camera>
              <a:lightRig rig="threePt" dir="t"/>
            </a:scene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8" name="群組 137">
              <a:extLst>
                <a:ext uri="{FF2B5EF4-FFF2-40B4-BE49-F238E27FC236}">
                  <a16:creationId xmlns:a16="http://schemas.microsoft.com/office/drawing/2014/main" id="{85055951-8740-2222-A874-F533F6917C56}"/>
                </a:ext>
              </a:extLst>
            </p:cNvPr>
            <p:cNvGrpSpPr/>
            <p:nvPr/>
          </p:nvGrpSpPr>
          <p:grpSpPr>
            <a:xfrm>
              <a:off x="4563140" y="3496805"/>
              <a:ext cx="1437701" cy="687656"/>
              <a:chOff x="4563140" y="3496805"/>
              <a:chExt cx="1437701" cy="687656"/>
            </a:xfrm>
          </p:grpSpPr>
          <p:cxnSp>
            <p:nvCxnSpPr>
              <p:cNvPr id="120" name="直線接點 119">
                <a:extLst>
                  <a:ext uri="{FF2B5EF4-FFF2-40B4-BE49-F238E27FC236}">
                    <a16:creationId xmlns:a16="http://schemas.microsoft.com/office/drawing/2014/main" id="{AD5CD5AB-9622-A8BF-77D1-EAC353883D2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563140" y="3852946"/>
                <a:ext cx="0" cy="331515"/>
              </a:xfrm>
              <a:prstGeom prst="line">
                <a:avLst/>
              </a:prstGeom>
              <a:ln w="38100"/>
              <a:scene3d>
                <a:camera prst="orthographicFront">
                  <a:rot lat="10800000" lon="0" rev="0"/>
                </a:camera>
                <a:lightRig rig="threePt" dir="t"/>
              </a:scene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直線接點 122">
                <a:extLst>
                  <a:ext uri="{FF2B5EF4-FFF2-40B4-BE49-F238E27FC236}">
                    <a16:creationId xmlns:a16="http://schemas.microsoft.com/office/drawing/2014/main" id="{23F60458-9C90-F8CE-022C-2DD2E40891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77425" y="3848266"/>
                <a:ext cx="880400" cy="0"/>
              </a:xfrm>
              <a:prstGeom prst="line">
                <a:avLst/>
              </a:prstGeom>
              <a:ln w="38100"/>
              <a:scene3d>
                <a:camera prst="orthographicFront">
                  <a:rot lat="10800000" lon="0" rev="0"/>
                </a:camera>
                <a:lightRig rig="threePt" dir="t"/>
              </a:scene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直線接點 126">
                <a:extLst>
                  <a:ext uri="{FF2B5EF4-FFF2-40B4-BE49-F238E27FC236}">
                    <a16:creationId xmlns:a16="http://schemas.microsoft.com/office/drawing/2014/main" id="{DC1A79E2-56CF-6DF5-91A6-07F24BF80C3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998240" y="3496805"/>
                <a:ext cx="2510" cy="687656"/>
              </a:xfrm>
              <a:prstGeom prst="line">
                <a:avLst/>
              </a:prstGeom>
              <a:ln w="38100"/>
              <a:scene3d>
                <a:camera prst="orthographicFront">
                  <a:rot lat="10800000" lon="0" rev="0"/>
                </a:camera>
                <a:lightRig rig="threePt" dir="t"/>
              </a:scene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直線接點 128">
                <a:extLst>
                  <a:ext uri="{FF2B5EF4-FFF2-40B4-BE49-F238E27FC236}">
                    <a16:creationId xmlns:a16="http://schemas.microsoft.com/office/drawing/2014/main" id="{DFEEF3B7-F0DD-B54C-3F6B-F816C6712D3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35600" y="3496805"/>
                <a:ext cx="565241" cy="0"/>
              </a:xfrm>
              <a:prstGeom prst="line">
                <a:avLst/>
              </a:prstGeom>
              <a:ln w="38100"/>
              <a:scene3d>
                <a:camera prst="orthographicFront">
                  <a:rot lat="10800000" lon="0" rev="0"/>
                </a:camera>
                <a:lightRig rig="threePt" dir="t"/>
              </a:scene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直線接點 130">
                <a:extLst>
                  <a:ext uri="{FF2B5EF4-FFF2-40B4-BE49-F238E27FC236}">
                    <a16:creationId xmlns:a16="http://schemas.microsoft.com/office/drawing/2014/main" id="{618547E9-0C58-6BEF-D740-F2378205E31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435600" y="3501624"/>
                <a:ext cx="3840" cy="346642"/>
              </a:xfrm>
              <a:prstGeom prst="line">
                <a:avLst/>
              </a:prstGeom>
              <a:ln w="38100"/>
              <a:scene3d>
                <a:camera prst="orthographicFront">
                  <a:rot lat="10800000" lon="0" rev="0"/>
                </a:camera>
                <a:lightRig rig="threePt" dir="t"/>
              </a:scene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34" name="直線接點 133">
            <a:extLst>
              <a:ext uri="{FF2B5EF4-FFF2-40B4-BE49-F238E27FC236}">
                <a16:creationId xmlns:a16="http://schemas.microsoft.com/office/drawing/2014/main" id="{6586BB92-FDF3-74AC-4A7C-CD95B517C7A1}"/>
              </a:ext>
            </a:extLst>
          </p:cNvPr>
          <p:cNvCxnSpPr>
            <a:cxnSpLocks/>
          </p:cNvCxnSpPr>
          <p:nvPr/>
        </p:nvCxnSpPr>
        <p:spPr>
          <a:xfrm>
            <a:off x="5414347" y="3540027"/>
            <a:ext cx="562640" cy="0"/>
          </a:xfrm>
          <a:prstGeom prst="line">
            <a:avLst/>
          </a:prstGeom>
          <a:ln w="38100">
            <a:prstDash val="sysDot"/>
          </a:ln>
          <a:scene3d>
            <a:camera prst="orthographicFront">
              <a:rot lat="10800000" lon="0" rev="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文字方塊 136">
            <a:extLst>
              <a:ext uri="{FF2B5EF4-FFF2-40B4-BE49-F238E27FC236}">
                <a16:creationId xmlns:a16="http://schemas.microsoft.com/office/drawing/2014/main" id="{1159E106-83C7-0F2E-D933-F1270A54B223}"/>
              </a:ext>
            </a:extLst>
          </p:cNvPr>
          <p:cNvSpPr txBox="1"/>
          <p:nvPr/>
        </p:nvSpPr>
        <p:spPr>
          <a:xfrm rot="21153148">
            <a:off x="5428550" y="3253482"/>
            <a:ext cx="5040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b="1" dirty="0">
                <a:latin typeface="微軟正黑體" pitchFamily="34" charset="-120"/>
                <a:ea typeface="微軟正黑體" pitchFamily="34" charset="-120"/>
              </a:rPr>
              <a:t>殘邊</a:t>
            </a:r>
          </a:p>
        </p:txBody>
      </p:sp>
      <p:sp>
        <p:nvSpPr>
          <p:cNvPr id="141" name="矩形 140">
            <a:extLst>
              <a:ext uri="{FF2B5EF4-FFF2-40B4-BE49-F238E27FC236}">
                <a16:creationId xmlns:a16="http://schemas.microsoft.com/office/drawing/2014/main" id="{8836B8CE-19CD-97A1-0844-7282BF3214FA}"/>
              </a:ext>
            </a:extLst>
          </p:cNvPr>
          <p:cNvSpPr/>
          <p:nvPr/>
        </p:nvSpPr>
        <p:spPr>
          <a:xfrm rot="21269630">
            <a:off x="5339563" y="2916643"/>
            <a:ext cx="869284" cy="22245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solidFill>
                  <a:sysClr val="windowText" lastClr="000000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汽缸夾具</a:t>
            </a:r>
          </a:p>
        </p:txBody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id="{E96A96F7-0D84-A474-7176-0F20DB0EDBB4}"/>
              </a:ext>
            </a:extLst>
          </p:cNvPr>
          <p:cNvSpPr/>
          <p:nvPr/>
        </p:nvSpPr>
        <p:spPr>
          <a:xfrm rot="21269630">
            <a:off x="5353375" y="3806698"/>
            <a:ext cx="934788" cy="22245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ysClr val="windowText" lastClr="000000"/>
              </a:solidFill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  <p:sp>
        <p:nvSpPr>
          <p:cNvPr id="145" name="矩形 144">
            <a:extLst>
              <a:ext uri="{FF2B5EF4-FFF2-40B4-BE49-F238E27FC236}">
                <a16:creationId xmlns:a16="http://schemas.microsoft.com/office/drawing/2014/main" id="{E884C382-5DF8-5504-8E95-6F94DCEF6280}"/>
              </a:ext>
            </a:extLst>
          </p:cNvPr>
          <p:cNvSpPr/>
          <p:nvPr/>
        </p:nvSpPr>
        <p:spPr>
          <a:xfrm rot="21269630">
            <a:off x="6038326" y="3065402"/>
            <a:ext cx="214198" cy="71418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ysClr val="windowText" lastClr="000000"/>
              </a:solidFill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  <p:sp>
        <p:nvSpPr>
          <p:cNvPr id="147" name="箭號: 向下 146">
            <a:extLst>
              <a:ext uri="{FF2B5EF4-FFF2-40B4-BE49-F238E27FC236}">
                <a16:creationId xmlns:a16="http://schemas.microsoft.com/office/drawing/2014/main" id="{70F0132D-CA52-8672-03D5-339F9BC29880}"/>
              </a:ext>
            </a:extLst>
          </p:cNvPr>
          <p:cNvSpPr/>
          <p:nvPr/>
        </p:nvSpPr>
        <p:spPr>
          <a:xfrm rot="21269630">
            <a:off x="6095597" y="3218043"/>
            <a:ext cx="180003" cy="300596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900" b="1" dirty="0">
              <a:solidFill>
                <a:schemeClr val="bg1"/>
              </a:solidFill>
            </a:endParaRPr>
          </a:p>
        </p:txBody>
      </p:sp>
      <p:sp>
        <p:nvSpPr>
          <p:cNvPr id="149" name="箭號: 向下 148">
            <a:extLst>
              <a:ext uri="{FF2B5EF4-FFF2-40B4-BE49-F238E27FC236}">
                <a16:creationId xmlns:a16="http://schemas.microsoft.com/office/drawing/2014/main" id="{5680EB2F-F52D-6D68-4294-E0EF04923B79}"/>
              </a:ext>
            </a:extLst>
          </p:cNvPr>
          <p:cNvSpPr/>
          <p:nvPr/>
        </p:nvSpPr>
        <p:spPr>
          <a:xfrm rot="10469630">
            <a:off x="6095597" y="3537746"/>
            <a:ext cx="180003" cy="300596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900" b="1" dirty="0">
              <a:solidFill>
                <a:schemeClr val="bg1"/>
              </a:solidFill>
            </a:endParaRPr>
          </a:p>
        </p:txBody>
      </p:sp>
      <p:cxnSp>
        <p:nvCxnSpPr>
          <p:cNvPr id="150" name="直線接點 149">
            <a:extLst>
              <a:ext uri="{FF2B5EF4-FFF2-40B4-BE49-F238E27FC236}">
                <a16:creationId xmlns:a16="http://schemas.microsoft.com/office/drawing/2014/main" id="{28BF5AD6-D3FF-CDE4-4635-10344DE0CB56}"/>
              </a:ext>
            </a:extLst>
          </p:cNvPr>
          <p:cNvCxnSpPr>
            <a:cxnSpLocks/>
          </p:cNvCxnSpPr>
          <p:nvPr/>
        </p:nvCxnSpPr>
        <p:spPr>
          <a:xfrm>
            <a:off x="6443514" y="1291816"/>
            <a:ext cx="0" cy="3261134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1" name="群組 150">
            <a:extLst>
              <a:ext uri="{FF2B5EF4-FFF2-40B4-BE49-F238E27FC236}">
                <a16:creationId xmlns:a16="http://schemas.microsoft.com/office/drawing/2014/main" id="{7B518B88-DBF2-0A07-AC8F-E99BCF446EE0}"/>
              </a:ext>
            </a:extLst>
          </p:cNvPr>
          <p:cNvGrpSpPr>
            <a:grpSpLocks noChangeAspect="1"/>
          </p:cNvGrpSpPr>
          <p:nvPr/>
        </p:nvGrpSpPr>
        <p:grpSpPr>
          <a:xfrm flipV="1">
            <a:off x="6626172" y="3153973"/>
            <a:ext cx="1699614" cy="1024722"/>
            <a:chOff x="3722754" y="1674321"/>
            <a:chExt cx="1699614" cy="1024722"/>
          </a:xfrm>
        </p:grpSpPr>
        <p:cxnSp>
          <p:nvCxnSpPr>
            <p:cNvPr id="152" name="直線接點 151">
              <a:extLst>
                <a:ext uri="{FF2B5EF4-FFF2-40B4-BE49-F238E27FC236}">
                  <a16:creationId xmlns:a16="http://schemas.microsoft.com/office/drawing/2014/main" id="{955BAB09-FE87-FD43-C2ED-110DA4FCF945}"/>
                </a:ext>
              </a:extLst>
            </p:cNvPr>
            <p:cNvCxnSpPr/>
            <p:nvPr/>
          </p:nvCxnSpPr>
          <p:spPr>
            <a:xfrm>
              <a:off x="3722754" y="2050971"/>
              <a:ext cx="0" cy="648072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直線接點 152">
              <a:extLst>
                <a:ext uri="{FF2B5EF4-FFF2-40B4-BE49-F238E27FC236}">
                  <a16:creationId xmlns:a16="http://schemas.microsoft.com/office/drawing/2014/main" id="{DA60ACF9-8ABD-7DF5-7CE9-E71FECDF2FF9}"/>
                </a:ext>
              </a:extLst>
            </p:cNvPr>
            <p:cNvCxnSpPr/>
            <p:nvPr/>
          </p:nvCxnSpPr>
          <p:spPr>
            <a:xfrm>
              <a:off x="3722754" y="2699043"/>
              <a:ext cx="1656184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直線接點 153">
              <a:extLst>
                <a:ext uri="{FF2B5EF4-FFF2-40B4-BE49-F238E27FC236}">
                  <a16:creationId xmlns:a16="http://schemas.microsoft.com/office/drawing/2014/main" id="{845D6F61-0F97-90A4-1FC1-B508067161F2}"/>
                </a:ext>
              </a:extLst>
            </p:cNvPr>
            <p:cNvCxnSpPr/>
            <p:nvPr/>
          </p:nvCxnSpPr>
          <p:spPr>
            <a:xfrm>
              <a:off x="3722754" y="2050971"/>
              <a:ext cx="792088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直線接點 154">
              <a:extLst>
                <a:ext uri="{FF2B5EF4-FFF2-40B4-BE49-F238E27FC236}">
                  <a16:creationId xmlns:a16="http://schemas.microsoft.com/office/drawing/2014/main" id="{85A81B98-C25C-451C-3719-536772D81B5D}"/>
                </a:ext>
              </a:extLst>
            </p:cNvPr>
            <p:cNvCxnSpPr/>
            <p:nvPr/>
          </p:nvCxnSpPr>
          <p:spPr>
            <a:xfrm>
              <a:off x="4514842" y="2050971"/>
              <a:ext cx="0" cy="36004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直線接點 155">
              <a:extLst>
                <a:ext uri="{FF2B5EF4-FFF2-40B4-BE49-F238E27FC236}">
                  <a16:creationId xmlns:a16="http://schemas.microsoft.com/office/drawing/2014/main" id="{736458DF-F626-8915-AB3C-B799662FFB8A}"/>
                </a:ext>
              </a:extLst>
            </p:cNvPr>
            <p:cNvCxnSpPr/>
            <p:nvPr/>
          </p:nvCxnSpPr>
          <p:spPr>
            <a:xfrm>
              <a:off x="4514842" y="2411011"/>
              <a:ext cx="864096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直線接點 156">
              <a:extLst>
                <a:ext uri="{FF2B5EF4-FFF2-40B4-BE49-F238E27FC236}">
                  <a16:creationId xmlns:a16="http://schemas.microsoft.com/office/drawing/2014/main" id="{7B3AD2EF-A8C5-7654-AB2A-E789029B8EAB}"/>
                </a:ext>
              </a:extLst>
            </p:cNvPr>
            <p:cNvCxnSpPr/>
            <p:nvPr/>
          </p:nvCxnSpPr>
          <p:spPr>
            <a:xfrm>
              <a:off x="5378938" y="2411011"/>
              <a:ext cx="0" cy="288032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直線接點 157">
              <a:extLst>
                <a:ext uri="{FF2B5EF4-FFF2-40B4-BE49-F238E27FC236}">
                  <a16:creationId xmlns:a16="http://schemas.microsoft.com/office/drawing/2014/main" id="{426E9BC2-D7CA-409C-3594-298D21077B9B}"/>
                </a:ext>
              </a:extLst>
            </p:cNvPr>
            <p:cNvCxnSpPr/>
            <p:nvPr/>
          </p:nvCxnSpPr>
          <p:spPr>
            <a:xfrm>
              <a:off x="3722754" y="2411011"/>
              <a:ext cx="792088" cy="0"/>
            </a:xfrm>
            <a:prstGeom prst="line">
              <a:avLst/>
            </a:prstGeom>
            <a:ln w="38100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直線接點 158">
              <a:extLst>
                <a:ext uri="{FF2B5EF4-FFF2-40B4-BE49-F238E27FC236}">
                  <a16:creationId xmlns:a16="http://schemas.microsoft.com/office/drawing/2014/main" id="{690A5AD8-32E9-B8FB-4525-24CDA5AA1B58}"/>
                </a:ext>
              </a:extLst>
            </p:cNvPr>
            <p:cNvCxnSpPr/>
            <p:nvPr/>
          </p:nvCxnSpPr>
          <p:spPr>
            <a:xfrm flipV="1">
              <a:off x="5422368" y="2070080"/>
              <a:ext cx="0" cy="309726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直線接點 159">
              <a:extLst>
                <a:ext uri="{FF2B5EF4-FFF2-40B4-BE49-F238E27FC236}">
                  <a16:creationId xmlns:a16="http://schemas.microsoft.com/office/drawing/2014/main" id="{A0285AC9-CFF6-692B-8495-82DF6CA9C8E8}"/>
                </a:ext>
              </a:extLst>
            </p:cNvPr>
            <p:cNvCxnSpPr/>
            <p:nvPr/>
          </p:nvCxnSpPr>
          <p:spPr>
            <a:xfrm flipH="1">
              <a:off x="4558273" y="2050971"/>
              <a:ext cx="864095" cy="476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直線接點 160">
              <a:extLst>
                <a:ext uri="{FF2B5EF4-FFF2-40B4-BE49-F238E27FC236}">
                  <a16:creationId xmlns:a16="http://schemas.microsoft.com/office/drawing/2014/main" id="{7325B135-3B46-C0A3-4B4C-DBFEB94F812E}"/>
                </a:ext>
              </a:extLst>
            </p:cNvPr>
            <p:cNvCxnSpPr/>
            <p:nvPr/>
          </p:nvCxnSpPr>
          <p:spPr>
            <a:xfrm rot="10800000">
              <a:off x="4558272" y="2372344"/>
              <a:ext cx="864096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直線接點 161">
              <a:extLst>
                <a:ext uri="{FF2B5EF4-FFF2-40B4-BE49-F238E27FC236}">
                  <a16:creationId xmlns:a16="http://schemas.microsoft.com/office/drawing/2014/main" id="{348389D4-02B1-93B5-4196-5F4C5AD673B4}"/>
                </a:ext>
              </a:extLst>
            </p:cNvPr>
            <p:cNvCxnSpPr/>
            <p:nvPr/>
          </p:nvCxnSpPr>
          <p:spPr>
            <a:xfrm rot="10800000">
              <a:off x="4558272" y="2048344"/>
              <a:ext cx="0" cy="3240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3" name="文字方塊 162">
              <a:extLst>
                <a:ext uri="{FF2B5EF4-FFF2-40B4-BE49-F238E27FC236}">
                  <a16:creationId xmlns:a16="http://schemas.microsoft.com/office/drawing/2014/main" id="{2E5680AC-77BC-54F2-4D25-E8D7718B8163}"/>
                </a:ext>
              </a:extLst>
            </p:cNvPr>
            <p:cNvSpPr txBox="1"/>
            <p:nvPr/>
          </p:nvSpPr>
          <p:spPr>
            <a:xfrm rot="10800000">
              <a:off x="4636833" y="2058058"/>
              <a:ext cx="7052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b="1" dirty="0">
                  <a:latin typeface="微軟正黑體" pitchFamily="34" charset="-120"/>
                  <a:ea typeface="微軟正黑體" pitchFamily="34" charset="-120"/>
                </a:rPr>
                <a:t>殘邊</a:t>
              </a:r>
            </a:p>
          </p:txBody>
        </p:sp>
        <p:sp>
          <p:nvSpPr>
            <p:cNvPr id="164" name="弧形 163">
              <a:extLst>
                <a:ext uri="{FF2B5EF4-FFF2-40B4-BE49-F238E27FC236}">
                  <a16:creationId xmlns:a16="http://schemas.microsoft.com/office/drawing/2014/main" id="{808160E6-32FC-EFDD-2AC4-AA122F1FB5CE}"/>
                </a:ext>
              </a:extLst>
            </p:cNvPr>
            <p:cNvSpPr/>
            <p:nvPr/>
          </p:nvSpPr>
          <p:spPr>
            <a:xfrm>
              <a:off x="4558272" y="1815332"/>
              <a:ext cx="862353" cy="432048"/>
            </a:xfrm>
            <a:prstGeom prst="arc">
              <a:avLst>
                <a:gd name="adj1" fmla="val 10852903"/>
                <a:gd name="adj2" fmla="val 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5" name="文字方塊 164">
              <a:extLst>
                <a:ext uri="{FF2B5EF4-FFF2-40B4-BE49-F238E27FC236}">
                  <a16:creationId xmlns:a16="http://schemas.microsoft.com/office/drawing/2014/main" id="{2DAFDAA7-AD31-11D5-B0B7-D76EF89AFC73}"/>
                </a:ext>
              </a:extLst>
            </p:cNvPr>
            <p:cNvSpPr txBox="1"/>
            <p:nvPr/>
          </p:nvSpPr>
          <p:spPr>
            <a:xfrm rot="10800000">
              <a:off x="4716841" y="1674321"/>
              <a:ext cx="559769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TW" sz="1200" dirty="0">
                  <a:latin typeface="微軟正黑體" pitchFamily="34" charset="-120"/>
                  <a:ea typeface="微軟正黑體" pitchFamily="34" charset="-120"/>
                </a:rPr>
                <a:t>3mm</a:t>
              </a:r>
              <a:endParaRPr lang="zh-TW" altLang="en-US" sz="1200" dirty="0">
                <a:latin typeface="微軟正黑體" pitchFamily="34" charset="-120"/>
                <a:ea typeface="微軟正黑體" pitchFamily="34" charset="-120"/>
              </a:endParaRPr>
            </a:p>
          </p:txBody>
        </p:sp>
      </p:grpSp>
      <p:sp>
        <p:nvSpPr>
          <p:cNvPr id="166" name="文字方塊 165">
            <a:extLst>
              <a:ext uri="{FF2B5EF4-FFF2-40B4-BE49-F238E27FC236}">
                <a16:creationId xmlns:a16="http://schemas.microsoft.com/office/drawing/2014/main" id="{407D6FD2-BA29-01B5-FF3A-952BFE66D1AE}"/>
              </a:ext>
            </a:extLst>
          </p:cNvPr>
          <p:cNvSpPr txBox="1"/>
          <p:nvPr/>
        </p:nvSpPr>
        <p:spPr>
          <a:xfrm>
            <a:off x="6760063" y="1227657"/>
            <a:ext cx="20383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/>
              <a:t>Just Cut</a:t>
            </a:r>
          </a:p>
          <a:p>
            <a:pPr algn="ctr"/>
            <a:r>
              <a:rPr lang="en-US" altLang="zh-TW" sz="1600" dirty="0"/>
              <a:t>-</a:t>
            </a:r>
            <a:r>
              <a:rPr lang="zh-TW" altLang="en-US" sz="1600" dirty="0"/>
              <a:t>柔性爪剝除</a:t>
            </a:r>
            <a:endParaRPr lang="en-US" altLang="zh-TW" sz="1600" dirty="0"/>
          </a:p>
          <a:p>
            <a:pPr algn="ctr"/>
            <a:r>
              <a:rPr lang="en-US" altLang="zh-TW" sz="1600" dirty="0"/>
              <a:t>(</a:t>
            </a:r>
            <a:r>
              <a:rPr lang="zh-TW" altLang="en-US" sz="1600" dirty="0"/>
              <a:t>占比</a:t>
            </a:r>
            <a:r>
              <a:rPr lang="en-US" altLang="zh-TW" sz="1600" dirty="0"/>
              <a:t>:80%)</a:t>
            </a:r>
          </a:p>
        </p:txBody>
      </p:sp>
      <p:sp>
        <p:nvSpPr>
          <p:cNvPr id="168" name="向右箭號 94">
            <a:extLst>
              <a:ext uri="{FF2B5EF4-FFF2-40B4-BE49-F238E27FC236}">
                <a16:creationId xmlns:a16="http://schemas.microsoft.com/office/drawing/2014/main" id="{BFB1C11F-9F04-F429-C409-21D788855289}"/>
              </a:ext>
            </a:extLst>
          </p:cNvPr>
          <p:cNvSpPr/>
          <p:nvPr/>
        </p:nvSpPr>
        <p:spPr>
          <a:xfrm rot="10800000">
            <a:off x="8135595" y="2593374"/>
            <a:ext cx="598043" cy="2583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1" name="箭號: 向下 170">
            <a:extLst>
              <a:ext uri="{FF2B5EF4-FFF2-40B4-BE49-F238E27FC236}">
                <a16:creationId xmlns:a16="http://schemas.microsoft.com/office/drawing/2014/main" id="{74FBA7AA-D388-84E8-FB42-36E4EA978197}"/>
              </a:ext>
            </a:extLst>
          </p:cNvPr>
          <p:cNvSpPr/>
          <p:nvPr/>
        </p:nvSpPr>
        <p:spPr>
          <a:xfrm>
            <a:off x="7802864" y="4178695"/>
            <a:ext cx="180003" cy="300596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900" b="1" dirty="0">
              <a:solidFill>
                <a:schemeClr val="bg1"/>
              </a:solidFill>
            </a:endParaRPr>
          </a:p>
        </p:txBody>
      </p:sp>
      <p:sp>
        <p:nvSpPr>
          <p:cNvPr id="35" name="弧形箭號 (上彎) 34"/>
          <p:cNvSpPr/>
          <p:nvPr/>
        </p:nvSpPr>
        <p:spPr>
          <a:xfrm rot="4179928">
            <a:off x="4816098" y="3829395"/>
            <a:ext cx="709422" cy="426720"/>
          </a:xfrm>
          <a:prstGeom prst="curvedUp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9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111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矩形: 圓角 72">
            <a:extLst>
              <a:ext uri="{FF2B5EF4-FFF2-40B4-BE49-F238E27FC236}">
                <a16:creationId xmlns:a16="http://schemas.microsoft.com/office/drawing/2014/main" id="{48C057EB-1A36-2ADF-0F90-029C2F419063}"/>
              </a:ext>
            </a:extLst>
          </p:cNvPr>
          <p:cNvSpPr/>
          <p:nvPr/>
        </p:nvSpPr>
        <p:spPr>
          <a:xfrm>
            <a:off x="2950838" y="2667908"/>
            <a:ext cx="2058073" cy="308527"/>
          </a:xfrm>
          <a:prstGeom prst="roundRect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kern="1200"/>
          </a:p>
        </p:txBody>
      </p:sp>
      <p:sp>
        <p:nvSpPr>
          <p:cNvPr id="75" name="矩形: 圓角 74">
            <a:extLst>
              <a:ext uri="{FF2B5EF4-FFF2-40B4-BE49-F238E27FC236}">
                <a16:creationId xmlns:a16="http://schemas.microsoft.com/office/drawing/2014/main" id="{40D6B7FC-7032-4D66-6E4D-F176A5B80D5B}"/>
              </a:ext>
            </a:extLst>
          </p:cNvPr>
          <p:cNvSpPr/>
          <p:nvPr/>
        </p:nvSpPr>
        <p:spPr>
          <a:xfrm>
            <a:off x="5288296" y="2667908"/>
            <a:ext cx="598594" cy="295583"/>
          </a:xfrm>
          <a:prstGeom prst="roundRect">
            <a:avLst/>
          </a:prstGeom>
          <a:solidFill>
            <a:schemeClr val="accent3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kern="1200"/>
          </a:p>
        </p:txBody>
      </p:sp>
      <p:sp>
        <p:nvSpPr>
          <p:cNvPr id="53" name="矩形: 圓角 74">
            <a:extLst>
              <a:ext uri="{FF2B5EF4-FFF2-40B4-BE49-F238E27FC236}">
                <a16:creationId xmlns:a16="http://schemas.microsoft.com/office/drawing/2014/main" id="{40D6B7FC-7032-4D66-6E4D-F176A5B80D5B}"/>
              </a:ext>
            </a:extLst>
          </p:cNvPr>
          <p:cNvSpPr/>
          <p:nvPr/>
        </p:nvSpPr>
        <p:spPr>
          <a:xfrm>
            <a:off x="6253740" y="2667908"/>
            <a:ext cx="598594" cy="295583"/>
          </a:xfrm>
          <a:prstGeom prst="roundRect">
            <a:avLst/>
          </a:pr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kern="1200"/>
          </a:p>
        </p:txBody>
      </p:sp>
      <p:graphicFrame>
        <p:nvGraphicFramePr>
          <p:cNvPr id="19" name="圖表 18"/>
          <p:cNvGraphicFramePr>
            <a:graphicFrameLocks/>
          </p:cNvGraphicFramePr>
          <p:nvPr/>
        </p:nvGraphicFramePr>
        <p:xfrm>
          <a:off x="478148" y="863597"/>
          <a:ext cx="8276385" cy="21146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標題 1">
            <a:extLst>
              <a:ext uri="{FF2B5EF4-FFF2-40B4-BE49-F238E27FC236}">
                <a16:creationId xmlns:a16="http://schemas.microsoft.com/office/drawing/2014/main" id="{4CA5DD5B-3D92-7797-4D0A-9CC3DAE3BB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085" y="252426"/>
            <a:ext cx="8482972" cy="533863"/>
          </a:xfrm>
        </p:spPr>
        <p:txBody>
          <a:bodyPr/>
          <a:lstStyle/>
          <a:p>
            <a:r>
              <a:rPr lang="en-US" altLang="zh-TW" dirty="0"/>
              <a:t>COS </a:t>
            </a:r>
            <a:r>
              <a:rPr lang="zh-TW" altLang="en-US" dirty="0"/>
              <a:t>測試開發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91EB1EDB-2DB9-4817-D30C-F3C385F3141A}"/>
              </a:ext>
            </a:extLst>
          </p:cNvPr>
          <p:cNvSpPr txBox="1"/>
          <p:nvPr/>
        </p:nvSpPr>
        <p:spPr>
          <a:xfrm>
            <a:off x="1162075" y="4337313"/>
            <a:ext cx="20720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000" dirty="0">
                <a:solidFill>
                  <a:schemeClr val="tx2"/>
                </a:solidFill>
              </a:rPr>
              <a:t>手動</a:t>
            </a:r>
            <a:r>
              <a:rPr lang="zh-TW" altLang="en-US" sz="1000" dirty="0"/>
              <a:t>測試機 </a:t>
            </a:r>
            <a:r>
              <a:rPr lang="en-US" altLang="zh-TW" sz="1000" dirty="0"/>
              <a:t>– </a:t>
            </a:r>
            <a:r>
              <a:rPr lang="zh-TW" altLang="en-US" sz="1000" dirty="0">
                <a:solidFill>
                  <a:srgbClr val="0070C0"/>
                </a:solidFill>
              </a:rPr>
              <a:t>材質</a:t>
            </a:r>
            <a:r>
              <a:rPr lang="en-US" altLang="zh-TW" sz="1000" dirty="0">
                <a:solidFill>
                  <a:srgbClr val="0070C0"/>
                </a:solidFill>
              </a:rPr>
              <a:t>/</a:t>
            </a:r>
            <a:r>
              <a:rPr lang="zh-TW" altLang="en-US" sz="1000" dirty="0">
                <a:solidFill>
                  <a:srgbClr val="0070C0"/>
                </a:solidFill>
              </a:rPr>
              <a:t>材料特性測試</a:t>
            </a:r>
            <a:endParaRPr lang="en-US" altLang="zh-TW" sz="1000" dirty="0">
              <a:solidFill>
                <a:srgbClr val="0070C0"/>
              </a:solidFill>
            </a:endParaRPr>
          </a:p>
          <a:p>
            <a:pPr algn="ctr"/>
            <a:r>
              <a:rPr lang="zh-TW" altLang="en-US" sz="1000" dirty="0"/>
              <a:t>提高夾持力度、避免滑片</a:t>
            </a:r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6983D4A1-0919-7994-4524-2615E8174C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5597" y="3326769"/>
            <a:ext cx="1153241" cy="943802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E87DA4C2-8F69-DE1C-5B7E-1D7B0A353F6C}"/>
              </a:ext>
            </a:extLst>
          </p:cNvPr>
          <p:cNvSpPr/>
          <p:nvPr/>
        </p:nvSpPr>
        <p:spPr>
          <a:xfrm>
            <a:off x="878517" y="3244131"/>
            <a:ext cx="2639135" cy="1562321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900" b="1" dirty="0">
              <a:solidFill>
                <a:schemeClr val="bg1"/>
              </a:solidFill>
            </a:endParaRPr>
          </a:p>
        </p:txBody>
      </p:sp>
      <p:cxnSp>
        <p:nvCxnSpPr>
          <p:cNvPr id="25" name="接點: 肘形 24">
            <a:extLst>
              <a:ext uri="{FF2B5EF4-FFF2-40B4-BE49-F238E27FC236}">
                <a16:creationId xmlns:a16="http://schemas.microsoft.com/office/drawing/2014/main" id="{12891858-78F0-5A0B-FFE6-40C685024F1F}"/>
              </a:ext>
            </a:extLst>
          </p:cNvPr>
          <p:cNvCxnSpPr>
            <a:cxnSpLocks/>
            <a:stCxn id="73" idx="2"/>
            <a:endCxn id="21" idx="0"/>
          </p:cNvCxnSpPr>
          <p:nvPr/>
        </p:nvCxnSpPr>
        <p:spPr>
          <a:xfrm rot="5400000">
            <a:off x="2955132" y="2219388"/>
            <a:ext cx="267696" cy="1781790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6" name="接點: 肘形 35">
            <a:extLst>
              <a:ext uri="{FF2B5EF4-FFF2-40B4-BE49-F238E27FC236}">
                <a16:creationId xmlns:a16="http://schemas.microsoft.com/office/drawing/2014/main" id="{B2D36757-D08A-AB10-FD4A-88FD8007CAAA}"/>
              </a:ext>
            </a:extLst>
          </p:cNvPr>
          <p:cNvCxnSpPr>
            <a:cxnSpLocks/>
            <a:stCxn id="75" idx="2"/>
            <a:endCxn id="32" idx="0"/>
          </p:cNvCxnSpPr>
          <p:nvPr/>
        </p:nvCxnSpPr>
        <p:spPr>
          <a:xfrm rot="5400000">
            <a:off x="5089404" y="2745942"/>
            <a:ext cx="280640" cy="715738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" name="Picture 3" descr="49b730ed-39c3-4247-a00c-d1ac042d4337@auo">
            <a:extLst>
              <a:ext uri="{FF2B5EF4-FFF2-40B4-BE49-F238E27FC236}">
                <a16:creationId xmlns:a16="http://schemas.microsoft.com/office/drawing/2014/main" id="{8F620B01-947C-7390-50BA-4C2EE0550F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945781" y="3329057"/>
            <a:ext cx="1252303" cy="9392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矩形 31">
            <a:extLst>
              <a:ext uri="{FF2B5EF4-FFF2-40B4-BE49-F238E27FC236}">
                <a16:creationId xmlns:a16="http://schemas.microsoft.com/office/drawing/2014/main" id="{E87DA4C2-8F69-DE1C-5B7E-1D7B0A353F6C}"/>
              </a:ext>
            </a:extLst>
          </p:cNvPr>
          <p:cNvSpPr/>
          <p:nvPr/>
        </p:nvSpPr>
        <p:spPr>
          <a:xfrm>
            <a:off x="3625164" y="3244131"/>
            <a:ext cx="2493382" cy="1562321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900" b="1" dirty="0">
              <a:solidFill>
                <a:schemeClr val="bg1"/>
              </a:solidFill>
            </a:endParaRPr>
          </a:p>
        </p:txBody>
      </p:sp>
      <p:pic>
        <p:nvPicPr>
          <p:cNvPr id="27" name="圖片 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7169" y="3299241"/>
            <a:ext cx="1089669" cy="957428"/>
          </a:xfrm>
          <a:prstGeom prst="rect">
            <a:avLst/>
          </a:prstGeom>
        </p:spPr>
      </p:pic>
      <p:sp>
        <p:nvSpPr>
          <p:cNvPr id="43" name="文字方塊 42">
            <a:extLst>
              <a:ext uri="{FF2B5EF4-FFF2-40B4-BE49-F238E27FC236}">
                <a16:creationId xmlns:a16="http://schemas.microsoft.com/office/drawing/2014/main" id="{91EB1EDB-2DB9-4817-D30C-F3C385F3141A}"/>
              </a:ext>
            </a:extLst>
          </p:cNvPr>
          <p:cNvSpPr txBox="1"/>
          <p:nvPr/>
        </p:nvSpPr>
        <p:spPr>
          <a:xfrm>
            <a:off x="3814872" y="4337313"/>
            <a:ext cx="20720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000" b="1" dirty="0">
                <a:solidFill>
                  <a:srgbClr val="0070C0"/>
                </a:solidFill>
              </a:rPr>
              <a:t>自動</a:t>
            </a:r>
            <a:r>
              <a:rPr lang="zh-TW" altLang="en-US" sz="1000" dirty="0"/>
              <a:t>測試機</a:t>
            </a:r>
            <a:endParaRPr lang="en-US" altLang="zh-TW" sz="1000" dirty="0"/>
          </a:p>
          <a:p>
            <a:pPr algn="ctr"/>
            <a:r>
              <a:rPr lang="zh-TW" altLang="en-US" sz="1000" dirty="0"/>
              <a:t>面板放置後全自動剝片</a:t>
            </a:r>
          </a:p>
        </p:txBody>
      </p:sp>
      <p:cxnSp>
        <p:nvCxnSpPr>
          <p:cNvPr id="45" name="接點: 肘形 35">
            <a:extLst>
              <a:ext uri="{FF2B5EF4-FFF2-40B4-BE49-F238E27FC236}">
                <a16:creationId xmlns:a16="http://schemas.microsoft.com/office/drawing/2014/main" id="{B2D36757-D08A-AB10-FD4A-88FD8007CAAA}"/>
              </a:ext>
            </a:extLst>
          </p:cNvPr>
          <p:cNvCxnSpPr>
            <a:cxnSpLocks/>
            <a:stCxn id="53" idx="2"/>
            <a:endCxn id="46" idx="0"/>
          </p:cNvCxnSpPr>
          <p:nvPr/>
        </p:nvCxnSpPr>
        <p:spPr>
          <a:xfrm rot="16200000" flipH="1">
            <a:off x="6791024" y="2725504"/>
            <a:ext cx="280640" cy="756614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6" name="矩形 45">
            <a:extLst>
              <a:ext uri="{FF2B5EF4-FFF2-40B4-BE49-F238E27FC236}">
                <a16:creationId xmlns:a16="http://schemas.microsoft.com/office/drawing/2014/main" id="{E87DA4C2-8F69-DE1C-5B7E-1D7B0A353F6C}"/>
              </a:ext>
            </a:extLst>
          </p:cNvPr>
          <p:cNvSpPr/>
          <p:nvPr/>
        </p:nvSpPr>
        <p:spPr>
          <a:xfrm>
            <a:off x="6237409" y="3244131"/>
            <a:ext cx="2144484" cy="1562321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900" b="1" dirty="0">
              <a:solidFill>
                <a:schemeClr val="bg1"/>
              </a:solidFill>
            </a:endParaRPr>
          </a:p>
        </p:txBody>
      </p:sp>
      <p:pic>
        <p:nvPicPr>
          <p:cNvPr id="40" name="圖片 3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22460" y="3299241"/>
            <a:ext cx="1039614" cy="978830"/>
          </a:xfrm>
          <a:prstGeom prst="rect">
            <a:avLst/>
          </a:prstGeom>
        </p:spPr>
      </p:pic>
      <p:pic>
        <p:nvPicPr>
          <p:cNvPr id="50" name="圖片 4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0989" y="3301486"/>
            <a:ext cx="1459685" cy="962922"/>
          </a:xfrm>
          <a:prstGeom prst="rect">
            <a:avLst/>
          </a:prstGeom>
        </p:spPr>
      </p:pic>
      <p:sp>
        <p:nvSpPr>
          <p:cNvPr id="58" name="文字方塊 57">
            <a:extLst>
              <a:ext uri="{FF2B5EF4-FFF2-40B4-BE49-F238E27FC236}">
                <a16:creationId xmlns:a16="http://schemas.microsoft.com/office/drawing/2014/main" id="{91EB1EDB-2DB9-4817-D30C-F3C385F3141A}"/>
              </a:ext>
            </a:extLst>
          </p:cNvPr>
          <p:cNvSpPr txBox="1"/>
          <p:nvPr/>
        </p:nvSpPr>
        <p:spPr>
          <a:xfrm>
            <a:off x="6273641" y="4337313"/>
            <a:ext cx="21082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000" dirty="0"/>
              <a:t>自動測試機</a:t>
            </a:r>
            <a:endParaRPr lang="en-US" altLang="zh-TW" sz="1000" dirty="0"/>
          </a:p>
          <a:p>
            <a:pPr algn="ctr"/>
            <a:r>
              <a:rPr lang="zh-TW" altLang="en-US" sz="1000" b="1" dirty="0">
                <a:solidFill>
                  <a:srgbClr val="0070C0"/>
                </a:solidFill>
              </a:rPr>
              <a:t>調整夾具水平</a:t>
            </a:r>
            <a:r>
              <a:rPr lang="zh-TW" altLang="en-US" sz="1000" dirty="0"/>
              <a:t>，確認其為</a:t>
            </a:r>
            <a:r>
              <a:rPr lang="zh-TW" altLang="en-US" sz="1000" dirty="0">
                <a:solidFill>
                  <a:srgbClr val="C00000"/>
                </a:solidFill>
              </a:rPr>
              <a:t>關鍵因子</a:t>
            </a:r>
          </a:p>
        </p:txBody>
      </p:sp>
      <p:sp>
        <p:nvSpPr>
          <p:cNvPr id="62" name="矩形: 圓角 74">
            <a:extLst>
              <a:ext uri="{FF2B5EF4-FFF2-40B4-BE49-F238E27FC236}">
                <a16:creationId xmlns:a16="http://schemas.microsoft.com/office/drawing/2014/main" id="{40D6B7FC-7032-4D66-6E4D-F176A5B80D5B}"/>
              </a:ext>
            </a:extLst>
          </p:cNvPr>
          <p:cNvSpPr/>
          <p:nvPr/>
        </p:nvSpPr>
        <p:spPr>
          <a:xfrm>
            <a:off x="6747813" y="3805406"/>
            <a:ext cx="1016024" cy="344735"/>
          </a:xfrm>
          <a:prstGeom prst="roundRect">
            <a:avLst/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kern="1200"/>
          </a:p>
        </p:txBody>
      </p:sp>
      <p:sp>
        <p:nvSpPr>
          <p:cNvPr id="67" name="文字方塊 66">
            <a:extLst>
              <a:ext uri="{FF2B5EF4-FFF2-40B4-BE49-F238E27FC236}">
                <a16:creationId xmlns:a16="http://schemas.microsoft.com/office/drawing/2014/main" id="{F527FCC9-4B5F-143A-1DE6-6A6F58ABEACE}"/>
              </a:ext>
            </a:extLst>
          </p:cNvPr>
          <p:cNvSpPr txBox="1"/>
          <p:nvPr/>
        </p:nvSpPr>
        <p:spPr>
          <a:xfrm>
            <a:off x="5886890" y="32763"/>
            <a:ext cx="3017295" cy="650330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9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TW" altLang="en-US" sz="11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原水平高度 </a:t>
            </a:r>
            <a:r>
              <a:rPr lang="en-US" altLang="zh-TW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0.2~0.3</a:t>
            </a:r>
            <a:r>
              <a:rPr lang="zh-TW" altLang="en-US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TW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(mm)</a:t>
            </a:r>
            <a:br>
              <a:rPr lang="en-US" altLang="zh-TW" sz="1100" b="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zh-TW" altLang="en-US" sz="11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透過</a:t>
            </a:r>
            <a:r>
              <a:rPr lang="zh-TW" altLang="en-US" sz="1100" b="0" dirty="0">
                <a:solidFill>
                  <a:srgbClr val="0070C0"/>
                </a:solidFill>
              </a:rPr>
              <a:t>高精度滑台調整至 </a:t>
            </a:r>
            <a:r>
              <a:rPr lang="en-US" altLang="zh-TW" sz="1100" dirty="0">
                <a:solidFill>
                  <a:srgbClr val="0070C0"/>
                </a:solidFill>
              </a:rPr>
              <a:t>0.05~0.1</a:t>
            </a:r>
            <a:r>
              <a:rPr lang="zh-TW" altLang="en-US" sz="1100" dirty="0">
                <a:solidFill>
                  <a:srgbClr val="0070C0"/>
                </a:solidFill>
              </a:rPr>
              <a:t> </a:t>
            </a:r>
            <a:r>
              <a:rPr lang="en-US" altLang="zh-TW" sz="1100" dirty="0">
                <a:solidFill>
                  <a:srgbClr val="0070C0"/>
                </a:solidFill>
              </a:rPr>
              <a:t>(mm)</a:t>
            </a:r>
          </a:p>
          <a:p>
            <a:r>
              <a:rPr lang="zh-TW" altLang="en-US" sz="11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持續提升良率至 </a:t>
            </a:r>
            <a:r>
              <a:rPr lang="en-US" altLang="zh-TW" sz="11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100%</a:t>
            </a:r>
            <a:r>
              <a:rPr lang="zh-TW" altLang="en-US" sz="11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TW" sz="11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(50pcs)</a:t>
            </a:r>
          </a:p>
        </p:txBody>
      </p:sp>
      <p:sp>
        <p:nvSpPr>
          <p:cNvPr id="42" name="向上箭號 41"/>
          <p:cNvSpPr/>
          <p:nvPr/>
        </p:nvSpPr>
        <p:spPr>
          <a:xfrm>
            <a:off x="7390441" y="579353"/>
            <a:ext cx="286266" cy="253138"/>
          </a:xfrm>
          <a:prstGeom prst="upArrow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52392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82803" y="853241"/>
            <a:ext cx="3060403" cy="2784242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sz="2400" dirty="0"/>
              <a:t>COS/N-Cut</a:t>
            </a:r>
            <a:r>
              <a:rPr lang="zh-TW" altLang="en-US" sz="2400" dirty="0"/>
              <a:t> 測試機改造</a:t>
            </a:r>
            <a:r>
              <a:rPr lang="en-US" altLang="zh-TW" sz="2400" dirty="0">
                <a:sym typeface="Wingdings" panose="05000000000000000000" pitchFamily="2" charset="2"/>
              </a:rPr>
              <a:t></a:t>
            </a:r>
            <a:r>
              <a:rPr lang="zh-TW" altLang="en-US" sz="2400" dirty="0">
                <a:sym typeface="Wingdings" panose="05000000000000000000" pitchFamily="2" charset="2"/>
              </a:rPr>
              <a:t> 增加</a:t>
            </a:r>
            <a:r>
              <a:rPr lang="en-US" altLang="zh-TW" sz="2400" dirty="0">
                <a:sym typeface="Wingdings" panose="05000000000000000000" pitchFamily="2" charset="2"/>
              </a:rPr>
              <a:t>Z</a:t>
            </a:r>
            <a:r>
              <a:rPr lang="zh-TW" altLang="en-US" sz="2400" dirty="0">
                <a:sym typeface="Wingdings" panose="05000000000000000000" pitchFamily="2" charset="2"/>
              </a:rPr>
              <a:t>軸高精度滑台</a:t>
            </a:r>
            <a:br>
              <a:rPr lang="zh-TW" altLang="en-US" sz="2400" dirty="0">
                <a:sym typeface="Wingdings" panose="05000000000000000000" pitchFamily="2" charset="2"/>
              </a:rPr>
            </a:br>
            <a:endParaRPr lang="zh-TW" altLang="en-US" sz="2400" dirty="0"/>
          </a:p>
        </p:txBody>
      </p:sp>
      <p:sp>
        <p:nvSpPr>
          <p:cNvPr id="15" name="向右箭號 14"/>
          <p:cNvSpPr/>
          <p:nvPr/>
        </p:nvSpPr>
        <p:spPr>
          <a:xfrm>
            <a:off x="3874142" y="2074806"/>
            <a:ext cx="1332148" cy="252028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900" b="1" dirty="0">
              <a:solidFill>
                <a:schemeClr val="bg1"/>
              </a:solidFill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3712616" y="1184496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殘邊夾具改造</a:t>
            </a:r>
          </a:p>
        </p:txBody>
      </p:sp>
      <p:cxnSp>
        <p:nvCxnSpPr>
          <p:cNvPr id="20" name="直線單箭頭接點 19"/>
          <p:cNvCxnSpPr>
            <a:endCxn id="21" idx="0"/>
          </p:cNvCxnSpPr>
          <p:nvPr/>
        </p:nvCxnSpPr>
        <p:spPr>
          <a:xfrm flipH="1">
            <a:off x="5152257" y="2428739"/>
            <a:ext cx="678717" cy="486306"/>
          </a:xfrm>
          <a:prstGeom prst="straightConnector1">
            <a:avLst/>
          </a:prstGeom>
          <a:ln w="28575">
            <a:solidFill>
              <a:schemeClr val="accent2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字方塊 20"/>
          <p:cNvSpPr txBox="1"/>
          <p:nvPr/>
        </p:nvSpPr>
        <p:spPr>
          <a:xfrm>
            <a:off x="4188669" y="2915045"/>
            <a:ext cx="19271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400" dirty="0">
                <a:ea typeface="+mn-ea"/>
              </a:rPr>
              <a:t>伸出汽缸</a:t>
            </a:r>
            <a:endParaRPr lang="en-US" altLang="zh-TW" sz="1400" dirty="0">
              <a:ea typeface="+mn-ea"/>
            </a:endParaRPr>
          </a:p>
          <a:p>
            <a:r>
              <a:rPr lang="zh-TW" altLang="en-US" sz="1400" dirty="0">
                <a:ea typeface="+mn-ea"/>
              </a:rPr>
              <a:t>往下移動</a:t>
            </a:r>
            <a:r>
              <a:rPr lang="en-US" altLang="zh-TW" sz="1400" dirty="0">
                <a:ea typeface="+mn-ea"/>
              </a:rPr>
              <a:t>10mm</a:t>
            </a:r>
            <a:endParaRPr lang="zh-TW" altLang="en-US" sz="1400" dirty="0">
              <a:ea typeface="+mn-ea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7261953" y="3551258"/>
            <a:ext cx="1927176" cy="10233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400" dirty="0"/>
              <a:t>增設手動調整滑台</a:t>
            </a:r>
            <a:endParaRPr lang="en-US" altLang="zh-TW" sz="1400" dirty="0"/>
          </a:p>
          <a:p>
            <a:r>
              <a:rPr lang="en-US" altLang="zh-TW" sz="1100" dirty="0"/>
              <a:t>(HY</a:t>
            </a:r>
            <a:r>
              <a:rPr lang="zh-TW" altLang="en-US" sz="1100" dirty="0"/>
              <a:t>設備零件活化</a:t>
            </a:r>
            <a:r>
              <a:rPr lang="en-US" altLang="zh-TW" sz="1100" dirty="0"/>
              <a:t>)</a:t>
            </a:r>
          </a:p>
          <a:p>
            <a:endParaRPr lang="en-US" altLang="zh-TW" sz="1100" dirty="0"/>
          </a:p>
          <a:p>
            <a:r>
              <a:rPr lang="zh-TW" altLang="en-US" dirty="0"/>
              <a:t>有效調整</a:t>
            </a:r>
            <a:r>
              <a:rPr lang="en-US" altLang="zh-TW" dirty="0"/>
              <a:t>Z</a:t>
            </a:r>
            <a:r>
              <a:rPr lang="zh-TW" altLang="en-US" dirty="0"/>
              <a:t>軸高度</a:t>
            </a:r>
            <a:endParaRPr lang="en-US" altLang="zh-TW" dirty="0"/>
          </a:p>
          <a:p>
            <a:r>
              <a:rPr lang="zh-TW" altLang="en-US" sz="1100" dirty="0"/>
              <a:t>經度 </a:t>
            </a:r>
            <a:r>
              <a:rPr lang="en-US" altLang="zh-TW" sz="1100" dirty="0"/>
              <a:t>0.1mm</a:t>
            </a:r>
            <a:endParaRPr lang="zh-TW" altLang="en-US" sz="1100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4133" y="1015063"/>
            <a:ext cx="3283496" cy="2634217"/>
          </a:xfrm>
          <a:prstGeom prst="rect">
            <a:avLst/>
          </a:prstGeom>
        </p:spPr>
      </p:pic>
      <p:cxnSp>
        <p:nvCxnSpPr>
          <p:cNvPr id="19" name="直線單箭頭接點 18"/>
          <p:cNvCxnSpPr>
            <a:endCxn id="18" idx="1"/>
          </p:cNvCxnSpPr>
          <p:nvPr/>
        </p:nvCxnSpPr>
        <p:spPr>
          <a:xfrm flipV="1">
            <a:off x="1943708" y="1369162"/>
            <a:ext cx="1768908" cy="272536"/>
          </a:xfrm>
          <a:prstGeom prst="straightConnector1">
            <a:avLst/>
          </a:prstGeom>
          <a:ln w="28575">
            <a:solidFill>
              <a:schemeClr val="accent2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>
            <a:endCxn id="18" idx="1"/>
          </p:cNvCxnSpPr>
          <p:nvPr/>
        </p:nvCxnSpPr>
        <p:spPr>
          <a:xfrm flipV="1">
            <a:off x="2639906" y="1369162"/>
            <a:ext cx="1072710" cy="1348484"/>
          </a:xfrm>
          <a:prstGeom prst="straightConnector1">
            <a:avLst/>
          </a:prstGeom>
          <a:ln w="28575">
            <a:solidFill>
              <a:schemeClr val="accent2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/>
          <p:cNvSpPr/>
          <p:nvPr/>
        </p:nvSpPr>
        <p:spPr>
          <a:xfrm>
            <a:off x="7442200" y="2413000"/>
            <a:ext cx="1295399" cy="1052326"/>
          </a:xfrm>
          <a:prstGeom prst="rect">
            <a:avLst/>
          </a:prstGeom>
          <a:noFill/>
          <a:ln w="28575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900" b="1" dirty="0">
              <a:solidFill>
                <a:schemeClr val="bg1"/>
              </a:solidFill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0D05830-F6D7-1DE6-03E9-C5DF0D32B4A1}"/>
              </a:ext>
            </a:extLst>
          </p:cNvPr>
          <p:cNvSpPr txBox="1"/>
          <p:nvPr/>
        </p:nvSpPr>
        <p:spPr>
          <a:xfrm>
            <a:off x="5846089" y="1937585"/>
            <a:ext cx="5697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產品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C8FA001-AFA9-8A86-2D56-4CDD276CCEC7}"/>
              </a:ext>
            </a:extLst>
          </p:cNvPr>
          <p:cNvSpPr txBox="1"/>
          <p:nvPr/>
        </p:nvSpPr>
        <p:spPr>
          <a:xfrm>
            <a:off x="7444784" y="1937585"/>
            <a:ext cx="5697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殘邊</a:t>
            </a:r>
          </a:p>
        </p:txBody>
      </p:sp>
      <p:sp>
        <p:nvSpPr>
          <p:cNvPr id="8" name="箭號: 上-下雙向 7">
            <a:extLst>
              <a:ext uri="{FF2B5EF4-FFF2-40B4-BE49-F238E27FC236}">
                <a16:creationId xmlns:a16="http://schemas.microsoft.com/office/drawing/2014/main" id="{0BD7211F-C6B2-E2E0-1D83-88429597D6A5}"/>
              </a:ext>
            </a:extLst>
          </p:cNvPr>
          <p:cNvSpPr/>
          <p:nvPr/>
        </p:nvSpPr>
        <p:spPr>
          <a:xfrm>
            <a:off x="8014526" y="2717645"/>
            <a:ext cx="211015" cy="447586"/>
          </a:xfrm>
          <a:prstGeom prst="upDown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900" b="1" dirty="0">
              <a:solidFill>
                <a:schemeClr val="bg1"/>
              </a:solidFill>
            </a:endParaRPr>
          </a:p>
        </p:txBody>
      </p:sp>
      <p:pic>
        <p:nvPicPr>
          <p:cNvPr id="4" name="Picture 3" descr="4ebf340a-8140-4cbc-b65c-ffa54f870ff1@auo">
            <a:extLst>
              <a:ext uri="{FF2B5EF4-FFF2-40B4-BE49-F238E27FC236}">
                <a16:creationId xmlns:a16="http://schemas.microsoft.com/office/drawing/2014/main" id="{8A6544EB-75E4-7898-AFA3-456AD52101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228275" y="3551258"/>
            <a:ext cx="1927177" cy="1561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箭號: 向右 8">
            <a:extLst>
              <a:ext uri="{FF2B5EF4-FFF2-40B4-BE49-F238E27FC236}">
                <a16:creationId xmlns:a16="http://schemas.microsoft.com/office/drawing/2014/main" id="{AF56A8E5-2DC2-C5FB-88D4-E53A6E844B66}"/>
              </a:ext>
            </a:extLst>
          </p:cNvPr>
          <p:cNvSpPr/>
          <p:nvPr/>
        </p:nvSpPr>
        <p:spPr>
          <a:xfrm rot="8817906">
            <a:off x="6526144" y="3458709"/>
            <a:ext cx="874663" cy="185097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900" b="1" dirty="0">
              <a:solidFill>
                <a:schemeClr val="bg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BD06B65-1814-D6D0-4865-438761DFEFEC}"/>
              </a:ext>
            </a:extLst>
          </p:cNvPr>
          <p:cNvSpPr/>
          <p:nvPr/>
        </p:nvSpPr>
        <p:spPr>
          <a:xfrm>
            <a:off x="5688565" y="3637483"/>
            <a:ext cx="813835" cy="1087210"/>
          </a:xfrm>
          <a:prstGeom prst="rect">
            <a:avLst/>
          </a:prstGeom>
          <a:noFill/>
          <a:ln w="28575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900" b="1" dirty="0">
              <a:solidFill>
                <a:schemeClr val="bg1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442200" y="1871133"/>
            <a:ext cx="508000" cy="455701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04062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BADBF-7057-9232-DEE0-F07B4CC7C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DDE452-9531-50A8-E52D-56DA3B59EA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N-Cut </a:t>
            </a:r>
            <a:r>
              <a:rPr lang="zh-TW" altLang="en-US" dirty="0"/>
              <a:t>夾持示意圖</a:t>
            </a:r>
          </a:p>
        </p:txBody>
      </p:sp>
      <p:grpSp>
        <p:nvGrpSpPr>
          <p:cNvPr id="109" name="群組 108">
            <a:extLst>
              <a:ext uri="{FF2B5EF4-FFF2-40B4-BE49-F238E27FC236}">
                <a16:creationId xmlns:a16="http://schemas.microsoft.com/office/drawing/2014/main" id="{A92CCF9D-3706-AC00-CF2C-F3CC9B5CB34A}"/>
              </a:ext>
            </a:extLst>
          </p:cNvPr>
          <p:cNvGrpSpPr/>
          <p:nvPr/>
        </p:nvGrpSpPr>
        <p:grpSpPr>
          <a:xfrm flipH="1">
            <a:off x="366076" y="1124225"/>
            <a:ext cx="3413836" cy="2563696"/>
            <a:chOff x="215516" y="861759"/>
            <a:chExt cx="3413836" cy="2563696"/>
          </a:xfrm>
        </p:grpSpPr>
        <p:grpSp>
          <p:nvGrpSpPr>
            <p:cNvPr id="56" name="群組 55">
              <a:extLst>
                <a:ext uri="{FF2B5EF4-FFF2-40B4-BE49-F238E27FC236}">
                  <a16:creationId xmlns:a16="http://schemas.microsoft.com/office/drawing/2014/main" id="{FCD2BE20-5217-1203-FC27-39DF4438E589}"/>
                </a:ext>
              </a:extLst>
            </p:cNvPr>
            <p:cNvGrpSpPr/>
            <p:nvPr/>
          </p:nvGrpSpPr>
          <p:grpSpPr>
            <a:xfrm rot="10976115">
              <a:off x="1676122" y="2105356"/>
              <a:ext cx="1656184" cy="648072"/>
              <a:chOff x="307263" y="3950407"/>
              <a:chExt cx="1656184" cy="648072"/>
            </a:xfrm>
          </p:grpSpPr>
          <p:cxnSp>
            <p:nvCxnSpPr>
              <p:cNvPr id="72" name="直線接點 71">
                <a:extLst>
                  <a:ext uri="{FF2B5EF4-FFF2-40B4-BE49-F238E27FC236}">
                    <a16:creationId xmlns:a16="http://schemas.microsoft.com/office/drawing/2014/main" id="{4AB7E1A2-4EA7-68B2-DE06-695AEC35DB15}"/>
                  </a:ext>
                </a:extLst>
              </p:cNvPr>
              <p:cNvCxnSpPr/>
              <p:nvPr/>
            </p:nvCxnSpPr>
            <p:spPr>
              <a:xfrm>
                <a:off x="307263" y="3950407"/>
                <a:ext cx="0" cy="648072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線接點 72">
                <a:extLst>
                  <a:ext uri="{FF2B5EF4-FFF2-40B4-BE49-F238E27FC236}">
                    <a16:creationId xmlns:a16="http://schemas.microsoft.com/office/drawing/2014/main" id="{6C2F838F-C2CB-2968-4BFB-D396A7EB5E65}"/>
                  </a:ext>
                </a:extLst>
              </p:cNvPr>
              <p:cNvCxnSpPr/>
              <p:nvPr/>
            </p:nvCxnSpPr>
            <p:spPr>
              <a:xfrm>
                <a:off x="307263" y="4598479"/>
                <a:ext cx="1656184" cy="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直線接點 73">
                <a:extLst>
                  <a:ext uri="{FF2B5EF4-FFF2-40B4-BE49-F238E27FC236}">
                    <a16:creationId xmlns:a16="http://schemas.microsoft.com/office/drawing/2014/main" id="{AF138465-06B5-F5D6-156B-E230190BC069}"/>
                  </a:ext>
                </a:extLst>
              </p:cNvPr>
              <p:cNvCxnSpPr/>
              <p:nvPr/>
            </p:nvCxnSpPr>
            <p:spPr>
              <a:xfrm>
                <a:off x="307263" y="3950407"/>
                <a:ext cx="792088" cy="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直線接點 74">
                <a:extLst>
                  <a:ext uri="{FF2B5EF4-FFF2-40B4-BE49-F238E27FC236}">
                    <a16:creationId xmlns:a16="http://schemas.microsoft.com/office/drawing/2014/main" id="{3AF6B928-227D-760C-68D8-832660C5D090}"/>
                  </a:ext>
                </a:extLst>
              </p:cNvPr>
              <p:cNvCxnSpPr/>
              <p:nvPr/>
            </p:nvCxnSpPr>
            <p:spPr>
              <a:xfrm>
                <a:off x="1099351" y="3950407"/>
                <a:ext cx="0" cy="36004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直線接點 75">
                <a:extLst>
                  <a:ext uri="{FF2B5EF4-FFF2-40B4-BE49-F238E27FC236}">
                    <a16:creationId xmlns:a16="http://schemas.microsoft.com/office/drawing/2014/main" id="{4BF97238-96EC-464D-43C0-975550A7F4C5}"/>
                  </a:ext>
                </a:extLst>
              </p:cNvPr>
              <p:cNvCxnSpPr/>
              <p:nvPr/>
            </p:nvCxnSpPr>
            <p:spPr>
              <a:xfrm>
                <a:off x="1099351" y="4310447"/>
                <a:ext cx="864096" cy="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直線接點 76">
                <a:extLst>
                  <a:ext uri="{FF2B5EF4-FFF2-40B4-BE49-F238E27FC236}">
                    <a16:creationId xmlns:a16="http://schemas.microsoft.com/office/drawing/2014/main" id="{78A179AB-B681-EBDE-02D4-DFE9CDBA5E25}"/>
                  </a:ext>
                </a:extLst>
              </p:cNvPr>
              <p:cNvCxnSpPr/>
              <p:nvPr/>
            </p:nvCxnSpPr>
            <p:spPr>
              <a:xfrm>
                <a:off x="1963447" y="4310447"/>
                <a:ext cx="0" cy="288032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直線接點 77">
                <a:extLst>
                  <a:ext uri="{FF2B5EF4-FFF2-40B4-BE49-F238E27FC236}">
                    <a16:creationId xmlns:a16="http://schemas.microsoft.com/office/drawing/2014/main" id="{B783DFBC-3348-4A77-DE74-6866EA7B3887}"/>
                  </a:ext>
                </a:extLst>
              </p:cNvPr>
              <p:cNvCxnSpPr/>
              <p:nvPr/>
            </p:nvCxnSpPr>
            <p:spPr>
              <a:xfrm>
                <a:off x="307263" y="4310447"/>
                <a:ext cx="792088" cy="0"/>
              </a:xfrm>
              <a:prstGeom prst="line">
                <a:avLst/>
              </a:prstGeom>
              <a:ln w="3810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7" name="文字方塊 56">
              <a:extLst>
                <a:ext uri="{FF2B5EF4-FFF2-40B4-BE49-F238E27FC236}">
                  <a16:creationId xmlns:a16="http://schemas.microsoft.com/office/drawing/2014/main" id="{23495A3B-9EBE-463A-156E-E28517879A7F}"/>
                </a:ext>
              </a:extLst>
            </p:cNvPr>
            <p:cNvSpPr txBox="1"/>
            <p:nvPr/>
          </p:nvSpPr>
          <p:spPr>
            <a:xfrm rot="175782">
              <a:off x="1646967" y="2063897"/>
              <a:ext cx="112562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1600" b="1" dirty="0">
                  <a:latin typeface="微軟正黑體" pitchFamily="34" charset="-120"/>
                  <a:ea typeface="微軟正黑體" pitchFamily="34" charset="-120"/>
                </a:rPr>
                <a:t>金手指</a:t>
              </a:r>
              <a:r>
                <a:rPr lang="en-US" altLang="zh-TW" sz="1600" b="1" dirty="0">
                  <a:latin typeface="微軟正黑體" pitchFamily="34" charset="-120"/>
                  <a:ea typeface="微軟正黑體" pitchFamily="34" charset="-120"/>
                </a:rPr>
                <a:t>T</a:t>
              </a:r>
              <a:r>
                <a:rPr lang="zh-TW" altLang="en-US" sz="1600" b="1" dirty="0">
                  <a:latin typeface="微軟正黑體" pitchFamily="34" charset="-120"/>
                  <a:ea typeface="微軟正黑體" pitchFamily="34" charset="-120"/>
                </a:rPr>
                <a:t>側</a:t>
              </a:r>
            </a:p>
          </p:txBody>
        </p:sp>
        <p:grpSp>
          <p:nvGrpSpPr>
            <p:cNvPr id="58" name="群組 57">
              <a:extLst>
                <a:ext uri="{FF2B5EF4-FFF2-40B4-BE49-F238E27FC236}">
                  <a16:creationId xmlns:a16="http://schemas.microsoft.com/office/drawing/2014/main" id="{2AD65639-0E82-068C-295D-3B247249B80E}"/>
                </a:ext>
              </a:extLst>
            </p:cNvPr>
            <p:cNvGrpSpPr/>
            <p:nvPr/>
          </p:nvGrpSpPr>
          <p:grpSpPr>
            <a:xfrm rot="10314870">
              <a:off x="879302" y="2063412"/>
              <a:ext cx="1656184" cy="655462"/>
              <a:chOff x="1203798" y="3932441"/>
              <a:chExt cx="1656184" cy="655462"/>
            </a:xfrm>
          </p:grpSpPr>
          <p:cxnSp>
            <p:nvCxnSpPr>
              <p:cNvPr id="64" name="直線接點 63">
                <a:extLst>
                  <a:ext uri="{FF2B5EF4-FFF2-40B4-BE49-F238E27FC236}">
                    <a16:creationId xmlns:a16="http://schemas.microsoft.com/office/drawing/2014/main" id="{D91106CB-9E66-56F2-77C6-B98D2C79225A}"/>
                  </a:ext>
                </a:extLst>
              </p:cNvPr>
              <p:cNvCxnSpPr/>
              <p:nvPr/>
            </p:nvCxnSpPr>
            <p:spPr>
              <a:xfrm>
                <a:off x="2030692" y="4271780"/>
                <a:ext cx="806020" cy="153302"/>
              </a:xfrm>
              <a:prstGeom prst="line">
                <a:avLst/>
              </a:prstGeom>
              <a:ln w="3810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5" name="群組 64">
                <a:extLst>
                  <a:ext uri="{FF2B5EF4-FFF2-40B4-BE49-F238E27FC236}">
                    <a16:creationId xmlns:a16="http://schemas.microsoft.com/office/drawing/2014/main" id="{C921A9E6-3D59-AFCC-DFBA-5F77C971FA1B}"/>
                  </a:ext>
                </a:extLst>
              </p:cNvPr>
              <p:cNvGrpSpPr/>
              <p:nvPr/>
            </p:nvGrpSpPr>
            <p:grpSpPr>
              <a:xfrm rot="11445114">
                <a:off x="1203798" y="3932441"/>
                <a:ext cx="1656184" cy="655462"/>
                <a:chOff x="6804248" y="771550"/>
                <a:chExt cx="1656184" cy="655462"/>
              </a:xfrm>
            </p:grpSpPr>
            <p:cxnSp>
              <p:nvCxnSpPr>
                <p:cNvPr id="66" name="直線接點 65">
                  <a:extLst>
                    <a:ext uri="{FF2B5EF4-FFF2-40B4-BE49-F238E27FC236}">
                      <a16:creationId xmlns:a16="http://schemas.microsoft.com/office/drawing/2014/main" id="{2E5BE54A-A204-3AC9-086C-7E8D02E00140}"/>
                    </a:ext>
                  </a:extLst>
                </p:cNvPr>
                <p:cNvCxnSpPr/>
                <p:nvPr/>
              </p:nvCxnSpPr>
              <p:spPr>
                <a:xfrm>
                  <a:off x="6804248" y="771550"/>
                  <a:ext cx="0" cy="648072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直線接點 66">
                  <a:extLst>
                    <a:ext uri="{FF2B5EF4-FFF2-40B4-BE49-F238E27FC236}">
                      <a16:creationId xmlns:a16="http://schemas.microsoft.com/office/drawing/2014/main" id="{018FEBB4-B4CA-7F86-06A3-4F6130C260B1}"/>
                    </a:ext>
                  </a:extLst>
                </p:cNvPr>
                <p:cNvCxnSpPr/>
                <p:nvPr/>
              </p:nvCxnSpPr>
              <p:spPr>
                <a:xfrm>
                  <a:off x="6804248" y="1419622"/>
                  <a:ext cx="1656184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直線接點 67">
                  <a:extLst>
                    <a:ext uri="{FF2B5EF4-FFF2-40B4-BE49-F238E27FC236}">
                      <a16:creationId xmlns:a16="http://schemas.microsoft.com/office/drawing/2014/main" id="{0D4C27C5-D686-2210-BEE6-3EC31D3C6922}"/>
                    </a:ext>
                  </a:extLst>
                </p:cNvPr>
                <p:cNvCxnSpPr/>
                <p:nvPr/>
              </p:nvCxnSpPr>
              <p:spPr>
                <a:xfrm>
                  <a:off x="6804248" y="771550"/>
                  <a:ext cx="792088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直線接點 68">
                  <a:extLst>
                    <a:ext uri="{FF2B5EF4-FFF2-40B4-BE49-F238E27FC236}">
                      <a16:creationId xmlns:a16="http://schemas.microsoft.com/office/drawing/2014/main" id="{5F4935E5-CEC2-1E6D-10E6-086250426C4B}"/>
                    </a:ext>
                  </a:extLst>
                </p:cNvPr>
                <p:cNvCxnSpPr/>
                <p:nvPr/>
              </p:nvCxnSpPr>
              <p:spPr>
                <a:xfrm>
                  <a:off x="7596336" y="1103012"/>
                  <a:ext cx="86409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直線接點 69">
                  <a:extLst>
                    <a:ext uri="{FF2B5EF4-FFF2-40B4-BE49-F238E27FC236}">
                      <a16:creationId xmlns:a16="http://schemas.microsoft.com/office/drawing/2014/main" id="{F8CA24B3-0337-8947-9906-000E627C138F}"/>
                    </a:ext>
                  </a:extLst>
                </p:cNvPr>
                <p:cNvCxnSpPr/>
                <p:nvPr/>
              </p:nvCxnSpPr>
              <p:spPr>
                <a:xfrm>
                  <a:off x="8460432" y="1103012"/>
                  <a:ext cx="0" cy="32400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直線接點 70">
                  <a:extLst>
                    <a:ext uri="{FF2B5EF4-FFF2-40B4-BE49-F238E27FC236}">
                      <a16:creationId xmlns:a16="http://schemas.microsoft.com/office/drawing/2014/main" id="{2EEBC1CD-9541-2E52-0CFF-B0AD09DC31A2}"/>
                    </a:ext>
                  </a:extLst>
                </p:cNvPr>
                <p:cNvCxnSpPr/>
                <p:nvPr/>
              </p:nvCxnSpPr>
              <p:spPr>
                <a:xfrm>
                  <a:off x="7596336" y="771550"/>
                  <a:ext cx="0" cy="32400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59" name="文字方塊 58">
              <a:extLst>
                <a:ext uri="{FF2B5EF4-FFF2-40B4-BE49-F238E27FC236}">
                  <a16:creationId xmlns:a16="http://schemas.microsoft.com/office/drawing/2014/main" id="{11C86D3F-2827-A0AA-CF8D-196FAA43C196}"/>
                </a:ext>
              </a:extLst>
            </p:cNvPr>
            <p:cNvSpPr txBox="1"/>
            <p:nvPr/>
          </p:nvSpPr>
          <p:spPr>
            <a:xfrm>
              <a:off x="215516" y="2170345"/>
              <a:ext cx="50405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b="1" dirty="0">
                  <a:latin typeface="微軟正黑體" pitchFamily="34" charset="-120"/>
                  <a:ea typeface="微軟正黑體" pitchFamily="34" charset="-120"/>
                </a:rPr>
                <a:t>殘邊</a:t>
              </a:r>
            </a:p>
          </p:txBody>
        </p:sp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13CD743D-4F5F-B3AE-CBF4-A46247080BD2}"/>
                </a:ext>
              </a:extLst>
            </p:cNvPr>
            <p:cNvSpPr/>
            <p:nvPr/>
          </p:nvSpPr>
          <p:spPr>
            <a:xfrm>
              <a:off x="255249" y="2732068"/>
              <a:ext cx="1238050" cy="57090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b="1" dirty="0">
                  <a:solidFill>
                    <a:schemeClr val="tx1"/>
                  </a:solidFill>
                </a:rPr>
                <a:t>殘邊載台</a:t>
              </a:r>
              <a:endParaRPr lang="zh-TW" altLang="en-US" sz="900" b="1" dirty="0">
                <a:solidFill>
                  <a:schemeClr val="tx1"/>
                </a:solidFill>
              </a:endParaRPr>
            </a:p>
          </p:txBody>
        </p:sp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51DF5F76-7A05-6179-E18B-92AAF83F33C0}"/>
                </a:ext>
              </a:extLst>
            </p:cNvPr>
            <p:cNvSpPr/>
            <p:nvPr/>
          </p:nvSpPr>
          <p:spPr>
            <a:xfrm>
              <a:off x="689151" y="1041779"/>
              <a:ext cx="804148" cy="85522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b="1" dirty="0">
                  <a:solidFill>
                    <a:schemeClr val="tx1"/>
                  </a:solidFill>
                </a:rPr>
                <a:t>殘邊夾具</a:t>
              </a:r>
              <a:endParaRPr lang="zh-TW" altLang="en-US" sz="900" b="1" dirty="0">
                <a:solidFill>
                  <a:schemeClr val="tx1"/>
                </a:solidFill>
              </a:endParaRPr>
            </a:p>
          </p:txBody>
        </p:sp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C2F8D978-3463-08E8-F7D8-D080F78F4A8E}"/>
                </a:ext>
              </a:extLst>
            </p:cNvPr>
            <p:cNvSpPr/>
            <p:nvPr/>
          </p:nvSpPr>
          <p:spPr>
            <a:xfrm>
              <a:off x="2692851" y="2854553"/>
              <a:ext cx="936501" cy="57090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b="1" dirty="0">
                  <a:solidFill>
                    <a:schemeClr val="tx1"/>
                  </a:solidFill>
                </a:rPr>
                <a:t>主載台</a:t>
              </a:r>
              <a:endParaRPr lang="zh-TW" altLang="en-US" sz="900" b="1" dirty="0">
                <a:solidFill>
                  <a:schemeClr val="tx1"/>
                </a:solidFill>
              </a:endParaRPr>
            </a:p>
          </p:txBody>
        </p:sp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3840829A-0346-4076-0D6C-17C4EBE2A407}"/>
                </a:ext>
              </a:extLst>
            </p:cNvPr>
            <p:cNvSpPr/>
            <p:nvPr/>
          </p:nvSpPr>
          <p:spPr>
            <a:xfrm>
              <a:off x="2640368" y="861759"/>
              <a:ext cx="614483" cy="112051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b="1" dirty="0">
                  <a:solidFill>
                    <a:schemeClr val="tx1"/>
                  </a:solidFill>
                </a:rPr>
                <a:t>主</a:t>
              </a:r>
              <a:endParaRPr lang="en-US" altLang="zh-TW" b="1" dirty="0">
                <a:solidFill>
                  <a:schemeClr val="tx1"/>
                </a:solidFill>
              </a:endParaRPr>
            </a:p>
            <a:p>
              <a:pPr algn="ctr"/>
              <a:r>
                <a:rPr lang="zh-TW" altLang="en-US" b="1" dirty="0">
                  <a:solidFill>
                    <a:schemeClr val="tx1"/>
                  </a:solidFill>
                </a:rPr>
                <a:t>夾具</a:t>
              </a:r>
              <a:endParaRPr lang="zh-TW" altLang="en-US" sz="9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82" name="文字方塊 81">
            <a:extLst>
              <a:ext uri="{FF2B5EF4-FFF2-40B4-BE49-F238E27FC236}">
                <a16:creationId xmlns:a16="http://schemas.microsoft.com/office/drawing/2014/main" id="{76C7FAD7-90B4-B667-53D9-8A5354F8DE52}"/>
              </a:ext>
            </a:extLst>
          </p:cNvPr>
          <p:cNvSpPr txBox="1"/>
          <p:nvPr/>
        </p:nvSpPr>
        <p:spPr>
          <a:xfrm>
            <a:off x="8764860" y="2509016"/>
            <a:ext cx="34678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Noto Sans TC" panose="020B0200000000000000" pitchFamily="34" charset="-120"/>
                <a:ea typeface="Noto Sans TC" panose="020B0200000000000000" pitchFamily="34" charset="-120"/>
              </a:rPr>
              <a:t>基準水平線</a:t>
            </a:r>
          </a:p>
        </p:txBody>
      </p:sp>
      <p:grpSp>
        <p:nvGrpSpPr>
          <p:cNvPr id="108" name="群組 107">
            <a:extLst>
              <a:ext uri="{FF2B5EF4-FFF2-40B4-BE49-F238E27FC236}">
                <a16:creationId xmlns:a16="http://schemas.microsoft.com/office/drawing/2014/main" id="{5E6C3FA1-FAB4-F1A7-4DF3-5E3BE0EB1BBC}"/>
              </a:ext>
            </a:extLst>
          </p:cNvPr>
          <p:cNvGrpSpPr/>
          <p:nvPr/>
        </p:nvGrpSpPr>
        <p:grpSpPr>
          <a:xfrm flipH="1">
            <a:off x="4642146" y="1234672"/>
            <a:ext cx="3458246" cy="2457828"/>
            <a:chOff x="4420358" y="972206"/>
            <a:chExt cx="3458246" cy="2457828"/>
          </a:xfrm>
        </p:grpSpPr>
        <p:grpSp>
          <p:nvGrpSpPr>
            <p:cNvPr id="85" name="群組 84">
              <a:extLst>
                <a:ext uri="{FF2B5EF4-FFF2-40B4-BE49-F238E27FC236}">
                  <a16:creationId xmlns:a16="http://schemas.microsoft.com/office/drawing/2014/main" id="{D20D2169-D773-BB18-188F-1CEF5BEFBBB6}"/>
                </a:ext>
              </a:extLst>
            </p:cNvPr>
            <p:cNvGrpSpPr/>
            <p:nvPr/>
          </p:nvGrpSpPr>
          <p:grpSpPr>
            <a:xfrm rot="10800000">
              <a:off x="5975585" y="2184596"/>
              <a:ext cx="1656184" cy="648072"/>
              <a:chOff x="307263" y="3950407"/>
              <a:chExt cx="1656184" cy="648072"/>
            </a:xfrm>
          </p:grpSpPr>
          <p:cxnSp>
            <p:nvCxnSpPr>
              <p:cNvPr id="101" name="直線接點 100">
                <a:extLst>
                  <a:ext uri="{FF2B5EF4-FFF2-40B4-BE49-F238E27FC236}">
                    <a16:creationId xmlns:a16="http://schemas.microsoft.com/office/drawing/2014/main" id="{E7CB2E27-E59B-A5A0-441D-5AA5AA4148AC}"/>
                  </a:ext>
                </a:extLst>
              </p:cNvPr>
              <p:cNvCxnSpPr/>
              <p:nvPr/>
            </p:nvCxnSpPr>
            <p:spPr>
              <a:xfrm>
                <a:off x="307263" y="3950407"/>
                <a:ext cx="0" cy="648072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直線接點 101">
                <a:extLst>
                  <a:ext uri="{FF2B5EF4-FFF2-40B4-BE49-F238E27FC236}">
                    <a16:creationId xmlns:a16="http://schemas.microsoft.com/office/drawing/2014/main" id="{AF2BE92D-1D6F-0464-C533-FB90629A0DE4}"/>
                  </a:ext>
                </a:extLst>
              </p:cNvPr>
              <p:cNvCxnSpPr/>
              <p:nvPr/>
            </p:nvCxnSpPr>
            <p:spPr>
              <a:xfrm>
                <a:off x="307263" y="4598479"/>
                <a:ext cx="1656184" cy="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直線接點 102">
                <a:extLst>
                  <a:ext uri="{FF2B5EF4-FFF2-40B4-BE49-F238E27FC236}">
                    <a16:creationId xmlns:a16="http://schemas.microsoft.com/office/drawing/2014/main" id="{831AEC48-07FB-DC5F-EED0-CEA4DFB947F8}"/>
                  </a:ext>
                </a:extLst>
              </p:cNvPr>
              <p:cNvCxnSpPr/>
              <p:nvPr/>
            </p:nvCxnSpPr>
            <p:spPr>
              <a:xfrm>
                <a:off x="307263" y="3950407"/>
                <a:ext cx="792088" cy="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直線接點 103">
                <a:extLst>
                  <a:ext uri="{FF2B5EF4-FFF2-40B4-BE49-F238E27FC236}">
                    <a16:creationId xmlns:a16="http://schemas.microsoft.com/office/drawing/2014/main" id="{A373A043-6523-FAA3-0E55-89E578923053}"/>
                  </a:ext>
                </a:extLst>
              </p:cNvPr>
              <p:cNvCxnSpPr/>
              <p:nvPr/>
            </p:nvCxnSpPr>
            <p:spPr>
              <a:xfrm>
                <a:off x="1099351" y="3950407"/>
                <a:ext cx="0" cy="36004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直線接點 104">
                <a:extLst>
                  <a:ext uri="{FF2B5EF4-FFF2-40B4-BE49-F238E27FC236}">
                    <a16:creationId xmlns:a16="http://schemas.microsoft.com/office/drawing/2014/main" id="{A33DE9B0-28EB-1B3D-D973-E086A1029786}"/>
                  </a:ext>
                </a:extLst>
              </p:cNvPr>
              <p:cNvCxnSpPr/>
              <p:nvPr/>
            </p:nvCxnSpPr>
            <p:spPr>
              <a:xfrm>
                <a:off x="1099351" y="4310447"/>
                <a:ext cx="864096" cy="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直線接點 105">
                <a:extLst>
                  <a:ext uri="{FF2B5EF4-FFF2-40B4-BE49-F238E27FC236}">
                    <a16:creationId xmlns:a16="http://schemas.microsoft.com/office/drawing/2014/main" id="{635B8907-3FD7-AB50-2EEC-85A1E8665945}"/>
                  </a:ext>
                </a:extLst>
              </p:cNvPr>
              <p:cNvCxnSpPr/>
              <p:nvPr/>
            </p:nvCxnSpPr>
            <p:spPr>
              <a:xfrm>
                <a:off x="1963447" y="4310447"/>
                <a:ext cx="0" cy="288032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直線接點 106">
                <a:extLst>
                  <a:ext uri="{FF2B5EF4-FFF2-40B4-BE49-F238E27FC236}">
                    <a16:creationId xmlns:a16="http://schemas.microsoft.com/office/drawing/2014/main" id="{E1AD0FC3-BB14-95D4-E716-6B68BD1C8233}"/>
                  </a:ext>
                </a:extLst>
              </p:cNvPr>
              <p:cNvCxnSpPr/>
              <p:nvPr/>
            </p:nvCxnSpPr>
            <p:spPr>
              <a:xfrm>
                <a:off x="307263" y="4310447"/>
                <a:ext cx="792088" cy="0"/>
              </a:xfrm>
              <a:prstGeom prst="line">
                <a:avLst/>
              </a:prstGeom>
              <a:ln w="3810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6" name="文字方塊 85">
              <a:extLst>
                <a:ext uri="{FF2B5EF4-FFF2-40B4-BE49-F238E27FC236}">
                  <a16:creationId xmlns:a16="http://schemas.microsoft.com/office/drawing/2014/main" id="{A7C784BC-BABB-A414-4E68-D64904F16987}"/>
                </a:ext>
              </a:extLst>
            </p:cNvPr>
            <p:cNvSpPr txBox="1"/>
            <p:nvPr/>
          </p:nvSpPr>
          <p:spPr>
            <a:xfrm>
              <a:off x="5962783" y="2154295"/>
              <a:ext cx="112562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1600" b="1" dirty="0">
                  <a:latin typeface="微軟正黑體" pitchFamily="34" charset="-120"/>
                  <a:ea typeface="微軟正黑體" pitchFamily="34" charset="-120"/>
                </a:rPr>
                <a:t>金手指</a:t>
              </a:r>
              <a:r>
                <a:rPr lang="en-US" altLang="zh-TW" sz="1600" b="1" dirty="0">
                  <a:latin typeface="微軟正黑體" pitchFamily="34" charset="-120"/>
                  <a:ea typeface="微軟正黑體" pitchFamily="34" charset="-120"/>
                </a:rPr>
                <a:t>T</a:t>
              </a:r>
              <a:r>
                <a:rPr lang="zh-TW" altLang="en-US" sz="1600" b="1" dirty="0">
                  <a:latin typeface="微軟正黑體" pitchFamily="34" charset="-120"/>
                  <a:ea typeface="微軟正黑體" pitchFamily="34" charset="-120"/>
                </a:rPr>
                <a:t>側</a:t>
              </a:r>
            </a:p>
          </p:txBody>
        </p:sp>
        <p:grpSp>
          <p:nvGrpSpPr>
            <p:cNvPr id="87" name="群組 86">
              <a:extLst>
                <a:ext uri="{FF2B5EF4-FFF2-40B4-BE49-F238E27FC236}">
                  <a16:creationId xmlns:a16="http://schemas.microsoft.com/office/drawing/2014/main" id="{49649EC4-A46A-7DC9-088B-0AB718B4DD9C}"/>
                </a:ext>
              </a:extLst>
            </p:cNvPr>
            <p:cNvGrpSpPr/>
            <p:nvPr/>
          </p:nvGrpSpPr>
          <p:grpSpPr>
            <a:xfrm rot="11286458">
              <a:off x="5051365" y="2138756"/>
              <a:ext cx="1656184" cy="655462"/>
              <a:chOff x="1203798" y="3932441"/>
              <a:chExt cx="1656184" cy="655462"/>
            </a:xfrm>
          </p:grpSpPr>
          <p:cxnSp>
            <p:nvCxnSpPr>
              <p:cNvPr id="93" name="直線接點 92">
                <a:extLst>
                  <a:ext uri="{FF2B5EF4-FFF2-40B4-BE49-F238E27FC236}">
                    <a16:creationId xmlns:a16="http://schemas.microsoft.com/office/drawing/2014/main" id="{51501649-F1E6-A83D-0FBA-365AE80C39C6}"/>
                  </a:ext>
                </a:extLst>
              </p:cNvPr>
              <p:cNvCxnSpPr/>
              <p:nvPr/>
            </p:nvCxnSpPr>
            <p:spPr>
              <a:xfrm>
                <a:off x="2030692" y="4271780"/>
                <a:ext cx="806020" cy="153302"/>
              </a:xfrm>
              <a:prstGeom prst="line">
                <a:avLst/>
              </a:prstGeom>
              <a:ln w="3810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94" name="群組 93">
                <a:extLst>
                  <a:ext uri="{FF2B5EF4-FFF2-40B4-BE49-F238E27FC236}">
                    <a16:creationId xmlns:a16="http://schemas.microsoft.com/office/drawing/2014/main" id="{A8B96390-C2CE-AA6D-6D16-66019AB1872B}"/>
                  </a:ext>
                </a:extLst>
              </p:cNvPr>
              <p:cNvGrpSpPr/>
              <p:nvPr/>
            </p:nvGrpSpPr>
            <p:grpSpPr>
              <a:xfrm rot="11445114">
                <a:off x="1203798" y="3932441"/>
                <a:ext cx="1656184" cy="655462"/>
                <a:chOff x="6804248" y="771550"/>
                <a:chExt cx="1656184" cy="655462"/>
              </a:xfrm>
            </p:grpSpPr>
            <p:cxnSp>
              <p:nvCxnSpPr>
                <p:cNvPr id="95" name="直線接點 94">
                  <a:extLst>
                    <a:ext uri="{FF2B5EF4-FFF2-40B4-BE49-F238E27FC236}">
                      <a16:creationId xmlns:a16="http://schemas.microsoft.com/office/drawing/2014/main" id="{52350DA6-E457-5CE6-3CA5-50BF98D450B6}"/>
                    </a:ext>
                  </a:extLst>
                </p:cNvPr>
                <p:cNvCxnSpPr/>
                <p:nvPr/>
              </p:nvCxnSpPr>
              <p:spPr>
                <a:xfrm>
                  <a:off x="6804248" y="771550"/>
                  <a:ext cx="0" cy="648072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6" name="直線接點 95">
                  <a:extLst>
                    <a:ext uri="{FF2B5EF4-FFF2-40B4-BE49-F238E27FC236}">
                      <a16:creationId xmlns:a16="http://schemas.microsoft.com/office/drawing/2014/main" id="{C719D542-5B34-D36F-3478-30EC744D1415}"/>
                    </a:ext>
                  </a:extLst>
                </p:cNvPr>
                <p:cNvCxnSpPr/>
                <p:nvPr/>
              </p:nvCxnSpPr>
              <p:spPr>
                <a:xfrm>
                  <a:off x="6804248" y="1419622"/>
                  <a:ext cx="1656184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7" name="直線接點 96">
                  <a:extLst>
                    <a:ext uri="{FF2B5EF4-FFF2-40B4-BE49-F238E27FC236}">
                      <a16:creationId xmlns:a16="http://schemas.microsoft.com/office/drawing/2014/main" id="{98C70DA7-CF2E-D2C5-1953-B2E5C5BF95E0}"/>
                    </a:ext>
                  </a:extLst>
                </p:cNvPr>
                <p:cNvCxnSpPr/>
                <p:nvPr/>
              </p:nvCxnSpPr>
              <p:spPr>
                <a:xfrm>
                  <a:off x="6804248" y="771550"/>
                  <a:ext cx="792088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" name="直線接點 97">
                  <a:extLst>
                    <a:ext uri="{FF2B5EF4-FFF2-40B4-BE49-F238E27FC236}">
                      <a16:creationId xmlns:a16="http://schemas.microsoft.com/office/drawing/2014/main" id="{86567DFA-80D8-BCC4-969B-0FEAE6419F22}"/>
                    </a:ext>
                  </a:extLst>
                </p:cNvPr>
                <p:cNvCxnSpPr/>
                <p:nvPr/>
              </p:nvCxnSpPr>
              <p:spPr>
                <a:xfrm>
                  <a:off x="7596336" y="1103012"/>
                  <a:ext cx="86409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直線接點 98">
                  <a:extLst>
                    <a:ext uri="{FF2B5EF4-FFF2-40B4-BE49-F238E27FC236}">
                      <a16:creationId xmlns:a16="http://schemas.microsoft.com/office/drawing/2014/main" id="{DBC31C78-749E-402B-C080-5B5D4615EE64}"/>
                    </a:ext>
                  </a:extLst>
                </p:cNvPr>
                <p:cNvCxnSpPr/>
                <p:nvPr/>
              </p:nvCxnSpPr>
              <p:spPr>
                <a:xfrm>
                  <a:off x="8460432" y="1103012"/>
                  <a:ext cx="0" cy="32400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直線接點 99">
                  <a:extLst>
                    <a:ext uri="{FF2B5EF4-FFF2-40B4-BE49-F238E27FC236}">
                      <a16:creationId xmlns:a16="http://schemas.microsoft.com/office/drawing/2014/main" id="{A34005FD-A295-70C8-BB70-BD96BDDF82AB}"/>
                    </a:ext>
                  </a:extLst>
                </p:cNvPr>
                <p:cNvCxnSpPr/>
                <p:nvPr/>
              </p:nvCxnSpPr>
              <p:spPr>
                <a:xfrm>
                  <a:off x="7596336" y="771550"/>
                  <a:ext cx="0" cy="32400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88" name="文字方塊 87">
              <a:extLst>
                <a:ext uri="{FF2B5EF4-FFF2-40B4-BE49-F238E27FC236}">
                  <a16:creationId xmlns:a16="http://schemas.microsoft.com/office/drawing/2014/main" id="{14E81133-615D-6BCB-8065-17AADB904D9E}"/>
                </a:ext>
              </a:extLst>
            </p:cNvPr>
            <p:cNvSpPr txBox="1"/>
            <p:nvPr/>
          </p:nvSpPr>
          <p:spPr>
            <a:xfrm>
              <a:off x="4560018" y="2174924"/>
              <a:ext cx="50405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b="1" dirty="0">
                  <a:latin typeface="微軟正黑體" pitchFamily="34" charset="-120"/>
                  <a:ea typeface="微軟正黑體" pitchFamily="34" charset="-120"/>
                </a:rPr>
                <a:t>殘邊</a:t>
              </a:r>
            </a:p>
          </p:txBody>
        </p:sp>
        <p:sp>
          <p:nvSpPr>
            <p:cNvPr id="89" name="矩形 88">
              <a:extLst>
                <a:ext uri="{FF2B5EF4-FFF2-40B4-BE49-F238E27FC236}">
                  <a16:creationId xmlns:a16="http://schemas.microsoft.com/office/drawing/2014/main" id="{244D8E00-E525-FA89-E1E1-CF3841AD66D3}"/>
                </a:ext>
              </a:extLst>
            </p:cNvPr>
            <p:cNvSpPr/>
            <p:nvPr/>
          </p:nvSpPr>
          <p:spPr>
            <a:xfrm>
              <a:off x="4420358" y="2726960"/>
              <a:ext cx="1238050" cy="57090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b="1" dirty="0">
                  <a:solidFill>
                    <a:schemeClr val="tx1"/>
                  </a:solidFill>
                </a:rPr>
                <a:t>殘邊載台</a:t>
              </a:r>
              <a:endParaRPr lang="zh-TW" altLang="en-US" sz="900" b="1" dirty="0">
                <a:solidFill>
                  <a:schemeClr val="tx1"/>
                </a:solidFill>
              </a:endParaRPr>
            </a:p>
          </p:txBody>
        </p:sp>
        <p:sp>
          <p:nvSpPr>
            <p:cNvPr id="90" name="矩形 89">
              <a:extLst>
                <a:ext uri="{FF2B5EF4-FFF2-40B4-BE49-F238E27FC236}">
                  <a16:creationId xmlns:a16="http://schemas.microsoft.com/office/drawing/2014/main" id="{A3E60DBD-238D-AE08-2246-F42086295E60}"/>
                </a:ext>
              </a:extLst>
            </p:cNvPr>
            <p:cNvSpPr/>
            <p:nvPr/>
          </p:nvSpPr>
          <p:spPr>
            <a:xfrm>
              <a:off x="4854260" y="972206"/>
              <a:ext cx="804148" cy="85522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b="1" dirty="0">
                  <a:solidFill>
                    <a:schemeClr val="tx1"/>
                  </a:solidFill>
                </a:rPr>
                <a:t>殘邊夾具</a:t>
              </a:r>
              <a:endParaRPr lang="zh-TW" altLang="en-US" sz="900" b="1" dirty="0">
                <a:solidFill>
                  <a:schemeClr val="tx1"/>
                </a:solidFill>
              </a:endParaRPr>
            </a:p>
          </p:txBody>
        </p:sp>
        <p:sp>
          <p:nvSpPr>
            <p:cNvPr id="91" name="矩形 90">
              <a:extLst>
                <a:ext uri="{FF2B5EF4-FFF2-40B4-BE49-F238E27FC236}">
                  <a16:creationId xmlns:a16="http://schemas.microsoft.com/office/drawing/2014/main" id="{7977F12B-1A6D-9AC7-5513-B0A91C3E10D1}"/>
                </a:ext>
              </a:extLst>
            </p:cNvPr>
            <p:cNvSpPr/>
            <p:nvPr/>
          </p:nvSpPr>
          <p:spPr>
            <a:xfrm>
              <a:off x="6942103" y="2859132"/>
              <a:ext cx="936501" cy="57090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b="1" dirty="0">
                  <a:solidFill>
                    <a:schemeClr val="tx1"/>
                  </a:solidFill>
                </a:rPr>
                <a:t>主載台</a:t>
              </a:r>
              <a:endParaRPr lang="zh-TW" altLang="en-US" sz="900" b="1" dirty="0">
                <a:solidFill>
                  <a:schemeClr val="tx1"/>
                </a:solidFill>
              </a:endParaRPr>
            </a:p>
          </p:txBody>
        </p:sp>
        <p:sp>
          <p:nvSpPr>
            <p:cNvPr id="92" name="矩形 91">
              <a:extLst>
                <a:ext uri="{FF2B5EF4-FFF2-40B4-BE49-F238E27FC236}">
                  <a16:creationId xmlns:a16="http://schemas.microsoft.com/office/drawing/2014/main" id="{199E1556-02FA-C0AF-969D-62D1278ADC8C}"/>
                </a:ext>
              </a:extLst>
            </p:cNvPr>
            <p:cNvSpPr/>
            <p:nvPr/>
          </p:nvSpPr>
          <p:spPr>
            <a:xfrm>
              <a:off x="6943712" y="1039425"/>
              <a:ext cx="614483" cy="112051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b="1" dirty="0">
                  <a:solidFill>
                    <a:schemeClr val="tx1"/>
                  </a:solidFill>
                </a:rPr>
                <a:t>主</a:t>
              </a:r>
              <a:endParaRPr lang="en-US" altLang="zh-TW" b="1" dirty="0">
                <a:solidFill>
                  <a:schemeClr val="tx1"/>
                </a:solidFill>
              </a:endParaRPr>
            </a:p>
            <a:p>
              <a:pPr algn="ctr"/>
              <a:r>
                <a:rPr lang="zh-TW" altLang="en-US" b="1" dirty="0">
                  <a:solidFill>
                    <a:schemeClr val="tx1"/>
                  </a:solidFill>
                </a:rPr>
                <a:t>夾具</a:t>
              </a:r>
              <a:endParaRPr lang="zh-TW" altLang="en-US" sz="900" b="1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80" name="直線接點 79">
            <a:extLst>
              <a:ext uri="{FF2B5EF4-FFF2-40B4-BE49-F238E27FC236}">
                <a16:creationId xmlns:a16="http://schemas.microsoft.com/office/drawing/2014/main" id="{75514F76-E183-47BA-6832-519EE962ABAC}"/>
              </a:ext>
            </a:extLst>
          </p:cNvPr>
          <p:cNvCxnSpPr/>
          <p:nvPr/>
        </p:nvCxnSpPr>
        <p:spPr>
          <a:xfrm>
            <a:off x="107504" y="3117019"/>
            <a:ext cx="8964996" cy="0"/>
          </a:xfrm>
          <a:prstGeom prst="line">
            <a:avLst/>
          </a:prstGeom>
          <a:ln w="12700">
            <a:solidFill>
              <a:srgbClr val="00B050"/>
            </a:solidFill>
            <a:prstDash val="lg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線單箭頭接點 110">
            <a:extLst>
              <a:ext uri="{FF2B5EF4-FFF2-40B4-BE49-F238E27FC236}">
                <a16:creationId xmlns:a16="http://schemas.microsoft.com/office/drawing/2014/main" id="{7DC20BB9-6C77-BFF7-E758-3295ED48BFAE}"/>
              </a:ext>
            </a:extLst>
          </p:cNvPr>
          <p:cNvCxnSpPr>
            <a:stCxn id="117" idx="3"/>
            <a:endCxn id="113" idx="0"/>
          </p:cNvCxnSpPr>
          <p:nvPr/>
        </p:nvCxnSpPr>
        <p:spPr>
          <a:xfrm flipH="1">
            <a:off x="1945356" y="3095885"/>
            <a:ext cx="484631" cy="2609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文字方塊 112">
            <a:extLst>
              <a:ext uri="{FF2B5EF4-FFF2-40B4-BE49-F238E27FC236}">
                <a16:creationId xmlns:a16="http://schemas.microsoft.com/office/drawing/2014/main" id="{71F8F57A-46DD-4DA4-E782-60ED50C41A89}"/>
              </a:ext>
            </a:extLst>
          </p:cNvPr>
          <p:cNvSpPr txBox="1"/>
          <p:nvPr/>
        </p:nvSpPr>
        <p:spPr>
          <a:xfrm>
            <a:off x="1304440" y="3356803"/>
            <a:ext cx="128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latin typeface="Noto Sans TC" panose="020B0200000000000000" pitchFamily="34" charset="-120"/>
                <a:ea typeface="Noto Sans TC" panose="020B0200000000000000" pitchFamily="34" charset="-120"/>
              </a:rPr>
              <a:t>殘邊載台</a:t>
            </a:r>
            <a:endParaRPr lang="en-US" altLang="zh-TW" sz="1000" dirty="0">
              <a:latin typeface="Noto Sans TC" panose="020B0200000000000000" pitchFamily="34" charset="-120"/>
              <a:ea typeface="Noto Sans TC" panose="020B0200000000000000" pitchFamily="34" charset="-120"/>
            </a:endParaRPr>
          </a:p>
          <a:p>
            <a:r>
              <a:rPr lang="zh-TW" altLang="en-US" sz="1000" dirty="0">
                <a:latin typeface="Noto Sans TC" panose="020B0200000000000000" pitchFamily="34" charset="-120"/>
                <a:ea typeface="Noto Sans TC" panose="020B0200000000000000" pitchFamily="34" charset="-120"/>
              </a:rPr>
              <a:t>高於主載台</a:t>
            </a:r>
            <a:r>
              <a:rPr lang="en-US" altLang="zh-TW" sz="1000" dirty="0">
                <a:latin typeface="Noto Sans TC" panose="020B0200000000000000" pitchFamily="34" charset="-120"/>
                <a:ea typeface="Noto Sans TC" panose="020B0200000000000000" pitchFamily="34" charset="-120"/>
              </a:rPr>
              <a:t>0.2mm</a:t>
            </a:r>
            <a:endParaRPr lang="zh-TW" altLang="en-US" sz="1000" dirty="0"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  <p:sp>
        <p:nvSpPr>
          <p:cNvPr id="114" name="文字方塊 113">
            <a:extLst>
              <a:ext uri="{FF2B5EF4-FFF2-40B4-BE49-F238E27FC236}">
                <a16:creationId xmlns:a16="http://schemas.microsoft.com/office/drawing/2014/main" id="{DF8CDAB6-209B-1282-A7C9-5816474BB65C}"/>
              </a:ext>
            </a:extLst>
          </p:cNvPr>
          <p:cNvSpPr txBox="1"/>
          <p:nvPr/>
        </p:nvSpPr>
        <p:spPr>
          <a:xfrm>
            <a:off x="420713" y="4075361"/>
            <a:ext cx="29867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Noto Sans TC" panose="020B0200000000000000" pitchFamily="34" charset="-120"/>
                <a:ea typeface="Noto Sans TC" panose="020B0200000000000000" pitchFamily="34" charset="-120"/>
              </a:rPr>
              <a:t>玻璃放置於主載台上有輕微傾角</a:t>
            </a:r>
            <a:endParaRPr lang="en-US" altLang="zh-TW" dirty="0">
              <a:latin typeface="Noto Sans TC" panose="020B0200000000000000" pitchFamily="34" charset="-120"/>
              <a:ea typeface="Noto Sans TC" panose="020B0200000000000000" pitchFamily="34" charset="-120"/>
            </a:endParaRPr>
          </a:p>
          <a:p>
            <a:endParaRPr lang="zh-TW" altLang="en-US" dirty="0"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  <p:sp>
        <p:nvSpPr>
          <p:cNvPr id="117" name="橢圓 116">
            <a:extLst>
              <a:ext uri="{FF2B5EF4-FFF2-40B4-BE49-F238E27FC236}">
                <a16:creationId xmlns:a16="http://schemas.microsoft.com/office/drawing/2014/main" id="{8EC2A787-28F4-BBBD-CDDB-42218C5A948C}"/>
              </a:ext>
            </a:extLst>
          </p:cNvPr>
          <p:cNvSpPr/>
          <p:nvPr/>
        </p:nvSpPr>
        <p:spPr>
          <a:xfrm>
            <a:off x="2398351" y="2911497"/>
            <a:ext cx="216024" cy="21602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900" b="1" dirty="0">
              <a:solidFill>
                <a:schemeClr val="bg1"/>
              </a:solidFill>
            </a:endParaRPr>
          </a:p>
        </p:txBody>
      </p:sp>
      <p:cxnSp>
        <p:nvCxnSpPr>
          <p:cNvPr id="123" name="直線單箭頭接點 122">
            <a:extLst>
              <a:ext uri="{FF2B5EF4-FFF2-40B4-BE49-F238E27FC236}">
                <a16:creationId xmlns:a16="http://schemas.microsoft.com/office/drawing/2014/main" id="{2AA28181-9911-BEFB-7A11-FC52975CB50A}"/>
              </a:ext>
            </a:extLst>
          </p:cNvPr>
          <p:cNvCxnSpPr/>
          <p:nvPr/>
        </p:nvCxnSpPr>
        <p:spPr>
          <a:xfrm>
            <a:off x="4752020" y="1466064"/>
            <a:ext cx="0" cy="8130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文字方塊 123">
            <a:extLst>
              <a:ext uri="{FF2B5EF4-FFF2-40B4-BE49-F238E27FC236}">
                <a16:creationId xmlns:a16="http://schemas.microsoft.com/office/drawing/2014/main" id="{849DE830-8CA0-9ED3-8E33-083A5F98F14C}"/>
              </a:ext>
            </a:extLst>
          </p:cNvPr>
          <p:cNvSpPr txBox="1"/>
          <p:nvPr/>
        </p:nvSpPr>
        <p:spPr>
          <a:xfrm>
            <a:off x="4206774" y="1204993"/>
            <a:ext cx="9201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>
                <a:solidFill>
                  <a:srgbClr val="0066FF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1.</a:t>
            </a:r>
            <a:r>
              <a:rPr lang="zh-TW" altLang="en-US" sz="1000" b="1" dirty="0">
                <a:solidFill>
                  <a:srgbClr val="0066FF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面板夾持</a:t>
            </a:r>
          </a:p>
        </p:txBody>
      </p:sp>
      <p:sp>
        <p:nvSpPr>
          <p:cNvPr id="125" name="文字方塊 124">
            <a:extLst>
              <a:ext uri="{FF2B5EF4-FFF2-40B4-BE49-F238E27FC236}">
                <a16:creationId xmlns:a16="http://schemas.microsoft.com/office/drawing/2014/main" id="{7F24DD7E-A395-4546-8CA1-5B31B4C486A7}"/>
              </a:ext>
            </a:extLst>
          </p:cNvPr>
          <p:cNvSpPr txBox="1"/>
          <p:nvPr/>
        </p:nvSpPr>
        <p:spPr>
          <a:xfrm>
            <a:off x="5963597" y="1737779"/>
            <a:ext cx="8987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>
                <a:solidFill>
                  <a:srgbClr val="0066FF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2.</a:t>
            </a:r>
            <a:r>
              <a:rPr lang="zh-TW" altLang="en-US" sz="1000" b="1" dirty="0">
                <a:solidFill>
                  <a:srgbClr val="0066FF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自然沿裂</a:t>
            </a:r>
          </a:p>
        </p:txBody>
      </p:sp>
      <p:cxnSp>
        <p:nvCxnSpPr>
          <p:cNvPr id="126" name="直線單箭頭接點 125">
            <a:extLst>
              <a:ext uri="{FF2B5EF4-FFF2-40B4-BE49-F238E27FC236}">
                <a16:creationId xmlns:a16="http://schemas.microsoft.com/office/drawing/2014/main" id="{70DC1EE7-F820-7AAE-5434-DEEFCED443A4}"/>
              </a:ext>
            </a:extLst>
          </p:cNvPr>
          <p:cNvCxnSpPr>
            <a:stCxn id="125" idx="2"/>
          </p:cNvCxnSpPr>
          <p:nvPr/>
        </p:nvCxnSpPr>
        <p:spPr>
          <a:xfrm>
            <a:off x="6412969" y="1984000"/>
            <a:ext cx="112191" cy="4073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文字方塊 128">
            <a:extLst>
              <a:ext uri="{FF2B5EF4-FFF2-40B4-BE49-F238E27FC236}">
                <a16:creationId xmlns:a16="http://schemas.microsoft.com/office/drawing/2014/main" id="{701E18FB-BEDE-CB22-9CBF-AE29DBC76729}"/>
              </a:ext>
            </a:extLst>
          </p:cNvPr>
          <p:cNvSpPr txBox="1"/>
          <p:nvPr/>
        </p:nvSpPr>
        <p:spPr>
          <a:xfrm>
            <a:off x="7663751" y="1401066"/>
            <a:ext cx="9663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>
                <a:solidFill>
                  <a:srgbClr val="0066FF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3.</a:t>
            </a:r>
            <a:r>
              <a:rPr lang="zh-TW" altLang="en-US" sz="1000" b="1" dirty="0">
                <a:solidFill>
                  <a:srgbClr val="0066FF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殘邊夾持</a:t>
            </a:r>
          </a:p>
        </p:txBody>
      </p:sp>
      <p:cxnSp>
        <p:nvCxnSpPr>
          <p:cNvPr id="130" name="直線單箭頭接點 129">
            <a:extLst>
              <a:ext uri="{FF2B5EF4-FFF2-40B4-BE49-F238E27FC236}">
                <a16:creationId xmlns:a16="http://schemas.microsoft.com/office/drawing/2014/main" id="{85AF0622-1EFF-8925-489E-2294E09E19D3}"/>
              </a:ext>
            </a:extLst>
          </p:cNvPr>
          <p:cNvCxnSpPr/>
          <p:nvPr/>
        </p:nvCxnSpPr>
        <p:spPr>
          <a:xfrm>
            <a:off x="7798554" y="1662283"/>
            <a:ext cx="0" cy="5060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線單箭頭接點 132">
            <a:extLst>
              <a:ext uri="{FF2B5EF4-FFF2-40B4-BE49-F238E27FC236}">
                <a16:creationId xmlns:a16="http://schemas.microsoft.com/office/drawing/2014/main" id="{D344887B-DF19-0024-AC22-4B8D78A25A81}"/>
              </a:ext>
            </a:extLst>
          </p:cNvPr>
          <p:cNvCxnSpPr/>
          <p:nvPr/>
        </p:nvCxnSpPr>
        <p:spPr>
          <a:xfrm>
            <a:off x="7989648" y="3330027"/>
            <a:ext cx="406596" cy="2894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文字方塊 133">
            <a:extLst>
              <a:ext uri="{FF2B5EF4-FFF2-40B4-BE49-F238E27FC236}">
                <a16:creationId xmlns:a16="http://schemas.microsoft.com/office/drawing/2014/main" id="{04337F97-D685-CEC5-F0F1-DC55E0D0B21C}"/>
              </a:ext>
            </a:extLst>
          </p:cNvPr>
          <p:cNvSpPr txBox="1"/>
          <p:nvPr/>
        </p:nvSpPr>
        <p:spPr>
          <a:xfrm>
            <a:off x="7746907" y="3562305"/>
            <a:ext cx="8336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>
                <a:solidFill>
                  <a:srgbClr val="0066FF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4.</a:t>
            </a:r>
            <a:r>
              <a:rPr lang="zh-TW" altLang="en-US" sz="1000" b="1" dirty="0">
                <a:solidFill>
                  <a:srgbClr val="0066FF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載台</a:t>
            </a:r>
            <a:br>
              <a:rPr lang="en-US" altLang="zh-TW" sz="1000" b="1" dirty="0">
                <a:solidFill>
                  <a:srgbClr val="0066FF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</a:br>
            <a:r>
              <a:rPr lang="zh-TW" altLang="en-US" sz="1000" b="1" dirty="0">
                <a:solidFill>
                  <a:srgbClr val="0066FF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拉開除料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35D2B86-1694-CCFF-D29C-3E8D48033DC4}"/>
              </a:ext>
            </a:extLst>
          </p:cNvPr>
          <p:cNvSpPr txBox="1"/>
          <p:nvPr/>
        </p:nvSpPr>
        <p:spPr>
          <a:xfrm>
            <a:off x="4924388" y="4074663"/>
            <a:ext cx="316625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Noto Sans TC" panose="020B0200000000000000" pitchFamily="34" charset="-120"/>
                <a:ea typeface="Noto Sans TC" panose="020B0200000000000000" pitchFamily="34" charset="-120"/>
              </a:rPr>
              <a:t>主夾具夾持造成殘邊發生自然沿裂</a:t>
            </a:r>
            <a:endParaRPr lang="en-US" altLang="zh-TW" dirty="0">
              <a:latin typeface="Noto Sans TC" panose="020B0200000000000000" pitchFamily="34" charset="-120"/>
              <a:ea typeface="Noto Sans TC" panose="020B0200000000000000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Noto Sans TC" panose="020B0200000000000000" pitchFamily="34" charset="-120"/>
                <a:ea typeface="Noto Sans TC" panose="020B0200000000000000" pitchFamily="34" charset="-120"/>
              </a:rPr>
              <a:t>殘邊夾具夾持殘邊後進行脫離動作</a:t>
            </a:r>
            <a:endParaRPr lang="en-US" altLang="zh-TW" dirty="0">
              <a:latin typeface="Noto Sans TC" panose="020B0200000000000000" pitchFamily="34" charset="-120"/>
              <a:ea typeface="Noto Sans TC" panose="020B0200000000000000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TW" altLang="en-US" dirty="0"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054031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443FD-D240-75D8-2668-609CF8A17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: 圓角 11">
            <a:extLst>
              <a:ext uri="{FF2B5EF4-FFF2-40B4-BE49-F238E27FC236}">
                <a16:creationId xmlns:a16="http://schemas.microsoft.com/office/drawing/2014/main" id="{3A0090B0-5B13-08BB-DF8E-90CE5BA92253}"/>
              </a:ext>
            </a:extLst>
          </p:cNvPr>
          <p:cNvSpPr/>
          <p:nvPr/>
        </p:nvSpPr>
        <p:spPr>
          <a:xfrm>
            <a:off x="3838301" y="3025221"/>
            <a:ext cx="1090697" cy="205200"/>
          </a:xfrm>
          <a:prstGeom prst="roundRect">
            <a:avLst/>
          </a:prstGeom>
          <a:solidFill>
            <a:schemeClr val="accent5">
              <a:lumMod val="60000"/>
              <a:lumOff val="40000"/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kern="1200"/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19B582B9-9785-E337-068D-982571191BAF}"/>
              </a:ext>
            </a:extLst>
          </p:cNvPr>
          <p:cNvSpPr/>
          <p:nvPr/>
        </p:nvSpPr>
        <p:spPr>
          <a:xfrm>
            <a:off x="1317416" y="3025221"/>
            <a:ext cx="1123069" cy="205754"/>
          </a:xfrm>
          <a:prstGeom prst="roundRect">
            <a:avLst/>
          </a:prstGeom>
          <a:solidFill>
            <a:schemeClr val="accent2">
              <a:lumMod val="20000"/>
              <a:lumOff val="80000"/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kern="1200"/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3A0090B0-5B13-08BB-DF8E-90CE5BA92253}"/>
              </a:ext>
            </a:extLst>
          </p:cNvPr>
          <p:cNvSpPr/>
          <p:nvPr/>
        </p:nvSpPr>
        <p:spPr>
          <a:xfrm>
            <a:off x="2578232" y="3025221"/>
            <a:ext cx="1081892" cy="205200"/>
          </a:xfrm>
          <a:prstGeom prst="roundRect">
            <a:avLst/>
          </a:prstGeom>
          <a:solidFill>
            <a:schemeClr val="accent3">
              <a:lumMod val="60000"/>
              <a:lumOff val="40000"/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kern="1200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E87DA4C2-8F69-DE1C-5B7E-1D7B0A353F6C}"/>
              </a:ext>
            </a:extLst>
          </p:cNvPr>
          <p:cNvSpPr/>
          <p:nvPr/>
        </p:nvSpPr>
        <p:spPr>
          <a:xfrm>
            <a:off x="2776169" y="3701799"/>
            <a:ext cx="2133071" cy="1309396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900" b="1" dirty="0">
              <a:solidFill>
                <a:schemeClr val="bg1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C66E7BC-DC69-F727-2F4C-89B760FAEBA3}"/>
              </a:ext>
            </a:extLst>
          </p:cNvPr>
          <p:cNvSpPr/>
          <p:nvPr/>
        </p:nvSpPr>
        <p:spPr>
          <a:xfrm>
            <a:off x="225216" y="3711609"/>
            <a:ext cx="2455550" cy="1308309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900" b="1" dirty="0">
              <a:solidFill>
                <a:schemeClr val="bg1"/>
              </a:solidFill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D301DD7-37FE-95ED-56D2-0F0A6FACDD92}"/>
              </a:ext>
            </a:extLst>
          </p:cNvPr>
          <p:cNvSpPr/>
          <p:nvPr/>
        </p:nvSpPr>
        <p:spPr>
          <a:xfrm>
            <a:off x="5041192" y="3702886"/>
            <a:ext cx="2455550" cy="1308309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900" b="1" dirty="0">
              <a:solidFill>
                <a:schemeClr val="bg1"/>
              </a:solidFill>
            </a:endParaRPr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91EB1EDB-2DB9-4817-D30C-F3C385F3141A}"/>
              </a:ext>
            </a:extLst>
          </p:cNvPr>
          <p:cNvSpPr txBox="1"/>
          <p:nvPr/>
        </p:nvSpPr>
        <p:spPr>
          <a:xfrm>
            <a:off x="2826868" y="4594152"/>
            <a:ext cx="2072018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TW" altLang="en-US" sz="1000" b="1" dirty="0">
                <a:solidFill>
                  <a:srgbClr val="0070C0"/>
                </a:solidFill>
              </a:rPr>
              <a:t>自動</a:t>
            </a:r>
            <a:r>
              <a:rPr lang="zh-TW" altLang="en-US" sz="1000" dirty="0"/>
              <a:t>測試機</a:t>
            </a:r>
            <a:endParaRPr lang="en-US" altLang="zh-TW" sz="1000" dirty="0"/>
          </a:p>
          <a:p>
            <a:pPr algn="ctr"/>
            <a:r>
              <a:rPr lang="zh-TW" altLang="en-US" sz="1000" dirty="0"/>
              <a:t>面板放置後全自動剝片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38F2F00A-4B38-D456-0B63-97C9151C1E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N-Cut </a:t>
            </a:r>
            <a:r>
              <a:rPr lang="zh-TW" altLang="en-US" dirty="0"/>
              <a:t>測試開發</a:t>
            </a:r>
          </a:p>
        </p:txBody>
      </p:sp>
      <p:graphicFrame>
        <p:nvGraphicFramePr>
          <p:cNvPr id="10" name="圖表 9">
            <a:extLst>
              <a:ext uri="{FF2B5EF4-FFF2-40B4-BE49-F238E27FC236}">
                <a16:creationId xmlns:a16="http://schemas.microsoft.com/office/drawing/2014/main" id="{40E5E428-B152-8FE6-DC18-185BA923D1D6}"/>
              </a:ext>
            </a:extLst>
          </p:cNvPr>
          <p:cNvGraphicFramePr/>
          <p:nvPr/>
        </p:nvGraphicFramePr>
        <p:xfrm>
          <a:off x="382665" y="956734"/>
          <a:ext cx="5213802" cy="25130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" name="文字方塊 13">
            <a:extLst>
              <a:ext uri="{FF2B5EF4-FFF2-40B4-BE49-F238E27FC236}">
                <a16:creationId xmlns:a16="http://schemas.microsoft.com/office/drawing/2014/main" id="{8B47FC61-7310-B260-4E49-B9B73EFE8B67}"/>
              </a:ext>
            </a:extLst>
          </p:cNvPr>
          <p:cNvSpPr txBox="1"/>
          <p:nvPr/>
        </p:nvSpPr>
        <p:spPr>
          <a:xfrm>
            <a:off x="645747" y="4594152"/>
            <a:ext cx="16144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000" dirty="0"/>
              <a:t>調整夾持材料</a:t>
            </a:r>
            <a:endParaRPr lang="en-US" altLang="zh-TW" sz="1000" dirty="0"/>
          </a:p>
          <a:p>
            <a:pPr algn="ctr"/>
            <a:r>
              <a:rPr lang="zh-TW" altLang="en-US" sz="1000" dirty="0"/>
              <a:t>提高夾持力度、避免滑片</a:t>
            </a:r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B8A78DD0-C579-E633-FA15-AD34E9D27F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7192" y="3797300"/>
            <a:ext cx="876904" cy="717650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D1187DD0-8C55-A061-2CD0-C9562A76C18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0574" y="3797300"/>
            <a:ext cx="1201102" cy="717650"/>
          </a:xfrm>
          <a:prstGeom prst="rect">
            <a:avLst/>
          </a:prstGeom>
          <a:scene3d>
            <a:camera prst="orthographicFront">
              <a:rot lat="1080000" lon="10800000" rev="0"/>
            </a:camera>
            <a:lightRig rig="threePt" dir="t"/>
          </a:scene3d>
        </p:spPr>
      </p:pic>
      <p:cxnSp>
        <p:nvCxnSpPr>
          <p:cNvPr id="25" name="接點: 肘形 24">
            <a:extLst>
              <a:ext uri="{FF2B5EF4-FFF2-40B4-BE49-F238E27FC236}">
                <a16:creationId xmlns:a16="http://schemas.microsoft.com/office/drawing/2014/main" id="{7A03289C-36F8-6740-F71B-9F1986FF5BFB}"/>
              </a:ext>
            </a:extLst>
          </p:cNvPr>
          <p:cNvCxnSpPr>
            <a:cxnSpLocks/>
            <a:stCxn id="11" idx="2"/>
            <a:endCxn id="21" idx="0"/>
          </p:cNvCxnSpPr>
          <p:nvPr/>
        </p:nvCxnSpPr>
        <p:spPr>
          <a:xfrm rot="5400000">
            <a:off x="1425654" y="3258312"/>
            <a:ext cx="480634" cy="425960"/>
          </a:xfrm>
          <a:prstGeom prst="bentConnector3">
            <a:avLst>
              <a:gd name="adj1" fmla="val 64092"/>
            </a:avLst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7" name="圖片 26">
            <a:extLst>
              <a:ext uri="{FF2B5EF4-FFF2-40B4-BE49-F238E27FC236}">
                <a16:creationId xmlns:a16="http://schemas.microsoft.com/office/drawing/2014/main" id="{1BE297C7-B14E-67AB-A30C-99C8B92ADB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3107" y="3739114"/>
            <a:ext cx="1056818" cy="812288"/>
          </a:xfrm>
          <a:prstGeom prst="rect">
            <a:avLst/>
          </a:prstGeom>
        </p:spPr>
      </p:pic>
      <p:sp>
        <p:nvSpPr>
          <p:cNvPr id="29" name="文字方塊 28">
            <a:extLst>
              <a:ext uri="{FF2B5EF4-FFF2-40B4-BE49-F238E27FC236}">
                <a16:creationId xmlns:a16="http://schemas.microsoft.com/office/drawing/2014/main" id="{4EFDC2D2-2715-6253-6EC6-B098409E0D40}"/>
              </a:ext>
            </a:extLst>
          </p:cNvPr>
          <p:cNvSpPr txBox="1"/>
          <p:nvPr/>
        </p:nvSpPr>
        <p:spPr>
          <a:xfrm>
            <a:off x="5461723" y="4594152"/>
            <a:ext cx="16144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000" b="1" dirty="0">
                <a:solidFill>
                  <a:srgbClr val="0070C0"/>
                </a:solidFill>
              </a:rPr>
              <a:t>殘邊高度</a:t>
            </a:r>
            <a:r>
              <a:rPr lang="zh-TW" altLang="en-US" sz="1000" dirty="0"/>
              <a:t>為</a:t>
            </a:r>
            <a:r>
              <a:rPr lang="zh-TW" altLang="en-US" sz="1000" dirty="0">
                <a:solidFill>
                  <a:srgbClr val="C00000"/>
                </a:solidFill>
              </a:rPr>
              <a:t>關鍵參數</a:t>
            </a:r>
            <a:endParaRPr lang="en-US" altLang="zh-TW" sz="1000" dirty="0">
              <a:solidFill>
                <a:srgbClr val="C00000"/>
              </a:solidFill>
            </a:endParaRPr>
          </a:p>
          <a:p>
            <a:pPr algn="ctr"/>
            <a:r>
              <a:rPr lang="zh-TW" altLang="en-US" sz="1000" dirty="0"/>
              <a:t>加入</a:t>
            </a:r>
            <a:r>
              <a:rPr lang="en-US" altLang="zh-TW" sz="1000" dirty="0"/>
              <a:t>Z</a:t>
            </a:r>
            <a:r>
              <a:rPr lang="zh-TW" altLang="en-US" sz="1000" dirty="0"/>
              <a:t>軸微調滑台</a:t>
            </a:r>
          </a:p>
        </p:txBody>
      </p:sp>
      <p:pic>
        <p:nvPicPr>
          <p:cNvPr id="31" name="圖片 30">
            <a:extLst>
              <a:ext uri="{FF2B5EF4-FFF2-40B4-BE49-F238E27FC236}">
                <a16:creationId xmlns:a16="http://schemas.microsoft.com/office/drawing/2014/main" id="{24B6A07A-BEA2-0C2F-BDCC-795779993C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958" y="3745859"/>
            <a:ext cx="1019175" cy="822254"/>
          </a:xfrm>
          <a:prstGeom prst="rect">
            <a:avLst/>
          </a:prstGeom>
        </p:spPr>
      </p:pic>
      <p:cxnSp>
        <p:nvCxnSpPr>
          <p:cNvPr id="36" name="接點: 肘形 35">
            <a:extLst>
              <a:ext uri="{FF2B5EF4-FFF2-40B4-BE49-F238E27FC236}">
                <a16:creationId xmlns:a16="http://schemas.microsoft.com/office/drawing/2014/main" id="{F40B273F-B283-D225-BD16-71BCAB10C43F}"/>
              </a:ext>
            </a:extLst>
          </p:cNvPr>
          <p:cNvCxnSpPr>
            <a:cxnSpLocks/>
            <a:stCxn id="12" idx="2"/>
            <a:endCxn id="57" idx="0"/>
          </p:cNvCxnSpPr>
          <p:nvPr/>
        </p:nvCxnSpPr>
        <p:spPr>
          <a:xfrm rot="16200000" flipH="1">
            <a:off x="3245252" y="3104346"/>
            <a:ext cx="471378" cy="723527"/>
          </a:xfrm>
          <a:prstGeom prst="bentConnector3">
            <a:avLst>
              <a:gd name="adj1" fmla="val 66165"/>
            </a:avLst>
          </a:prstGeom>
          <a:ln w="127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1" name="接點: 肘形 40">
            <a:extLst>
              <a:ext uri="{FF2B5EF4-FFF2-40B4-BE49-F238E27FC236}">
                <a16:creationId xmlns:a16="http://schemas.microsoft.com/office/drawing/2014/main" id="{4EB1846D-3604-DDF0-C867-8929EF7D2DBC}"/>
              </a:ext>
            </a:extLst>
          </p:cNvPr>
          <p:cNvCxnSpPr>
            <a:cxnSpLocks/>
            <a:stCxn id="37" idx="2"/>
            <a:endCxn id="64" idx="1"/>
          </p:cNvCxnSpPr>
          <p:nvPr/>
        </p:nvCxnSpPr>
        <p:spPr>
          <a:xfrm rot="5400000" flipH="1" flipV="1">
            <a:off x="4431740" y="1769523"/>
            <a:ext cx="1412807" cy="1508989"/>
          </a:xfrm>
          <a:prstGeom prst="bentConnector4">
            <a:avLst>
              <a:gd name="adj1" fmla="val -10188"/>
              <a:gd name="adj2" fmla="val 87147"/>
            </a:avLst>
          </a:prstGeom>
          <a:ln w="1270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58" name="圖片 57">
            <a:extLst>
              <a:ext uri="{FF2B5EF4-FFF2-40B4-BE49-F238E27FC236}">
                <a16:creationId xmlns:a16="http://schemas.microsoft.com/office/drawing/2014/main" id="{2F62459B-3D97-C957-C568-BF8E86F1301F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0322"/>
          <a:stretch/>
        </p:blipFill>
        <p:spPr>
          <a:xfrm>
            <a:off x="6063672" y="282328"/>
            <a:ext cx="2688925" cy="2573171"/>
          </a:xfrm>
          <a:prstGeom prst="rect">
            <a:avLst/>
          </a:prstGeom>
        </p:spPr>
      </p:pic>
      <p:sp>
        <p:nvSpPr>
          <p:cNvPr id="60" name="文字方塊 59">
            <a:extLst>
              <a:ext uri="{FF2B5EF4-FFF2-40B4-BE49-F238E27FC236}">
                <a16:creationId xmlns:a16="http://schemas.microsoft.com/office/drawing/2014/main" id="{DEFC34A2-B5CA-8571-0942-45BD037CAC9A}"/>
              </a:ext>
            </a:extLst>
          </p:cNvPr>
          <p:cNvSpPr txBox="1"/>
          <p:nvPr/>
        </p:nvSpPr>
        <p:spPr>
          <a:xfrm>
            <a:off x="6148637" y="2879449"/>
            <a:ext cx="26039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/>
              <a:t>批量測試、獲取製程參數</a:t>
            </a:r>
            <a:endParaRPr lang="en-US" altLang="zh-TW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TW" sz="1000" dirty="0"/>
              <a:t>Z</a:t>
            </a:r>
            <a:r>
              <a:rPr lang="zh-TW" altLang="en-US" sz="1000" dirty="0"/>
              <a:t>軸高度差：</a:t>
            </a:r>
            <a:r>
              <a:rPr lang="en-US" altLang="zh-TW" sz="1000" dirty="0"/>
              <a:t>0.3+-0.1mm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sz="1000" dirty="0"/>
              <a:t>刀輪壓力：</a:t>
            </a:r>
            <a:r>
              <a:rPr lang="en-US" altLang="zh-TW" sz="1000" dirty="0"/>
              <a:t>100~130gf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535DC0B5-D9F4-6989-8F23-D5A29D9F02DE}"/>
              </a:ext>
            </a:extLst>
          </p:cNvPr>
          <p:cNvSpPr/>
          <p:nvPr/>
        </p:nvSpPr>
        <p:spPr>
          <a:xfrm>
            <a:off x="5892639" y="177831"/>
            <a:ext cx="2968130" cy="3279566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900" b="1" dirty="0">
              <a:solidFill>
                <a:schemeClr val="bg1"/>
              </a:solidFill>
            </a:endParaRPr>
          </a:p>
        </p:txBody>
      </p:sp>
      <p:cxnSp>
        <p:nvCxnSpPr>
          <p:cNvPr id="39" name="接點: 肘形 35">
            <a:extLst>
              <a:ext uri="{FF2B5EF4-FFF2-40B4-BE49-F238E27FC236}">
                <a16:creationId xmlns:a16="http://schemas.microsoft.com/office/drawing/2014/main" id="{F40B273F-B283-D225-BD16-71BCAB10C43F}"/>
              </a:ext>
            </a:extLst>
          </p:cNvPr>
          <p:cNvCxnSpPr>
            <a:cxnSpLocks/>
            <a:stCxn id="37" idx="2"/>
            <a:endCxn id="33" idx="0"/>
          </p:cNvCxnSpPr>
          <p:nvPr/>
        </p:nvCxnSpPr>
        <p:spPr>
          <a:xfrm rot="16200000" flipH="1">
            <a:off x="5090076" y="2523994"/>
            <a:ext cx="472465" cy="1885317"/>
          </a:xfrm>
          <a:prstGeom prst="bentConnector3">
            <a:avLst>
              <a:gd name="adj1" fmla="val 69712"/>
            </a:avLst>
          </a:prstGeom>
          <a:ln w="1270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59" name="圖片 5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62877" y="3756908"/>
            <a:ext cx="972158" cy="854178"/>
          </a:xfrm>
          <a:prstGeom prst="rect">
            <a:avLst/>
          </a:prstGeom>
        </p:spPr>
      </p:pic>
      <p:pic>
        <p:nvPicPr>
          <p:cNvPr id="62" name="圖片 6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73465" y="3756908"/>
            <a:ext cx="927501" cy="873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52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2DBC6-8835-0A4D-5E2F-81C37DE4D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: 圓角 10">
            <a:extLst>
              <a:ext uri="{FF2B5EF4-FFF2-40B4-BE49-F238E27FC236}">
                <a16:creationId xmlns:a16="http://schemas.microsoft.com/office/drawing/2014/main" id="{19B582B9-9785-E337-068D-982571191BAF}"/>
              </a:ext>
            </a:extLst>
          </p:cNvPr>
          <p:cNvSpPr/>
          <p:nvPr/>
        </p:nvSpPr>
        <p:spPr>
          <a:xfrm>
            <a:off x="840192" y="2772479"/>
            <a:ext cx="766077" cy="265529"/>
          </a:xfrm>
          <a:prstGeom prst="roundRect">
            <a:avLst/>
          </a:prstGeom>
          <a:solidFill>
            <a:schemeClr val="accent2">
              <a:lumMod val="20000"/>
              <a:lumOff val="80000"/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kern="1200"/>
          </a:p>
        </p:txBody>
      </p:sp>
      <p:sp>
        <p:nvSpPr>
          <p:cNvPr id="25" name="矩形: 圓角 10">
            <a:extLst>
              <a:ext uri="{FF2B5EF4-FFF2-40B4-BE49-F238E27FC236}">
                <a16:creationId xmlns:a16="http://schemas.microsoft.com/office/drawing/2014/main" id="{19B582B9-9785-E337-068D-982571191BAF}"/>
              </a:ext>
            </a:extLst>
          </p:cNvPr>
          <p:cNvSpPr/>
          <p:nvPr/>
        </p:nvSpPr>
        <p:spPr>
          <a:xfrm>
            <a:off x="2100893" y="2762417"/>
            <a:ext cx="766077" cy="265529"/>
          </a:xfrm>
          <a:prstGeom prst="roundRect">
            <a:avLst/>
          </a:prstGeom>
          <a:solidFill>
            <a:schemeClr val="accent3">
              <a:lumMod val="60000"/>
              <a:lumOff val="40000"/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kern="1200"/>
          </a:p>
        </p:txBody>
      </p:sp>
      <p:sp>
        <p:nvSpPr>
          <p:cNvPr id="34" name="矩形: 圓角 10">
            <a:extLst>
              <a:ext uri="{FF2B5EF4-FFF2-40B4-BE49-F238E27FC236}">
                <a16:creationId xmlns:a16="http://schemas.microsoft.com/office/drawing/2014/main" id="{19B582B9-9785-E337-068D-982571191BAF}"/>
              </a:ext>
            </a:extLst>
          </p:cNvPr>
          <p:cNvSpPr/>
          <p:nvPr/>
        </p:nvSpPr>
        <p:spPr>
          <a:xfrm>
            <a:off x="3395141" y="2772479"/>
            <a:ext cx="766077" cy="265529"/>
          </a:xfrm>
          <a:prstGeom prst="roundRect">
            <a:avLst/>
          </a:prstGeom>
          <a:solidFill>
            <a:schemeClr val="accent5">
              <a:lumMod val="60000"/>
              <a:lumOff val="40000"/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kern="120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0B718D5-87C4-339A-F2FC-4AFDCEF9CF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sz="2400" dirty="0"/>
              <a:t>Just-Cut</a:t>
            </a:r>
            <a:r>
              <a:rPr lang="zh-TW" altLang="en-US" sz="2400" dirty="0"/>
              <a:t> 測試開發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E4DC138A-CDF0-B21C-B074-C6B8E5419B0A}"/>
              </a:ext>
            </a:extLst>
          </p:cNvPr>
          <p:cNvSpPr txBox="1"/>
          <p:nvPr/>
        </p:nvSpPr>
        <p:spPr>
          <a:xfrm>
            <a:off x="2311415" y="4430293"/>
            <a:ext cx="16144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000" dirty="0">
                <a:solidFill>
                  <a:srgbClr val="0070C0"/>
                </a:solidFill>
              </a:rPr>
              <a:t>柔性爪</a:t>
            </a:r>
            <a:r>
              <a:rPr lang="zh-TW" altLang="en-US" sz="1000" dirty="0"/>
              <a:t>模擬人員手指特性</a:t>
            </a:r>
            <a:endParaRPr lang="en-US" altLang="zh-TW" sz="1000" dirty="0"/>
          </a:p>
          <a:p>
            <a:pPr algn="ctr"/>
            <a:r>
              <a:rPr lang="zh-TW" altLang="en-US" sz="1000" dirty="0"/>
              <a:t>避免應力造成玻璃破損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2278074-70BC-AB19-536D-57F84624EC67}"/>
              </a:ext>
            </a:extLst>
          </p:cNvPr>
          <p:cNvSpPr/>
          <p:nvPr/>
        </p:nvSpPr>
        <p:spPr>
          <a:xfrm>
            <a:off x="1890884" y="3503655"/>
            <a:ext cx="2455550" cy="1308309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900" b="1" dirty="0">
              <a:solidFill>
                <a:schemeClr val="bg1"/>
              </a:solidFill>
            </a:endParaRPr>
          </a:p>
        </p:txBody>
      </p:sp>
      <p:pic>
        <p:nvPicPr>
          <p:cNvPr id="37" name="Picture 1" descr="e4fc8500-c16b-4132-8e12-c510814e9e3e@auo">
            <a:extLst>
              <a:ext uri="{FF2B5EF4-FFF2-40B4-BE49-F238E27FC236}">
                <a16:creationId xmlns:a16="http://schemas.microsoft.com/office/drawing/2014/main" id="{D64E852C-2884-049A-C01D-F59426CDB9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255" b="17250"/>
          <a:stretch/>
        </p:blipFill>
        <p:spPr bwMode="auto">
          <a:xfrm flipH="1">
            <a:off x="1992123" y="3539882"/>
            <a:ext cx="811263" cy="8904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" name="圖片 37">
            <a:extLst>
              <a:ext uri="{FF2B5EF4-FFF2-40B4-BE49-F238E27FC236}">
                <a16:creationId xmlns:a16="http://schemas.microsoft.com/office/drawing/2014/main" id="{491996DB-3D73-3F23-EBF4-8497D29344A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955" t="19185" r="15152" b="17751"/>
          <a:stretch/>
        </p:blipFill>
        <p:spPr>
          <a:xfrm>
            <a:off x="2863656" y="3539883"/>
            <a:ext cx="755286" cy="890160"/>
          </a:xfrm>
          <a:prstGeom prst="rect">
            <a:avLst/>
          </a:prstGeom>
        </p:spPr>
      </p:pic>
      <p:pic>
        <p:nvPicPr>
          <p:cNvPr id="39" name="圖片 38">
            <a:extLst>
              <a:ext uri="{FF2B5EF4-FFF2-40B4-BE49-F238E27FC236}">
                <a16:creationId xmlns:a16="http://schemas.microsoft.com/office/drawing/2014/main" id="{3FB1230D-9E27-E593-C349-C479C446D80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3707523" y="3564045"/>
            <a:ext cx="478522" cy="861070"/>
          </a:xfrm>
          <a:prstGeom prst="rect">
            <a:avLst/>
          </a:prstGeom>
        </p:spPr>
      </p:pic>
      <p:sp>
        <p:nvSpPr>
          <p:cNvPr id="40" name="橢圓 39">
            <a:extLst>
              <a:ext uri="{FF2B5EF4-FFF2-40B4-BE49-F238E27FC236}">
                <a16:creationId xmlns:a16="http://schemas.microsoft.com/office/drawing/2014/main" id="{8B658756-C62C-75F9-3D2A-4243FDBFEF9A}"/>
              </a:ext>
            </a:extLst>
          </p:cNvPr>
          <p:cNvSpPr/>
          <p:nvPr/>
        </p:nvSpPr>
        <p:spPr>
          <a:xfrm>
            <a:off x="2252550" y="3927087"/>
            <a:ext cx="209550" cy="206191"/>
          </a:xfrm>
          <a:prstGeom prst="ellipse">
            <a:avLst/>
          </a:prstGeom>
          <a:solidFill>
            <a:schemeClr val="accent1">
              <a:lumMod val="20000"/>
              <a:lumOff val="80000"/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900" b="1" dirty="0">
              <a:solidFill>
                <a:schemeClr val="bg1"/>
              </a:solidFill>
            </a:endParaRPr>
          </a:p>
        </p:txBody>
      </p:sp>
      <p:sp>
        <p:nvSpPr>
          <p:cNvPr id="41" name="橢圓 40">
            <a:extLst>
              <a:ext uri="{FF2B5EF4-FFF2-40B4-BE49-F238E27FC236}">
                <a16:creationId xmlns:a16="http://schemas.microsoft.com/office/drawing/2014/main" id="{5E0ADEEA-54D4-7A50-709D-CCA0B741B28D}"/>
              </a:ext>
            </a:extLst>
          </p:cNvPr>
          <p:cNvSpPr/>
          <p:nvPr/>
        </p:nvSpPr>
        <p:spPr>
          <a:xfrm>
            <a:off x="3184669" y="3626843"/>
            <a:ext cx="209550" cy="206191"/>
          </a:xfrm>
          <a:prstGeom prst="ellipse">
            <a:avLst/>
          </a:prstGeom>
          <a:solidFill>
            <a:schemeClr val="accent1">
              <a:lumMod val="20000"/>
              <a:lumOff val="80000"/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900" b="1" dirty="0">
              <a:solidFill>
                <a:schemeClr val="bg1"/>
              </a:solidFill>
            </a:endParaRPr>
          </a:p>
        </p:txBody>
      </p:sp>
      <p:graphicFrame>
        <p:nvGraphicFramePr>
          <p:cNvPr id="18" name="圖表 17"/>
          <p:cNvGraphicFramePr>
            <a:graphicFrameLocks/>
          </p:cNvGraphicFramePr>
          <p:nvPr/>
        </p:nvGraphicFramePr>
        <p:xfrm>
          <a:off x="220872" y="880182"/>
          <a:ext cx="4889607" cy="22357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A2278074-70BC-AB19-536D-57F84624EC67}"/>
              </a:ext>
            </a:extLst>
          </p:cNvPr>
          <p:cNvSpPr/>
          <p:nvPr/>
        </p:nvSpPr>
        <p:spPr>
          <a:xfrm>
            <a:off x="335450" y="3503655"/>
            <a:ext cx="1358959" cy="1308309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900" b="1" dirty="0">
              <a:solidFill>
                <a:schemeClr val="bg1"/>
              </a:solidFill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547" y="3539882"/>
            <a:ext cx="1027187" cy="887853"/>
          </a:xfrm>
          <a:prstGeom prst="rect">
            <a:avLst/>
          </a:prstGeom>
        </p:spPr>
      </p:pic>
      <p:sp>
        <p:nvSpPr>
          <p:cNvPr id="22" name="文字方塊 21">
            <a:extLst>
              <a:ext uri="{FF2B5EF4-FFF2-40B4-BE49-F238E27FC236}">
                <a16:creationId xmlns:a16="http://schemas.microsoft.com/office/drawing/2014/main" id="{E4DC138A-CDF0-B21C-B074-C6B8E5419B0A}"/>
              </a:ext>
            </a:extLst>
          </p:cNvPr>
          <p:cNvSpPr txBox="1"/>
          <p:nvPr/>
        </p:nvSpPr>
        <p:spPr>
          <a:xfrm>
            <a:off x="346458" y="4427735"/>
            <a:ext cx="13369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dirty="0"/>
              <a:t>HY</a:t>
            </a:r>
            <a:r>
              <a:rPr lang="zh-TW" altLang="en-US" sz="1000" dirty="0"/>
              <a:t>治具設計</a:t>
            </a:r>
            <a:r>
              <a:rPr lang="en-US" altLang="zh-TW" sz="1000" dirty="0">
                <a:solidFill>
                  <a:srgbClr val="0070C0"/>
                </a:solidFill>
              </a:rPr>
              <a:t>(</a:t>
            </a:r>
            <a:r>
              <a:rPr lang="zh-TW" altLang="en-US" sz="1000" dirty="0">
                <a:solidFill>
                  <a:srgbClr val="0070C0"/>
                </a:solidFill>
              </a:rPr>
              <a:t>剛性</a:t>
            </a:r>
            <a:r>
              <a:rPr lang="en-US" altLang="zh-TW" sz="1000" dirty="0">
                <a:solidFill>
                  <a:srgbClr val="0070C0"/>
                </a:solidFill>
              </a:rPr>
              <a:t>)</a:t>
            </a:r>
          </a:p>
          <a:p>
            <a:pPr algn="ctr"/>
            <a:r>
              <a:rPr lang="zh-TW" altLang="en-US" sz="1000" dirty="0"/>
              <a:t>殘邊過小無法剝除</a:t>
            </a:r>
            <a:endParaRPr lang="en-US" altLang="zh-TW" sz="1000" dirty="0"/>
          </a:p>
        </p:txBody>
      </p:sp>
      <p:cxnSp>
        <p:nvCxnSpPr>
          <p:cNvPr id="24" name="接點: 肘形 24">
            <a:extLst>
              <a:ext uri="{FF2B5EF4-FFF2-40B4-BE49-F238E27FC236}">
                <a16:creationId xmlns:a16="http://schemas.microsoft.com/office/drawing/2014/main" id="{7A03289C-36F8-6740-F71B-9F1986FF5BFB}"/>
              </a:ext>
            </a:extLst>
          </p:cNvPr>
          <p:cNvCxnSpPr>
            <a:cxnSpLocks/>
            <a:stCxn id="23" idx="2"/>
            <a:endCxn id="19" idx="0"/>
          </p:cNvCxnSpPr>
          <p:nvPr/>
        </p:nvCxnSpPr>
        <p:spPr>
          <a:xfrm rot="5400000">
            <a:off x="886258" y="3166681"/>
            <a:ext cx="465647" cy="208301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接點: 肘形 24">
            <a:extLst>
              <a:ext uri="{FF2B5EF4-FFF2-40B4-BE49-F238E27FC236}">
                <a16:creationId xmlns:a16="http://schemas.microsoft.com/office/drawing/2014/main" id="{7A03289C-36F8-6740-F71B-9F1986FF5BFB}"/>
              </a:ext>
            </a:extLst>
          </p:cNvPr>
          <p:cNvCxnSpPr>
            <a:cxnSpLocks/>
            <a:stCxn id="25" idx="2"/>
            <a:endCxn id="21" idx="0"/>
          </p:cNvCxnSpPr>
          <p:nvPr/>
        </p:nvCxnSpPr>
        <p:spPr>
          <a:xfrm rot="16200000" flipH="1">
            <a:off x="2563441" y="2948436"/>
            <a:ext cx="475709" cy="634727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13" name="群組 12"/>
          <p:cNvGrpSpPr/>
          <p:nvPr/>
        </p:nvGrpSpPr>
        <p:grpSpPr>
          <a:xfrm>
            <a:off x="5422895" y="1350398"/>
            <a:ext cx="3506330" cy="3588332"/>
            <a:chOff x="5087384" y="214182"/>
            <a:chExt cx="3506330" cy="3588332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A2278074-70BC-AB19-536D-57F84624EC67}"/>
                </a:ext>
              </a:extLst>
            </p:cNvPr>
            <p:cNvSpPr/>
            <p:nvPr/>
          </p:nvSpPr>
          <p:spPr>
            <a:xfrm>
              <a:off x="5087384" y="214182"/>
              <a:ext cx="3506330" cy="358833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900" b="1" dirty="0">
                <a:solidFill>
                  <a:schemeClr val="bg1"/>
                </a:solidFill>
              </a:endParaRPr>
            </a:p>
          </p:txBody>
        </p:sp>
        <p:pic>
          <p:nvPicPr>
            <p:cNvPr id="50" name="圖片 49">
              <a:extLst>
                <a:ext uri="{FF2B5EF4-FFF2-40B4-BE49-F238E27FC236}">
                  <a16:creationId xmlns:a16="http://schemas.microsoft.com/office/drawing/2014/main" id="{FCA4DB2F-D889-F71B-24B1-FCB752644E2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l="1570" r="1360"/>
            <a:stretch/>
          </p:blipFill>
          <p:spPr>
            <a:xfrm>
              <a:off x="5142422" y="236715"/>
              <a:ext cx="3403600" cy="1584990"/>
            </a:xfrm>
            <a:prstGeom prst="rect">
              <a:avLst/>
            </a:prstGeom>
          </p:spPr>
        </p:pic>
        <p:sp>
          <p:nvSpPr>
            <p:cNvPr id="51" name="文字方塊 50">
              <a:extLst>
                <a:ext uri="{FF2B5EF4-FFF2-40B4-BE49-F238E27FC236}">
                  <a16:creationId xmlns:a16="http://schemas.microsoft.com/office/drawing/2014/main" id="{5F53FF93-03C2-2F2B-D30E-CB4BE144C348}"/>
                </a:ext>
              </a:extLst>
            </p:cNvPr>
            <p:cNvSpPr txBox="1"/>
            <p:nvPr/>
          </p:nvSpPr>
          <p:spPr>
            <a:xfrm>
              <a:off x="5679778" y="1819371"/>
              <a:ext cx="6749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900" dirty="0"/>
                <a:t>柔爪碰觸力量</a:t>
              </a:r>
            </a:p>
          </p:txBody>
        </p:sp>
        <p:sp>
          <p:nvSpPr>
            <p:cNvPr id="52" name="文字方塊 51">
              <a:extLst>
                <a:ext uri="{FF2B5EF4-FFF2-40B4-BE49-F238E27FC236}">
                  <a16:creationId xmlns:a16="http://schemas.microsoft.com/office/drawing/2014/main" id="{4AA2EBF2-6F30-DEF6-F9C1-7A5000599DE8}"/>
                </a:ext>
              </a:extLst>
            </p:cNvPr>
            <p:cNvSpPr txBox="1"/>
            <p:nvPr/>
          </p:nvSpPr>
          <p:spPr>
            <a:xfrm>
              <a:off x="6354692" y="1819371"/>
              <a:ext cx="6749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900" dirty="0"/>
                <a:t>玻璃切割深度</a:t>
              </a:r>
            </a:p>
          </p:txBody>
        </p:sp>
        <p:sp>
          <p:nvSpPr>
            <p:cNvPr id="54" name="文字方塊 53">
              <a:extLst>
                <a:ext uri="{FF2B5EF4-FFF2-40B4-BE49-F238E27FC236}">
                  <a16:creationId xmlns:a16="http://schemas.microsoft.com/office/drawing/2014/main" id="{B24E13AC-7F99-1620-3A5E-AA68560E8115}"/>
                </a:ext>
              </a:extLst>
            </p:cNvPr>
            <p:cNvSpPr txBox="1"/>
            <p:nvPr/>
          </p:nvSpPr>
          <p:spPr>
            <a:xfrm>
              <a:off x="5267228" y="2367438"/>
              <a:ext cx="3252074" cy="12464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TW" altLang="en-US" b="1" dirty="0"/>
                <a:t>可正常撥片參數</a:t>
              </a:r>
              <a:endParaRPr lang="en-US" altLang="zh-TW" b="1" dirty="0"/>
            </a:p>
            <a:p>
              <a:pPr marL="180000" indent="-180000">
                <a:buFont typeface="+mj-lt"/>
                <a:buAutoNum type="arabicPeriod"/>
              </a:pPr>
              <a:r>
                <a:rPr lang="zh-TW" altLang="en-US" sz="1200" dirty="0"/>
                <a:t>刀輪壓力大於</a:t>
              </a:r>
              <a:r>
                <a:rPr lang="en-US" altLang="zh-TW" sz="1200" dirty="0"/>
                <a:t>110gf</a:t>
              </a:r>
            </a:p>
            <a:p>
              <a:pPr marL="180000" indent="-180000">
                <a:buFont typeface="+mj-lt"/>
                <a:buAutoNum type="arabicPeriod"/>
              </a:pPr>
              <a:r>
                <a:rPr lang="zh-TW" altLang="en-US" sz="1200" dirty="0"/>
                <a:t>柔爪壓力控制於</a:t>
              </a:r>
              <a:r>
                <a:rPr lang="en-US" altLang="zh-TW" sz="1200" dirty="0"/>
                <a:t>15~30kPa</a:t>
              </a:r>
            </a:p>
            <a:p>
              <a:r>
                <a:rPr lang="zh-TW" altLang="en-US" b="1" dirty="0"/>
                <a:t>後續實驗項目</a:t>
              </a:r>
              <a:endParaRPr lang="en-US" altLang="zh-TW" b="1" dirty="0"/>
            </a:p>
            <a:p>
              <a:pPr marL="180000" indent="-180000">
                <a:buFont typeface="+mj-lt"/>
                <a:buAutoNum type="arabicPeriod"/>
              </a:pPr>
              <a:r>
                <a:rPr lang="zh-TW" altLang="en-US" sz="1200" dirty="0"/>
                <a:t>確定目前產品製程刀輪壓力範圍</a:t>
              </a:r>
              <a:endParaRPr lang="en-US" altLang="zh-TW" sz="1200" dirty="0"/>
            </a:p>
            <a:p>
              <a:pPr marL="180000" indent="-180000">
                <a:buFont typeface="+mj-lt"/>
                <a:buAutoNum type="arabicPeriod"/>
              </a:pPr>
              <a:r>
                <a:rPr lang="zh-TW" altLang="en-US" sz="1200" dirty="0"/>
                <a:t>使用極端樣品測試剝片能力 </a:t>
              </a:r>
              <a:r>
                <a:rPr lang="en-US" altLang="zh-TW" sz="1200" dirty="0"/>
                <a:t>(</a:t>
              </a:r>
              <a:r>
                <a:rPr lang="zh-TW" altLang="en-US" sz="1200" dirty="0"/>
                <a:t>滲透率</a:t>
              </a:r>
              <a:r>
                <a:rPr lang="en-US" altLang="zh-TW" sz="1200" dirty="0"/>
                <a:t>&lt;70%)</a:t>
              </a:r>
            </a:p>
          </p:txBody>
        </p:sp>
      </p:grp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F527FCC9-4B5F-143A-1DE6-6A6F58ABEACE}"/>
              </a:ext>
            </a:extLst>
          </p:cNvPr>
          <p:cNvSpPr txBox="1"/>
          <p:nvPr/>
        </p:nvSpPr>
        <p:spPr>
          <a:xfrm>
            <a:off x="2971781" y="780368"/>
            <a:ext cx="1605155" cy="41227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9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TW" altLang="en-US" sz="10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批量測試</a:t>
            </a:r>
            <a:r>
              <a:rPr lang="en-US" altLang="zh-TW" sz="10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(50Pcs)</a:t>
            </a:r>
            <a:r>
              <a:rPr lang="zh-TW" altLang="en-US" sz="10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、</a:t>
            </a:r>
            <a:br>
              <a:rPr lang="en-US" altLang="zh-TW" sz="105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zh-TW" altLang="en-US" sz="10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獲取更多製程參數</a:t>
            </a:r>
            <a:endParaRPr lang="en-US" altLang="zh-TW" sz="105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30" name="接點: 肘形 64">
            <a:extLst>
              <a:ext uri="{FF2B5EF4-FFF2-40B4-BE49-F238E27FC236}">
                <a16:creationId xmlns:a16="http://schemas.microsoft.com/office/drawing/2014/main" id="{2515B9C7-2F35-75C0-B867-76A67E17C2EB}"/>
              </a:ext>
            </a:extLst>
          </p:cNvPr>
          <p:cNvCxnSpPr>
            <a:cxnSpLocks/>
            <a:stCxn id="25" idx="2"/>
            <a:endCxn id="28" idx="1"/>
          </p:cNvCxnSpPr>
          <p:nvPr/>
        </p:nvCxnSpPr>
        <p:spPr>
          <a:xfrm rot="16200000" flipH="1">
            <a:off x="3895104" y="1616773"/>
            <a:ext cx="116618" cy="2938963"/>
          </a:xfrm>
          <a:prstGeom prst="bentConnector2">
            <a:avLst/>
          </a:prstGeom>
          <a:ln w="127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2" name="向上箭號 41"/>
          <p:cNvSpPr/>
          <p:nvPr/>
        </p:nvSpPr>
        <p:spPr>
          <a:xfrm>
            <a:off x="3609955" y="1258721"/>
            <a:ext cx="343778" cy="323307"/>
          </a:xfrm>
          <a:prstGeom prst="upArrow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32679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FF07C6-B86C-E3F3-9C3B-42EF759843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92825AB-DE9D-B2B1-F806-97F90C5947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4435688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E574CDA7-72C8-9025-3524-433096D54A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4280" y="3504217"/>
            <a:ext cx="596256" cy="281951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54A91E30-151B-D8A8-B921-53E182C480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7372" y="3504216"/>
            <a:ext cx="596256" cy="281951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7F2DF66E-5143-8EE5-1E51-814AE02FB8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5005" y="3504216"/>
            <a:ext cx="596256" cy="281951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44F35264-63C4-AC51-66FA-FAB723106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6304" y="952162"/>
            <a:ext cx="596256" cy="281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7748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312744" y="1742699"/>
            <a:ext cx="1111863" cy="152400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sp>
        <p:nvSpPr>
          <p:cNvPr id="18" name="矩形 17"/>
          <p:cNvSpPr/>
          <p:nvPr/>
        </p:nvSpPr>
        <p:spPr>
          <a:xfrm>
            <a:off x="488537" y="1895101"/>
            <a:ext cx="183881" cy="9631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sp>
        <p:nvSpPr>
          <p:cNvPr id="19" name="矩形 18"/>
          <p:cNvSpPr/>
          <p:nvPr/>
        </p:nvSpPr>
        <p:spPr>
          <a:xfrm>
            <a:off x="317278" y="1748372"/>
            <a:ext cx="95863" cy="73706"/>
          </a:xfrm>
          <a:prstGeom prst="rect">
            <a:avLst/>
          </a:prstGeom>
          <a:solidFill>
            <a:srgbClr val="FFC000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sp>
        <p:nvSpPr>
          <p:cNvPr id="20" name="矩形 19"/>
          <p:cNvSpPr/>
          <p:nvPr/>
        </p:nvSpPr>
        <p:spPr>
          <a:xfrm>
            <a:off x="1306947" y="1748372"/>
            <a:ext cx="95863" cy="73706"/>
          </a:xfrm>
          <a:prstGeom prst="rect">
            <a:avLst/>
          </a:prstGeom>
          <a:solidFill>
            <a:srgbClr val="FFC000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sp>
        <p:nvSpPr>
          <p:cNvPr id="96" name="矩形 95"/>
          <p:cNvSpPr/>
          <p:nvPr/>
        </p:nvSpPr>
        <p:spPr>
          <a:xfrm>
            <a:off x="748965" y="1895101"/>
            <a:ext cx="183881" cy="9631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sp>
        <p:nvSpPr>
          <p:cNvPr id="97" name="矩形 96"/>
          <p:cNvSpPr/>
          <p:nvPr/>
        </p:nvSpPr>
        <p:spPr>
          <a:xfrm>
            <a:off x="1009393" y="1895101"/>
            <a:ext cx="183881" cy="9631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sp>
        <p:nvSpPr>
          <p:cNvPr id="98" name="矩形 97"/>
          <p:cNvSpPr/>
          <p:nvPr/>
        </p:nvSpPr>
        <p:spPr>
          <a:xfrm>
            <a:off x="1269820" y="1895101"/>
            <a:ext cx="183881" cy="9631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sp>
        <p:nvSpPr>
          <p:cNvPr id="21" name="文字方塊 20"/>
          <p:cNvSpPr txBox="1"/>
          <p:nvPr/>
        </p:nvSpPr>
        <p:spPr>
          <a:xfrm>
            <a:off x="1383933" y="1847807"/>
            <a:ext cx="96726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/>
              <a:t>Roller</a:t>
            </a:r>
            <a:endParaRPr lang="zh-TW" altLang="en-US" sz="800" dirty="0"/>
          </a:p>
        </p:txBody>
      </p:sp>
      <p:grpSp>
        <p:nvGrpSpPr>
          <p:cNvPr id="108" name="群組 107"/>
          <p:cNvGrpSpPr/>
          <p:nvPr/>
        </p:nvGrpSpPr>
        <p:grpSpPr>
          <a:xfrm>
            <a:off x="273046" y="1158126"/>
            <a:ext cx="201547" cy="913897"/>
            <a:chOff x="867914" y="627534"/>
            <a:chExt cx="263137" cy="1323102"/>
          </a:xfrm>
        </p:grpSpPr>
        <p:pic>
          <p:nvPicPr>
            <p:cNvPr id="109" name="圖片 108"/>
            <p:cNvPicPr>
              <a:picLocks noChangeAspect="1"/>
            </p:cNvPicPr>
            <p:nvPr/>
          </p:nvPicPr>
          <p:blipFill rotWithShape="1">
            <a:blip r:embed="rId2"/>
            <a:srcRect l="1481" t="52844" r="89483" b="20477"/>
            <a:stretch/>
          </p:blipFill>
          <p:spPr>
            <a:xfrm flipH="1" flipV="1">
              <a:off x="867914" y="627534"/>
              <a:ext cx="263137" cy="531245"/>
            </a:xfrm>
            <a:prstGeom prst="rect">
              <a:avLst/>
            </a:prstGeom>
          </p:spPr>
        </p:pic>
        <p:grpSp>
          <p:nvGrpSpPr>
            <p:cNvPr id="110" name="群組 109"/>
            <p:cNvGrpSpPr/>
            <p:nvPr/>
          </p:nvGrpSpPr>
          <p:grpSpPr>
            <a:xfrm>
              <a:off x="877945" y="1112724"/>
              <a:ext cx="239454" cy="837912"/>
              <a:chOff x="1016492" y="1393199"/>
              <a:chExt cx="665677" cy="2329377"/>
            </a:xfrm>
          </p:grpSpPr>
          <p:cxnSp>
            <p:nvCxnSpPr>
              <p:cNvPr id="111" name="直線接點 110"/>
              <p:cNvCxnSpPr/>
              <p:nvPr/>
            </p:nvCxnSpPr>
            <p:spPr>
              <a:xfrm>
                <a:off x="1353037" y="1393200"/>
                <a:ext cx="0" cy="2329376"/>
              </a:xfrm>
              <a:prstGeom prst="line">
                <a:avLst/>
              </a:prstGeom>
              <a:ln w="12700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直線接點 111"/>
              <p:cNvCxnSpPr/>
              <p:nvPr/>
            </p:nvCxnSpPr>
            <p:spPr>
              <a:xfrm flipH="1">
                <a:off x="1016492" y="1412252"/>
                <a:ext cx="334566" cy="2300058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直線接點 112"/>
              <p:cNvCxnSpPr/>
              <p:nvPr/>
            </p:nvCxnSpPr>
            <p:spPr>
              <a:xfrm>
                <a:off x="1347603" y="1393199"/>
                <a:ext cx="334566" cy="2300058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24" name="文字方塊 123"/>
          <p:cNvSpPr txBox="1"/>
          <p:nvPr/>
        </p:nvSpPr>
        <p:spPr>
          <a:xfrm>
            <a:off x="226651" y="809925"/>
            <a:ext cx="208633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50" dirty="0"/>
              <a:t>正面 </a:t>
            </a:r>
            <a:r>
              <a:rPr lang="zh-TW" altLang="en-US" sz="1050" dirty="0">
                <a:solidFill>
                  <a:srgbClr val="0000FF"/>
                </a:solidFill>
              </a:rPr>
              <a:t>刮傷 </a:t>
            </a:r>
            <a:r>
              <a:rPr lang="en-US" altLang="zh-TW" sz="1050" dirty="0">
                <a:solidFill>
                  <a:srgbClr val="0000FF"/>
                </a:solidFill>
              </a:rPr>
              <a:t>/</a:t>
            </a:r>
            <a:r>
              <a:rPr lang="zh-TW" altLang="en-US" sz="1050" dirty="0">
                <a:solidFill>
                  <a:srgbClr val="0000FF"/>
                </a:solidFill>
              </a:rPr>
              <a:t>可撥膠 </a:t>
            </a:r>
            <a:r>
              <a:rPr lang="zh-TW" altLang="en-US" sz="1050" dirty="0"/>
              <a:t>環形光</a:t>
            </a:r>
            <a:endParaRPr lang="zh-TW" altLang="en-US" sz="800" dirty="0"/>
          </a:p>
        </p:txBody>
      </p:sp>
      <p:sp>
        <p:nvSpPr>
          <p:cNvPr id="61" name="標題 1"/>
          <p:cNvSpPr>
            <a:spLocks noGrp="1"/>
          </p:cNvSpPr>
          <p:nvPr>
            <p:ph type="ctrTitle"/>
          </p:nvPr>
        </p:nvSpPr>
        <p:spPr>
          <a:xfrm>
            <a:off x="0" y="12221"/>
            <a:ext cx="8482972" cy="1064131"/>
          </a:xfrm>
        </p:spPr>
        <p:txBody>
          <a:bodyPr/>
          <a:lstStyle/>
          <a:p>
            <a:r>
              <a:rPr lang="en-US" altLang="zh-TW" dirty="0">
                <a:latin typeface="+mj-ea"/>
              </a:rPr>
              <a:t>L5AB</a:t>
            </a:r>
            <a:r>
              <a:rPr lang="zh-TW" altLang="en-US" dirty="0">
                <a:latin typeface="+mj-ea"/>
              </a:rPr>
              <a:t> 玻片機</a:t>
            </a:r>
            <a:br>
              <a:rPr lang="en-US" dirty="0">
                <a:latin typeface="+mj-ea"/>
              </a:rPr>
            </a:br>
            <a:r>
              <a:rPr lang="zh-TW" altLang="en-US" sz="1600" dirty="0">
                <a:solidFill>
                  <a:schemeClr val="bg1">
                    <a:lumMod val="50000"/>
                  </a:schemeClr>
                </a:solidFill>
                <a:latin typeface="+mj-ea"/>
              </a:rPr>
              <a:t>架構圖  一套對應</a:t>
            </a:r>
            <a:r>
              <a:rPr lang="en-US" altLang="zh-TW" sz="1600" dirty="0">
                <a:solidFill>
                  <a:schemeClr val="bg1">
                    <a:lumMod val="50000"/>
                  </a:schemeClr>
                </a:solidFill>
                <a:latin typeface="+mj-ea"/>
              </a:rPr>
              <a:t>4</a:t>
            </a:r>
            <a:r>
              <a:rPr lang="zh-TW" altLang="en-US" sz="1600" dirty="0">
                <a:solidFill>
                  <a:schemeClr val="bg1">
                    <a:lumMod val="50000"/>
                  </a:schemeClr>
                </a:solidFill>
                <a:latin typeface="+mj-ea"/>
              </a:rPr>
              <a:t>隻</a:t>
            </a:r>
            <a:r>
              <a:rPr lang="en-US" altLang="zh-TW" sz="1600" dirty="0">
                <a:solidFill>
                  <a:schemeClr val="bg1">
                    <a:lumMod val="50000"/>
                  </a:schemeClr>
                </a:solidFill>
                <a:latin typeface="+mj-ea"/>
              </a:rPr>
              <a:t>CCD</a:t>
            </a:r>
            <a:r>
              <a:rPr lang="zh-TW" altLang="en-US" sz="1600" dirty="0">
                <a:solidFill>
                  <a:schemeClr val="bg1">
                    <a:lumMod val="50000"/>
                  </a:schemeClr>
                </a:solidFill>
                <a:latin typeface="+mj-ea"/>
              </a:rPr>
              <a:t> </a:t>
            </a:r>
            <a:r>
              <a:rPr lang="en-US" altLang="zh-TW" sz="1600" dirty="0">
                <a:solidFill>
                  <a:schemeClr val="bg1">
                    <a:lumMod val="50000"/>
                  </a:schemeClr>
                </a:solidFill>
                <a:latin typeface="+mj-ea"/>
              </a:rPr>
              <a:t>4</a:t>
            </a:r>
            <a:r>
              <a:rPr lang="zh-TW" altLang="en-US" sz="1600" dirty="0">
                <a:solidFill>
                  <a:schemeClr val="bg1">
                    <a:lumMod val="50000"/>
                  </a:schemeClr>
                </a:solidFill>
                <a:latin typeface="+mj-ea"/>
              </a:rPr>
              <a:t>個光源  </a:t>
            </a:r>
            <a:r>
              <a:rPr lang="en-US" altLang="zh-TW" sz="1600" dirty="0">
                <a:solidFill>
                  <a:schemeClr val="bg1">
                    <a:lumMod val="50000"/>
                  </a:schemeClr>
                </a:solidFill>
                <a:latin typeface="+mj-ea"/>
              </a:rPr>
              <a:t>1</a:t>
            </a:r>
            <a:r>
              <a:rPr lang="zh-TW" altLang="en-US" sz="1600" dirty="0">
                <a:solidFill>
                  <a:schemeClr val="bg1">
                    <a:lumMod val="50000"/>
                  </a:schemeClr>
                </a:solidFill>
                <a:latin typeface="+mj-ea"/>
              </a:rPr>
              <a:t>台光源控制器  </a:t>
            </a:r>
            <a:r>
              <a:rPr lang="en-US" altLang="zh-TW" sz="1600" dirty="0">
                <a:solidFill>
                  <a:schemeClr val="bg1">
                    <a:lumMod val="50000"/>
                  </a:schemeClr>
                </a:solidFill>
                <a:latin typeface="+mj-ea"/>
              </a:rPr>
              <a:t>1</a:t>
            </a:r>
            <a:r>
              <a:rPr lang="zh-TW" altLang="en-US" sz="1600" dirty="0">
                <a:solidFill>
                  <a:schemeClr val="bg1">
                    <a:lumMod val="50000"/>
                  </a:schemeClr>
                </a:solidFill>
                <a:latin typeface="+mj-ea"/>
              </a:rPr>
              <a:t>台</a:t>
            </a:r>
            <a:r>
              <a:rPr lang="en-US" altLang="zh-TW" sz="1600" dirty="0">
                <a:solidFill>
                  <a:schemeClr val="bg1">
                    <a:lumMod val="50000"/>
                  </a:schemeClr>
                </a:solidFill>
                <a:latin typeface="+mj-ea"/>
              </a:rPr>
              <a:t>PC</a:t>
            </a:r>
            <a:r>
              <a:rPr lang="zh-TW" altLang="en-US" sz="1600" dirty="0">
                <a:solidFill>
                  <a:schemeClr val="bg1">
                    <a:lumMod val="50000"/>
                  </a:schemeClr>
                </a:solidFill>
                <a:latin typeface="+mj-ea"/>
              </a:rPr>
              <a:t>  預計會檢單面、</a:t>
            </a:r>
            <a:r>
              <a:rPr lang="en-US" altLang="zh-TW" sz="1600" dirty="0">
                <a:solidFill>
                  <a:schemeClr val="bg1">
                    <a:lumMod val="50000"/>
                  </a:schemeClr>
                </a:solidFill>
                <a:latin typeface="+mj-ea"/>
              </a:rPr>
              <a:t>4</a:t>
            </a:r>
            <a:r>
              <a:rPr lang="zh-TW" altLang="en-US" sz="1600" dirty="0">
                <a:solidFill>
                  <a:schemeClr val="bg1">
                    <a:lumMod val="50000"/>
                  </a:schemeClr>
                </a:solidFill>
                <a:latin typeface="+mj-ea"/>
              </a:rPr>
              <a:t>邊</a:t>
            </a:r>
            <a:endParaRPr lang="en-US" dirty="0">
              <a:solidFill>
                <a:schemeClr val="bg1">
                  <a:lumMod val="50000"/>
                </a:schemeClr>
              </a:solidFill>
              <a:latin typeface="+mj-ea"/>
            </a:endParaRPr>
          </a:p>
        </p:txBody>
      </p:sp>
      <p:pic>
        <p:nvPicPr>
          <p:cNvPr id="62" name="Picture 50"/>
          <p:cNvPicPr>
            <a:picLocks noChangeAspect="1" noChangeArrowheads="1"/>
          </p:cNvPicPr>
          <p:nvPr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4692215" y="781908"/>
            <a:ext cx="683724" cy="15755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3" name="Picture 51"/>
          <p:cNvPicPr>
            <a:picLocks noChangeAspect="1" noChangeArrowheads="1"/>
          </p:cNvPicPr>
          <p:nvPr/>
        </p:nvPicPr>
        <p:blipFill rotWithShape="1">
          <a:blip r:embed="rId4" cstate="screen"/>
          <a:srcRect b="54010"/>
          <a:stretch/>
        </p:blipFill>
        <p:spPr bwMode="auto">
          <a:xfrm>
            <a:off x="5633988" y="746999"/>
            <a:ext cx="2224734" cy="1610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5728666"/>
              </p:ext>
            </p:extLst>
          </p:nvPr>
        </p:nvGraphicFramePr>
        <p:xfrm>
          <a:off x="2020332" y="1033247"/>
          <a:ext cx="2402960" cy="11684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322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07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380"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TW" sz="1200" dirty="0">
                          <a:effectLst/>
                        </a:rPr>
                        <a:t>相機</a:t>
                      </a:r>
                      <a:r>
                        <a:rPr lang="en-US" sz="1200" dirty="0">
                          <a:effectLst/>
                        </a:rPr>
                        <a:t> (Area)</a:t>
                      </a:r>
                      <a:endParaRPr lang="zh-TW" sz="12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2865" marR="62865" marT="31750" marB="31750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200" dirty="0">
                          <a:effectLst/>
                        </a:rPr>
                        <a:t>aca720-290gm</a:t>
                      </a:r>
                      <a:endParaRPr lang="zh-TW" sz="12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2865" marR="62865" marT="31750" marB="3175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260"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TW" sz="1200" dirty="0">
                          <a:effectLst/>
                        </a:rPr>
                        <a:t>鏡頭</a:t>
                      </a:r>
                      <a:r>
                        <a:rPr lang="zh-TW" altLang="en-US" sz="1200" dirty="0">
                          <a:effectLst/>
                        </a:rPr>
                        <a:t> </a:t>
                      </a:r>
                      <a:r>
                        <a:rPr lang="en-US" altLang="zh-TW" sz="1200" dirty="0" err="1">
                          <a:effectLst/>
                        </a:rPr>
                        <a:t>Telecentric</a:t>
                      </a:r>
                      <a:endParaRPr lang="zh-TW" sz="12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2865" marR="62865" marT="31750" marB="31750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</a:rPr>
                        <a:t>IDS-LT05X-65D</a:t>
                      </a:r>
                      <a:endParaRPr lang="zh-TW" sz="12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2865" marR="62865" marT="31750" marB="3175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TW" sz="1200">
                          <a:effectLst/>
                        </a:rPr>
                        <a:t>光學解析度</a:t>
                      </a:r>
                      <a:endParaRPr lang="zh-TW" sz="12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2865" marR="62865" marT="31750" marB="31750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</a:rPr>
                        <a:t>13.8um</a:t>
                      </a:r>
                      <a:endParaRPr lang="zh-TW" sz="12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2865" marR="62865" marT="31750" marB="3175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</a:rPr>
                        <a:t>FOV</a:t>
                      </a:r>
                      <a:endParaRPr lang="zh-TW" sz="12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2865" marR="62865" marT="31750" marB="31750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200" dirty="0">
                          <a:effectLst/>
                        </a:rPr>
                        <a:t>8.6mm*6.6mm</a:t>
                      </a:r>
                      <a:endParaRPr lang="zh-TW" sz="12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2865" marR="62865" marT="31750" marB="3175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" name="圖片 4">
            <a:extLst>
              <a:ext uri="{FF2B5EF4-FFF2-40B4-BE49-F238E27FC236}">
                <a16:creationId xmlns:a16="http://schemas.microsoft.com/office/drawing/2014/main" id="{61943060-5244-5F55-41CA-32B03EE63B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562" y="2736673"/>
            <a:ext cx="3704946" cy="209834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58EEAB3F-BCA6-84F3-B397-B0E2C3A2D86D}"/>
              </a:ext>
            </a:extLst>
          </p:cNvPr>
          <p:cNvSpPr/>
          <p:nvPr/>
        </p:nvSpPr>
        <p:spPr>
          <a:xfrm>
            <a:off x="1988820" y="2994660"/>
            <a:ext cx="685800" cy="434340"/>
          </a:xfrm>
          <a:prstGeom prst="rect">
            <a:avLst/>
          </a:prstGeom>
          <a:solidFill>
            <a:schemeClr val="accent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" name="接點: 肘形 7">
            <a:extLst>
              <a:ext uri="{FF2B5EF4-FFF2-40B4-BE49-F238E27FC236}">
                <a16:creationId xmlns:a16="http://schemas.microsoft.com/office/drawing/2014/main" id="{88EE01EA-C856-C6EE-9C65-06AA7D478E6B}"/>
              </a:ext>
            </a:extLst>
          </p:cNvPr>
          <p:cNvCxnSpPr>
            <a:cxnSpLocks/>
          </p:cNvCxnSpPr>
          <p:nvPr/>
        </p:nvCxnSpPr>
        <p:spPr>
          <a:xfrm rot="16200000" flipV="1">
            <a:off x="954478" y="1714980"/>
            <a:ext cx="1003242" cy="1751242"/>
          </a:xfrm>
          <a:prstGeom prst="bentConnector3">
            <a:avLst>
              <a:gd name="adj1" fmla="val 50000"/>
            </a:avLst>
          </a:prstGeom>
          <a:ln w="254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29" name="群組 28">
            <a:extLst>
              <a:ext uri="{FF2B5EF4-FFF2-40B4-BE49-F238E27FC236}">
                <a16:creationId xmlns:a16="http://schemas.microsoft.com/office/drawing/2014/main" id="{D9A158F1-369C-6F8A-D718-168305D25BF7}"/>
              </a:ext>
            </a:extLst>
          </p:cNvPr>
          <p:cNvGrpSpPr/>
          <p:nvPr/>
        </p:nvGrpSpPr>
        <p:grpSpPr>
          <a:xfrm>
            <a:off x="1272552" y="1149354"/>
            <a:ext cx="201547" cy="913897"/>
            <a:chOff x="867914" y="627534"/>
            <a:chExt cx="263137" cy="1323102"/>
          </a:xfrm>
        </p:grpSpPr>
        <p:pic>
          <p:nvPicPr>
            <p:cNvPr id="30" name="圖片 29">
              <a:extLst>
                <a:ext uri="{FF2B5EF4-FFF2-40B4-BE49-F238E27FC236}">
                  <a16:creationId xmlns:a16="http://schemas.microsoft.com/office/drawing/2014/main" id="{0142EB37-F5BE-AA0D-156C-BA47B76E272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481" t="52844" r="89483" b="20477"/>
            <a:stretch/>
          </p:blipFill>
          <p:spPr>
            <a:xfrm flipH="1" flipV="1">
              <a:off x="867914" y="627534"/>
              <a:ext cx="263137" cy="531245"/>
            </a:xfrm>
            <a:prstGeom prst="rect">
              <a:avLst/>
            </a:prstGeom>
          </p:spPr>
        </p:pic>
        <p:grpSp>
          <p:nvGrpSpPr>
            <p:cNvPr id="31" name="群組 30">
              <a:extLst>
                <a:ext uri="{FF2B5EF4-FFF2-40B4-BE49-F238E27FC236}">
                  <a16:creationId xmlns:a16="http://schemas.microsoft.com/office/drawing/2014/main" id="{16A63562-1D83-0288-3D32-D730D4262A96}"/>
                </a:ext>
              </a:extLst>
            </p:cNvPr>
            <p:cNvGrpSpPr/>
            <p:nvPr/>
          </p:nvGrpSpPr>
          <p:grpSpPr>
            <a:xfrm>
              <a:off x="877945" y="1112724"/>
              <a:ext cx="239454" cy="837912"/>
              <a:chOff x="1016492" y="1393199"/>
              <a:chExt cx="665677" cy="2329377"/>
            </a:xfrm>
          </p:grpSpPr>
          <p:cxnSp>
            <p:nvCxnSpPr>
              <p:cNvPr id="32" name="直線接點 31">
                <a:extLst>
                  <a:ext uri="{FF2B5EF4-FFF2-40B4-BE49-F238E27FC236}">
                    <a16:creationId xmlns:a16="http://schemas.microsoft.com/office/drawing/2014/main" id="{F69F0BDF-1AC2-44F2-A499-83F2077D03CB}"/>
                  </a:ext>
                </a:extLst>
              </p:cNvPr>
              <p:cNvCxnSpPr/>
              <p:nvPr/>
            </p:nvCxnSpPr>
            <p:spPr>
              <a:xfrm>
                <a:off x="1353037" y="1393200"/>
                <a:ext cx="0" cy="2329376"/>
              </a:xfrm>
              <a:prstGeom prst="line">
                <a:avLst/>
              </a:prstGeom>
              <a:ln w="12700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線接點 32">
                <a:extLst>
                  <a:ext uri="{FF2B5EF4-FFF2-40B4-BE49-F238E27FC236}">
                    <a16:creationId xmlns:a16="http://schemas.microsoft.com/office/drawing/2014/main" id="{BD32D7E0-F0C0-B41B-B55D-B1D372F14A00}"/>
                  </a:ext>
                </a:extLst>
              </p:cNvPr>
              <p:cNvCxnSpPr/>
              <p:nvPr/>
            </p:nvCxnSpPr>
            <p:spPr>
              <a:xfrm flipH="1">
                <a:off x="1016492" y="1412252"/>
                <a:ext cx="334566" cy="2300058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線接點 33">
                <a:extLst>
                  <a:ext uri="{FF2B5EF4-FFF2-40B4-BE49-F238E27FC236}">
                    <a16:creationId xmlns:a16="http://schemas.microsoft.com/office/drawing/2014/main" id="{00DAD769-1AD8-3755-2091-C5153BC7AA32}"/>
                  </a:ext>
                </a:extLst>
              </p:cNvPr>
              <p:cNvCxnSpPr/>
              <p:nvPr/>
            </p:nvCxnSpPr>
            <p:spPr>
              <a:xfrm>
                <a:off x="1347603" y="1393199"/>
                <a:ext cx="334566" cy="2300058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5" name="箭號: 向右 34">
            <a:extLst>
              <a:ext uri="{FF2B5EF4-FFF2-40B4-BE49-F238E27FC236}">
                <a16:creationId xmlns:a16="http://schemas.microsoft.com/office/drawing/2014/main" id="{586671F2-5918-1F99-90DE-6E2B75800F28}"/>
              </a:ext>
            </a:extLst>
          </p:cNvPr>
          <p:cNvSpPr/>
          <p:nvPr/>
        </p:nvSpPr>
        <p:spPr>
          <a:xfrm rot="996844">
            <a:off x="789131" y="3558267"/>
            <a:ext cx="961375" cy="304800"/>
          </a:xfrm>
          <a:prstGeom prst="rightArrow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>
                    <a:lumMod val="95000"/>
                    <a:lumOff val="5000"/>
                  </a:schemeClr>
                </a:solidFill>
              </a:rPr>
              <a:t>1</a:t>
            </a:r>
            <a:endParaRPr lang="zh-TW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6" name="箭號: 弧形右彎 35">
            <a:extLst>
              <a:ext uri="{FF2B5EF4-FFF2-40B4-BE49-F238E27FC236}">
                <a16:creationId xmlns:a16="http://schemas.microsoft.com/office/drawing/2014/main" id="{16AAABFD-FA87-F8F0-FFC4-9440EB12E4BC}"/>
              </a:ext>
            </a:extLst>
          </p:cNvPr>
          <p:cNvSpPr/>
          <p:nvPr/>
        </p:nvSpPr>
        <p:spPr>
          <a:xfrm rot="11558410">
            <a:off x="2321891" y="3805605"/>
            <a:ext cx="631967" cy="316005"/>
          </a:xfrm>
          <a:prstGeom prst="curvedRightArrow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ACD07E04-C2AF-EA2A-DF81-64D0E6C4E8AC}"/>
              </a:ext>
            </a:extLst>
          </p:cNvPr>
          <p:cNvSpPr txBox="1"/>
          <p:nvPr/>
        </p:nvSpPr>
        <p:spPr>
          <a:xfrm>
            <a:off x="2520195" y="4060850"/>
            <a:ext cx="45296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39" name="箭號: 向右 38">
            <a:extLst>
              <a:ext uri="{FF2B5EF4-FFF2-40B4-BE49-F238E27FC236}">
                <a16:creationId xmlns:a16="http://schemas.microsoft.com/office/drawing/2014/main" id="{9DF031C4-1462-80AF-4583-12365E8621CE}"/>
              </a:ext>
            </a:extLst>
          </p:cNvPr>
          <p:cNvSpPr/>
          <p:nvPr/>
        </p:nvSpPr>
        <p:spPr>
          <a:xfrm rot="20166715">
            <a:off x="3218915" y="3700527"/>
            <a:ext cx="961375" cy="304800"/>
          </a:xfrm>
          <a:prstGeom prst="rightArrow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>
                    <a:lumMod val="95000"/>
                    <a:lumOff val="5000"/>
                  </a:schemeClr>
                </a:solidFill>
              </a:rPr>
              <a:t>3</a:t>
            </a:r>
            <a:endParaRPr lang="zh-TW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41" name="圖片 40">
            <a:extLst>
              <a:ext uri="{FF2B5EF4-FFF2-40B4-BE49-F238E27FC236}">
                <a16:creationId xmlns:a16="http://schemas.microsoft.com/office/drawing/2014/main" id="{B4757D64-5B0F-5E47-1035-FB53F76780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72210" y="2696412"/>
            <a:ext cx="2586512" cy="1250931"/>
          </a:xfrm>
          <a:prstGeom prst="rect">
            <a:avLst/>
          </a:prstGeom>
        </p:spPr>
      </p:pic>
      <p:sp>
        <p:nvSpPr>
          <p:cNvPr id="43" name="矩形 42">
            <a:extLst>
              <a:ext uri="{FF2B5EF4-FFF2-40B4-BE49-F238E27FC236}">
                <a16:creationId xmlns:a16="http://schemas.microsoft.com/office/drawing/2014/main" id="{B01B8EE2-BA13-F6F9-DE1B-8BEC65684871}"/>
              </a:ext>
            </a:extLst>
          </p:cNvPr>
          <p:cNvSpPr/>
          <p:nvPr/>
        </p:nvSpPr>
        <p:spPr>
          <a:xfrm>
            <a:off x="2999214" y="3000469"/>
            <a:ext cx="685800" cy="434340"/>
          </a:xfrm>
          <a:prstGeom prst="rect">
            <a:avLst/>
          </a:prstGeom>
          <a:solidFill>
            <a:schemeClr val="accent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4" name="接點: 肘形 43">
            <a:extLst>
              <a:ext uri="{FF2B5EF4-FFF2-40B4-BE49-F238E27FC236}">
                <a16:creationId xmlns:a16="http://schemas.microsoft.com/office/drawing/2014/main" id="{40956663-5070-BCB3-3F3A-F5E9C3478C23}"/>
              </a:ext>
            </a:extLst>
          </p:cNvPr>
          <p:cNvCxnSpPr>
            <a:cxnSpLocks/>
            <a:endCxn id="41" idx="1"/>
          </p:cNvCxnSpPr>
          <p:nvPr/>
        </p:nvCxnSpPr>
        <p:spPr>
          <a:xfrm>
            <a:off x="3685014" y="3005193"/>
            <a:ext cx="1587196" cy="316685"/>
          </a:xfrm>
          <a:prstGeom prst="bentConnector3">
            <a:avLst>
              <a:gd name="adj1" fmla="val 50000"/>
            </a:avLst>
          </a:prstGeom>
          <a:ln w="254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0" name="矩形 49">
            <a:extLst>
              <a:ext uri="{FF2B5EF4-FFF2-40B4-BE49-F238E27FC236}">
                <a16:creationId xmlns:a16="http://schemas.microsoft.com/office/drawing/2014/main" id="{00C6B726-FDF1-E248-C292-E8E1DC1A5E4A}"/>
              </a:ext>
            </a:extLst>
          </p:cNvPr>
          <p:cNvSpPr/>
          <p:nvPr/>
        </p:nvSpPr>
        <p:spPr>
          <a:xfrm>
            <a:off x="6545912" y="2992848"/>
            <a:ext cx="400886" cy="596171"/>
          </a:xfrm>
          <a:prstGeom prst="rect">
            <a:avLst/>
          </a:prstGeom>
          <a:solidFill>
            <a:schemeClr val="accent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2" name="直線單箭頭接點 51">
            <a:extLst>
              <a:ext uri="{FF2B5EF4-FFF2-40B4-BE49-F238E27FC236}">
                <a16:creationId xmlns:a16="http://schemas.microsoft.com/office/drawing/2014/main" id="{BF75E039-B4F1-81C2-52FD-36C0F632A23B}"/>
              </a:ext>
            </a:extLst>
          </p:cNvPr>
          <p:cNvCxnSpPr>
            <a:cxnSpLocks/>
          </p:cNvCxnSpPr>
          <p:nvPr/>
        </p:nvCxnSpPr>
        <p:spPr>
          <a:xfrm>
            <a:off x="5875352" y="3092222"/>
            <a:ext cx="994742" cy="0"/>
          </a:xfrm>
          <a:prstGeom prst="straightConnector1">
            <a:avLst/>
          </a:prstGeom>
          <a:ln w="31750">
            <a:headEnd type="triangle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E0566972-3BC2-C21C-44FB-E9385016B31A}"/>
              </a:ext>
            </a:extLst>
          </p:cNvPr>
          <p:cNvSpPr txBox="1"/>
          <p:nvPr/>
        </p:nvSpPr>
        <p:spPr>
          <a:xfrm>
            <a:off x="5272210" y="4060850"/>
            <a:ext cx="249257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CCD</a:t>
            </a:r>
            <a:r>
              <a:rPr lang="zh-TW" altLang="en-US" dirty="0"/>
              <a:t>依據生產參數自動調整</a:t>
            </a:r>
            <a:endParaRPr lang="en-US" altLang="zh-TW" dirty="0"/>
          </a:p>
          <a:p>
            <a:r>
              <a:rPr lang="zh-TW" altLang="en-US" dirty="0"/>
              <a:t>涵蓋：</a:t>
            </a:r>
            <a:r>
              <a:rPr lang="en-US" altLang="zh-TW" dirty="0"/>
              <a:t>12’</a:t>
            </a:r>
            <a:r>
              <a:rPr lang="zh-TW" altLang="en-US" dirty="0"/>
              <a:t> </a:t>
            </a:r>
            <a:r>
              <a:rPr lang="en-US" altLang="zh-TW" dirty="0"/>
              <a:t>~</a:t>
            </a:r>
            <a:r>
              <a:rPr lang="zh-TW" altLang="en-US" dirty="0"/>
              <a:t> </a:t>
            </a:r>
            <a:r>
              <a:rPr lang="en-US" altLang="zh-TW" dirty="0"/>
              <a:t>32‘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00587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46" y="2079850"/>
            <a:ext cx="2586713" cy="1413924"/>
          </a:xfrm>
          <a:prstGeom prst="rect">
            <a:avLst/>
          </a:prstGeom>
          <a:ln w="38100" cap="sq">
            <a:solidFill>
              <a:srgbClr val="FFC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圖片 5" descr="image0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50" y="535529"/>
            <a:ext cx="9065623" cy="14824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5593" y="2092515"/>
            <a:ext cx="2139176" cy="1935955"/>
          </a:xfrm>
          <a:prstGeom prst="rect">
            <a:avLst/>
          </a:prstGeom>
          <a:ln w="38100" cap="sq">
            <a:solidFill>
              <a:srgbClr val="FFC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0" name="標題 1">
            <a:extLst>
              <a:ext uri="{FF2B5EF4-FFF2-40B4-BE49-F238E27FC236}">
                <a16:creationId xmlns:a16="http://schemas.microsoft.com/office/drawing/2014/main" id="{CB7901EF-F53D-F9CB-6B59-8B31036FF079}"/>
              </a:ext>
            </a:extLst>
          </p:cNvPr>
          <p:cNvSpPr txBox="1">
            <a:spLocks/>
          </p:cNvSpPr>
          <p:nvPr/>
        </p:nvSpPr>
        <p:spPr>
          <a:xfrm>
            <a:off x="0" y="120026"/>
            <a:ext cx="8482972" cy="10641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rgbClr val="005087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/>
              <a:t>L5AB</a:t>
            </a:r>
            <a:r>
              <a:rPr lang="zh-TW" altLang="en-US" b="1" dirty="0"/>
              <a:t>撥片機缺陷拍攝</a:t>
            </a:r>
            <a:r>
              <a:rPr lang="en-US" altLang="zh-TW" b="1" dirty="0"/>
              <a:t>&amp;</a:t>
            </a:r>
            <a:r>
              <a:rPr lang="zh-TW" altLang="en-US" b="1" dirty="0"/>
              <a:t>評估</a:t>
            </a:r>
            <a:endParaRPr lang="zh-TW" altLang="en-US" b="1" dirty="0">
              <a:solidFill>
                <a:schemeClr val="accent1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圓角矩形 10"/>
          <p:cNvSpPr/>
          <p:nvPr/>
        </p:nvSpPr>
        <p:spPr>
          <a:xfrm>
            <a:off x="5481565" y="213328"/>
            <a:ext cx="927183" cy="259663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800" dirty="0"/>
              <a:t>站點</a:t>
            </a:r>
          </a:p>
        </p:txBody>
      </p:sp>
      <p:sp>
        <p:nvSpPr>
          <p:cNvPr id="12" name="文字方塊 11"/>
          <p:cNvSpPr txBox="1"/>
          <p:nvPr/>
        </p:nvSpPr>
        <p:spPr>
          <a:xfrm>
            <a:off x="6485659" y="181755"/>
            <a:ext cx="526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 dirty="0"/>
              <a:t>AOI</a:t>
            </a:r>
            <a:endParaRPr lang="zh-TW" altLang="en-US" sz="1800" dirty="0"/>
          </a:p>
        </p:txBody>
      </p:sp>
      <p:grpSp>
        <p:nvGrpSpPr>
          <p:cNvPr id="14" name="群組 13"/>
          <p:cNvGrpSpPr/>
          <p:nvPr/>
        </p:nvGrpSpPr>
        <p:grpSpPr>
          <a:xfrm>
            <a:off x="5048843" y="2047298"/>
            <a:ext cx="3980184" cy="1844941"/>
            <a:chOff x="255296" y="3175034"/>
            <a:chExt cx="5066195" cy="2283762"/>
          </a:xfrm>
        </p:grpSpPr>
        <p:pic>
          <p:nvPicPr>
            <p:cNvPr id="8" name="圖片 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55296" y="3268232"/>
              <a:ext cx="5066195" cy="2190564"/>
            </a:xfrm>
            <a:prstGeom prst="rect">
              <a:avLst/>
            </a:prstGeom>
          </p:spPr>
        </p:pic>
        <p:sp>
          <p:nvSpPr>
            <p:cNvPr id="13" name="矩形 12"/>
            <p:cNvSpPr/>
            <p:nvPr/>
          </p:nvSpPr>
          <p:spPr>
            <a:xfrm>
              <a:off x="1452785" y="3175034"/>
              <a:ext cx="3738825" cy="25059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13"/>
            </a:p>
          </p:txBody>
        </p:sp>
      </p:grpSp>
      <p:pic>
        <p:nvPicPr>
          <p:cNvPr id="15" name="圖片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145" y="3653329"/>
            <a:ext cx="2598691" cy="1349969"/>
          </a:xfrm>
          <a:prstGeom prst="rect">
            <a:avLst/>
          </a:prstGeom>
          <a:ln w="38100" cap="sq">
            <a:solidFill>
              <a:srgbClr val="FFC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6" name="半框架 15"/>
          <p:cNvSpPr/>
          <p:nvPr/>
        </p:nvSpPr>
        <p:spPr>
          <a:xfrm rot="-7800000">
            <a:off x="8406349" y="1670789"/>
            <a:ext cx="153244" cy="358270"/>
          </a:xfrm>
          <a:prstGeom prst="halfFram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13">
              <a:solidFill>
                <a:schemeClr val="tx1"/>
              </a:solidFill>
            </a:endParaRPr>
          </a:p>
        </p:txBody>
      </p:sp>
      <p:sp>
        <p:nvSpPr>
          <p:cNvPr id="17" name="半框架 16"/>
          <p:cNvSpPr/>
          <p:nvPr/>
        </p:nvSpPr>
        <p:spPr>
          <a:xfrm rot="-7800000">
            <a:off x="2340975" y="1667427"/>
            <a:ext cx="153244" cy="358270"/>
          </a:xfrm>
          <a:prstGeom prst="halfFram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13">
              <a:solidFill>
                <a:schemeClr val="tx1"/>
              </a:solidFill>
            </a:endParaRPr>
          </a:p>
        </p:txBody>
      </p:sp>
      <p:sp>
        <p:nvSpPr>
          <p:cNvPr id="18" name="半框架 17"/>
          <p:cNvSpPr/>
          <p:nvPr/>
        </p:nvSpPr>
        <p:spPr>
          <a:xfrm rot="-7800000">
            <a:off x="6024444" y="1670788"/>
            <a:ext cx="153244" cy="358270"/>
          </a:xfrm>
          <a:prstGeom prst="halfFram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13">
              <a:solidFill>
                <a:schemeClr val="tx1"/>
              </a:solidFill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2779978" y="4103051"/>
            <a:ext cx="6188234" cy="559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sz="1013" b="1" u="sng" dirty="0">
                <a:latin typeface="Noto Sans TC" panose="020B0500000000000000" pitchFamily="34" charset="-120"/>
                <a:ea typeface="Noto Sans TC" panose="020B0500000000000000" pitchFamily="34" charset="-120"/>
              </a:rPr>
              <a:t>可撥膠異常</a:t>
            </a:r>
            <a:r>
              <a:rPr lang="en-US" altLang="zh-TW" sz="1013" b="1" u="sng" dirty="0">
                <a:latin typeface="Noto Sans TC" panose="020B0500000000000000" pitchFamily="34" charset="-120"/>
                <a:ea typeface="Noto Sans TC" panose="020B0500000000000000" pitchFamily="34" charset="-120"/>
              </a:rPr>
              <a:t>:</a:t>
            </a:r>
            <a:r>
              <a:rPr lang="zh-TW" altLang="en-US" sz="1013" dirty="0">
                <a:latin typeface="Noto Sans TC" panose="020B0500000000000000" pitchFamily="34" charset="-120"/>
                <a:ea typeface="Noto Sans TC" panose="020B0500000000000000" pitchFamily="34" charset="-120"/>
              </a:rPr>
              <a:t>缺陷為白缺且位於面內軟體</a:t>
            </a:r>
            <a:r>
              <a:rPr lang="zh-TW" altLang="en-US" sz="1013" dirty="0">
                <a:solidFill>
                  <a:srgbClr val="0000FF"/>
                </a:solidFill>
                <a:latin typeface="Noto Sans TC" panose="020B0500000000000000" pitchFamily="34" charset="-120"/>
                <a:ea typeface="Noto Sans TC" panose="020B0500000000000000" pitchFamily="34" charset="-120"/>
              </a:rPr>
              <a:t>須改算法</a:t>
            </a:r>
            <a:r>
              <a:rPr lang="zh-TW" altLang="en-US" sz="1013" dirty="0">
                <a:latin typeface="Noto Sans TC" panose="020B0500000000000000" pitchFamily="34" charset="-120"/>
                <a:ea typeface="Noto Sans TC" panose="020B0500000000000000" pitchFamily="34" charset="-120"/>
              </a:rPr>
              <a:t> </a:t>
            </a:r>
            <a:r>
              <a:rPr lang="en-US" altLang="zh-TW" sz="1013" dirty="0">
                <a:latin typeface="Noto Sans TC" panose="020B0500000000000000" pitchFamily="34" charset="-120"/>
                <a:ea typeface="Noto Sans TC" panose="020B0500000000000000" pitchFamily="34" charset="-120"/>
              </a:rPr>
              <a:t>&amp;</a:t>
            </a:r>
            <a:r>
              <a:rPr lang="zh-TW" altLang="en-US" sz="1013" dirty="0">
                <a:latin typeface="Noto Sans TC" panose="020B0500000000000000" pitchFamily="34" charset="-120"/>
                <a:ea typeface="Noto Sans TC" panose="020B0500000000000000" pitchFamily="34" charset="-120"/>
              </a:rPr>
              <a:t>巡邊邏輯</a:t>
            </a:r>
            <a:endParaRPr lang="en-US" altLang="zh-TW" sz="1013" dirty="0">
              <a:latin typeface="Noto Sans TC" panose="020B0500000000000000" pitchFamily="34" charset="-120"/>
              <a:ea typeface="Noto Sans TC" panose="020B0500000000000000" pitchFamily="34" charset="-120"/>
            </a:endParaRPr>
          </a:p>
          <a:p>
            <a:r>
              <a:rPr lang="zh-TW" altLang="en-US" sz="1013" b="1" u="sng" dirty="0">
                <a:latin typeface="Noto Sans TC" panose="020B0500000000000000" pitchFamily="34" charset="-120"/>
                <a:ea typeface="Noto Sans TC" panose="020B0500000000000000" pitchFamily="34" charset="-120"/>
              </a:rPr>
              <a:t>電極刮傷</a:t>
            </a:r>
            <a:r>
              <a:rPr lang="en-US" altLang="zh-TW" sz="1013" b="1" u="sng" dirty="0">
                <a:latin typeface="Noto Sans TC" panose="020B0500000000000000" pitchFamily="34" charset="-120"/>
                <a:ea typeface="Noto Sans TC" panose="020B0500000000000000" pitchFamily="34" charset="-120"/>
              </a:rPr>
              <a:t>:</a:t>
            </a:r>
            <a:r>
              <a:rPr lang="zh-TW" altLang="en-US" sz="1013" dirty="0">
                <a:latin typeface="Noto Sans TC" panose="020B0500000000000000" pitchFamily="34" charset="-120"/>
                <a:ea typeface="Noto Sans TC" panose="020B0500000000000000" pitchFamily="34" charset="-120"/>
              </a:rPr>
              <a:t>缺陷為白缺且不明顯 與線路特徵易混淆需加環形光</a:t>
            </a:r>
            <a:endParaRPr lang="en-US" altLang="zh-TW" sz="1013" dirty="0">
              <a:latin typeface="Noto Sans TC" panose="020B0500000000000000" pitchFamily="34" charset="-120"/>
              <a:ea typeface="Noto Sans TC" panose="020B0500000000000000" pitchFamily="34" charset="-120"/>
            </a:endParaRPr>
          </a:p>
          <a:p>
            <a:r>
              <a:rPr lang="en-US" altLang="zh-TW" sz="1013" b="1" u="sng" dirty="0">
                <a:latin typeface="Noto Sans TC" panose="020B0500000000000000" pitchFamily="34" charset="-120"/>
                <a:ea typeface="Noto Sans TC" panose="020B0500000000000000" pitchFamily="34" charset="-120"/>
              </a:rPr>
              <a:t>Chipping:</a:t>
            </a:r>
            <a:r>
              <a:rPr lang="zh-TW" altLang="en-US" sz="1013" dirty="0">
                <a:latin typeface="Noto Sans TC" panose="020B0500000000000000" pitchFamily="34" charset="-120"/>
                <a:ea typeface="Noto Sans TC" panose="020B0500000000000000" pitchFamily="34" charset="-120"/>
              </a:rPr>
              <a:t>軟體可全部攔檢出</a:t>
            </a:r>
            <a:endParaRPr lang="zh-TW" altLang="en-US" sz="1013" dirty="0">
              <a:solidFill>
                <a:srgbClr val="2727F5"/>
              </a:solidFill>
              <a:latin typeface="Noto Sans TC" panose="020B0500000000000000" pitchFamily="34" charset="-120"/>
              <a:ea typeface="Noto Sans TC" panose="020B0500000000000000" pitchFamily="34" charset="-120"/>
            </a:endParaRPr>
          </a:p>
        </p:txBody>
      </p:sp>
      <p:sp>
        <p:nvSpPr>
          <p:cNvPr id="20" name="半框架 19"/>
          <p:cNvSpPr/>
          <p:nvPr/>
        </p:nvSpPr>
        <p:spPr>
          <a:xfrm rot="-7800000">
            <a:off x="1148369" y="1645727"/>
            <a:ext cx="153244" cy="358270"/>
          </a:xfrm>
          <a:prstGeom prst="halfFram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13">
              <a:solidFill>
                <a:schemeClr val="tx1"/>
              </a:solidFill>
            </a:endParaRPr>
          </a:p>
        </p:txBody>
      </p:sp>
      <p:sp>
        <p:nvSpPr>
          <p:cNvPr id="21" name="半框架 20"/>
          <p:cNvSpPr/>
          <p:nvPr/>
        </p:nvSpPr>
        <p:spPr>
          <a:xfrm rot="-7800000">
            <a:off x="3620768" y="1645728"/>
            <a:ext cx="153244" cy="358270"/>
          </a:xfrm>
          <a:prstGeom prst="halfFram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13">
              <a:solidFill>
                <a:schemeClr val="tx1"/>
              </a:solidFill>
            </a:endParaRPr>
          </a:p>
        </p:txBody>
      </p:sp>
      <p:sp>
        <p:nvSpPr>
          <p:cNvPr id="22" name="半框架 21"/>
          <p:cNvSpPr/>
          <p:nvPr/>
        </p:nvSpPr>
        <p:spPr>
          <a:xfrm rot="-7800000">
            <a:off x="4906143" y="1664823"/>
            <a:ext cx="153244" cy="358270"/>
          </a:xfrm>
          <a:prstGeom prst="halfFram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13">
              <a:solidFill>
                <a:schemeClr val="tx1"/>
              </a:solidFill>
            </a:endParaRPr>
          </a:p>
        </p:txBody>
      </p:sp>
      <p:sp>
        <p:nvSpPr>
          <p:cNvPr id="23" name="半框架 22"/>
          <p:cNvSpPr/>
          <p:nvPr/>
        </p:nvSpPr>
        <p:spPr>
          <a:xfrm rot="-7800000">
            <a:off x="7071004" y="1663591"/>
            <a:ext cx="153244" cy="358270"/>
          </a:xfrm>
          <a:prstGeom prst="halfFram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1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29479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5CF138-1207-AD28-4717-D1BC33C5F0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小結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F71DE516-1642-468D-0211-C783204D9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067" y="1677600"/>
            <a:ext cx="4281441" cy="2479500"/>
          </a:xfrm>
          <a:prstGeom prst="rect">
            <a:avLst/>
          </a:prstGeom>
        </p:spPr>
      </p:pic>
      <p:cxnSp>
        <p:nvCxnSpPr>
          <p:cNvPr id="6" name="接點: 肘形 5">
            <a:extLst>
              <a:ext uri="{FF2B5EF4-FFF2-40B4-BE49-F238E27FC236}">
                <a16:creationId xmlns:a16="http://schemas.microsoft.com/office/drawing/2014/main" id="{29BD2D5F-AF79-6037-E781-BD96EDB6D53E}"/>
              </a:ext>
            </a:extLst>
          </p:cNvPr>
          <p:cNvCxnSpPr>
            <a:cxnSpLocks/>
          </p:cNvCxnSpPr>
          <p:nvPr/>
        </p:nvCxnSpPr>
        <p:spPr>
          <a:xfrm rot="16200000" flipH="1">
            <a:off x="1134000" y="3474000"/>
            <a:ext cx="1764000" cy="273600"/>
          </a:xfrm>
          <a:prstGeom prst="bentConnector3">
            <a:avLst/>
          </a:prstGeom>
          <a:ln w="15875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8" name="文字方塊 7">
            <a:extLst>
              <a:ext uri="{FF2B5EF4-FFF2-40B4-BE49-F238E27FC236}">
                <a16:creationId xmlns:a16="http://schemas.microsoft.com/office/drawing/2014/main" id="{5021D5BA-8B4C-4B80-3E98-1E1C467B205C}"/>
              </a:ext>
            </a:extLst>
          </p:cNvPr>
          <p:cNvSpPr txBox="1"/>
          <p:nvPr/>
        </p:nvSpPr>
        <p:spPr>
          <a:xfrm>
            <a:off x="1378354" y="4492800"/>
            <a:ext cx="188640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AOI</a:t>
            </a:r>
            <a:r>
              <a:rPr lang="zh-TW" altLang="en-US" dirty="0"/>
              <a:t> 檢測設備</a:t>
            </a:r>
            <a:r>
              <a:rPr lang="en-US" altLang="zh-TW" dirty="0"/>
              <a:t>(</a:t>
            </a:r>
            <a:r>
              <a:rPr lang="zh-TW" altLang="en-US" dirty="0"/>
              <a:t>巡邊檢</a:t>
            </a:r>
            <a:r>
              <a:rPr lang="en-US" altLang="zh-TW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TW" altLang="en-US" dirty="0"/>
          </a:p>
        </p:txBody>
      </p:sp>
      <p:cxnSp>
        <p:nvCxnSpPr>
          <p:cNvPr id="10" name="接點: 肘形 9">
            <a:extLst>
              <a:ext uri="{FF2B5EF4-FFF2-40B4-BE49-F238E27FC236}">
                <a16:creationId xmlns:a16="http://schemas.microsoft.com/office/drawing/2014/main" id="{E37126CB-A461-3FA7-178F-B9F319092407}"/>
              </a:ext>
            </a:extLst>
          </p:cNvPr>
          <p:cNvCxnSpPr>
            <a:cxnSpLocks/>
          </p:cNvCxnSpPr>
          <p:nvPr/>
        </p:nvCxnSpPr>
        <p:spPr>
          <a:xfrm rot="16200000" flipH="1">
            <a:off x="2883600" y="3474000"/>
            <a:ext cx="1764000" cy="273600"/>
          </a:xfrm>
          <a:prstGeom prst="bentConnector3">
            <a:avLst/>
          </a:prstGeom>
          <a:ln w="15875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6DED9543-4602-7587-7736-FE5FBA060A88}"/>
              </a:ext>
            </a:extLst>
          </p:cNvPr>
          <p:cNvSpPr txBox="1"/>
          <p:nvPr/>
        </p:nvSpPr>
        <p:spPr>
          <a:xfrm>
            <a:off x="3169201" y="4492800"/>
            <a:ext cx="188640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3</a:t>
            </a:r>
            <a:r>
              <a:rPr lang="zh-TW" altLang="en-US" dirty="0"/>
              <a:t>合</a:t>
            </a:r>
            <a:r>
              <a:rPr lang="en-US" altLang="zh-TW" dirty="0"/>
              <a:t>1</a:t>
            </a:r>
            <a:r>
              <a:rPr lang="zh-TW" altLang="en-US" dirty="0"/>
              <a:t>撥餌料設備</a:t>
            </a:r>
          </a:p>
        </p:txBody>
      </p:sp>
      <p:cxnSp>
        <p:nvCxnSpPr>
          <p:cNvPr id="12" name="接點: 肘形 11">
            <a:extLst>
              <a:ext uri="{FF2B5EF4-FFF2-40B4-BE49-F238E27FC236}">
                <a16:creationId xmlns:a16="http://schemas.microsoft.com/office/drawing/2014/main" id="{D06CB9B4-947A-E99C-277E-DDBEE6D7D352}"/>
              </a:ext>
            </a:extLst>
          </p:cNvPr>
          <p:cNvCxnSpPr>
            <a:cxnSpLocks/>
          </p:cNvCxnSpPr>
          <p:nvPr/>
        </p:nvCxnSpPr>
        <p:spPr>
          <a:xfrm rot="5400000">
            <a:off x="49685" y="3558709"/>
            <a:ext cx="1625850" cy="242331"/>
          </a:xfrm>
          <a:prstGeom prst="bentConnector3">
            <a:avLst/>
          </a:prstGeom>
          <a:ln w="15875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DFA1BA1A-D92B-AA7E-B0C3-DCB4B91779F2}"/>
              </a:ext>
            </a:extLst>
          </p:cNvPr>
          <p:cNvSpPr txBox="1"/>
          <p:nvPr/>
        </p:nvSpPr>
        <p:spPr>
          <a:xfrm>
            <a:off x="314339" y="4492800"/>
            <a:ext cx="107084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傳輸設備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625EAF7E-F13D-1F7F-8DDF-8E7CBA14D20E}"/>
              </a:ext>
            </a:extLst>
          </p:cNvPr>
          <p:cNvSpPr txBox="1"/>
          <p:nvPr/>
        </p:nvSpPr>
        <p:spPr>
          <a:xfrm>
            <a:off x="4776001" y="1581321"/>
            <a:ext cx="4135932" cy="2623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b="1" dirty="0"/>
              <a:t>3</a:t>
            </a:r>
            <a:r>
              <a:rPr lang="zh-TW" altLang="en-US" sz="1400" b="1" dirty="0"/>
              <a:t>合</a:t>
            </a:r>
            <a:r>
              <a:rPr lang="en-US" altLang="zh-TW" sz="1400" b="1" dirty="0"/>
              <a:t>1</a:t>
            </a:r>
            <a:r>
              <a:rPr lang="zh-TW" altLang="en-US" sz="1400" b="1" dirty="0"/>
              <a:t>撥耳料設備</a:t>
            </a:r>
            <a:endParaRPr lang="en-US" altLang="zh-TW" sz="1400" b="1" dirty="0"/>
          </a:p>
          <a:p>
            <a:pPr algn="ctr"/>
            <a:endParaRPr lang="en-US" altLang="zh-TW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COS</a:t>
            </a:r>
            <a:r>
              <a:rPr lang="zh-TW" altLang="en-US" dirty="0"/>
              <a:t> </a:t>
            </a:r>
            <a:r>
              <a:rPr lang="en-US" altLang="zh-TW" dirty="0"/>
              <a:t>/</a:t>
            </a:r>
            <a:r>
              <a:rPr lang="zh-TW" altLang="en-US" dirty="0"/>
              <a:t> </a:t>
            </a:r>
            <a:r>
              <a:rPr lang="en-US" altLang="zh-TW" dirty="0"/>
              <a:t>N-Cut </a:t>
            </a:r>
            <a:r>
              <a:rPr lang="zh-TW" altLang="en-US" dirty="0"/>
              <a:t>：離線驗證進度良好，</a:t>
            </a:r>
            <a:r>
              <a:rPr lang="zh-TW" altLang="en-US" b="1" dirty="0"/>
              <a:t>下一步：產線批量驗證</a:t>
            </a:r>
            <a:endParaRPr lang="en-US" altLang="zh-TW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J-Cut </a:t>
            </a:r>
            <a:r>
              <a:rPr lang="zh-TW" altLang="en-US" dirty="0"/>
              <a:t>：評估現有柔性爪成效未達預期，</a:t>
            </a:r>
            <a:r>
              <a:rPr lang="zh-TW" altLang="en-US" b="1" dirty="0"/>
              <a:t>改採複合式機構技術突破</a:t>
            </a:r>
            <a:endParaRPr lang="en-US" altLang="zh-TW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dirty="0"/>
          </a:p>
          <a:p>
            <a:pPr algn="ctr"/>
            <a:endParaRPr lang="en-US" altLang="zh-TW" sz="1400" b="1" dirty="0"/>
          </a:p>
          <a:p>
            <a:pPr algn="ctr"/>
            <a:r>
              <a:rPr lang="en-US" altLang="zh-TW" sz="1400" b="1" dirty="0"/>
              <a:t>AOI</a:t>
            </a:r>
            <a:r>
              <a:rPr lang="zh-TW" altLang="en-US" sz="1400" b="1" dirty="0"/>
              <a:t> 檢測設備</a:t>
            </a:r>
            <a:endParaRPr lang="en-US" altLang="zh-TW" sz="1400" b="1" dirty="0"/>
          </a:p>
          <a:p>
            <a:pPr algn="ctr"/>
            <a:endParaRPr lang="en-US" altLang="zh-TW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/>
              <a:t>巡邊檢：複製成功案例，導入 </a:t>
            </a:r>
            <a:r>
              <a:rPr lang="en-US" altLang="zh-TW" dirty="0"/>
              <a:t>L5C </a:t>
            </a:r>
            <a:r>
              <a:rPr lang="zh-TW" altLang="en-US" dirty="0"/>
              <a:t>技術，</a:t>
            </a:r>
            <a:r>
              <a:rPr lang="zh-TW" altLang="en-US" b="1" dirty="0"/>
              <a:t>現需評估批量驗證</a:t>
            </a:r>
            <a:endParaRPr lang="zh-TW" altLang="en-US" dirty="0"/>
          </a:p>
        </p:txBody>
      </p: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AD49CB39-6B1D-5DC0-BEDF-F80434FDE8C9}"/>
              </a:ext>
            </a:extLst>
          </p:cNvPr>
          <p:cNvCxnSpPr/>
          <p:nvPr/>
        </p:nvCxnSpPr>
        <p:spPr>
          <a:xfrm>
            <a:off x="4882334" y="3038400"/>
            <a:ext cx="402959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49326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AUO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05087"/>
      </a:accent1>
      <a:accent2>
        <a:srgbClr val="64DCF0"/>
      </a:accent2>
      <a:accent3>
        <a:srgbClr val="FFE664"/>
      </a:accent3>
      <a:accent4>
        <a:srgbClr val="B491D7"/>
      </a:accent4>
      <a:accent5>
        <a:srgbClr val="87DC64"/>
      </a:accent5>
      <a:accent6>
        <a:srgbClr val="147891"/>
      </a:accent6>
      <a:hlink>
        <a:srgbClr val="64DCF0"/>
      </a:hlink>
      <a:folHlink>
        <a:srgbClr val="414141"/>
      </a:folHlink>
    </a:clrScheme>
    <a:fontScheme name="Custom 14">
      <a:majorFont>
        <a:latin typeface="Mabry Pro Medium"/>
        <a:ea typeface="Noto Sans TC Medium"/>
        <a:cs typeface="MabryPro-Bold"/>
      </a:majorFont>
      <a:minorFont>
        <a:latin typeface="Mabry Pro"/>
        <a:ea typeface="Noto Sans TC"/>
        <a:cs typeface="MabryPro-Bold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89745</TotalTime>
  <Words>958</Words>
  <Application>Microsoft Office PowerPoint</Application>
  <PresentationFormat>如螢幕大小 (16:9)</PresentationFormat>
  <Paragraphs>212</Paragraphs>
  <Slides>13</Slides>
  <Notes>3</Notes>
  <HiddenSlides>1</HiddenSlides>
  <MMClips>0</MMClips>
  <ScaleCrop>false</ScaleCrop>
  <HeadingPairs>
    <vt:vector size="6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24" baseType="lpstr">
      <vt:lpstr>Mabry Pro</vt:lpstr>
      <vt:lpstr>Mabry Pro Medium</vt:lpstr>
      <vt:lpstr>Noto Sans TC</vt:lpstr>
      <vt:lpstr>Noto Sans TC Medium</vt:lpstr>
      <vt:lpstr>微軟正黑體</vt:lpstr>
      <vt:lpstr>Arial</vt:lpstr>
      <vt:lpstr>Arial</vt:lpstr>
      <vt:lpstr>Calibri</vt:lpstr>
      <vt:lpstr>Gill Sans MT</vt:lpstr>
      <vt:lpstr>Wingdings</vt:lpstr>
      <vt:lpstr>Office 佈景主題</vt:lpstr>
      <vt:lpstr>L5A CGL自動化省人專案 Cell One Up 自動剝片</vt:lpstr>
      <vt:lpstr>L5A CGL自動化省人專案</vt:lpstr>
      <vt:lpstr>L5A CGL 自動化省人專案 – 架構說明</vt:lpstr>
      <vt:lpstr>剝片技術分類 - COS、N-Cut、J-Cut</vt:lpstr>
      <vt:lpstr>COS 測試開發</vt:lpstr>
      <vt:lpstr>COS/N-Cut 測試機改造 增加Z軸高精度滑台 </vt:lpstr>
      <vt:lpstr>N-Cut 夾持示意圖</vt:lpstr>
      <vt:lpstr>N-Cut 測試開發</vt:lpstr>
      <vt:lpstr>Just-Cut 測試開發</vt:lpstr>
      <vt:lpstr>PowerPoint 簡報</vt:lpstr>
      <vt:lpstr>L5AB 玻片機 架構圖  一套對應4隻CCD 4個光源  1台光源控制器  1台PC  預計會檢單面、4邊</vt:lpstr>
      <vt:lpstr>PowerPoint 簡報</vt:lpstr>
      <vt:lpstr>小結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偉臣 王</cp:lastModifiedBy>
  <cp:revision>3402</cp:revision>
  <dcterms:created xsi:type="dcterms:W3CDTF">2021-12-10T03:08:47Z</dcterms:created>
  <dcterms:modified xsi:type="dcterms:W3CDTF">2026-10-23T12:32:42Z</dcterms:modified>
</cp:coreProperties>
</file>