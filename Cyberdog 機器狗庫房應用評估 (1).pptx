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Default Extension="png" ContentType="image/png"/>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Default Extension="jpg" ContentType="image/jpg"/>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0" i="0">
                <a:solidFill>
                  <a:schemeClr val="bg1"/>
                </a:solidFill>
                <a:latin typeface="SimSun"/>
                <a:cs typeface="SimSun"/>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500" b="0" i="0">
                <a:solidFill>
                  <a:srgbClr val="414141"/>
                </a:solidFill>
                <a:latin typeface="SimSun"/>
                <a:cs typeface="SimSun"/>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SimSun"/>
                <a:cs typeface="SimSun"/>
              </a:defRPr>
            </a:lvl1pPr>
          </a:lstStyle>
          <a:p/>
        </p:txBody>
      </p:sp>
      <p:sp>
        <p:nvSpPr>
          <p:cNvPr id="3" name="Holder 3"/>
          <p:cNvSpPr>
            <a:spLocks noGrp="1"/>
          </p:cNvSpPr>
          <p:nvPr>
            <p:ph type="body" idx="1"/>
          </p:nvPr>
        </p:nvSpPr>
        <p:spPr/>
        <p:txBody>
          <a:bodyPr lIns="0" tIns="0" rIns="0" bIns="0"/>
          <a:lstStyle>
            <a:lvl1pPr>
              <a:defRPr sz="1500" b="0" i="0">
                <a:solidFill>
                  <a:srgbClr val="414141"/>
                </a:solidFill>
                <a:latin typeface="SimSun"/>
                <a:cs typeface="SimSun"/>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SimSun"/>
                <a:cs typeface="SimSun"/>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SimSun"/>
                <a:cs typeface="SimSun"/>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09599"/>
            <a:ext cx="12192000" cy="6248400"/>
          </a:xfrm>
          <a:custGeom>
            <a:avLst/>
            <a:gdLst/>
            <a:ahLst/>
            <a:cxnLst/>
            <a:rect l="l" t="t" r="r" b="b"/>
            <a:pathLst>
              <a:path w="12192000" h="6248400">
                <a:moveTo>
                  <a:pt x="0" y="6248399"/>
                </a:moveTo>
                <a:lnTo>
                  <a:pt x="12191999" y="6248399"/>
                </a:lnTo>
                <a:lnTo>
                  <a:pt x="12191999" y="0"/>
                </a:lnTo>
                <a:lnTo>
                  <a:pt x="0" y="0"/>
                </a:lnTo>
                <a:lnTo>
                  <a:pt x="0" y="6248399"/>
                </a:lnTo>
                <a:close/>
              </a:path>
            </a:pathLst>
          </a:custGeom>
          <a:solidFill>
            <a:srgbClr val="F2F4F5"/>
          </a:solidFill>
        </p:spPr>
        <p:txBody>
          <a:bodyPr wrap="square" lIns="0" tIns="0" rIns="0" bIns="0" rtlCol="0"/>
          <a:lstStyle/>
          <a:p/>
        </p:txBody>
      </p:sp>
      <p:sp>
        <p:nvSpPr>
          <p:cNvPr id="17" name="bg object 17"/>
          <p:cNvSpPr/>
          <p:nvPr/>
        </p:nvSpPr>
        <p:spPr>
          <a:xfrm>
            <a:off x="0" y="0"/>
            <a:ext cx="12192000" cy="609600"/>
          </a:xfrm>
          <a:custGeom>
            <a:avLst/>
            <a:gdLst/>
            <a:ahLst/>
            <a:cxnLst/>
            <a:rect l="l" t="t" r="r" b="b"/>
            <a:pathLst>
              <a:path w="12192000" h="609600">
                <a:moveTo>
                  <a:pt x="12191999" y="609599"/>
                </a:moveTo>
                <a:lnTo>
                  <a:pt x="0" y="609599"/>
                </a:lnTo>
                <a:lnTo>
                  <a:pt x="0" y="0"/>
                </a:lnTo>
                <a:lnTo>
                  <a:pt x="12191999" y="0"/>
                </a:lnTo>
                <a:lnTo>
                  <a:pt x="12191999" y="609599"/>
                </a:lnTo>
                <a:close/>
              </a:path>
            </a:pathLst>
          </a:custGeom>
          <a:solidFill>
            <a:srgbClr val="414141"/>
          </a:solidFill>
        </p:spPr>
        <p:txBody>
          <a:bodyPr wrap="square" lIns="0" tIns="0" rIns="0" bIns="0" rtlCol="0"/>
          <a:lstStyle/>
          <a:p/>
        </p:txBody>
      </p:sp>
      <p:sp>
        <p:nvSpPr>
          <p:cNvPr id="2" name="Holder 2"/>
          <p:cNvSpPr>
            <a:spLocks noGrp="1"/>
          </p:cNvSpPr>
          <p:nvPr>
            <p:ph type="title"/>
          </p:nvPr>
        </p:nvSpPr>
        <p:spPr>
          <a:xfrm>
            <a:off x="292099" y="111125"/>
            <a:ext cx="2082800" cy="334009"/>
          </a:xfrm>
          <a:prstGeom prst="rect">
            <a:avLst/>
          </a:prstGeom>
        </p:spPr>
        <p:txBody>
          <a:bodyPr wrap="square" lIns="0" tIns="0" rIns="0" bIns="0">
            <a:spAutoFit/>
          </a:bodyPr>
          <a:lstStyle>
            <a:lvl1pPr>
              <a:defRPr sz="2000" b="0" i="0">
                <a:solidFill>
                  <a:schemeClr val="bg1"/>
                </a:solidFill>
                <a:latin typeface="SimSun"/>
                <a:cs typeface="SimSun"/>
              </a:defRPr>
            </a:lvl1pPr>
          </a:lstStyle>
          <a:p/>
        </p:txBody>
      </p:sp>
      <p:sp>
        <p:nvSpPr>
          <p:cNvPr id="3" name="Holder 3"/>
          <p:cNvSpPr>
            <a:spLocks noGrp="1"/>
          </p:cNvSpPr>
          <p:nvPr>
            <p:ph type="body" idx="1"/>
          </p:nvPr>
        </p:nvSpPr>
        <p:spPr>
          <a:xfrm>
            <a:off x="6210299" y="1314065"/>
            <a:ext cx="5753100" cy="2969895"/>
          </a:xfrm>
          <a:prstGeom prst="rect">
            <a:avLst/>
          </a:prstGeom>
        </p:spPr>
        <p:txBody>
          <a:bodyPr wrap="square" lIns="0" tIns="0" rIns="0" bIns="0">
            <a:spAutoFit/>
          </a:bodyPr>
          <a:lstStyle>
            <a:lvl1pPr>
              <a:defRPr sz="1500" b="0" i="0">
                <a:solidFill>
                  <a:srgbClr val="414141"/>
                </a:solidFill>
                <a:latin typeface="SimSun"/>
                <a:cs typeface="SimSun"/>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12192000" cy="6858000"/>
            <a:chOff x="0" y="0"/>
            <a:chExt cx="12192000" cy="6858000"/>
          </a:xfrm>
        </p:grpSpPr>
        <p:pic>
          <p:nvPicPr>
            <p:cNvPr id="3" name="object 3" descr=""/>
            <p:cNvPicPr/>
            <p:nvPr/>
          </p:nvPicPr>
          <p:blipFill>
            <a:blip r:embed="rId2" cstate="print"/>
            <a:stretch>
              <a:fillRect/>
            </a:stretch>
          </p:blipFill>
          <p:spPr>
            <a:xfrm>
              <a:off x="0" y="0"/>
              <a:ext cx="12191999" cy="6857999"/>
            </a:xfrm>
            <a:prstGeom prst="rect">
              <a:avLst/>
            </a:prstGeom>
          </p:spPr>
        </p:pic>
        <p:pic>
          <p:nvPicPr>
            <p:cNvPr id="4" name="object 4" descr=""/>
            <p:cNvPicPr/>
            <p:nvPr/>
          </p:nvPicPr>
          <p:blipFill>
            <a:blip r:embed="rId3" cstate="print"/>
            <a:stretch>
              <a:fillRect/>
            </a:stretch>
          </p:blipFill>
          <p:spPr>
            <a:xfrm>
              <a:off x="0" y="6248399"/>
              <a:ext cx="12191999" cy="609599"/>
            </a:xfrm>
            <a:prstGeom prst="rect">
              <a:avLst/>
            </a:prstGeom>
          </p:spPr>
        </p:pic>
        <p:sp>
          <p:nvSpPr>
            <p:cNvPr id="5" name="object 5" descr=""/>
            <p:cNvSpPr/>
            <p:nvPr/>
          </p:nvSpPr>
          <p:spPr>
            <a:xfrm>
              <a:off x="0" y="6705599"/>
              <a:ext cx="12192000" cy="152400"/>
            </a:xfrm>
            <a:custGeom>
              <a:avLst/>
              <a:gdLst/>
              <a:ahLst/>
              <a:cxnLst/>
              <a:rect l="l" t="t" r="r" b="b"/>
              <a:pathLst>
                <a:path w="12192000" h="152400">
                  <a:moveTo>
                    <a:pt x="12191999" y="152399"/>
                  </a:moveTo>
                  <a:lnTo>
                    <a:pt x="0" y="152399"/>
                  </a:lnTo>
                  <a:lnTo>
                    <a:pt x="0" y="0"/>
                  </a:lnTo>
                  <a:lnTo>
                    <a:pt x="12191999" y="0"/>
                  </a:lnTo>
                  <a:lnTo>
                    <a:pt x="12191999" y="152399"/>
                  </a:lnTo>
                  <a:close/>
                </a:path>
              </a:pathLst>
            </a:custGeom>
            <a:solidFill>
              <a:srgbClr val="F97316"/>
            </a:solidFill>
          </p:spPr>
          <p:txBody>
            <a:bodyPr wrap="square" lIns="0" tIns="0" rIns="0" bIns="0" rtlCol="0"/>
            <a:lstStyle/>
            <a:p/>
          </p:txBody>
        </p:sp>
        <p:pic>
          <p:nvPicPr>
            <p:cNvPr id="6" name="object 6" descr=""/>
            <p:cNvPicPr/>
            <p:nvPr/>
          </p:nvPicPr>
          <p:blipFill>
            <a:blip r:embed="rId4" cstate="print"/>
            <a:stretch>
              <a:fillRect/>
            </a:stretch>
          </p:blipFill>
          <p:spPr>
            <a:xfrm>
              <a:off x="1828800" y="685799"/>
              <a:ext cx="1142999" cy="914399"/>
            </a:xfrm>
            <a:prstGeom prst="rect">
              <a:avLst/>
            </a:prstGeom>
          </p:spPr>
        </p:pic>
        <p:pic>
          <p:nvPicPr>
            <p:cNvPr id="7" name="object 7" descr=""/>
            <p:cNvPicPr/>
            <p:nvPr/>
          </p:nvPicPr>
          <p:blipFill>
            <a:blip r:embed="rId5" cstate="print"/>
            <a:stretch>
              <a:fillRect/>
            </a:stretch>
          </p:blipFill>
          <p:spPr>
            <a:xfrm>
              <a:off x="9753599" y="1714500"/>
              <a:ext cx="771524" cy="685799"/>
            </a:xfrm>
            <a:prstGeom prst="rect">
              <a:avLst/>
            </a:prstGeom>
          </p:spPr>
        </p:pic>
        <p:pic>
          <p:nvPicPr>
            <p:cNvPr id="8" name="object 8" descr=""/>
            <p:cNvPicPr/>
            <p:nvPr/>
          </p:nvPicPr>
          <p:blipFill>
            <a:blip r:embed="rId6" cstate="print"/>
            <a:stretch>
              <a:fillRect/>
            </a:stretch>
          </p:blipFill>
          <p:spPr>
            <a:xfrm>
              <a:off x="2438399" y="4800599"/>
              <a:ext cx="857249" cy="685799"/>
            </a:xfrm>
            <a:prstGeom prst="rect">
              <a:avLst/>
            </a:prstGeom>
          </p:spPr>
        </p:pic>
        <p:pic>
          <p:nvPicPr>
            <p:cNvPr id="9" name="object 9" descr=""/>
            <p:cNvPicPr/>
            <p:nvPr/>
          </p:nvPicPr>
          <p:blipFill>
            <a:blip r:embed="rId7" cstate="print"/>
            <a:stretch>
              <a:fillRect/>
            </a:stretch>
          </p:blipFill>
          <p:spPr>
            <a:xfrm>
              <a:off x="9144000" y="4114800"/>
              <a:ext cx="361949" cy="571499"/>
            </a:xfrm>
            <a:prstGeom prst="rect">
              <a:avLst/>
            </a:prstGeom>
          </p:spPr>
        </p:pic>
        <p:pic>
          <p:nvPicPr>
            <p:cNvPr id="10" name="object 10" descr=""/>
            <p:cNvPicPr/>
            <p:nvPr/>
          </p:nvPicPr>
          <p:blipFill>
            <a:blip r:embed="rId8" cstate="print"/>
            <a:stretch>
              <a:fillRect/>
            </a:stretch>
          </p:blipFill>
          <p:spPr>
            <a:xfrm>
              <a:off x="1219199" y="2743199"/>
              <a:ext cx="571499" cy="571499"/>
            </a:xfrm>
            <a:prstGeom prst="rect">
              <a:avLst/>
            </a:prstGeom>
          </p:spPr>
        </p:pic>
        <p:sp>
          <p:nvSpPr>
            <p:cNvPr id="11" name="object 11" descr=""/>
            <p:cNvSpPr/>
            <p:nvPr/>
          </p:nvSpPr>
          <p:spPr>
            <a:xfrm>
              <a:off x="2295524" y="1562099"/>
              <a:ext cx="7600950" cy="3743325"/>
            </a:xfrm>
            <a:custGeom>
              <a:avLst/>
              <a:gdLst/>
              <a:ahLst/>
              <a:cxnLst/>
              <a:rect l="l" t="t" r="r" b="b"/>
              <a:pathLst>
                <a:path w="7600950" h="3743325">
                  <a:moveTo>
                    <a:pt x="7529752" y="3743324"/>
                  </a:moveTo>
                  <a:lnTo>
                    <a:pt x="71196" y="3743324"/>
                  </a:lnTo>
                  <a:lnTo>
                    <a:pt x="66241" y="3742836"/>
                  </a:lnTo>
                  <a:lnTo>
                    <a:pt x="29705" y="3727701"/>
                  </a:lnTo>
                  <a:lnTo>
                    <a:pt x="3885" y="3691662"/>
                  </a:lnTo>
                  <a:lnTo>
                    <a:pt x="0" y="3672127"/>
                  </a:lnTo>
                  <a:lnTo>
                    <a:pt x="0" y="3667124"/>
                  </a:lnTo>
                  <a:lnTo>
                    <a:pt x="0" y="71196"/>
                  </a:lnTo>
                  <a:lnTo>
                    <a:pt x="15621" y="29705"/>
                  </a:lnTo>
                  <a:lnTo>
                    <a:pt x="51661" y="3885"/>
                  </a:lnTo>
                  <a:lnTo>
                    <a:pt x="71196" y="0"/>
                  </a:lnTo>
                  <a:lnTo>
                    <a:pt x="7529752" y="0"/>
                  </a:lnTo>
                  <a:lnTo>
                    <a:pt x="7571243" y="15621"/>
                  </a:lnTo>
                  <a:lnTo>
                    <a:pt x="7597063" y="51661"/>
                  </a:lnTo>
                  <a:lnTo>
                    <a:pt x="7600949" y="71196"/>
                  </a:lnTo>
                  <a:lnTo>
                    <a:pt x="7600949" y="3672127"/>
                  </a:lnTo>
                  <a:lnTo>
                    <a:pt x="7585327" y="3713618"/>
                  </a:lnTo>
                  <a:lnTo>
                    <a:pt x="7549286" y="3739438"/>
                  </a:lnTo>
                  <a:lnTo>
                    <a:pt x="7534706" y="3742836"/>
                  </a:lnTo>
                  <a:lnTo>
                    <a:pt x="7529752" y="3743324"/>
                  </a:lnTo>
                  <a:close/>
                </a:path>
              </a:pathLst>
            </a:custGeom>
            <a:solidFill>
              <a:srgbClr val="FFFFFF">
                <a:alpha val="79998"/>
              </a:srgbClr>
            </a:solidFill>
          </p:spPr>
          <p:txBody>
            <a:bodyPr wrap="square" lIns="0" tIns="0" rIns="0" bIns="0" rtlCol="0"/>
            <a:lstStyle/>
            <a:p/>
          </p:txBody>
        </p:sp>
        <p:sp>
          <p:nvSpPr>
            <p:cNvPr id="12" name="object 12" descr=""/>
            <p:cNvSpPr/>
            <p:nvPr/>
          </p:nvSpPr>
          <p:spPr>
            <a:xfrm>
              <a:off x="5524499" y="3209924"/>
              <a:ext cx="1143000" cy="38100"/>
            </a:xfrm>
            <a:custGeom>
              <a:avLst/>
              <a:gdLst/>
              <a:ahLst/>
              <a:cxnLst/>
              <a:rect l="l" t="t" r="r" b="b"/>
              <a:pathLst>
                <a:path w="1143000" h="38100">
                  <a:moveTo>
                    <a:pt x="1142999" y="38099"/>
                  </a:moveTo>
                  <a:lnTo>
                    <a:pt x="0" y="38099"/>
                  </a:lnTo>
                  <a:lnTo>
                    <a:pt x="0" y="0"/>
                  </a:lnTo>
                  <a:lnTo>
                    <a:pt x="1142999" y="0"/>
                  </a:lnTo>
                  <a:lnTo>
                    <a:pt x="1142999" y="38099"/>
                  </a:lnTo>
                  <a:close/>
                </a:path>
              </a:pathLst>
            </a:custGeom>
            <a:solidFill>
              <a:srgbClr val="FF9800"/>
            </a:solidFill>
          </p:spPr>
          <p:txBody>
            <a:bodyPr wrap="square" lIns="0" tIns="0" rIns="0" bIns="0" rtlCol="0"/>
            <a:lstStyle/>
            <a:p/>
          </p:txBody>
        </p:sp>
        <p:pic>
          <p:nvPicPr>
            <p:cNvPr id="13" name="object 13" descr=""/>
            <p:cNvPicPr/>
            <p:nvPr/>
          </p:nvPicPr>
          <p:blipFill>
            <a:blip r:embed="rId9" cstate="print"/>
            <a:stretch>
              <a:fillRect/>
            </a:stretch>
          </p:blipFill>
          <p:spPr>
            <a:xfrm>
              <a:off x="5467349" y="1943100"/>
              <a:ext cx="571499" cy="457199"/>
            </a:xfrm>
            <a:prstGeom prst="rect">
              <a:avLst/>
            </a:prstGeom>
          </p:spPr>
        </p:pic>
        <p:pic>
          <p:nvPicPr>
            <p:cNvPr id="14" name="object 14" descr=""/>
            <p:cNvPicPr/>
            <p:nvPr/>
          </p:nvPicPr>
          <p:blipFill>
            <a:blip r:embed="rId10" cstate="print"/>
            <a:stretch>
              <a:fillRect/>
            </a:stretch>
          </p:blipFill>
          <p:spPr>
            <a:xfrm>
              <a:off x="6210299" y="1943100"/>
              <a:ext cx="514349" cy="457199"/>
            </a:xfrm>
            <a:prstGeom prst="rect">
              <a:avLst/>
            </a:prstGeom>
          </p:spPr>
        </p:pic>
      </p:grpSp>
      <p:sp>
        <p:nvSpPr>
          <p:cNvPr id="15" name="object 15"/>
          <p:cNvSpPr txBox="1">
            <a:spLocks noGrp="1"/>
          </p:cNvSpPr>
          <p:nvPr>
            <p:ph type="title"/>
          </p:nvPr>
        </p:nvSpPr>
        <p:spPr>
          <a:xfrm>
            <a:off x="2895401" y="2404566"/>
            <a:ext cx="6401435" cy="656590"/>
          </a:xfrm>
          <a:prstGeom prst="rect"/>
        </p:spPr>
        <p:txBody>
          <a:bodyPr wrap="square" lIns="0" tIns="11430" rIns="0" bIns="0" rtlCol="0" vert="horz">
            <a:spAutoFit/>
          </a:bodyPr>
          <a:lstStyle/>
          <a:p>
            <a:pPr marL="12700">
              <a:lnSpc>
                <a:spcPct val="100000"/>
              </a:lnSpc>
              <a:spcBef>
                <a:spcPts val="90"/>
              </a:spcBef>
            </a:pPr>
            <a:r>
              <a:rPr dirty="0" sz="3600" b="1">
                <a:solidFill>
                  <a:srgbClr val="414141"/>
                </a:solidFill>
                <a:latin typeface="Arial"/>
                <a:cs typeface="Arial"/>
              </a:rPr>
              <a:t>Cyberdog</a:t>
            </a:r>
            <a:r>
              <a:rPr dirty="0" sz="3600" spc="20" b="1">
                <a:solidFill>
                  <a:srgbClr val="414141"/>
                </a:solidFill>
                <a:latin typeface="Arial"/>
                <a:cs typeface="Arial"/>
              </a:rPr>
              <a:t> </a:t>
            </a:r>
            <a:r>
              <a:rPr dirty="0" sz="4000" spc="-420">
                <a:solidFill>
                  <a:srgbClr val="414141"/>
                </a:solidFill>
              </a:rPr>
              <a:t>機</a:t>
            </a:r>
            <a:r>
              <a:rPr dirty="0" sz="3900" spc="-315">
                <a:solidFill>
                  <a:srgbClr val="414141"/>
                </a:solidFill>
                <a:latin typeface="PMingLiU"/>
                <a:cs typeface="PMingLiU"/>
              </a:rPr>
              <a:t>器</a:t>
            </a:r>
            <a:r>
              <a:rPr dirty="0" sz="3950" spc="-360">
                <a:solidFill>
                  <a:srgbClr val="414141"/>
                </a:solidFill>
              </a:rPr>
              <a:t>狗</a:t>
            </a:r>
            <a:r>
              <a:rPr dirty="0" sz="4150" spc="-585">
                <a:solidFill>
                  <a:srgbClr val="414141"/>
                </a:solidFill>
              </a:rPr>
              <a:t>庫</a:t>
            </a:r>
            <a:r>
              <a:rPr dirty="0" sz="4100" spc="-535">
                <a:solidFill>
                  <a:srgbClr val="414141"/>
                </a:solidFill>
              </a:rPr>
              <a:t>房應</a:t>
            </a:r>
            <a:r>
              <a:rPr dirty="0" sz="3850" spc="-270">
                <a:solidFill>
                  <a:srgbClr val="414141"/>
                </a:solidFill>
                <a:latin typeface="PMingLiU"/>
                <a:cs typeface="PMingLiU"/>
              </a:rPr>
              <a:t>用</a:t>
            </a:r>
            <a:r>
              <a:rPr dirty="0" sz="4050" spc="-490">
                <a:solidFill>
                  <a:srgbClr val="414141"/>
                </a:solidFill>
              </a:rPr>
              <a:t>評</a:t>
            </a:r>
            <a:r>
              <a:rPr dirty="0" sz="3900" spc="-365">
                <a:solidFill>
                  <a:srgbClr val="414141"/>
                </a:solidFill>
                <a:latin typeface="PMingLiU"/>
                <a:cs typeface="PMingLiU"/>
              </a:rPr>
              <a:t>估</a:t>
            </a:r>
            <a:endParaRPr sz="3900">
              <a:latin typeface="PMingLiU"/>
              <a:cs typeface="PMingLiU"/>
            </a:endParaRPr>
          </a:p>
        </p:txBody>
      </p:sp>
      <p:sp>
        <p:nvSpPr>
          <p:cNvPr id="16" name="object 16" descr=""/>
          <p:cNvSpPr txBox="1"/>
          <p:nvPr/>
        </p:nvSpPr>
        <p:spPr>
          <a:xfrm>
            <a:off x="4797276" y="3406775"/>
            <a:ext cx="2597150" cy="368300"/>
          </a:xfrm>
          <a:prstGeom prst="rect">
            <a:avLst/>
          </a:prstGeom>
        </p:spPr>
        <p:txBody>
          <a:bodyPr wrap="square" lIns="0" tIns="12700" rIns="0" bIns="0" rtlCol="0" vert="horz">
            <a:spAutoFit/>
          </a:bodyPr>
          <a:lstStyle/>
          <a:p>
            <a:pPr marL="12700">
              <a:lnSpc>
                <a:spcPct val="100000"/>
              </a:lnSpc>
              <a:spcBef>
                <a:spcPts val="100"/>
              </a:spcBef>
            </a:pPr>
            <a:r>
              <a:rPr dirty="0" sz="2250" spc="-10">
                <a:solidFill>
                  <a:srgbClr val="414141"/>
                </a:solidFill>
                <a:latin typeface="PMingLiU"/>
                <a:cs typeface="PMingLiU"/>
              </a:rPr>
              <a:t>需求分析與能力對比</a:t>
            </a:r>
            <a:endParaRPr sz="2250">
              <a:latin typeface="PMingLiU"/>
              <a:cs typeface="PMingLiU"/>
            </a:endParaRPr>
          </a:p>
        </p:txBody>
      </p:sp>
      <p:grpSp>
        <p:nvGrpSpPr>
          <p:cNvPr id="17" name="object 17" descr=""/>
          <p:cNvGrpSpPr/>
          <p:nvPr/>
        </p:nvGrpSpPr>
        <p:grpSpPr>
          <a:xfrm>
            <a:off x="4933949" y="4152900"/>
            <a:ext cx="257175" cy="714375"/>
            <a:chOff x="4933949" y="4152900"/>
            <a:chExt cx="257175" cy="714375"/>
          </a:xfrm>
        </p:grpSpPr>
        <p:pic>
          <p:nvPicPr>
            <p:cNvPr id="18" name="object 18" descr=""/>
            <p:cNvPicPr/>
            <p:nvPr/>
          </p:nvPicPr>
          <p:blipFill>
            <a:blip r:embed="rId11" cstate="print"/>
            <a:stretch>
              <a:fillRect/>
            </a:stretch>
          </p:blipFill>
          <p:spPr>
            <a:xfrm>
              <a:off x="4933949" y="4152900"/>
              <a:ext cx="123824" cy="142874"/>
            </a:xfrm>
            <a:prstGeom prst="rect">
              <a:avLst/>
            </a:prstGeom>
          </p:spPr>
        </p:pic>
        <p:pic>
          <p:nvPicPr>
            <p:cNvPr id="19" name="object 19" descr=""/>
            <p:cNvPicPr/>
            <p:nvPr/>
          </p:nvPicPr>
          <p:blipFill>
            <a:blip r:embed="rId12" cstate="print"/>
            <a:stretch>
              <a:fillRect/>
            </a:stretch>
          </p:blipFill>
          <p:spPr>
            <a:xfrm>
              <a:off x="5048249" y="4724400"/>
              <a:ext cx="142874" cy="142874"/>
            </a:xfrm>
            <a:prstGeom prst="rect">
              <a:avLst/>
            </a:prstGeom>
          </p:spPr>
        </p:pic>
      </p:grpSp>
      <p:sp>
        <p:nvSpPr>
          <p:cNvPr id="20" name="object 20" descr=""/>
          <p:cNvSpPr txBox="1"/>
          <p:nvPr/>
        </p:nvSpPr>
        <p:spPr>
          <a:xfrm>
            <a:off x="5196283" y="4083050"/>
            <a:ext cx="2085339" cy="812165"/>
          </a:xfrm>
          <a:prstGeom prst="rect">
            <a:avLst/>
          </a:prstGeom>
        </p:spPr>
        <p:txBody>
          <a:bodyPr wrap="square" lIns="0" tIns="12700" rIns="0" bIns="0" rtlCol="0" vert="horz">
            <a:spAutoFit/>
          </a:bodyPr>
          <a:lstStyle/>
          <a:p>
            <a:pPr marL="12700">
              <a:lnSpc>
                <a:spcPct val="100000"/>
              </a:lnSpc>
              <a:spcBef>
                <a:spcPts val="100"/>
              </a:spcBef>
            </a:pPr>
            <a:r>
              <a:rPr dirty="0" sz="1500">
                <a:solidFill>
                  <a:srgbClr val="4A5462"/>
                </a:solidFill>
                <a:latin typeface="PMingLiU"/>
                <a:cs typeface="PMingLiU"/>
              </a:rPr>
              <a:t>報告日期：</a:t>
            </a:r>
            <a:r>
              <a:rPr dirty="0" sz="1500">
                <a:solidFill>
                  <a:srgbClr val="4A5462"/>
                </a:solidFill>
                <a:latin typeface="Lucida Fax"/>
                <a:cs typeface="Lucida Fax"/>
              </a:rPr>
              <a:t>2025-09-</a:t>
            </a:r>
            <a:r>
              <a:rPr dirty="0" sz="1500" spc="-25">
                <a:solidFill>
                  <a:srgbClr val="4A5462"/>
                </a:solidFill>
                <a:latin typeface="Lucida Fax"/>
                <a:cs typeface="Lucida Fax"/>
              </a:rPr>
              <a:t>01</a:t>
            </a:r>
            <a:endParaRPr sz="1500">
              <a:latin typeface="Lucida Fax"/>
              <a:cs typeface="Lucida Fax"/>
            </a:endParaRPr>
          </a:p>
          <a:p>
            <a:pPr>
              <a:lnSpc>
                <a:spcPct val="100000"/>
              </a:lnSpc>
              <a:spcBef>
                <a:spcPts val="1005"/>
              </a:spcBef>
            </a:pPr>
            <a:endParaRPr sz="1500">
              <a:latin typeface="Lucida Fax"/>
              <a:cs typeface="Lucida Fax"/>
            </a:endParaRPr>
          </a:p>
          <a:p>
            <a:pPr marL="70485">
              <a:lnSpc>
                <a:spcPct val="100000"/>
              </a:lnSpc>
            </a:pPr>
            <a:r>
              <a:rPr dirty="0" sz="1350" spc="-5">
                <a:solidFill>
                  <a:srgbClr val="F97316"/>
                </a:solidFill>
                <a:latin typeface="PMingLiU"/>
                <a:cs typeface="PMingLiU"/>
              </a:rPr>
              <a:t>需求與現有能力對比分析</a:t>
            </a:r>
            <a:endParaRPr sz="1350">
              <a:latin typeface="PMingLiU"/>
              <a:cs typeface="PMingLiU"/>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4604" rIns="0" bIns="0" rtlCol="0" vert="horz">
            <a:spAutoFit/>
          </a:bodyPr>
          <a:lstStyle/>
          <a:p>
            <a:pPr marL="12700">
              <a:lnSpc>
                <a:spcPct val="100000"/>
              </a:lnSpc>
              <a:spcBef>
                <a:spcPts val="114"/>
              </a:spcBef>
            </a:pPr>
            <a:r>
              <a:rPr dirty="0" sz="1950" spc="-165">
                <a:latin typeface="PMingLiU"/>
                <a:cs typeface="PMingLiU"/>
              </a:rPr>
              <a:t>問題</a:t>
            </a:r>
            <a:r>
              <a:rPr dirty="0" sz="2050" spc="-270"/>
              <a:t>定</a:t>
            </a:r>
            <a:r>
              <a:rPr dirty="0" spc="-204"/>
              <a:t>義與</a:t>
            </a:r>
            <a:r>
              <a:rPr dirty="0" sz="1900" spc="-120">
                <a:latin typeface="PMingLiU"/>
                <a:cs typeface="PMingLiU"/>
              </a:rPr>
              <a:t>現</a:t>
            </a:r>
            <a:r>
              <a:rPr dirty="0" spc="-200"/>
              <a:t>狀</a:t>
            </a:r>
            <a:r>
              <a:rPr dirty="0" sz="1950" spc="-110"/>
              <a:t>分析</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304799" y="914399"/>
            <a:ext cx="11582400" cy="1257300"/>
            <a:chOff x="304799" y="914399"/>
            <a:chExt cx="11582400" cy="1257300"/>
          </a:xfrm>
        </p:grpSpPr>
        <p:sp>
          <p:nvSpPr>
            <p:cNvPr id="5" name="object 5" descr=""/>
            <p:cNvSpPr/>
            <p:nvPr/>
          </p:nvSpPr>
          <p:spPr>
            <a:xfrm>
              <a:off x="304799" y="914399"/>
              <a:ext cx="11582400" cy="1257300"/>
            </a:xfrm>
            <a:custGeom>
              <a:avLst/>
              <a:gdLst/>
              <a:ahLst/>
              <a:cxnLst/>
              <a:rect l="l" t="t" r="r" b="b"/>
              <a:pathLst>
                <a:path w="11582400" h="1257300">
                  <a:moveTo>
                    <a:pt x="11582399" y="1257299"/>
                  </a:moveTo>
                  <a:lnTo>
                    <a:pt x="0" y="1257299"/>
                  </a:lnTo>
                  <a:lnTo>
                    <a:pt x="0" y="0"/>
                  </a:lnTo>
                  <a:lnTo>
                    <a:pt x="11582399" y="0"/>
                  </a:lnTo>
                  <a:lnTo>
                    <a:pt x="11582399" y="1257299"/>
                  </a:lnTo>
                  <a:close/>
                </a:path>
              </a:pathLst>
            </a:custGeom>
            <a:solidFill>
              <a:srgbClr val="FFFFFF"/>
            </a:solidFill>
          </p:spPr>
          <p:txBody>
            <a:bodyPr wrap="square" lIns="0" tIns="0" rIns="0" bIns="0" rtlCol="0"/>
            <a:lstStyle/>
            <a:p/>
          </p:txBody>
        </p:sp>
        <p:sp>
          <p:nvSpPr>
            <p:cNvPr id="6" name="object 6" descr=""/>
            <p:cNvSpPr/>
            <p:nvPr/>
          </p:nvSpPr>
          <p:spPr>
            <a:xfrm>
              <a:off x="304799" y="914399"/>
              <a:ext cx="38100" cy="1257300"/>
            </a:xfrm>
            <a:custGeom>
              <a:avLst/>
              <a:gdLst/>
              <a:ahLst/>
              <a:cxnLst/>
              <a:rect l="l" t="t" r="r" b="b"/>
              <a:pathLst>
                <a:path w="38100" h="1257300">
                  <a:moveTo>
                    <a:pt x="38099" y="1257299"/>
                  </a:moveTo>
                  <a:lnTo>
                    <a:pt x="0" y="1257299"/>
                  </a:lnTo>
                  <a:lnTo>
                    <a:pt x="0" y="0"/>
                  </a:lnTo>
                  <a:lnTo>
                    <a:pt x="38099" y="0"/>
                  </a:lnTo>
                  <a:lnTo>
                    <a:pt x="38099" y="1257299"/>
                  </a:lnTo>
                  <a:close/>
                </a:path>
              </a:pathLst>
            </a:custGeom>
            <a:solidFill>
              <a:srgbClr val="FF9800"/>
            </a:solidFill>
          </p:spPr>
          <p:txBody>
            <a:bodyPr wrap="square" lIns="0" tIns="0" rIns="0" bIns="0" rtlCol="0"/>
            <a:lstStyle/>
            <a:p/>
          </p:txBody>
        </p:sp>
        <p:pic>
          <p:nvPicPr>
            <p:cNvPr id="7" name="object 7" descr=""/>
            <p:cNvPicPr/>
            <p:nvPr/>
          </p:nvPicPr>
          <p:blipFill>
            <a:blip r:embed="rId2" cstate="print"/>
            <a:stretch>
              <a:fillRect/>
            </a:stretch>
          </p:blipFill>
          <p:spPr>
            <a:xfrm>
              <a:off x="571499" y="1181099"/>
              <a:ext cx="190499" cy="190499"/>
            </a:xfrm>
            <a:prstGeom prst="rect">
              <a:avLst/>
            </a:prstGeom>
          </p:spPr>
        </p:pic>
      </p:grpSp>
      <p:sp>
        <p:nvSpPr>
          <p:cNvPr id="8" name="object 8" descr=""/>
          <p:cNvSpPr txBox="1"/>
          <p:nvPr/>
        </p:nvSpPr>
        <p:spPr>
          <a:xfrm>
            <a:off x="342899" y="1111733"/>
            <a:ext cx="11544300" cy="655955"/>
          </a:xfrm>
          <a:prstGeom prst="rect">
            <a:avLst/>
          </a:prstGeom>
        </p:spPr>
        <p:txBody>
          <a:bodyPr wrap="square" lIns="0" tIns="15240" rIns="0" bIns="0" rtlCol="0" vert="horz">
            <a:spAutoFit/>
          </a:bodyPr>
          <a:lstStyle/>
          <a:p>
            <a:pPr marL="494665">
              <a:lnSpc>
                <a:spcPct val="100000"/>
              </a:lnSpc>
              <a:spcBef>
                <a:spcPts val="120"/>
              </a:spcBef>
            </a:pPr>
            <a:r>
              <a:rPr dirty="0" sz="1600" spc="-120">
                <a:solidFill>
                  <a:srgbClr val="414141"/>
                </a:solidFill>
                <a:latin typeface="PMingLiU"/>
                <a:cs typeface="PMingLiU"/>
              </a:rPr>
              <a:t>問題</a:t>
            </a:r>
            <a:r>
              <a:rPr dirty="0" sz="1700" spc="-210">
                <a:solidFill>
                  <a:srgbClr val="414141"/>
                </a:solidFill>
                <a:latin typeface="SimSun"/>
                <a:cs typeface="SimSun"/>
              </a:rPr>
              <a:t>定</a:t>
            </a:r>
            <a:r>
              <a:rPr dirty="0" sz="1650" spc="-50">
                <a:solidFill>
                  <a:srgbClr val="414141"/>
                </a:solidFill>
                <a:latin typeface="SimSun"/>
                <a:cs typeface="SimSun"/>
              </a:rPr>
              <a:t>義</a:t>
            </a:r>
            <a:endParaRPr sz="1650">
              <a:latin typeface="SimSun"/>
              <a:cs typeface="SimSun"/>
            </a:endParaRPr>
          </a:p>
          <a:p>
            <a:pPr marL="228600">
              <a:lnSpc>
                <a:spcPct val="100000"/>
              </a:lnSpc>
              <a:spcBef>
                <a:spcPts val="1460"/>
              </a:spcBef>
            </a:pPr>
            <a:r>
              <a:rPr dirty="0" sz="1200">
                <a:solidFill>
                  <a:srgbClr val="414141"/>
                </a:solidFill>
                <a:latin typeface="Arial"/>
                <a:cs typeface="Arial"/>
              </a:rPr>
              <a:t>AUO</a:t>
            </a:r>
            <a:r>
              <a:rPr dirty="0" sz="1200" spc="-5">
                <a:solidFill>
                  <a:srgbClr val="414141"/>
                </a:solidFill>
                <a:latin typeface="PMingLiU"/>
                <a:cs typeface="PMingLiU"/>
              </a:rPr>
              <a:t>庫房目前正在評估導入機器狗進行場域應用，主要目標是提升庫房的巡檢效率與安全性。相關資料已提交給庫房窗口楊品聖進行評估討論。</a:t>
            </a:r>
            <a:endParaRPr sz="1200">
              <a:latin typeface="PMingLiU"/>
              <a:cs typeface="PMingLiU"/>
            </a:endParaRPr>
          </a:p>
        </p:txBody>
      </p:sp>
      <p:grpSp>
        <p:nvGrpSpPr>
          <p:cNvPr id="9" name="object 9" descr=""/>
          <p:cNvGrpSpPr/>
          <p:nvPr/>
        </p:nvGrpSpPr>
        <p:grpSpPr>
          <a:xfrm>
            <a:off x="304799" y="2400299"/>
            <a:ext cx="11582400" cy="3390900"/>
            <a:chOff x="304799" y="2400299"/>
            <a:chExt cx="11582400" cy="3390900"/>
          </a:xfrm>
        </p:grpSpPr>
        <p:sp>
          <p:nvSpPr>
            <p:cNvPr id="10" name="object 10" descr=""/>
            <p:cNvSpPr/>
            <p:nvPr/>
          </p:nvSpPr>
          <p:spPr>
            <a:xfrm>
              <a:off x="304799" y="2400299"/>
              <a:ext cx="11582400" cy="3390900"/>
            </a:xfrm>
            <a:custGeom>
              <a:avLst/>
              <a:gdLst/>
              <a:ahLst/>
              <a:cxnLst/>
              <a:rect l="l" t="t" r="r" b="b"/>
              <a:pathLst>
                <a:path w="11582400" h="3390900">
                  <a:moveTo>
                    <a:pt x="11582399" y="3390899"/>
                  </a:moveTo>
                  <a:lnTo>
                    <a:pt x="0" y="3390899"/>
                  </a:lnTo>
                  <a:lnTo>
                    <a:pt x="0" y="0"/>
                  </a:lnTo>
                  <a:lnTo>
                    <a:pt x="11582399" y="0"/>
                  </a:lnTo>
                  <a:lnTo>
                    <a:pt x="11582399" y="3390899"/>
                  </a:lnTo>
                  <a:close/>
                </a:path>
              </a:pathLst>
            </a:custGeom>
            <a:solidFill>
              <a:srgbClr val="FFFFFF"/>
            </a:solidFill>
          </p:spPr>
          <p:txBody>
            <a:bodyPr wrap="square" lIns="0" tIns="0" rIns="0" bIns="0" rtlCol="0"/>
            <a:lstStyle/>
            <a:p/>
          </p:txBody>
        </p:sp>
        <p:sp>
          <p:nvSpPr>
            <p:cNvPr id="11" name="object 11" descr=""/>
            <p:cNvSpPr/>
            <p:nvPr/>
          </p:nvSpPr>
          <p:spPr>
            <a:xfrm>
              <a:off x="304799" y="2400299"/>
              <a:ext cx="38100" cy="3390900"/>
            </a:xfrm>
            <a:custGeom>
              <a:avLst/>
              <a:gdLst/>
              <a:ahLst/>
              <a:cxnLst/>
              <a:rect l="l" t="t" r="r" b="b"/>
              <a:pathLst>
                <a:path w="38100" h="3390900">
                  <a:moveTo>
                    <a:pt x="38099" y="3390899"/>
                  </a:moveTo>
                  <a:lnTo>
                    <a:pt x="0" y="3390899"/>
                  </a:lnTo>
                  <a:lnTo>
                    <a:pt x="0" y="0"/>
                  </a:lnTo>
                  <a:lnTo>
                    <a:pt x="38099" y="0"/>
                  </a:lnTo>
                  <a:lnTo>
                    <a:pt x="38099" y="3390899"/>
                  </a:lnTo>
                  <a:close/>
                </a:path>
              </a:pathLst>
            </a:custGeom>
            <a:solidFill>
              <a:srgbClr val="FF9800"/>
            </a:solidFill>
          </p:spPr>
          <p:txBody>
            <a:bodyPr wrap="square" lIns="0" tIns="0" rIns="0" bIns="0" rtlCol="0"/>
            <a:lstStyle/>
            <a:p/>
          </p:txBody>
        </p:sp>
        <p:pic>
          <p:nvPicPr>
            <p:cNvPr id="12" name="object 12" descr=""/>
            <p:cNvPicPr/>
            <p:nvPr/>
          </p:nvPicPr>
          <p:blipFill>
            <a:blip r:embed="rId3" cstate="print"/>
            <a:stretch>
              <a:fillRect/>
            </a:stretch>
          </p:blipFill>
          <p:spPr>
            <a:xfrm>
              <a:off x="571499" y="2666999"/>
              <a:ext cx="142874" cy="190499"/>
            </a:xfrm>
            <a:prstGeom prst="rect">
              <a:avLst/>
            </a:prstGeom>
          </p:spPr>
        </p:pic>
      </p:grpSp>
      <p:sp>
        <p:nvSpPr>
          <p:cNvPr id="13" name="object 13" descr=""/>
          <p:cNvSpPr txBox="1"/>
          <p:nvPr/>
        </p:nvSpPr>
        <p:spPr>
          <a:xfrm>
            <a:off x="790574" y="2596703"/>
            <a:ext cx="1155700" cy="288925"/>
          </a:xfrm>
          <a:prstGeom prst="rect">
            <a:avLst/>
          </a:prstGeom>
        </p:spPr>
        <p:txBody>
          <a:bodyPr wrap="square" lIns="0" tIns="15875" rIns="0" bIns="0" rtlCol="0" vert="horz">
            <a:spAutoFit/>
          </a:bodyPr>
          <a:lstStyle/>
          <a:p>
            <a:pPr>
              <a:lnSpc>
                <a:spcPct val="100000"/>
              </a:lnSpc>
              <a:spcBef>
                <a:spcPts val="125"/>
              </a:spcBef>
            </a:pPr>
            <a:r>
              <a:rPr dirty="0" sz="1700" spc="-210">
                <a:solidFill>
                  <a:srgbClr val="414141"/>
                </a:solidFill>
                <a:latin typeface="PMingLiU"/>
                <a:cs typeface="PMingLiU"/>
              </a:rPr>
              <a:t>主</a:t>
            </a:r>
            <a:r>
              <a:rPr dirty="0" sz="1600" spc="-120">
                <a:solidFill>
                  <a:srgbClr val="414141"/>
                </a:solidFill>
                <a:latin typeface="PMingLiU"/>
                <a:cs typeface="PMingLiU"/>
              </a:rPr>
              <a:t>要</a:t>
            </a:r>
            <a:r>
              <a:rPr dirty="0" sz="1700" spc="-210">
                <a:solidFill>
                  <a:srgbClr val="414141"/>
                </a:solidFill>
                <a:latin typeface="SimSun"/>
                <a:cs typeface="SimSun"/>
              </a:rPr>
              <a:t>應</a:t>
            </a:r>
            <a:r>
              <a:rPr dirty="0" sz="1600" spc="-120">
                <a:solidFill>
                  <a:srgbClr val="414141"/>
                </a:solidFill>
                <a:latin typeface="PMingLiU"/>
                <a:cs typeface="PMingLiU"/>
              </a:rPr>
              <a:t>用</a:t>
            </a:r>
            <a:r>
              <a:rPr dirty="0" sz="1650" spc="-114">
                <a:solidFill>
                  <a:srgbClr val="414141"/>
                </a:solidFill>
                <a:latin typeface="SimSun"/>
                <a:cs typeface="SimSun"/>
              </a:rPr>
              <a:t>場景</a:t>
            </a:r>
            <a:endParaRPr sz="1650">
              <a:latin typeface="SimSun"/>
              <a:cs typeface="SimSun"/>
            </a:endParaRPr>
          </a:p>
        </p:txBody>
      </p:sp>
      <p:grpSp>
        <p:nvGrpSpPr>
          <p:cNvPr id="14" name="object 14" descr=""/>
          <p:cNvGrpSpPr/>
          <p:nvPr/>
        </p:nvGrpSpPr>
        <p:grpSpPr>
          <a:xfrm>
            <a:off x="723899" y="3200399"/>
            <a:ext cx="6115050" cy="1447800"/>
            <a:chOff x="723899" y="3200399"/>
            <a:chExt cx="6115050" cy="1447800"/>
          </a:xfrm>
        </p:grpSpPr>
        <p:sp>
          <p:nvSpPr>
            <p:cNvPr id="15" name="object 15" descr=""/>
            <p:cNvSpPr/>
            <p:nvPr/>
          </p:nvSpPr>
          <p:spPr>
            <a:xfrm>
              <a:off x="723899" y="3200399"/>
              <a:ext cx="571500" cy="571500"/>
            </a:xfrm>
            <a:custGeom>
              <a:avLst/>
              <a:gdLst/>
              <a:ahLst/>
              <a:cxnLst/>
              <a:rect l="l" t="t" r="r" b="b"/>
              <a:pathLst>
                <a:path w="571500" h="571500">
                  <a:moveTo>
                    <a:pt x="285749" y="571499"/>
                  </a:moveTo>
                  <a:lnTo>
                    <a:pt x="243821" y="568407"/>
                  </a:lnTo>
                  <a:lnTo>
                    <a:pt x="202801" y="559195"/>
                  </a:lnTo>
                  <a:lnTo>
                    <a:pt x="163575" y="544064"/>
                  </a:lnTo>
                  <a:lnTo>
                    <a:pt x="126995" y="523341"/>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3"/>
                  </a:lnTo>
                  <a:lnTo>
                    <a:pt x="115528" y="56233"/>
                  </a:lnTo>
                  <a:lnTo>
                    <a:pt x="151048" y="33740"/>
                  </a:lnTo>
                  <a:lnTo>
                    <a:pt x="189483" y="16703"/>
                  </a:lnTo>
                  <a:lnTo>
                    <a:pt x="230002" y="5490"/>
                  </a:lnTo>
                  <a:lnTo>
                    <a:pt x="271728" y="344"/>
                  </a:lnTo>
                  <a:lnTo>
                    <a:pt x="285749" y="0"/>
                  </a:lnTo>
                  <a:lnTo>
                    <a:pt x="299771" y="344"/>
                  </a:lnTo>
                  <a:lnTo>
                    <a:pt x="341497" y="5490"/>
                  </a:lnTo>
                  <a:lnTo>
                    <a:pt x="382016" y="16703"/>
                  </a:lnTo>
                  <a:lnTo>
                    <a:pt x="420451" y="33740"/>
                  </a:lnTo>
                  <a:lnTo>
                    <a:pt x="455971" y="56232"/>
                  </a:lnTo>
                  <a:lnTo>
                    <a:pt x="487805" y="83693"/>
                  </a:lnTo>
                  <a:lnTo>
                    <a:pt x="515266" y="115528"/>
                  </a:lnTo>
                  <a:lnTo>
                    <a:pt x="537758" y="151048"/>
                  </a:lnTo>
                  <a:lnTo>
                    <a:pt x="554796" y="189483"/>
                  </a:lnTo>
                  <a:lnTo>
                    <a:pt x="566009" y="230002"/>
                  </a:lnTo>
                  <a:lnTo>
                    <a:pt x="571155" y="271728"/>
                  </a:lnTo>
                  <a:lnTo>
                    <a:pt x="571499" y="285749"/>
                  </a:lnTo>
                  <a:lnTo>
                    <a:pt x="571155" y="299771"/>
                  </a:lnTo>
                  <a:lnTo>
                    <a:pt x="566009" y="341496"/>
                  </a:lnTo>
                  <a:lnTo>
                    <a:pt x="554796" y="382016"/>
                  </a:lnTo>
                  <a:lnTo>
                    <a:pt x="537758" y="420451"/>
                  </a:lnTo>
                  <a:lnTo>
                    <a:pt x="515266" y="455970"/>
                  </a:lnTo>
                  <a:lnTo>
                    <a:pt x="487805" y="487805"/>
                  </a:lnTo>
                  <a:lnTo>
                    <a:pt x="455971" y="515266"/>
                  </a:lnTo>
                  <a:lnTo>
                    <a:pt x="420451" y="537758"/>
                  </a:lnTo>
                  <a:lnTo>
                    <a:pt x="382016" y="554796"/>
                  </a:lnTo>
                  <a:lnTo>
                    <a:pt x="341496" y="566009"/>
                  </a:lnTo>
                  <a:lnTo>
                    <a:pt x="299771" y="571155"/>
                  </a:lnTo>
                  <a:lnTo>
                    <a:pt x="285749" y="571499"/>
                  </a:lnTo>
                  <a:close/>
                </a:path>
              </a:pathLst>
            </a:custGeom>
            <a:solidFill>
              <a:srgbClr val="DFDFDF"/>
            </a:solidFill>
          </p:spPr>
          <p:txBody>
            <a:bodyPr wrap="square" lIns="0" tIns="0" rIns="0" bIns="0" rtlCol="0"/>
            <a:lstStyle/>
            <a:p/>
          </p:txBody>
        </p:sp>
        <p:pic>
          <p:nvPicPr>
            <p:cNvPr id="16" name="object 16" descr=""/>
            <p:cNvPicPr/>
            <p:nvPr/>
          </p:nvPicPr>
          <p:blipFill>
            <a:blip r:embed="rId4" cstate="print"/>
            <a:stretch>
              <a:fillRect/>
            </a:stretch>
          </p:blipFill>
          <p:spPr>
            <a:xfrm>
              <a:off x="895349" y="3333749"/>
              <a:ext cx="228599" cy="304799"/>
            </a:xfrm>
            <a:prstGeom prst="rect">
              <a:avLst/>
            </a:prstGeom>
          </p:spPr>
        </p:pic>
        <p:sp>
          <p:nvSpPr>
            <p:cNvPr id="17" name="object 17" descr=""/>
            <p:cNvSpPr/>
            <p:nvPr/>
          </p:nvSpPr>
          <p:spPr>
            <a:xfrm>
              <a:off x="6267449" y="3200399"/>
              <a:ext cx="571500" cy="571500"/>
            </a:xfrm>
            <a:custGeom>
              <a:avLst/>
              <a:gdLst/>
              <a:ahLst/>
              <a:cxnLst/>
              <a:rect l="l" t="t" r="r" b="b"/>
              <a:pathLst>
                <a:path w="571500" h="571500">
                  <a:moveTo>
                    <a:pt x="285749" y="571499"/>
                  </a:moveTo>
                  <a:lnTo>
                    <a:pt x="243821" y="568407"/>
                  </a:lnTo>
                  <a:lnTo>
                    <a:pt x="202800" y="559195"/>
                  </a:lnTo>
                  <a:lnTo>
                    <a:pt x="163575" y="544064"/>
                  </a:lnTo>
                  <a:lnTo>
                    <a:pt x="126994" y="523341"/>
                  </a:lnTo>
                  <a:lnTo>
                    <a:pt x="93851" y="497476"/>
                  </a:lnTo>
                  <a:lnTo>
                    <a:pt x="64861"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2" y="115528"/>
                  </a:lnTo>
                  <a:lnTo>
                    <a:pt x="83693" y="83693"/>
                  </a:lnTo>
                  <a:lnTo>
                    <a:pt x="115528" y="56233"/>
                  </a:lnTo>
                  <a:lnTo>
                    <a:pt x="151047" y="33740"/>
                  </a:lnTo>
                  <a:lnTo>
                    <a:pt x="189483" y="16703"/>
                  </a:lnTo>
                  <a:lnTo>
                    <a:pt x="230002" y="5490"/>
                  </a:lnTo>
                  <a:lnTo>
                    <a:pt x="271729" y="344"/>
                  </a:lnTo>
                  <a:lnTo>
                    <a:pt x="285749" y="0"/>
                  </a:lnTo>
                  <a:lnTo>
                    <a:pt x="299771" y="344"/>
                  </a:lnTo>
                  <a:lnTo>
                    <a:pt x="341495" y="5490"/>
                  </a:lnTo>
                  <a:lnTo>
                    <a:pt x="382015" y="16703"/>
                  </a:lnTo>
                  <a:lnTo>
                    <a:pt x="420451" y="33740"/>
                  </a:lnTo>
                  <a:lnTo>
                    <a:pt x="455970" y="56232"/>
                  </a:lnTo>
                  <a:lnTo>
                    <a:pt x="487805" y="83693"/>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6"/>
                  </a:lnTo>
                  <a:lnTo>
                    <a:pt x="537759" y="420451"/>
                  </a:lnTo>
                  <a:lnTo>
                    <a:pt x="515266" y="455970"/>
                  </a:lnTo>
                  <a:lnTo>
                    <a:pt x="487805" y="487805"/>
                  </a:lnTo>
                  <a:lnTo>
                    <a:pt x="455970" y="515266"/>
                  </a:lnTo>
                  <a:lnTo>
                    <a:pt x="420451" y="537758"/>
                  </a:lnTo>
                  <a:lnTo>
                    <a:pt x="382015" y="554796"/>
                  </a:lnTo>
                  <a:lnTo>
                    <a:pt x="341495" y="566009"/>
                  </a:lnTo>
                  <a:lnTo>
                    <a:pt x="299771" y="571155"/>
                  </a:lnTo>
                  <a:lnTo>
                    <a:pt x="285749" y="571499"/>
                  </a:lnTo>
                  <a:close/>
                </a:path>
              </a:pathLst>
            </a:custGeom>
            <a:solidFill>
              <a:srgbClr val="DFDFDF"/>
            </a:solidFill>
          </p:spPr>
          <p:txBody>
            <a:bodyPr wrap="square" lIns="0" tIns="0" rIns="0" bIns="0" rtlCol="0"/>
            <a:lstStyle/>
            <a:p/>
          </p:txBody>
        </p:sp>
        <p:pic>
          <p:nvPicPr>
            <p:cNvPr id="18" name="object 18" descr=""/>
            <p:cNvPicPr/>
            <p:nvPr/>
          </p:nvPicPr>
          <p:blipFill>
            <a:blip r:embed="rId5" cstate="print"/>
            <a:stretch>
              <a:fillRect/>
            </a:stretch>
          </p:blipFill>
          <p:spPr>
            <a:xfrm>
              <a:off x="6438899" y="3333749"/>
              <a:ext cx="228599" cy="304799"/>
            </a:xfrm>
            <a:prstGeom prst="rect">
              <a:avLst/>
            </a:prstGeom>
          </p:spPr>
        </p:pic>
        <p:sp>
          <p:nvSpPr>
            <p:cNvPr id="19" name="object 19" descr=""/>
            <p:cNvSpPr/>
            <p:nvPr/>
          </p:nvSpPr>
          <p:spPr>
            <a:xfrm>
              <a:off x="723899" y="4076699"/>
              <a:ext cx="571500" cy="571500"/>
            </a:xfrm>
            <a:custGeom>
              <a:avLst/>
              <a:gdLst/>
              <a:ahLst/>
              <a:cxnLst/>
              <a:rect l="l" t="t" r="r" b="b"/>
              <a:pathLst>
                <a:path w="571500" h="571500">
                  <a:moveTo>
                    <a:pt x="285749" y="571499"/>
                  </a:moveTo>
                  <a:lnTo>
                    <a:pt x="243821" y="568407"/>
                  </a:lnTo>
                  <a:lnTo>
                    <a:pt x="202801" y="559195"/>
                  </a:lnTo>
                  <a:lnTo>
                    <a:pt x="163575" y="544064"/>
                  </a:lnTo>
                  <a:lnTo>
                    <a:pt x="126995" y="523341"/>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3"/>
                  </a:lnTo>
                  <a:lnTo>
                    <a:pt x="115528" y="56233"/>
                  </a:lnTo>
                  <a:lnTo>
                    <a:pt x="151048" y="33740"/>
                  </a:lnTo>
                  <a:lnTo>
                    <a:pt x="189483" y="16703"/>
                  </a:lnTo>
                  <a:lnTo>
                    <a:pt x="230002" y="5490"/>
                  </a:lnTo>
                  <a:lnTo>
                    <a:pt x="271728" y="344"/>
                  </a:lnTo>
                  <a:lnTo>
                    <a:pt x="285749" y="0"/>
                  </a:lnTo>
                  <a:lnTo>
                    <a:pt x="299771" y="344"/>
                  </a:lnTo>
                  <a:lnTo>
                    <a:pt x="341497" y="5490"/>
                  </a:lnTo>
                  <a:lnTo>
                    <a:pt x="382016" y="16703"/>
                  </a:lnTo>
                  <a:lnTo>
                    <a:pt x="420451" y="33740"/>
                  </a:lnTo>
                  <a:lnTo>
                    <a:pt x="455971" y="56233"/>
                  </a:lnTo>
                  <a:lnTo>
                    <a:pt x="487805" y="83693"/>
                  </a:lnTo>
                  <a:lnTo>
                    <a:pt x="515266" y="115528"/>
                  </a:lnTo>
                  <a:lnTo>
                    <a:pt x="537758" y="151048"/>
                  </a:lnTo>
                  <a:lnTo>
                    <a:pt x="554796" y="189483"/>
                  </a:lnTo>
                  <a:lnTo>
                    <a:pt x="566009" y="230002"/>
                  </a:lnTo>
                  <a:lnTo>
                    <a:pt x="571155" y="271728"/>
                  </a:lnTo>
                  <a:lnTo>
                    <a:pt x="571499" y="285749"/>
                  </a:lnTo>
                  <a:lnTo>
                    <a:pt x="571155" y="299771"/>
                  </a:lnTo>
                  <a:lnTo>
                    <a:pt x="566009" y="341496"/>
                  </a:lnTo>
                  <a:lnTo>
                    <a:pt x="554796" y="382015"/>
                  </a:lnTo>
                  <a:lnTo>
                    <a:pt x="537758" y="420451"/>
                  </a:lnTo>
                  <a:lnTo>
                    <a:pt x="515266" y="455971"/>
                  </a:lnTo>
                  <a:lnTo>
                    <a:pt x="487805" y="487805"/>
                  </a:lnTo>
                  <a:lnTo>
                    <a:pt x="455971" y="515266"/>
                  </a:lnTo>
                  <a:lnTo>
                    <a:pt x="420451" y="537758"/>
                  </a:lnTo>
                  <a:lnTo>
                    <a:pt x="382016"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20" name="object 20" descr=""/>
            <p:cNvPicPr/>
            <p:nvPr/>
          </p:nvPicPr>
          <p:blipFill>
            <a:blip r:embed="rId6" cstate="print"/>
            <a:stretch>
              <a:fillRect/>
            </a:stretch>
          </p:blipFill>
          <p:spPr>
            <a:xfrm>
              <a:off x="885824" y="4210049"/>
              <a:ext cx="257174" cy="304799"/>
            </a:xfrm>
            <a:prstGeom prst="rect">
              <a:avLst/>
            </a:prstGeom>
          </p:spPr>
        </p:pic>
        <p:sp>
          <p:nvSpPr>
            <p:cNvPr id="21" name="object 21" descr=""/>
            <p:cNvSpPr/>
            <p:nvPr/>
          </p:nvSpPr>
          <p:spPr>
            <a:xfrm>
              <a:off x="6267449" y="4076699"/>
              <a:ext cx="571500" cy="571500"/>
            </a:xfrm>
            <a:custGeom>
              <a:avLst/>
              <a:gdLst/>
              <a:ahLst/>
              <a:cxnLst/>
              <a:rect l="l" t="t" r="r" b="b"/>
              <a:pathLst>
                <a:path w="571500" h="571500">
                  <a:moveTo>
                    <a:pt x="285749" y="571499"/>
                  </a:moveTo>
                  <a:lnTo>
                    <a:pt x="243821" y="568407"/>
                  </a:lnTo>
                  <a:lnTo>
                    <a:pt x="202800" y="559195"/>
                  </a:lnTo>
                  <a:lnTo>
                    <a:pt x="163575" y="544064"/>
                  </a:lnTo>
                  <a:lnTo>
                    <a:pt x="126994" y="523341"/>
                  </a:lnTo>
                  <a:lnTo>
                    <a:pt x="93851" y="497476"/>
                  </a:lnTo>
                  <a:lnTo>
                    <a:pt x="64861"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2" y="115528"/>
                  </a:lnTo>
                  <a:lnTo>
                    <a:pt x="83693" y="83693"/>
                  </a:lnTo>
                  <a:lnTo>
                    <a:pt x="115528" y="56233"/>
                  </a:lnTo>
                  <a:lnTo>
                    <a:pt x="151047" y="33740"/>
                  </a:lnTo>
                  <a:lnTo>
                    <a:pt x="189483" y="16703"/>
                  </a:lnTo>
                  <a:lnTo>
                    <a:pt x="230002" y="5490"/>
                  </a:lnTo>
                  <a:lnTo>
                    <a:pt x="271729" y="344"/>
                  </a:lnTo>
                  <a:lnTo>
                    <a:pt x="285749" y="0"/>
                  </a:lnTo>
                  <a:lnTo>
                    <a:pt x="299771" y="344"/>
                  </a:lnTo>
                  <a:lnTo>
                    <a:pt x="341495" y="5490"/>
                  </a:lnTo>
                  <a:lnTo>
                    <a:pt x="382015" y="16703"/>
                  </a:lnTo>
                  <a:lnTo>
                    <a:pt x="420451" y="33740"/>
                  </a:lnTo>
                  <a:lnTo>
                    <a:pt x="455970" y="56233"/>
                  </a:lnTo>
                  <a:lnTo>
                    <a:pt x="487805" y="83693"/>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5"/>
                  </a:lnTo>
                  <a:lnTo>
                    <a:pt x="537759" y="420451"/>
                  </a:lnTo>
                  <a:lnTo>
                    <a:pt x="515266" y="455971"/>
                  </a:lnTo>
                  <a:lnTo>
                    <a:pt x="487805" y="487805"/>
                  </a:lnTo>
                  <a:lnTo>
                    <a:pt x="455970" y="515266"/>
                  </a:lnTo>
                  <a:lnTo>
                    <a:pt x="420451" y="537758"/>
                  </a:lnTo>
                  <a:lnTo>
                    <a:pt x="382015" y="554796"/>
                  </a:lnTo>
                  <a:lnTo>
                    <a:pt x="341495" y="566008"/>
                  </a:lnTo>
                  <a:lnTo>
                    <a:pt x="299771" y="571155"/>
                  </a:lnTo>
                  <a:lnTo>
                    <a:pt x="285749" y="571499"/>
                  </a:lnTo>
                  <a:close/>
                </a:path>
              </a:pathLst>
            </a:custGeom>
            <a:solidFill>
              <a:srgbClr val="DFDFDF"/>
            </a:solidFill>
          </p:spPr>
          <p:txBody>
            <a:bodyPr wrap="square" lIns="0" tIns="0" rIns="0" bIns="0" rtlCol="0"/>
            <a:lstStyle/>
            <a:p/>
          </p:txBody>
        </p:sp>
        <p:pic>
          <p:nvPicPr>
            <p:cNvPr id="22" name="object 22" descr=""/>
            <p:cNvPicPr/>
            <p:nvPr/>
          </p:nvPicPr>
          <p:blipFill>
            <a:blip r:embed="rId7" cstate="print"/>
            <a:stretch>
              <a:fillRect/>
            </a:stretch>
          </p:blipFill>
          <p:spPr>
            <a:xfrm>
              <a:off x="6410324" y="4210049"/>
              <a:ext cx="285749" cy="304799"/>
            </a:xfrm>
            <a:prstGeom prst="rect">
              <a:avLst/>
            </a:prstGeom>
          </p:spPr>
        </p:pic>
      </p:grpSp>
      <p:sp>
        <p:nvSpPr>
          <p:cNvPr id="23" name="object 23" descr=""/>
          <p:cNvSpPr txBox="1"/>
          <p:nvPr/>
        </p:nvSpPr>
        <p:spPr>
          <a:xfrm>
            <a:off x="1447799" y="3076105"/>
            <a:ext cx="4339590" cy="573405"/>
          </a:xfrm>
          <a:prstGeom prst="rect">
            <a:avLst/>
          </a:prstGeom>
        </p:spPr>
        <p:txBody>
          <a:bodyPr wrap="square" lIns="0" tIns="114300" rIns="0" bIns="0" rtlCol="0" vert="horz">
            <a:spAutoFit/>
          </a:bodyPr>
          <a:lstStyle/>
          <a:p>
            <a:pPr>
              <a:lnSpc>
                <a:spcPct val="100000"/>
              </a:lnSpc>
              <a:spcBef>
                <a:spcPts val="900"/>
              </a:spcBef>
            </a:pPr>
            <a:r>
              <a:rPr dirty="0" sz="1350" spc="-170">
                <a:solidFill>
                  <a:srgbClr val="414141"/>
                </a:solidFill>
                <a:latin typeface="SimSun"/>
                <a:cs typeface="SimSun"/>
              </a:rPr>
              <a:t>熱</a:t>
            </a:r>
            <a:r>
              <a:rPr dirty="0" sz="1300" spc="-100">
                <a:solidFill>
                  <a:srgbClr val="414141"/>
                </a:solidFill>
                <a:latin typeface="SimSun"/>
                <a:cs typeface="SimSun"/>
              </a:rPr>
              <a:t>顯像點檢</a:t>
            </a:r>
            <a:endParaRPr sz="1300">
              <a:latin typeface="SimSun"/>
              <a:cs typeface="SimSun"/>
            </a:endParaRPr>
          </a:p>
          <a:p>
            <a:pPr>
              <a:lnSpc>
                <a:spcPct val="100000"/>
              </a:lnSpc>
              <a:spcBef>
                <a:spcPts val="630"/>
              </a:spcBef>
            </a:pPr>
            <a:r>
              <a:rPr dirty="0" sz="1050">
                <a:solidFill>
                  <a:srgbClr val="414141"/>
                </a:solidFill>
                <a:latin typeface="Arial"/>
                <a:cs typeface="Arial"/>
              </a:rPr>
              <a:t>PPBOX</a:t>
            </a:r>
            <a:r>
              <a:rPr dirty="0" sz="1050" spc="-5">
                <a:solidFill>
                  <a:srgbClr val="414141"/>
                </a:solidFill>
                <a:latin typeface="PMingLiU"/>
                <a:cs typeface="PMingLiU"/>
              </a:rPr>
              <a:t>存放區與堆高機充電區的熱顯像異常監測，及時發現設備過熱風險</a:t>
            </a:r>
            <a:endParaRPr sz="1050">
              <a:latin typeface="PMingLiU"/>
              <a:cs typeface="PMingLiU"/>
            </a:endParaRPr>
          </a:p>
        </p:txBody>
      </p:sp>
      <p:sp>
        <p:nvSpPr>
          <p:cNvPr id="24" name="object 24" descr=""/>
          <p:cNvSpPr txBox="1"/>
          <p:nvPr/>
        </p:nvSpPr>
        <p:spPr>
          <a:xfrm>
            <a:off x="6991350" y="3070329"/>
            <a:ext cx="4146550" cy="579120"/>
          </a:xfrm>
          <a:prstGeom prst="rect">
            <a:avLst/>
          </a:prstGeom>
        </p:spPr>
        <p:txBody>
          <a:bodyPr wrap="square" lIns="0" tIns="120650" rIns="0" bIns="0" rtlCol="0" vert="horz">
            <a:spAutoFit/>
          </a:bodyPr>
          <a:lstStyle/>
          <a:p>
            <a:pPr>
              <a:lnSpc>
                <a:spcPct val="100000"/>
              </a:lnSpc>
              <a:spcBef>
                <a:spcPts val="950"/>
              </a:spcBef>
            </a:pPr>
            <a:r>
              <a:rPr dirty="0" sz="1300" spc="-110">
                <a:solidFill>
                  <a:srgbClr val="414141"/>
                </a:solidFill>
                <a:latin typeface="PMingLiU"/>
                <a:cs typeface="PMingLiU"/>
              </a:rPr>
              <a:t>環</a:t>
            </a:r>
            <a:r>
              <a:rPr dirty="0" sz="1350" spc="-170">
                <a:solidFill>
                  <a:srgbClr val="414141"/>
                </a:solidFill>
                <a:latin typeface="SimSun"/>
                <a:cs typeface="SimSun"/>
              </a:rPr>
              <a:t>境安</a:t>
            </a:r>
            <a:r>
              <a:rPr dirty="0" sz="1300" spc="-110">
                <a:solidFill>
                  <a:srgbClr val="414141"/>
                </a:solidFill>
                <a:latin typeface="PMingLiU"/>
                <a:cs typeface="PMingLiU"/>
              </a:rPr>
              <a:t>全巡</a:t>
            </a:r>
            <a:r>
              <a:rPr dirty="0" sz="1300" spc="-50">
                <a:solidFill>
                  <a:srgbClr val="414141"/>
                </a:solidFill>
                <a:latin typeface="SimSun"/>
                <a:cs typeface="SimSun"/>
              </a:rPr>
              <a:t>檢</a:t>
            </a:r>
            <a:endParaRPr sz="1300">
              <a:latin typeface="SimSun"/>
              <a:cs typeface="SimSun"/>
            </a:endParaRPr>
          </a:p>
          <a:p>
            <a:pPr>
              <a:lnSpc>
                <a:spcPct val="100000"/>
              </a:lnSpc>
              <a:spcBef>
                <a:spcPts val="630"/>
              </a:spcBef>
            </a:pPr>
            <a:r>
              <a:rPr dirty="0" sz="1050" spc="-5">
                <a:solidFill>
                  <a:srgbClr val="414141"/>
                </a:solidFill>
                <a:latin typeface="PMingLiU"/>
                <a:cs typeface="PMingLiU"/>
              </a:rPr>
              <a:t>走道異物判斷、特定時間段自主巡檢充電、下班時段外來人員走動判斷</a:t>
            </a:r>
            <a:endParaRPr sz="1050">
              <a:latin typeface="PMingLiU"/>
              <a:cs typeface="PMingLiU"/>
            </a:endParaRPr>
          </a:p>
        </p:txBody>
      </p:sp>
      <p:sp>
        <p:nvSpPr>
          <p:cNvPr id="25" name="object 25" descr=""/>
          <p:cNvSpPr txBox="1"/>
          <p:nvPr/>
        </p:nvSpPr>
        <p:spPr>
          <a:xfrm>
            <a:off x="1447799" y="3946827"/>
            <a:ext cx="3746500" cy="579120"/>
          </a:xfrm>
          <a:prstGeom prst="rect">
            <a:avLst/>
          </a:prstGeom>
        </p:spPr>
        <p:txBody>
          <a:bodyPr wrap="square" lIns="0" tIns="120014" rIns="0" bIns="0" rtlCol="0" vert="horz">
            <a:spAutoFit/>
          </a:bodyPr>
          <a:lstStyle/>
          <a:p>
            <a:pPr>
              <a:lnSpc>
                <a:spcPct val="100000"/>
              </a:lnSpc>
              <a:spcBef>
                <a:spcPts val="944"/>
              </a:spcBef>
            </a:pPr>
            <a:r>
              <a:rPr dirty="0" sz="1300" spc="-110">
                <a:solidFill>
                  <a:srgbClr val="414141"/>
                </a:solidFill>
                <a:latin typeface="SimSun"/>
                <a:cs typeface="SimSun"/>
              </a:rPr>
              <a:t>效</a:t>
            </a:r>
            <a:r>
              <a:rPr dirty="0" sz="1350" spc="-170">
                <a:solidFill>
                  <a:srgbClr val="414141"/>
                </a:solidFill>
                <a:latin typeface="SimSun"/>
                <a:cs typeface="SimSun"/>
              </a:rPr>
              <a:t>率</a:t>
            </a:r>
            <a:r>
              <a:rPr dirty="0" sz="1300" spc="-110">
                <a:solidFill>
                  <a:srgbClr val="414141"/>
                </a:solidFill>
                <a:latin typeface="SimSun"/>
                <a:cs typeface="SimSun"/>
              </a:rPr>
              <a:t>提</a:t>
            </a:r>
            <a:r>
              <a:rPr dirty="0" sz="1350" spc="-50">
                <a:solidFill>
                  <a:srgbClr val="414141"/>
                </a:solidFill>
                <a:latin typeface="SimSun"/>
                <a:cs typeface="SimSun"/>
              </a:rPr>
              <a:t>升</a:t>
            </a:r>
            <a:endParaRPr sz="1350">
              <a:latin typeface="SimSun"/>
              <a:cs typeface="SimSun"/>
            </a:endParaRPr>
          </a:p>
          <a:p>
            <a:pPr>
              <a:lnSpc>
                <a:spcPct val="100000"/>
              </a:lnSpc>
              <a:spcBef>
                <a:spcPts val="630"/>
              </a:spcBef>
            </a:pPr>
            <a:r>
              <a:rPr dirty="0" sz="1050" spc="-5">
                <a:solidFill>
                  <a:srgbClr val="414141"/>
                </a:solidFill>
                <a:latin typeface="PMingLiU"/>
                <a:cs typeface="PMingLiU"/>
              </a:rPr>
              <a:t>自動化巡檢路線，取代人工巡邏，節省人力成本，提高巡檢頻率</a:t>
            </a:r>
            <a:endParaRPr sz="1050">
              <a:latin typeface="PMingLiU"/>
              <a:cs typeface="PMingLiU"/>
            </a:endParaRPr>
          </a:p>
        </p:txBody>
      </p:sp>
      <p:sp>
        <p:nvSpPr>
          <p:cNvPr id="26" name="object 26" descr=""/>
          <p:cNvSpPr txBox="1"/>
          <p:nvPr/>
        </p:nvSpPr>
        <p:spPr>
          <a:xfrm>
            <a:off x="6991350" y="3946629"/>
            <a:ext cx="3094990" cy="579120"/>
          </a:xfrm>
          <a:prstGeom prst="rect">
            <a:avLst/>
          </a:prstGeom>
        </p:spPr>
        <p:txBody>
          <a:bodyPr wrap="square" lIns="0" tIns="120650" rIns="0" bIns="0" rtlCol="0" vert="horz">
            <a:spAutoFit/>
          </a:bodyPr>
          <a:lstStyle/>
          <a:p>
            <a:pPr>
              <a:lnSpc>
                <a:spcPct val="100000"/>
              </a:lnSpc>
              <a:spcBef>
                <a:spcPts val="950"/>
              </a:spcBef>
            </a:pPr>
            <a:r>
              <a:rPr dirty="0" sz="1350" spc="-170">
                <a:solidFill>
                  <a:srgbClr val="414141"/>
                </a:solidFill>
                <a:latin typeface="SimSun"/>
                <a:cs typeface="SimSun"/>
              </a:rPr>
              <a:t>安</a:t>
            </a:r>
            <a:r>
              <a:rPr dirty="0" sz="1300" spc="-110">
                <a:solidFill>
                  <a:srgbClr val="414141"/>
                </a:solidFill>
                <a:latin typeface="PMingLiU"/>
                <a:cs typeface="PMingLiU"/>
              </a:rPr>
              <a:t>全</a:t>
            </a:r>
            <a:r>
              <a:rPr dirty="0" sz="1300" spc="-110">
                <a:solidFill>
                  <a:srgbClr val="414141"/>
                </a:solidFill>
                <a:latin typeface="SimSun"/>
                <a:cs typeface="SimSun"/>
              </a:rPr>
              <a:t>性</a:t>
            </a:r>
            <a:r>
              <a:rPr dirty="0" sz="1350" spc="-110">
                <a:solidFill>
                  <a:srgbClr val="414141"/>
                </a:solidFill>
                <a:latin typeface="SimSun"/>
                <a:cs typeface="SimSun"/>
              </a:rPr>
              <a:t>增強</a:t>
            </a:r>
            <a:endParaRPr sz="1350">
              <a:latin typeface="SimSun"/>
              <a:cs typeface="SimSun"/>
            </a:endParaRPr>
          </a:p>
          <a:p>
            <a:pPr>
              <a:lnSpc>
                <a:spcPct val="100000"/>
              </a:lnSpc>
              <a:spcBef>
                <a:spcPts val="630"/>
              </a:spcBef>
            </a:pPr>
            <a:r>
              <a:rPr dirty="0" sz="1050" spc="-10">
                <a:solidFill>
                  <a:srgbClr val="414141"/>
                </a:solidFill>
                <a:latin typeface="Arial"/>
                <a:cs typeface="Arial"/>
              </a:rPr>
              <a:t>24</a:t>
            </a:r>
            <a:r>
              <a:rPr dirty="0" sz="1050" spc="-5">
                <a:solidFill>
                  <a:srgbClr val="414141"/>
                </a:solidFill>
                <a:latin typeface="PMingLiU"/>
                <a:cs typeface="PMingLiU"/>
              </a:rPr>
              <a:t>小時自動監控，危險情況自動警示，降低安全風險</a:t>
            </a:r>
            <a:endParaRPr sz="1050">
              <a:latin typeface="PMingLiU"/>
              <a:cs typeface="PMingLiU"/>
            </a:endParaRPr>
          </a:p>
        </p:txBody>
      </p:sp>
      <p:grpSp>
        <p:nvGrpSpPr>
          <p:cNvPr id="27" name="object 27" descr=""/>
          <p:cNvGrpSpPr/>
          <p:nvPr/>
        </p:nvGrpSpPr>
        <p:grpSpPr>
          <a:xfrm>
            <a:off x="304799" y="6019799"/>
            <a:ext cx="11582400" cy="533400"/>
            <a:chOff x="304799" y="6019799"/>
            <a:chExt cx="11582400" cy="533400"/>
          </a:xfrm>
        </p:grpSpPr>
        <p:sp>
          <p:nvSpPr>
            <p:cNvPr id="28" name="object 28" descr=""/>
            <p:cNvSpPr/>
            <p:nvPr/>
          </p:nvSpPr>
          <p:spPr>
            <a:xfrm>
              <a:off x="304799" y="6019799"/>
              <a:ext cx="11582400" cy="533400"/>
            </a:xfrm>
            <a:custGeom>
              <a:avLst/>
              <a:gdLst/>
              <a:ahLst/>
              <a:cxnLst/>
              <a:rect l="l" t="t" r="r" b="b"/>
              <a:pathLst>
                <a:path w="11582400" h="533400">
                  <a:moveTo>
                    <a:pt x="11582399" y="533399"/>
                  </a:moveTo>
                  <a:lnTo>
                    <a:pt x="0" y="533399"/>
                  </a:lnTo>
                  <a:lnTo>
                    <a:pt x="0" y="0"/>
                  </a:lnTo>
                  <a:lnTo>
                    <a:pt x="11582399" y="0"/>
                  </a:lnTo>
                  <a:lnTo>
                    <a:pt x="11582399" y="533399"/>
                  </a:lnTo>
                  <a:close/>
                </a:path>
              </a:pathLst>
            </a:custGeom>
            <a:solidFill>
              <a:srgbClr val="FFFFFF"/>
            </a:solidFill>
          </p:spPr>
          <p:txBody>
            <a:bodyPr wrap="square" lIns="0" tIns="0" rIns="0" bIns="0" rtlCol="0"/>
            <a:lstStyle/>
            <a:p/>
          </p:txBody>
        </p:sp>
        <p:sp>
          <p:nvSpPr>
            <p:cNvPr id="29" name="object 29" descr=""/>
            <p:cNvSpPr/>
            <p:nvPr/>
          </p:nvSpPr>
          <p:spPr>
            <a:xfrm>
              <a:off x="304799" y="6019799"/>
              <a:ext cx="38100" cy="533400"/>
            </a:xfrm>
            <a:custGeom>
              <a:avLst/>
              <a:gdLst/>
              <a:ahLst/>
              <a:cxnLst/>
              <a:rect l="l" t="t" r="r" b="b"/>
              <a:pathLst>
                <a:path w="38100" h="533400">
                  <a:moveTo>
                    <a:pt x="38099" y="533399"/>
                  </a:moveTo>
                  <a:lnTo>
                    <a:pt x="0" y="533399"/>
                  </a:lnTo>
                  <a:lnTo>
                    <a:pt x="0" y="0"/>
                  </a:lnTo>
                  <a:lnTo>
                    <a:pt x="38099" y="0"/>
                  </a:lnTo>
                  <a:lnTo>
                    <a:pt x="38099" y="533399"/>
                  </a:lnTo>
                  <a:close/>
                </a:path>
              </a:pathLst>
            </a:custGeom>
            <a:solidFill>
              <a:srgbClr val="FF9800"/>
            </a:solidFill>
          </p:spPr>
          <p:txBody>
            <a:bodyPr wrap="square" lIns="0" tIns="0" rIns="0" bIns="0" rtlCol="0"/>
            <a:lstStyle/>
            <a:p/>
          </p:txBody>
        </p:sp>
        <p:pic>
          <p:nvPicPr>
            <p:cNvPr id="30" name="object 30" descr=""/>
            <p:cNvPicPr/>
            <p:nvPr/>
          </p:nvPicPr>
          <p:blipFill>
            <a:blip r:embed="rId8" cstate="print"/>
            <a:stretch>
              <a:fillRect/>
            </a:stretch>
          </p:blipFill>
          <p:spPr>
            <a:xfrm>
              <a:off x="495299" y="6210299"/>
              <a:ext cx="152399" cy="152399"/>
            </a:xfrm>
            <a:prstGeom prst="rect">
              <a:avLst/>
            </a:prstGeom>
          </p:spPr>
        </p:pic>
      </p:grpSp>
      <p:sp>
        <p:nvSpPr>
          <p:cNvPr id="31" name="object 31" descr=""/>
          <p:cNvSpPr txBox="1"/>
          <p:nvPr/>
        </p:nvSpPr>
        <p:spPr>
          <a:xfrm>
            <a:off x="342899" y="6169024"/>
            <a:ext cx="11544300" cy="208279"/>
          </a:xfrm>
          <a:prstGeom prst="rect">
            <a:avLst/>
          </a:prstGeom>
        </p:spPr>
        <p:txBody>
          <a:bodyPr wrap="square" lIns="0" tIns="12700" rIns="0" bIns="0" rtlCol="0" vert="horz">
            <a:spAutoFit/>
          </a:bodyPr>
          <a:lstStyle/>
          <a:p>
            <a:pPr marL="380365">
              <a:lnSpc>
                <a:spcPct val="100000"/>
              </a:lnSpc>
              <a:spcBef>
                <a:spcPts val="100"/>
              </a:spcBef>
            </a:pPr>
            <a:r>
              <a:rPr dirty="0" sz="1200">
                <a:solidFill>
                  <a:srgbClr val="414141"/>
                </a:solidFill>
                <a:latin typeface="PMingLiU"/>
                <a:cs typeface="PMingLiU"/>
              </a:rPr>
              <a:t>目前評估階段：需求分析 </a:t>
            </a:r>
            <a:r>
              <a:rPr dirty="0" sz="1200">
                <a:solidFill>
                  <a:srgbClr val="414141"/>
                </a:solidFill>
                <a:latin typeface="Arial"/>
                <a:cs typeface="Arial"/>
              </a:rPr>
              <a:t>→ </a:t>
            </a:r>
            <a:r>
              <a:rPr dirty="0" sz="1200">
                <a:solidFill>
                  <a:srgbClr val="414141"/>
                </a:solidFill>
                <a:latin typeface="PMingLiU"/>
                <a:cs typeface="PMingLiU"/>
              </a:rPr>
              <a:t>功能對比 </a:t>
            </a:r>
            <a:r>
              <a:rPr dirty="0" sz="1200">
                <a:solidFill>
                  <a:srgbClr val="414141"/>
                </a:solidFill>
                <a:latin typeface="Arial"/>
                <a:cs typeface="Arial"/>
              </a:rPr>
              <a:t>→ </a:t>
            </a:r>
            <a:r>
              <a:rPr dirty="0" sz="1200">
                <a:solidFill>
                  <a:srgbClr val="414141"/>
                </a:solidFill>
                <a:latin typeface="PMingLiU"/>
                <a:cs typeface="PMingLiU"/>
              </a:rPr>
              <a:t>技術改進方案 </a:t>
            </a:r>
            <a:r>
              <a:rPr dirty="0" sz="1200">
                <a:solidFill>
                  <a:srgbClr val="414141"/>
                </a:solidFill>
                <a:latin typeface="Arial"/>
                <a:cs typeface="Arial"/>
              </a:rPr>
              <a:t>→ </a:t>
            </a:r>
            <a:r>
              <a:rPr dirty="0" sz="1200" spc="-15">
                <a:solidFill>
                  <a:srgbClr val="414141"/>
                </a:solidFill>
                <a:latin typeface="PMingLiU"/>
                <a:cs typeface="PMingLiU"/>
              </a:rPr>
              <a:t>实施計劃</a:t>
            </a:r>
            <a:endParaRPr sz="1200">
              <a:latin typeface="PMingLiU"/>
              <a:cs typeface="PMingLiU"/>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05320"/>
            <a:ext cx="1854200" cy="340995"/>
          </a:xfrm>
          <a:prstGeom prst="rect"/>
        </p:spPr>
        <p:txBody>
          <a:bodyPr wrap="square" lIns="0" tIns="15240" rIns="0" bIns="0" rtlCol="0" vert="horz">
            <a:spAutoFit/>
          </a:bodyPr>
          <a:lstStyle/>
          <a:p>
            <a:pPr marL="12700">
              <a:lnSpc>
                <a:spcPct val="100000"/>
              </a:lnSpc>
              <a:spcBef>
                <a:spcPts val="120"/>
              </a:spcBef>
            </a:pPr>
            <a:r>
              <a:rPr dirty="0" sz="2050" spc="-270"/>
              <a:t>庫房</a:t>
            </a:r>
            <a:r>
              <a:rPr dirty="0" spc="-200">
                <a:latin typeface="PMingLiU"/>
                <a:cs typeface="PMingLiU"/>
              </a:rPr>
              <a:t>巡</a:t>
            </a:r>
            <a:r>
              <a:rPr dirty="0" spc="-220"/>
              <a:t>檢</a:t>
            </a:r>
            <a:r>
              <a:rPr dirty="0" sz="1850" spc="-65">
                <a:latin typeface="PMingLiU"/>
                <a:cs typeface="PMingLiU"/>
              </a:rPr>
              <a:t>項目</a:t>
            </a:r>
            <a:r>
              <a:rPr dirty="0" sz="1950" spc="-165">
                <a:latin typeface="PMingLiU"/>
                <a:cs typeface="PMingLiU"/>
              </a:rPr>
              <a:t>需</a:t>
            </a:r>
            <a:r>
              <a:rPr dirty="0" spc="-80"/>
              <a:t>求</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304799" y="914399"/>
            <a:ext cx="5638800" cy="4229100"/>
            <a:chOff x="304799" y="914399"/>
            <a:chExt cx="5638800" cy="4229100"/>
          </a:xfrm>
        </p:grpSpPr>
        <p:sp>
          <p:nvSpPr>
            <p:cNvPr id="5" name="object 5" descr=""/>
            <p:cNvSpPr/>
            <p:nvPr/>
          </p:nvSpPr>
          <p:spPr>
            <a:xfrm>
              <a:off x="304799" y="914399"/>
              <a:ext cx="5638800" cy="4229100"/>
            </a:xfrm>
            <a:custGeom>
              <a:avLst/>
              <a:gdLst/>
              <a:ahLst/>
              <a:cxnLst/>
              <a:rect l="l" t="t" r="r" b="b"/>
              <a:pathLst>
                <a:path w="5638800" h="4229100">
                  <a:moveTo>
                    <a:pt x="5567602" y="4229099"/>
                  </a:moveTo>
                  <a:lnTo>
                    <a:pt x="71196" y="4229099"/>
                  </a:lnTo>
                  <a:lnTo>
                    <a:pt x="66241" y="4228611"/>
                  </a:lnTo>
                  <a:lnTo>
                    <a:pt x="29705" y="4213476"/>
                  </a:lnTo>
                  <a:lnTo>
                    <a:pt x="3885" y="4177437"/>
                  </a:lnTo>
                  <a:lnTo>
                    <a:pt x="0" y="4157902"/>
                  </a:lnTo>
                  <a:lnTo>
                    <a:pt x="0" y="4152899"/>
                  </a:lnTo>
                  <a:lnTo>
                    <a:pt x="0" y="71196"/>
                  </a:lnTo>
                  <a:lnTo>
                    <a:pt x="15621" y="29705"/>
                  </a:lnTo>
                  <a:lnTo>
                    <a:pt x="51662" y="3885"/>
                  </a:lnTo>
                  <a:lnTo>
                    <a:pt x="71196" y="0"/>
                  </a:lnTo>
                  <a:lnTo>
                    <a:pt x="5567602" y="0"/>
                  </a:lnTo>
                  <a:lnTo>
                    <a:pt x="5609093" y="15621"/>
                  </a:lnTo>
                  <a:lnTo>
                    <a:pt x="5634913" y="51661"/>
                  </a:lnTo>
                  <a:lnTo>
                    <a:pt x="5638798" y="71196"/>
                  </a:lnTo>
                  <a:lnTo>
                    <a:pt x="5638798" y="4157902"/>
                  </a:lnTo>
                  <a:lnTo>
                    <a:pt x="5623177" y="4199393"/>
                  </a:lnTo>
                  <a:lnTo>
                    <a:pt x="5587137" y="4225212"/>
                  </a:lnTo>
                  <a:lnTo>
                    <a:pt x="5572557" y="4228611"/>
                  </a:lnTo>
                  <a:lnTo>
                    <a:pt x="5567602" y="4229099"/>
                  </a:lnTo>
                  <a:close/>
                </a:path>
              </a:pathLst>
            </a:custGeom>
            <a:solidFill>
              <a:srgbClr val="FFFFFF"/>
            </a:solidFill>
          </p:spPr>
          <p:txBody>
            <a:bodyPr wrap="square" lIns="0" tIns="0" rIns="0" bIns="0" rtlCol="0"/>
            <a:lstStyle/>
            <a:p/>
          </p:txBody>
        </p:sp>
        <p:sp>
          <p:nvSpPr>
            <p:cNvPr id="6" name="object 6" descr=""/>
            <p:cNvSpPr/>
            <p:nvPr/>
          </p:nvSpPr>
          <p:spPr>
            <a:xfrm>
              <a:off x="533399" y="1619249"/>
              <a:ext cx="5181600" cy="19050"/>
            </a:xfrm>
            <a:custGeom>
              <a:avLst/>
              <a:gdLst/>
              <a:ahLst/>
              <a:cxnLst/>
              <a:rect l="l" t="t" r="r" b="b"/>
              <a:pathLst>
                <a:path w="5181600" h="19050">
                  <a:moveTo>
                    <a:pt x="5181599" y="19049"/>
                  </a:moveTo>
                  <a:lnTo>
                    <a:pt x="0" y="19049"/>
                  </a:lnTo>
                  <a:lnTo>
                    <a:pt x="0" y="0"/>
                  </a:lnTo>
                  <a:lnTo>
                    <a:pt x="5181599" y="0"/>
                  </a:lnTo>
                  <a:lnTo>
                    <a:pt x="5181599" y="19049"/>
                  </a:lnTo>
                  <a:close/>
                </a:path>
              </a:pathLst>
            </a:custGeom>
            <a:solidFill>
              <a:srgbClr val="FF9800"/>
            </a:solidFill>
          </p:spPr>
          <p:txBody>
            <a:bodyPr wrap="square" lIns="0" tIns="0" rIns="0" bIns="0" rtlCol="0"/>
            <a:lstStyle/>
            <a:p/>
          </p:txBody>
        </p:sp>
        <p:sp>
          <p:nvSpPr>
            <p:cNvPr id="7" name="object 7" descr=""/>
            <p:cNvSpPr/>
            <p:nvPr/>
          </p:nvSpPr>
          <p:spPr>
            <a:xfrm>
              <a:off x="533399" y="3619499"/>
              <a:ext cx="5181600" cy="419100"/>
            </a:xfrm>
            <a:custGeom>
              <a:avLst/>
              <a:gdLst/>
              <a:ahLst/>
              <a:cxnLst/>
              <a:rect l="l" t="t" r="r" b="b"/>
              <a:pathLst>
                <a:path w="5181600" h="419100">
                  <a:moveTo>
                    <a:pt x="5110402" y="419099"/>
                  </a:moveTo>
                  <a:lnTo>
                    <a:pt x="71196" y="419099"/>
                  </a:lnTo>
                  <a:lnTo>
                    <a:pt x="66241" y="418611"/>
                  </a:lnTo>
                  <a:lnTo>
                    <a:pt x="29705" y="403477"/>
                  </a:lnTo>
                  <a:lnTo>
                    <a:pt x="3885" y="367437"/>
                  </a:lnTo>
                  <a:lnTo>
                    <a:pt x="0" y="347903"/>
                  </a:lnTo>
                  <a:lnTo>
                    <a:pt x="0" y="342899"/>
                  </a:lnTo>
                  <a:lnTo>
                    <a:pt x="0" y="71196"/>
                  </a:lnTo>
                  <a:lnTo>
                    <a:pt x="15621" y="29704"/>
                  </a:lnTo>
                  <a:lnTo>
                    <a:pt x="51661" y="3885"/>
                  </a:lnTo>
                  <a:lnTo>
                    <a:pt x="71196" y="0"/>
                  </a:lnTo>
                  <a:lnTo>
                    <a:pt x="5110402" y="0"/>
                  </a:lnTo>
                  <a:lnTo>
                    <a:pt x="5151893" y="15621"/>
                  </a:lnTo>
                  <a:lnTo>
                    <a:pt x="5177713" y="51661"/>
                  </a:lnTo>
                  <a:lnTo>
                    <a:pt x="5181599" y="71196"/>
                  </a:lnTo>
                  <a:lnTo>
                    <a:pt x="5181599" y="347903"/>
                  </a:lnTo>
                  <a:lnTo>
                    <a:pt x="5165977" y="389393"/>
                  </a:lnTo>
                  <a:lnTo>
                    <a:pt x="5129936" y="415213"/>
                  </a:lnTo>
                  <a:lnTo>
                    <a:pt x="5115357" y="418611"/>
                  </a:lnTo>
                  <a:lnTo>
                    <a:pt x="5110402" y="419099"/>
                  </a:lnTo>
                  <a:close/>
                </a:path>
              </a:pathLst>
            </a:custGeom>
            <a:solidFill>
              <a:srgbClr val="F2F4F5"/>
            </a:solidFill>
          </p:spPr>
          <p:txBody>
            <a:bodyPr wrap="square" lIns="0" tIns="0" rIns="0" bIns="0" rtlCol="0"/>
            <a:lstStyle/>
            <a:p/>
          </p:txBody>
        </p:sp>
        <p:sp>
          <p:nvSpPr>
            <p:cNvPr id="8" name="object 8" descr=""/>
            <p:cNvSpPr/>
            <p:nvPr/>
          </p:nvSpPr>
          <p:spPr>
            <a:xfrm>
              <a:off x="533399" y="11429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5" y="209172"/>
                  </a:lnTo>
                  <a:lnTo>
                    <a:pt x="0" y="190499"/>
                  </a:lnTo>
                  <a:lnTo>
                    <a:pt x="228" y="181141"/>
                  </a:lnTo>
                  <a:lnTo>
                    <a:pt x="8200" y="135199"/>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9" name="object 9" descr=""/>
            <p:cNvPicPr/>
            <p:nvPr/>
          </p:nvPicPr>
          <p:blipFill>
            <a:blip r:embed="rId2" cstate="print"/>
            <a:stretch>
              <a:fillRect/>
            </a:stretch>
          </p:blipFill>
          <p:spPr>
            <a:xfrm>
              <a:off x="628649" y="1238249"/>
              <a:ext cx="190499" cy="190499"/>
            </a:xfrm>
            <a:prstGeom prst="rect">
              <a:avLst/>
            </a:prstGeom>
          </p:spPr>
        </p:pic>
        <p:sp>
          <p:nvSpPr>
            <p:cNvPr id="10" name="object 10" descr=""/>
            <p:cNvSpPr/>
            <p:nvPr/>
          </p:nvSpPr>
          <p:spPr>
            <a:xfrm>
              <a:off x="714374" y="19811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5" y="209172"/>
                  </a:lnTo>
                  <a:lnTo>
                    <a:pt x="0" y="190499"/>
                  </a:lnTo>
                  <a:lnTo>
                    <a:pt x="228" y="181141"/>
                  </a:lnTo>
                  <a:lnTo>
                    <a:pt x="8200" y="135199"/>
                  </a:lnTo>
                  <a:lnTo>
                    <a:pt x="27095" y="92572"/>
                  </a:lnTo>
                  <a:lnTo>
                    <a:pt x="55796" y="55795"/>
                  </a:lnTo>
                  <a:lnTo>
                    <a:pt x="92572" y="27095"/>
                  </a:lnTo>
                  <a:lnTo>
                    <a:pt x="135200" y="8200"/>
                  </a:lnTo>
                  <a:lnTo>
                    <a:pt x="181141" y="228"/>
                  </a:lnTo>
                  <a:lnTo>
                    <a:pt x="190499" y="0"/>
                  </a:lnTo>
                  <a:lnTo>
                    <a:pt x="199858" y="228"/>
                  </a:lnTo>
                  <a:lnTo>
                    <a:pt x="245799" y="8200"/>
                  </a:lnTo>
                  <a:lnTo>
                    <a:pt x="288427" y="27095"/>
                  </a:lnTo>
                  <a:lnTo>
                    <a:pt x="325203" y="55795"/>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8"/>
                  </a:lnTo>
                  <a:lnTo>
                    <a:pt x="199858" y="380771"/>
                  </a:lnTo>
                  <a:lnTo>
                    <a:pt x="190499" y="380999"/>
                  </a:lnTo>
                  <a:close/>
                </a:path>
              </a:pathLst>
            </a:custGeom>
            <a:solidFill>
              <a:srgbClr val="DFDFDF"/>
            </a:solidFill>
          </p:spPr>
          <p:txBody>
            <a:bodyPr wrap="square" lIns="0" tIns="0" rIns="0" bIns="0" rtlCol="0"/>
            <a:lstStyle/>
            <a:p/>
          </p:txBody>
        </p:sp>
        <p:pic>
          <p:nvPicPr>
            <p:cNvPr id="11" name="object 11" descr=""/>
            <p:cNvPicPr/>
            <p:nvPr/>
          </p:nvPicPr>
          <p:blipFill>
            <a:blip r:embed="rId3" cstate="print"/>
            <a:stretch>
              <a:fillRect/>
            </a:stretch>
          </p:blipFill>
          <p:spPr>
            <a:xfrm>
              <a:off x="819149" y="2095499"/>
              <a:ext cx="171449" cy="152399"/>
            </a:xfrm>
            <a:prstGeom prst="rect">
              <a:avLst/>
            </a:prstGeom>
          </p:spPr>
        </p:pic>
        <p:sp>
          <p:nvSpPr>
            <p:cNvPr id="12" name="object 12" descr=""/>
            <p:cNvSpPr/>
            <p:nvPr/>
          </p:nvSpPr>
          <p:spPr>
            <a:xfrm>
              <a:off x="714374" y="28574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5" y="209172"/>
                  </a:lnTo>
                  <a:lnTo>
                    <a:pt x="0" y="190499"/>
                  </a:lnTo>
                  <a:lnTo>
                    <a:pt x="228" y="181141"/>
                  </a:lnTo>
                  <a:lnTo>
                    <a:pt x="8200" y="135199"/>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13" name="object 13" descr=""/>
            <p:cNvPicPr/>
            <p:nvPr/>
          </p:nvPicPr>
          <p:blipFill>
            <a:blip r:embed="rId4" cstate="print"/>
            <a:stretch>
              <a:fillRect/>
            </a:stretch>
          </p:blipFill>
          <p:spPr>
            <a:xfrm>
              <a:off x="819149" y="2971799"/>
              <a:ext cx="171449" cy="152399"/>
            </a:xfrm>
            <a:prstGeom prst="rect">
              <a:avLst/>
            </a:prstGeom>
          </p:spPr>
        </p:pic>
      </p:grpSp>
      <p:sp>
        <p:nvSpPr>
          <p:cNvPr id="14" name="object 14" descr=""/>
          <p:cNvSpPr txBox="1"/>
          <p:nvPr/>
        </p:nvSpPr>
        <p:spPr>
          <a:xfrm>
            <a:off x="1016000" y="1173906"/>
            <a:ext cx="3940175" cy="2132965"/>
          </a:xfrm>
          <a:prstGeom prst="rect">
            <a:avLst/>
          </a:prstGeom>
        </p:spPr>
        <p:txBody>
          <a:bodyPr wrap="square" lIns="0" tIns="16510" rIns="0" bIns="0" rtlCol="0" vert="horz">
            <a:spAutoFit/>
          </a:bodyPr>
          <a:lstStyle/>
          <a:p>
            <a:pPr marL="12700">
              <a:lnSpc>
                <a:spcPct val="100000"/>
              </a:lnSpc>
              <a:spcBef>
                <a:spcPts val="130"/>
              </a:spcBef>
            </a:pPr>
            <a:r>
              <a:rPr dirty="0" sz="1650" spc="-145">
                <a:solidFill>
                  <a:srgbClr val="414141"/>
                </a:solidFill>
                <a:latin typeface="SimSun"/>
                <a:cs typeface="SimSun"/>
              </a:rPr>
              <a:t>熱顯像點檢</a:t>
            </a:r>
            <a:endParaRPr sz="1650">
              <a:latin typeface="SimSun"/>
              <a:cs typeface="SimSun"/>
            </a:endParaRPr>
          </a:p>
          <a:p>
            <a:pPr>
              <a:lnSpc>
                <a:spcPct val="100000"/>
              </a:lnSpc>
            </a:pPr>
            <a:endParaRPr sz="1500">
              <a:latin typeface="SimSun"/>
              <a:cs typeface="SimSun"/>
            </a:endParaRPr>
          </a:p>
          <a:p>
            <a:pPr>
              <a:lnSpc>
                <a:spcPct val="100000"/>
              </a:lnSpc>
              <a:spcBef>
                <a:spcPts val="325"/>
              </a:spcBef>
            </a:pPr>
            <a:endParaRPr sz="1500">
              <a:latin typeface="SimSun"/>
              <a:cs typeface="SimSun"/>
            </a:endParaRPr>
          </a:p>
          <a:p>
            <a:pPr marL="193040">
              <a:lnSpc>
                <a:spcPct val="100000"/>
              </a:lnSpc>
            </a:pPr>
            <a:r>
              <a:rPr dirty="0" sz="1200" b="1">
                <a:solidFill>
                  <a:srgbClr val="414141"/>
                </a:solidFill>
                <a:latin typeface="Arial"/>
                <a:cs typeface="Arial"/>
              </a:rPr>
              <a:t>PPBOX</a:t>
            </a:r>
            <a:r>
              <a:rPr dirty="0" sz="1200" spc="40" b="1">
                <a:solidFill>
                  <a:srgbClr val="414141"/>
                </a:solidFill>
                <a:latin typeface="Arial"/>
                <a:cs typeface="Arial"/>
              </a:rPr>
              <a:t> </a:t>
            </a:r>
            <a:r>
              <a:rPr dirty="0" sz="1300" spc="-110">
                <a:solidFill>
                  <a:srgbClr val="414141"/>
                </a:solidFill>
                <a:latin typeface="SimSun"/>
                <a:cs typeface="SimSun"/>
              </a:rPr>
              <a:t>存放</a:t>
            </a:r>
            <a:r>
              <a:rPr dirty="0" sz="1300" spc="-110">
                <a:solidFill>
                  <a:srgbClr val="414141"/>
                </a:solidFill>
                <a:latin typeface="PMingLiU"/>
                <a:cs typeface="PMingLiU"/>
              </a:rPr>
              <a:t>區</a:t>
            </a:r>
            <a:r>
              <a:rPr dirty="0" sz="1350" spc="-170">
                <a:solidFill>
                  <a:srgbClr val="414141"/>
                </a:solidFill>
                <a:latin typeface="SimSun"/>
                <a:cs typeface="SimSun"/>
              </a:rPr>
              <a:t>熱</a:t>
            </a:r>
            <a:r>
              <a:rPr dirty="0" sz="1300" spc="-100">
                <a:solidFill>
                  <a:srgbClr val="414141"/>
                </a:solidFill>
                <a:latin typeface="SimSun"/>
                <a:cs typeface="SimSun"/>
              </a:rPr>
              <a:t>顯像點檢</a:t>
            </a:r>
            <a:endParaRPr sz="1300">
              <a:latin typeface="SimSun"/>
              <a:cs typeface="SimSun"/>
            </a:endParaRPr>
          </a:p>
          <a:p>
            <a:pPr marL="193040">
              <a:lnSpc>
                <a:spcPct val="100000"/>
              </a:lnSpc>
              <a:spcBef>
                <a:spcPts val="630"/>
              </a:spcBef>
            </a:pPr>
            <a:r>
              <a:rPr dirty="0" sz="1050">
                <a:solidFill>
                  <a:srgbClr val="414141"/>
                </a:solidFill>
                <a:latin typeface="PMingLiU"/>
                <a:cs typeface="PMingLiU"/>
              </a:rPr>
              <a:t>定期掃描</a:t>
            </a:r>
            <a:r>
              <a:rPr dirty="0" sz="1050">
                <a:solidFill>
                  <a:srgbClr val="414141"/>
                </a:solidFill>
                <a:latin typeface="Arial"/>
                <a:cs typeface="Arial"/>
              </a:rPr>
              <a:t>PPBOX</a:t>
            </a:r>
            <a:r>
              <a:rPr dirty="0" sz="1050" spc="-5">
                <a:solidFill>
                  <a:srgbClr val="414141"/>
                </a:solidFill>
                <a:latin typeface="PMingLiU"/>
                <a:cs typeface="PMingLiU"/>
              </a:rPr>
              <a:t>存放區，及時發現電池過熱等安全隱患</a:t>
            </a:r>
            <a:endParaRPr sz="1050">
              <a:latin typeface="PMingLiU"/>
              <a:cs typeface="PMingLiU"/>
            </a:endParaRPr>
          </a:p>
          <a:p>
            <a:pPr>
              <a:lnSpc>
                <a:spcPct val="100000"/>
              </a:lnSpc>
            </a:pPr>
            <a:endParaRPr sz="1050">
              <a:latin typeface="PMingLiU"/>
              <a:cs typeface="PMingLiU"/>
            </a:endParaRPr>
          </a:p>
          <a:p>
            <a:pPr>
              <a:lnSpc>
                <a:spcPct val="100000"/>
              </a:lnSpc>
              <a:spcBef>
                <a:spcPts val="455"/>
              </a:spcBef>
            </a:pPr>
            <a:endParaRPr sz="1050">
              <a:latin typeface="PMingLiU"/>
              <a:cs typeface="PMingLiU"/>
            </a:endParaRPr>
          </a:p>
          <a:p>
            <a:pPr marL="193040">
              <a:lnSpc>
                <a:spcPct val="100000"/>
              </a:lnSpc>
            </a:pPr>
            <a:r>
              <a:rPr dirty="0" sz="1300" spc="-110">
                <a:solidFill>
                  <a:srgbClr val="414141"/>
                </a:solidFill>
                <a:latin typeface="SimSun"/>
                <a:cs typeface="SimSun"/>
              </a:rPr>
              <a:t>堆</a:t>
            </a:r>
            <a:r>
              <a:rPr dirty="0" sz="1350" spc="-170">
                <a:solidFill>
                  <a:srgbClr val="414141"/>
                </a:solidFill>
                <a:latin typeface="SimSun"/>
                <a:cs typeface="SimSun"/>
              </a:rPr>
              <a:t>高</a:t>
            </a:r>
            <a:r>
              <a:rPr dirty="0" sz="1300" spc="-120">
                <a:solidFill>
                  <a:srgbClr val="414141"/>
                </a:solidFill>
                <a:latin typeface="SimSun"/>
                <a:cs typeface="SimSun"/>
              </a:rPr>
              <a:t>機</a:t>
            </a:r>
            <a:r>
              <a:rPr dirty="0" sz="1350" spc="-170">
                <a:solidFill>
                  <a:srgbClr val="414141"/>
                </a:solidFill>
                <a:latin typeface="SimSun"/>
                <a:cs typeface="SimSun"/>
              </a:rPr>
              <a:t>充</a:t>
            </a:r>
            <a:r>
              <a:rPr dirty="0" sz="1300" spc="-110">
                <a:solidFill>
                  <a:srgbClr val="414141"/>
                </a:solidFill>
                <a:latin typeface="PMingLiU"/>
                <a:cs typeface="PMingLiU"/>
              </a:rPr>
              <a:t>電區</a:t>
            </a:r>
            <a:r>
              <a:rPr dirty="0" sz="1350" spc="-170">
                <a:solidFill>
                  <a:srgbClr val="414141"/>
                </a:solidFill>
                <a:latin typeface="SimSun"/>
                <a:cs typeface="SimSun"/>
              </a:rPr>
              <a:t>熱</a:t>
            </a:r>
            <a:r>
              <a:rPr dirty="0" sz="1300" spc="-100">
                <a:solidFill>
                  <a:srgbClr val="414141"/>
                </a:solidFill>
                <a:latin typeface="SimSun"/>
                <a:cs typeface="SimSun"/>
              </a:rPr>
              <a:t>顯像點檢</a:t>
            </a:r>
            <a:endParaRPr sz="1300">
              <a:latin typeface="SimSun"/>
              <a:cs typeface="SimSun"/>
            </a:endParaRPr>
          </a:p>
          <a:p>
            <a:pPr marL="193040">
              <a:lnSpc>
                <a:spcPct val="100000"/>
              </a:lnSpc>
              <a:spcBef>
                <a:spcPts val="630"/>
              </a:spcBef>
            </a:pPr>
            <a:r>
              <a:rPr dirty="0" sz="1050" spc="-5">
                <a:solidFill>
                  <a:srgbClr val="414141"/>
                </a:solidFill>
                <a:latin typeface="PMingLiU"/>
                <a:cs typeface="PMingLiU"/>
              </a:rPr>
              <a:t>對充電站及電池區域進行熱顯像監測，防止充電過程中過熱風險</a:t>
            </a:r>
            <a:endParaRPr sz="1050">
              <a:latin typeface="PMingLiU"/>
              <a:cs typeface="PMingLiU"/>
            </a:endParaRPr>
          </a:p>
        </p:txBody>
      </p:sp>
      <p:pic>
        <p:nvPicPr>
          <p:cNvPr id="15" name="object 15" descr=""/>
          <p:cNvPicPr/>
          <p:nvPr/>
        </p:nvPicPr>
        <p:blipFill>
          <a:blip r:embed="rId5" cstate="print"/>
          <a:stretch>
            <a:fillRect/>
          </a:stretch>
        </p:blipFill>
        <p:spPr>
          <a:xfrm>
            <a:off x="647699" y="3762375"/>
            <a:ext cx="133349" cy="133349"/>
          </a:xfrm>
          <a:prstGeom prst="rect">
            <a:avLst/>
          </a:prstGeom>
        </p:spPr>
      </p:pic>
      <p:sp>
        <p:nvSpPr>
          <p:cNvPr id="16" name="object 16" descr=""/>
          <p:cNvSpPr txBox="1"/>
          <p:nvPr/>
        </p:nvSpPr>
        <p:spPr>
          <a:xfrm>
            <a:off x="844550" y="3730625"/>
            <a:ext cx="2959100" cy="185420"/>
          </a:xfrm>
          <a:prstGeom prst="rect">
            <a:avLst/>
          </a:prstGeom>
        </p:spPr>
        <p:txBody>
          <a:bodyPr wrap="square" lIns="0" tIns="12700" rIns="0" bIns="0" rtlCol="0" vert="horz">
            <a:spAutoFit/>
          </a:bodyPr>
          <a:lstStyle/>
          <a:p>
            <a:pPr marL="12700">
              <a:lnSpc>
                <a:spcPct val="100000"/>
              </a:lnSpc>
              <a:spcBef>
                <a:spcPts val="100"/>
              </a:spcBef>
            </a:pPr>
            <a:r>
              <a:rPr dirty="0" sz="1050" spc="-5">
                <a:solidFill>
                  <a:srgbClr val="414141"/>
                </a:solidFill>
                <a:latin typeface="PMingLiU"/>
                <a:cs typeface="PMingLiU"/>
              </a:rPr>
              <a:t>主要目的：提前發現設備過熱問題，防止火災隱患</a:t>
            </a:r>
            <a:endParaRPr sz="1050">
              <a:latin typeface="PMingLiU"/>
              <a:cs typeface="PMingLiU"/>
            </a:endParaRPr>
          </a:p>
        </p:txBody>
      </p:sp>
      <p:grpSp>
        <p:nvGrpSpPr>
          <p:cNvPr id="17" name="object 17" descr=""/>
          <p:cNvGrpSpPr/>
          <p:nvPr/>
        </p:nvGrpSpPr>
        <p:grpSpPr>
          <a:xfrm>
            <a:off x="6248398" y="914399"/>
            <a:ext cx="5638800" cy="4229100"/>
            <a:chOff x="6248398" y="914399"/>
            <a:chExt cx="5638800" cy="4229100"/>
          </a:xfrm>
        </p:grpSpPr>
        <p:sp>
          <p:nvSpPr>
            <p:cNvPr id="18" name="object 18" descr=""/>
            <p:cNvSpPr/>
            <p:nvPr/>
          </p:nvSpPr>
          <p:spPr>
            <a:xfrm>
              <a:off x="6248398" y="914399"/>
              <a:ext cx="5638800" cy="4229100"/>
            </a:xfrm>
            <a:custGeom>
              <a:avLst/>
              <a:gdLst/>
              <a:ahLst/>
              <a:cxnLst/>
              <a:rect l="l" t="t" r="r" b="b"/>
              <a:pathLst>
                <a:path w="5638800" h="4229100">
                  <a:moveTo>
                    <a:pt x="5567603" y="4229099"/>
                  </a:moveTo>
                  <a:lnTo>
                    <a:pt x="71196" y="4229099"/>
                  </a:lnTo>
                  <a:lnTo>
                    <a:pt x="66241" y="4228611"/>
                  </a:lnTo>
                  <a:lnTo>
                    <a:pt x="29705" y="4213476"/>
                  </a:lnTo>
                  <a:lnTo>
                    <a:pt x="3885" y="4177437"/>
                  </a:lnTo>
                  <a:lnTo>
                    <a:pt x="0" y="4157902"/>
                  </a:lnTo>
                  <a:lnTo>
                    <a:pt x="0" y="4152899"/>
                  </a:lnTo>
                  <a:lnTo>
                    <a:pt x="0" y="71196"/>
                  </a:lnTo>
                  <a:lnTo>
                    <a:pt x="15621" y="29705"/>
                  </a:lnTo>
                  <a:lnTo>
                    <a:pt x="51661" y="3885"/>
                  </a:lnTo>
                  <a:lnTo>
                    <a:pt x="71196" y="0"/>
                  </a:lnTo>
                  <a:lnTo>
                    <a:pt x="5567603" y="0"/>
                  </a:lnTo>
                  <a:lnTo>
                    <a:pt x="5609092" y="15621"/>
                  </a:lnTo>
                  <a:lnTo>
                    <a:pt x="5634913" y="51661"/>
                  </a:lnTo>
                  <a:lnTo>
                    <a:pt x="5638798" y="71196"/>
                  </a:lnTo>
                  <a:lnTo>
                    <a:pt x="5638798" y="4157902"/>
                  </a:lnTo>
                  <a:lnTo>
                    <a:pt x="5623176" y="4199393"/>
                  </a:lnTo>
                  <a:lnTo>
                    <a:pt x="5587137" y="4225212"/>
                  </a:lnTo>
                  <a:lnTo>
                    <a:pt x="5572557" y="4228611"/>
                  </a:lnTo>
                  <a:lnTo>
                    <a:pt x="5567603" y="4229099"/>
                  </a:lnTo>
                  <a:close/>
                </a:path>
              </a:pathLst>
            </a:custGeom>
            <a:solidFill>
              <a:srgbClr val="FFFFFF"/>
            </a:solidFill>
          </p:spPr>
          <p:txBody>
            <a:bodyPr wrap="square" lIns="0" tIns="0" rIns="0" bIns="0" rtlCol="0"/>
            <a:lstStyle/>
            <a:p/>
          </p:txBody>
        </p:sp>
        <p:sp>
          <p:nvSpPr>
            <p:cNvPr id="19" name="object 19" descr=""/>
            <p:cNvSpPr/>
            <p:nvPr/>
          </p:nvSpPr>
          <p:spPr>
            <a:xfrm>
              <a:off x="6476999" y="1619249"/>
              <a:ext cx="5181600" cy="19050"/>
            </a:xfrm>
            <a:custGeom>
              <a:avLst/>
              <a:gdLst/>
              <a:ahLst/>
              <a:cxnLst/>
              <a:rect l="l" t="t" r="r" b="b"/>
              <a:pathLst>
                <a:path w="5181600" h="19050">
                  <a:moveTo>
                    <a:pt x="5181599" y="19049"/>
                  </a:moveTo>
                  <a:lnTo>
                    <a:pt x="0" y="19049"/>
                  </a:lnTo>
                  <a:lnTo>
                    <a:pt x="0" y="0"/>
                  </a:lnTo>
                  <a:lnTo>
                    <a:pt x="5181599" y="0"/>
                  </a:lnTo>
                  <a:lnTo>
                    <a:pt x="5181599" y="19049"/>
                  </a:lnTo>
                  <a:close/>
                </a:path>
              </a:pathLst>
            </a:custGeom>
            <a:solidFill>
              <a:srgbClr val="FF9800"/>
            </a:solidFill>
          </p:spPr>
          <p:txBody>
            <a:bodyPr wrap="square" lIns="0" tIns="0" rIns="0" bIns="0" rtlCol="0"/>
            <a:lstStyle/>
            <a:p/>
          </p:txBody>
        </p:sp>
        <p:sp>
          <p:nvSpPr>
            <p:cNvPr id="20" name="object 20" descr=""/>
            <p:cNvSpPr/>
            <p:nvPr/>
          </p:nvSpPr>
          <p:spPr>
            <a:xfrm>
              <a:off x="6476999" y="4495799"/>
              <a:ext cx="5181600" cy="419100"/>
            </a:xfrm>
            <a:custGeom>
              <a:avLst/>
              <a:gdLst/>
              <a:ahLst/>
              <a:cxnLst/>
              <a:rect l="l" t="t" r="r" b="b"/>
              <a:pathLst>
                <a:path w="5181600" h="419100">
                  <a:moveTo>
                    <a:pt x="5110402" y="419099"/>
                  </a:moveTo>
                  <a:lnTo>
                    <a:pt x="71196" y="419099"/>
                  </a:lnTo>
                  <a:lnTo>
                    <a:pt x="66240" y="418611"/>
                  </a:lnTo>
                  <a:lnTo>
                    <a:pt x="29705" y="403477"/>
                  </a:lnTo>
                  <a:lnTo>
                    <a:pt x="3885" y="367437"/>
                  </a:lnTo>
                  <a:lnTo>
                    <a:pt x="0" y="347902"/>
                  </a:lnTo>
                  <a:lnTo>
                    <a:pt x="0" y="342899"/>
                  </a:lnTo>
                  <a:lnTo>
                    <a:pt x="0" y="71196"/>
                  </a:lnTo>
                  <a:lnTo>
                    <a:pt x="15621" y="29704"/>
                  </a:lnTo>
                  <a:lnTo>
                    <a:pt x="51661" y="3885"/>
                  </a:lnTo>
                  <a:lnTo>
                    <a:pt x="71196" y="0"/>
                  </a:lnTo>
                  <a:lnTo>
                    <a:pt x="5110402" y="0"/>
                  </a:lnTo>
                  <a:lnTo>
                    <a:pt x="5151893" y="15621"/>
                  </a:lnTo>
                  <a:lnTo>
                    <a:pt x="5177711" y="51661"/>
                  </a:lnTo>
                  <a:lnTo>
                    <a:pt x="5181598" y="71196"/>
                  </a:lnTo>
                  <a:lnTo>
                    <a:pt x="5181598" y="347902"/>
                  </a:lnTo>
                  <a:lnTo>
                    <a:pt x="5165976" y="389393"/>
                  </a:lnTo>
                  <a:lnTo>
                    <a:pt x="5129936" y="415213"/>
                  </a:lnTo>
                  <a:lnTo>
                    <a:pt x="5115357" y="418611"/>
                  </a:lnTo>
                  <a:lnTo>
                    <a:pt x="5110402" y="419099"/>
                  </a:lnTo>
                  <a:close/>
                </a:path>
              </a:pathLst>
            </a:custGeom>
            <a:solidFill>
              <a:srgbClr val="F2F4F5"/>
            </a:solidFill>
          </p:spPr>
          <p:txBody>
            <a:bodyPr wrap="square" lIns="0" tIns="0" rIns="0" bIns="0" rtlCol="0"/>
            <a:lstStyle/>
            <a:p/>
          </p:txBody>
        </p:sp>
        <p:sp>
          <p:nvSpPr>
            <p:cNvPr id="21" name="object 21" descr=""/>
            <p:cNvSpPr/>
            <p:nvPr/>
          </p:nvSpPr>
          <p:spPr>
            <a:xfrm>
              <a:off x="6476999" y="11429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4" y="209172"/>
                  </a:lnTo>
                  <a:lnTo>
                    <a:pt x="0" y="190499"/>
                  </a:lnTo>
                  <a:lnTo>
                    <a:pt x="228" y="181141"/>
                  </a:lnTo>
                  <a:lnTo>
                    <a:pt x="8200" y="135199"/>
                  </a:lnTo>
                  <a:lnTo>
                    <a:pt x="27095" y="92572"/>
                  </a:lnTo>
                  <a:lnTo>
                    <a:pt x="55796" y="55796"/>
                  </a:lnTo>
                  <a:lnTo>
                    <a:pt x="92572" y="27095"/>
                  </a:lnTo>
                  <a:lnTo>
                    <a:pt x="135199" y="8200"/>
                  </a:lnTo>
                  <a:lnTo>
                    <a:pt x="181141" y="228"/>
                  </a:lnTo>
                  <a:lnTo>
                    <a:pt x="190499" y="0"/>
                  </a:lnTo>
                  <a:lnTo>
                    <a:pt x="199858" y="228"/>
                  </a:lnTo>
                  <a:lnTo>
                    <a:pt x="245799" y="8200"/>
                  </a:lnTo>
                  <a:lnTo>
                    <a:pt x="288427" y="27095"/>
                  </a:lnTo>
                  <a:lnTo>
                    <a:pt x="325203" y="55796"/>
                  </a:lnTo>
                  <a:lnTo>
                    <a:pt x="353903" y="92572"/>
                  </a:lnTo>
                  <a:lnTo>
                    <a:pt x="372798" y="135199"/>
                  </a:lnTo>
                  <a:lnTo>
                    <a:pt x="380771" y="181141"/>
                  </a:lnTo>
                  <a:lnTo>
                    <a:pt x="380999" y="190499"/>
                  </a:lnTo>
                  <a:lnTo>
                    <a:pt x="380771" y="199858"/>
                  </a:lnTo>
                  <a:lnTo>
                    <a:pt x="372798" y="245799"/>
                  </a:lnTo>
                  <a:lnTo>
                    <a:pt x="353903" y="288427"/>
                  </a:lnTo>
                  <a:lnTo>
                    <a:pt x="325203" y="325203"/>
                  </a:lnTo>
                  <a:lnTo>
                    <a:pt x="288427"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22" name="object 22" descr=""/>
            <p:cNvPicPr/>
            <p:nvPr/>
          </p:nvPicPr>
          <p:blipFill>
            <a:blip r:embed="rId6" cstate="print"/>
            <a:stretch>
              <a:fillRect/>
            </a:stretch>
          </p:blipFill>
          <p:spPr>
            <a:xfrm>
              <a:off x="6572249" y="1238249"/>
              <a:ext cx="190499" cy="190499"/>
            </a:xfrm>
            <a:prstGeom prst="rect">
              <a:avLst/>
            </a:prstGeom>
          </p:spPr>
        </p:pic>
      </p:grpSp>
      <p:sp>
        <p:nvSpPr>
          <p:cNvPr id="23" name="object 23" descr=""/>
          <p:cNvSpPr txBox="1"/>
          <p:nvPr/>
        </p:nvSpPr>
        <p:spPr>
          <a:xfrm>
            <a:off x="6959600" y="1168511"/>
            <a:ext cx="1168400" cy="288290"/>
          </a:xfrm>
          <a:prstGeom prst="rect">
            <a:avLst/>
          </a:prstGeom>
        </p:spPr>
        <p:txBody>
          <a:bodyPr wrap="square" lIns="0" tIns="15875" rIns="0" bIns="0" rtlCol="0" vert="horz">
            <a:spAutoFit/>
          </a:bodyPr>
          <a:lstStyle/>
          <a:p>
            <a:pPr marL="12700">
              <a:lnSpc>
                <a:spcPct val="100000"/>
              </a:lnSpc>
              <a:spcBef>
                <a:spcPts val="125"/>
              </a:spcBef>
            </a:pPr>
            <a:r>
              <a:rPr dirty="0" sz="1600" spc="-120">
                <a:solidFill>
                  <a:srgbClr val="414141"/>
                </a:solidFill>
                <a:latin typeface="PMingLiU"/>
                <a:cs typeface="PMingLiU"/>
              </a:rPr>
              <a:t>環</a:t>
            </a:r>
            <a:r>
              <a:rPr dirty="0" sz="1700" spc="-210">
                <a:solidFill>
                  <a:srgbClr val="414141"/>
                </a:solidFill>
                <a:latin typeface="PMingLiU"/>
                <a:cs typeface="PMingLiU"/>
              </a:rPr>
              <a:t>境</a:t>
            </a:r>
            <a:r>
              <a:rPr dirty="0" sz="1700" spc="-210">
                <a:solidFill>
                  <a:srgbClr val="414141"/>
                </a:solidFill>
                <a:latin typeface="SimSun"/>
                <a:cs typeface="SimSun"/>
              </a:rPr>
              <a:t>安</a:t>
            </a:r>
            <a:r>
              <a:rPr dirty="0" sz="1650" spc="-165">
                <a:solidFill>
                  <a:srgbClr val="414141"/>
                </a:solidFill>
                <a:latin typeface="PMingLiU"/>
                <a:cs typeface="PMingLiU"/>
              </a:rPr>
              <a:t>全巡</a:t>
            </a:r>
            <a:r>
              <a:rPr dirty="0" sz="1650" spc="-50">
                <a:solidFill>
                  <a:srgbClr val="414141"/>
                </a:solidFill>
                <a:latin typeface="SimSun"/>
                <a:cs typeface="SimSun"/>
              </a:rPr>
              <a:t>檢</a:t>
            </a:r>
            <a:endParaRPr sz="1650">
              <a:latin typeface="SimSun"/>
              <a:cs typeface="SimSun"/>
            </a:endParaRPr>
          </a:p>
        </p:txBody>
      </p:sp>
      <p:grpSp>
        <p:nvGrpSpPr>
          <p:cNvPr id="24" name="object 24" descr=""/>
          <p:cNvGrpSpPr/>
          <p:nvPr/>
        </p:nvGrpSpPr>
        <p:grpSpPr>
          <a:xfrm>
            <a:off x="6591300" y="1981199"/>
            <a:ext cx="447675" cy="2790825"/>
            <a:chOff x="6591300" y="1981199"/>
            <a:chExt cx="447675" cy="2790825"/>
          </a:xfrm>
        </p:grpSpPr>
        <p:sp>
          <p:nvSpPr>
            <p:cNvPr id="25" name="object 25" descr=""/>
            <p:cNvSpPr/>
            <p:nvPr/>
          </p:nvSpPr>
          <p:spPr>
            <a:xfrm>
              <a:off x="6657974" y="1981199"/>
              <a:ext cx="381000" cy="381000"/>
            </a:xfrm>
            <a:custGeom>
              <a:avLst/>
              <a:gdLst/>
              <a:ahLst/>
              <a:cxnLst/>
              <a:rect l="l" t="t" r="r" b="b"/>
              <a:pathLst>
                <a:path w="381000" h="381000">
                  <a:moveTo>
                    <a:pt x="190499" y="380999"/>
                  </a:moveTo>
                  <a:lnTo>
                    <a:pt x="144200" y="375289"/>
                  </a:lnTo>
                  <a:lnTo>
                    <a:pt x="100696" y="358507"/>
                  </a:lnTo>
                  <a:lnTo>
                    <a:pt x="62574" y="331659"/>
                  </a:lnTo>
                  <a:lnTo>
                    <a:pt x="32103" y="296335"/>
                  </a:lnTo>
                  <a:lnTo>
                    <a:pt x="11130" y="254667"/>
                  </a:lnTo>
                  <a:lnTo>
                    <a:pt x="914" y="209172"/>
                  </a:lnTo>
                  <a:lnTo>
                    <a:pt x="0" y="190499"/>
                  </a:lnTo>
                  <a:lnTo>
                    <a:pt x="228" y="181141"/>
                  </a:lnTo>
                  <a:lnTo>
                    <a:pt x="8200" y="135199"/>
                  </a:lnTo>
                  <a:lnTo>
                    <a:pt x="27094" y="92572"/>
                  </a:lnTo>
                  <a:lnTo>
                    <a:pt x="55795" y="55795"/>
                  </a:lnTo>
                  <a:lnTo>
                    <a:pt x="92571" y="27095"/>
                  </a:lnTo>
                  <a:lnTo>
                    <a:pt x="135199" y="8200"/>
                  </a:lnTo>
                  <a:lnTo>
                    <a:pt x="181140" y="228"/>
                  </a:lnTo>
                  <a:lnTo>
                    <a:pt x="190499" y="0"/>
                  </a:lnTo>
                  <a:lnTo>
                    <a:pt x="199858" y="228"/>
                  </a:lnTo>
                  <a:lnTo>
                    <a:pt x="245799" y="8200"/>
                  </a:lnTo>
                  <a:lnTo>
                    <a:pt x="288426" y="27095"/>
                  </a:lnTo>
                  <a:lnTo>
                    <a:pt x="325203" y="55795"/>
                  </a:lnTo>
                  <a:lnTo>
                    <a:pt x="353903" y="92572"/>
                  </a:lnTo>
                  <a:lnTo>
                    <a:pt x="372798" y="135199"/>
                  </a:lnTo>
                  <a:lnTo>
                    <a:pt x="380771" y="181141"/>
                  </a:lnTo>
                  <a:lnTo>
                    <a:pt x="380999" y="190499"/>
                  </a:lnTo>
                  <a:lnTo>
                    <a:pt x="380771" y="199858"/>
                  </a:lnTo>
                  <a:lnTo>
                    <a:pt x="372798" y="245799"/>
                  </a:lnTo>
                  <a:lnTo>
                    <a:pt x="353902" y="288427"/>
                  </a:lnTo>
                  <a:lnTo>
                    <a:pt x="325203" y="325203"/>
                  </a:lnTo>
                  <a:lnTo>
                    <a:pt x="288426" y="353903"/>
                  </a:lnTo>
                  <a:lnTo>
                    <a:pt x="245799" y="372798"/>
                  </a:lnTo>
                  <a:lnTo>
                    <a:pt x="199858" y="380771"/>
                  </a:lnTo>
                  <a:lnTo>
                    <a:pt x="190499" y="380999"/>
                  </a:lnTo>
                  <a:close/>
                </a:path>
              </a:pathLst>
            </a:custGeom>
            <a:solidFill>
              <a:srgbClr val="DFDFDF"/>
            </a:solidFill>
          </p:spPr>
          <p:txBody>
            <a:bodyPr wrap="square" lIns="0" tIns="0" rIns="0" bIns="0" rtlCol="0"/>
            <a:lstStyle/>
            <a:p/>
          </p:txBody>
        </p:sp>
        <p:pic>
          <p:nvPicPr>
            <p:cNvPr id="26" name="object 26" descr=""/>
            <p:cNvPicPr/>
            <p:nvPr/>
          </p:nvPicPr>
          <p:blipFill>
            <a:blip r:embed="rId7" cstate="print"/>
            <a:stretch>
              <a:fillRect/>
            </a:stretch>
          </p:blipFill>
          <p:spPr>
            <a:xfrm>
              <a:off x="6800850" y="2095499"/>
              <a:ext cx="95249" cy="152399"/>
            </a:xfrm>
            <a:prstGeom prst="rect">
              <a:avLst/>
            </a:prstGeom>
          </p:spPr>
        </p:pic>
        <p:sp>
          <p:nvSpPr>
            <p:cNvPr id="27" name="object 27" descr=""/>
            <p:cNvSpPr/>
            <p:nvPr/>
          </p:nvSpPr>
          <p:spPr>
            <a:xfrm>
              <a:off x="6657974" y="2857499"/>
              <a:ext cx="381000" cy="381000"/>
            </a:xfrm>
            <a:custGeom>
              <a:avLst/>
              <a:gdLst/>
              <a:ahLst/>
              <a:cxnLst/>
              <a:rect l="l" t="t" r="r" b="b"/>
              <a:pathLst>
                <a:path w="381000" h="381000">
                  <a:moveTo>
                    <a:pt x="190499" y="380999"/>
                  </a:moveTo>
                  <a:lnTo>
                    <a:pt x="144200" y="375289"/>
                  </a:lnTo>
                  <a:lnTo>
                    <a:pt x="100696" y="358507"/>
                  </a:lnTo>
                  <a:lnTo>
                    <a:pt x="62574" y="331659"/>
                  </a:lnTo>
                  <a:lnTo>
                    <a:pt x="32103" y="296335"/>
                  </a:lnTo>
                  <a:lnTo>
                    <a:pt x="11130" y="254667"/>
                  </a:lnTo>
                  <a:lnTo>
                    <a:pt x="914" y="209172"/>
                  </a:lnTo>
                  <a:lnTo>
                    <a:pt x="0" y="190499"/>
                  </a:lnTo>
                  <a:lnTo>
                    <a:pt x="228" y="181141"/>
                  </a:lnTo>
                  <a:lnTo>
                    <a:pt x="8200" y="135199"/>
                  </a:lnTo>
                  <a:lnTo>
                    <a:pt x="27094" y="92572"/>
                  </a:lnTo>
                  <a:lnTo>
                    <a:pt x="55795" y="55796"/>
                  </a:lnTo>
                  <a:lnTo>
                    <a:pt x="92571" y="27095"/>
                  </a:lnTo>
                  <a:lnTo>
                    <a:pt x="135199" y="8200"/>
                  </a:lnTo>
                  <a:lnTo>
                    <a:pt x="181140" y="228"/>
                  </a:lnTo>
                  <a:lnTo>
                    <a:pt x="190499" y="0"/>
                  </a:lnTo>
                  <a:lnTo>
                    <a:pt x="199858" y="228"/>
                  </a:lnTo>
                  <a:lnTo>
                    <a:pt x="245799" y="8200"/>
                  </a:lnTo>
                  <a:lnTo>
                    <a:pt x="288426" y="27095"/>
                  </a:lnTo>
                  <a:lnTo>
                    <a:pt x="325203" y="55796"/>
                  </a:lnTo>
                  <a:lnTo>
                    <a:pt x="353903" y="92572"/>
                  </a:lnTo>
                  <a:lnTo>
                    <a:pt x="372798" y="135199"/>
                  </a:lnTo>
                  <a:lnTo>
                    <a:pt x="380771" y="181141"/>
                  </a:lnTo>
                  <a:lnTo>
                    <a:pt x="380999" y="190499"/>
                  </a:lnTo>
                  <a:lnTo>
                    <a:pt x="380771" y="199858"/>
                  </a:lnTo>
                  <a:lnTo>
                    <a:pt x="372798" y="245799"/>
                  </a:lnTo>
                  <a:lnTo>
                    <a:pt x="353902" y="288427"/>
                  </a:lnTo>
                  <a:lnTo>
                    <a:pt x="325203" y="325203"/>
                  </a:lnTo>
                  <a:lnTo>
                    <a:pt x="288426"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28" name="object 28" descr=""/>
            <p:cNvPicPr/>
            <p:nvPr/>
          </p:nvPicPr>
          <p:blipFill>
            <a:blip r:embed="rId8" cstate="print"/>
            <a:stretch>
              <a:fillRect/>
            </a:stretch>
          </p:blipFill>
          <p:spPr>
            <a:xfrm>
              <a:off x="6772274" y="2971799"/>
              <a:ext cx="152399" cy="152399"/>
            </a:xfrm>
            <a:prstGeom prst="rect">
              <a:avLst/>
            </a:prstGeom>
          </p:spPr>
        </p:pic>
        <p:sp>
          <p:nvSpPr>
            <p:cNvPr id="29" name="object 29" descr=""/>
            <p:cNvSpPr/>
            <p:nvPr/>
          </p:nvSpPr>
          <p:spPr>
            <a:xfrm>
              <a:off x="6657974" y="3733799"/>
              <a:ext cx="381000" cy="381000"/>
            </a:xfrm>
            <a:custGeom>
              <a:avLst/>
              <a:gdLst/>
              <a:ahLst/>
              <a:cxnLst/>
              <a:rect l="l" t="t" r="r" b="b"/>
              <a:pathLst>
                <a:path w="381000" h="381000">
                  <a:moveTo>
                    <a:pt x="190499" y="380999"/>
                  </a:moveTo>
                  <a:lnTo>
                    <a:pt x="144200" y="375288"/>
                  </a:lnTo>
                  <a:lnTo>
                    <a:pt x="100696" y="358507"/>
                  </a:lnTo>
                  <a:lnTo>
                    <a:pt x="62574" y="331659"/>
                  </a:lnTo>
                  <a:lnTo>
                    <a:pt x="32103" y="296335"/>
                  </a:lnTo>
                  <a:lnTo>
                    <a:pt x="11130" y="254666"/>
                  </a:lnTo>
                  <a:lnTo>
                    <a:pt x="914" y="209172"/>
                  </a:lnTo>
                  <a:lnTo>
                    <a:pt x="0" y="190499"/>
                  </a:lnTo>
                  <a:lnTo>
                    <a:pt x="228" y="181141"/>
                  </a:lnTo>
                  <a:lnTo>
                    <a:pt x="8200" y="135199"/>
                  </a:lnTo>
                  <a:lnTo>
                    <a:pt x="27094" y="92572"/>
                  </a:lnTo>
                  <a:lnTo>
                    <a:pt x="55795" y="55796"/>
                  </a:lnTo>
                  <a:lnTo>
                    <a:pt x="92571" y="27095"/>
                  </a:lnTo>
                  <a:lnTo>
                    <a:pt x="135199" y="8200"/>
                  </a:lnTo>
                  <a:lnTo>
                    <a:pt x="181140" y="228"/>
                  </a:lnTo>
                  <a:lnTo>
                    <a:pt x="190499" y="0"/>
                  </a:lnTo>
                  <a:lnTo>
                    <a:pt x="199858" y="228"/>
                  </a:lnTo>
                  <a:lnTo>
                    <a:pt x="245799" y="8200"/>
                  </a:lnTo>
                  <a:lnTo>
                    <a:pt x="288426" y="27095"/>
                  </a:lnTo>
                  <a:lnTo>
                    <a:pt x="325203" y="55796"/>
                  </a:lnTo>
                  <a:lnTo>
                    <a:pt x="353903" y="92571"/>
                  </a:lnTo>
                  <a:lnTo>
                    <a:pt x="372798" y="135199"/>
                  </a:lnTo>
                  <a:lnTo>
                    <a:pt x="380771" y="181141"/>
                  </a:lnTo>
                  <a:lnTo>
                    <a:pt x="380999" y="190499"/>
                  </a:lnTo>
                  <a:lnTo>
                    <a:pt x="380771" y="199858"/>
                  </a:lnTo>
                  <a:lnTo>
                    <a:pt x="372798" y="245799"/>
                  </a:lnTo>
                  <a:lnTo>
                    <a:pt x="353902" y="288426"/>
                  </a:lnTo>
                  <a:lnTo>
                    <a:pt x="325203" y="325203"/>
                  </a:lnTo>
                  <a:lnTo>
                    <a:pt x="288426" y="353903"/>
                  </a:lnTo>
                  <a:lnTo>
                    <a:pt x="245799" y="372798"/>
                  </a:lnTo>
                  <a:lnTo>
                    <a:pt x="199858" y="380771"/>
                  </a:lnTo>
                  <a:lnTo>
                    <a:pt x="190499" y="380999"/>
                  </a:lnTo>
                  <a:close/>
                </a:path>
              </a:pathLst>
            </a:custGeom>
            <a:solidFill>
              <a:srgbClr val="DFDFDF"/>
            </a:solidFill>
          </p:spPr>
          <p:txBody>
            <a:bodyPr wrap="square" lIns="0" tIns="0" rIns="0" bIns="0" rtlCol="0"/>
            <a:lstStyle/>
            <a:p/>
          </p:txBody>
        </p:sp>
        <p:pic>
          <p:nvPicPr>
            <p:cNvPr id="30" name="object 30" descr=""/>
            <p:cNvPicPr/>
            <p:nvPr/>
          </p:nvPicPr>
          <p:blipFill>
            <a:blip r:embed="rId9" cstate="print"/>
            <a:stretch>
              <a:fillRect/>
            </a:stretch>
          </p:blipFill>
          <p:spPr>
            <a:xfrm>
              <a:off x="6781799" y="3848099"/>
              <a:ext cx="133349" cy="152399"/>
            </a:xfrm>
            <a:prstGeom prst="rect">
              <a:avLst/>
            </a:prstGeom>
          </p:spPr>
        </p:pic>
        <p:pic>
          <p:nvPicPr>
            <p:cNvPr id="31" name="object 31" descr=""/>
            <p:cNvPicPr/>
            <p:nvPr/>
          </p:nvPicPr>
          <p:blipFill>
            <a:blip r:embed="rId5" cstate="print"/>
            <a:stretch>
              <a:fillRect/>
            </a:stretch>
          </p:blipFill>
          <p:spPr>
            <a:xfrm>
              <a:off x="6591300" y="4638674"/>
              <a:ext cx="133349" cy="133349"/>
            </a:xfrm>
            <a:prstGeom prst="rect">
              <a:avLst/>
            </a:prstGeom>
          </p:spPr>
        </p:pic>
      </p:grpSp>
      <p:sp>
        <p:nvSpPr>
          <p:cNvPr id="32" name="object 32" descr=""/>
          <p:cNvSpPr txBox="1"/>
          <p:nvPr/>
        </p:nvSpPr>
        <p:spPr>
          <a:xfrm>
            <a:off x="7140575" y="1857906"/>
            <a:ext cx="3625850" cy="2325370"/>
          </a:xfrm>
          <a:prstGeom prst="rect">
            <a:avLst/>
          </a:prstGeom>
        </p:spPr>
        <p:txBody>
          <a:bodyPr wrap="square" lIns="0" tIns="120014" rIns="0" bIns="0" rtlCol="0" vert="horz">
            <a:spAutoFit/>
          </a:bodyPr>
          <a:lstStyle/>
          <a:p>
            <a:pPr marL="12700">
              <a:lnSpc>
                <a:spcPct val="100000"/>
              </a:lnSpc>
              <a:spcBef>
                <a:spcPts val="944"/>
              </a:spcBef>
            </a:pPr>
            <a:r>
              <a:rPr dirty="0" sz="1300" spc="-110">
                <a:solidFill>
                  <a:srgbClr val="414141"/>
                </a:solidFill>
                <a:latin typeface="SimSun"/>
                <a:cs typeface="SimSun"/>
              </a:rPr>
              <a:t>走</a:t>
            </a:r>
            <a:r>
              <a:rPr dirty="0" sz="1300" spc="-110">
                <a:solidFill>
                  <a:srgbClr val="414141"/>
                </a:solidFill>
                <a:latin typeface="PMingLiU"/>
                <a:cs typeface="PMingLiU"/>
              </a:rPr>
              <a:t>道異</a:t>
            </a:r>
            <a:r>
              <a:rPr dirty="0" sz="1300" spc="-95">
                <a:solidFill>
                  <a:srgbClr val="414141"/>
                </a:solidFill>
                <a:latin typeface="SimSun"/>
                <a:cs typeface="SimSun"/>
              </a:rPr>
              <a:t>物判斷</a:t>
            </a:r>
            <a:endParaRPr sz="1300">
              <a:latin typeface="SimSun"/>
              <a:cs typeface="SimSun"/>
            </a:endParaRPr>
          </a:p>
          <a:p>
            <a:pPr marL="12700">
              <a:lnSpc>
                <a:spcPct val="100000"/>
              </a:lnSpc>
              <a:spcBef>
                <a:spcPts val="640"/>
              </a:spcBef>
            </a:pPr>
            <a:r>
              <a:rPr dirty="0" sz="1050" spc="-5">
                <a:solidFill>
                  <a:srgbClr val="414141"/>
                </a:solidFill>
                <a:latin typeface="PMingLiU"/>
                <a:cs typeface="PMingLiU"/>
              </a:rPr>
              <a:t>自動識別走道上有無異物阻礙，確保通行安全</a:t>
            </a:r>
            <a:endParaRPr sz="1050">
              <a:latin typeface="PMingLiU"/>
              <a:cs typeface="PMingLiU"/>
            </a:endParaRPr>
          </a:p>
          <a:p>
            <a:pPr>
              <a:lnSpc>
                <a:spcPct val="100000"/>
              </a:lnSpc>
            </a:pPr>
            <a:endParaRPr sz="1050">
              <a:latin typeface="PMingLiU"/>
              <a:cs typeface="PMingLiU"/>
            </a:endParaRPr>
          </a:p>
          <a:p>
            <a:pPr>
              <a:lnSpc>
                <a:spcPct val="100000"/>
              </a:lnSpc>
              <a:spcBef>
                <a:spcPts val="450"/>
              </a:spcBef>
            </a:pPr>
            <a:endParaRPr sz="1050">
              <a:latin typeface="PMingLiU"/>
              <a:cs typeface="PMingLiU"/>
            </a:endParaRPr>
          </a:p>
          <a:p>
            <a:pPr marL="12700">
              <a:lnSpc>
                <a:spcPct val="100000"/>
              </a:lnSpc>
              <a:spcBef>
                <a:spcPts val="5"/>
              </a:spcBef>
            </a:pPr>
            <a:r>
              <a:rPr dirty="0" sz="1200" b="1">
                <a:solidFill>
                  <a:srgbClr val="414141"/>
                </a:solidFill>
                <a:latin typeface="Arial"/>
                <a:cs typeface="Arial"/>
              </a:rPr>
              <a:t>17:00</a:t>
            </a:r>
            <a:r>
              <a:rPr dirty="0" sz="1300" spc="-110">
                <a:solidFill>
                  <a:srgbClr val="414141"/>
                </a:solidFill>
                <a:latin typeface="SimSun"/>
                <a:cs typeface="SimSun"/>
              </a:rPr>
              <a:t>自</a:t>
            </a:r>
            <a:r>
              <a:rPr dirty="0" sz="1350" spc="-170">
                <a:solidFill>
                  <a:srgbClr val="414141"/>
                </a:solidFill>
                <a:latin typeface="SimSun"/>
                <a:cs typeface="SimSun"/>
              </a:rPr>
              <a:t>主</a:t>
            </a:r>
            <a:r>
              <a:rPr dirty="0" sz="1300" spc="-110">
                <a:solidFill>
                  <a:srgbClr val="414141"/>
                </a:solidFill>
                <a:latin typeface="PMingLiU"/>
                <a:cs typeface="PMingLiU"/>
              </a:rPr>
              <a:t>巡</a:t>
            </a:r>
            <a:r>
              <a:rPr dirty="0" sz="1300" spc="-110">
                <a:solidFill>
                  <a:srgbClr val="414141"/>
                </a:solidFill>
                <a:latin typeface="SimSun"/>
                <a:cs typeface="SimSun"/>
              </a:rPr>
              <a:t>檢</a:t>
            </a:r>
            <a:r>
              <a:rPr dirty="0" sz="1350" spc="-170">
                <a:solidFill>
                  <a:srgbClr val="414141"/>
                </a:solidFill>
                <a:latin typeface="SimSun"/>
                <a:cs typeface="SimSun"/>
              </a:rPr>
              <a:t>充</a:t>
            </a:r>
            <a:r>
              <a:rPr dirty="0" sz="1300" spc="-50">
                <a:solidFill>
                  <a:srgbClr val="414141"/>
                </a:solidFill>
                <a:latin typeface="PMingLiU"/>
                <a:cs typeface="PMingLiU"/>
              </a:rPr>
              <a:t>電</a:t>
            </a:r>
            <a:endParaRPr sz="1300">
              <a:latin typeface="PMingLiU"/>
              <a:cs typeface="PMingLiU"/>
            </a:endParaRPr>
          </a:p>
          <a:p>
            <a:pPr marL="12700">
              <a:lnSpc>
                <a:spcPct val="100000"/>
              </a:lnSpc>
              <a:spcBef>
                <a:spcPts val="630"/>
              </a:spcBef>
            </a:pPr>
            <a:r>
              <a:rPr dirty="0" sz="1050" spc="-5">
                <a:solidFill>
                  <a:srgbClr val="414141"/>
                </a:solidFill>
                <a:latin typeface="PMingLiU"/>
                <a:cs typeface="PMingLiU"/>
              </a:rPr>
              <a:t>每日固定時間自動返回充電站進行充電，確保機器狗持續運行</a:t>
            </a:r>
            <a:endParaRPr sz="1050">
              <a:latin typeface="PMingLiU"/>
              <a:cs typeface="PMingLiU"/>
            </a:endParaRPr>
          </a:p>
          <a:p>
            <a:pPr>
              <a:lnSpc>
                <a:spcPct val="100000"/>
              </a:lnSpc>
            </a:pPr>
            <a:endParaRPr sz="1050">
              <a:latin typeface="PMingLiU"/>
              <a:cs typeface="PMingLiU"/>
            </a:endParaRPr>
          </a:p>
          <a:p>
            <a:pPr>
              <a:lnSpc>
                <a:spcPct val="100000"/>
              </a:lnSpc>
              <a:spcBef>
                <a:spcPts val="450"/>
              </a:spcBef>
            </a:pPr>
            <a:endParaRPr sz="1050">
              <a:latin typeface="PMingLiU"/>
              <a:cs typeface="PMingLiU"/>
            </a:endParaRPr>
          </a:p>
          <a:p>
            <a:pPr marL="12700">
              <a:lnSpc>
                <a:spcPct val="100000"/>
              </a:lnSpc>
            </a:pPr>
            <a:r>
              <a:rPr dirty="0" sz="1250" spc="-50">
                <a:solidFill>
                  <a:srgbClr val="414141"/>
                </a:solidFill>
                <a:latin typeface="PMingLiU"/>
                <a:cs typeface="PMingLiU"/>
              </a:rPr>
              <a:t>下</a:t>
            </a:r>
            <a:r>
              <a:rPr dirty="0" sz="1300" spc="-110">
                <a:solidFill>
                  <a:srgbClr val="414141"/>
                </a:solidFill>
                <a:latin typeface="SimSun"/>
                <a:cs typeface="SimSun"/>
              </a:rPr>
              <a:t>班時段</a:t>
            </a:r>
            <a:r>
              <a:rPr dirty="0" sz="1300" spc="-110">
                <a:solidFill>
                  <a:srgbClr val="414141"/>
                </a:solidFill>
                <a:latin typeface="PMingLiU"/>
                <a:cs typeface="PMingLiU"/>
              </a:rPr>
              <a:t>外</a:t>
            </a:r>
            <a:r>
              <a:rPr dirty="0" sz="1300" spc="-110">
                <a:solidFill>
                  <a:srgbClr val="414141"/>
                </a:solidFill>
                <a:latin typeface="SimSun"/>
                <a:cs typeface="SimSun"/>
              </a:rPr>
              <a:t>來</a:t>
            </a:r>
            <a:r>
              <a:rPr dirty="0" sz="1350" spc="-170">
                <a:solidFill>
                  <a:srgbClr val="414141"/>
                </a:solidFill>
                <a:latin typeface="SimSun"/>
                <a:cs typeface="SimSun"/>
              </a:rPr>
              <a:t>人</a:t>
            </a:r>
            <a:r>
              <a:rPr dirty="0" sz="1250" spc="-50">
                <a:solidFill>
                  <a:srgbClr val="414141"/>
                </a:solidFill>
                <a:latin typeface="PMingLiU"/>
                <a:cs typeface="PMingLiU"/>
              </a:rPr>
              <a:t>員</a:t>
            </a:r>
            <a:r>
              <a:rPr dirty="0" sz="1300" spc="-100">
                <a:solidFill>
                  <a:srgbClr val="414141"/>
                </a:solidFill>
                <a:latin typeface="SimSun"/>
                <a:cs typeface="SimSun"/>
              </a:rPr>
              <a:t>走動判斷</a:t>
            </a:r>
            <a:endParaRPr sz="1300">
              <a:latin typeface="SimSun"/>
              <a:cs typeface="SimSun"/>
            </a:endParaRPr>
          </a:p>
          <a:p>
            <a:pPr marL="12700">
              <a:lnSpc>
                <a:spcPct val="100000"/>
              </a:lnSpc>
              <a:spcBef>
                <a:spcPts val="630"/>
              </a:spcBef>
            </a:pPr>
            <a:r>
              <a:rPr dirty="0" sz="1050" spc="-5">
                <a:solidFill>
                  <a:srgbClr val="414141"/>
                </a:solidFill>
                <a:latin typeface="PMingLiU"/>
                <a:cs typeface="PMingLiU"/>
              </a:rPr>
              <a:t>非工作時間自動監測有無外來人員進入，提升場域安全性</a:t>
            </a:r>
            <a:endParaRPr sz="1050">
              <a:latin typeface="PMingLiU"/>
              <a:cs typeface="PMingLiU"/>
            </a:endParaRPr>
          </a:p>
        </p:txBody>
      </p:sp>
      <p:sp>
        <p:nvSpPr>
          <p:cNvPr id="33" name="object 33" descr=""/>
          <p:cNvSpPr txBox="1"/>
          <p:nvPr/>
        </p:nvSpPr>
        <p:spPr>
          <a:xfrm>
            <a:off x="6788150" y="4606925"/>
            <a:ext cx="2825750" cy="185420"/>
          </a:xfrm>
          <a:prstGeom prst="rect">
            <a:avLst/>
          </a:prstGeom>
        </p:spPr>
        <p:txBody>
          <a:bodyPr wrap="square" lIns="0" tIns="12700" rIns="0" bIns="0" rtlCol="0" vert="horz">
            <a:spAutoFit/>
          </a:bodyPr>
          <a:lstStyle/>
          <a:p>
            <a:pPr marL="12700">
              <a:lnSpc>
                <a:spcPct val="100000"/>
              </a:lnSpc>
              <a:spcBef>
                <a:spcPts val="100"/>
              </a:spcBef>
            </a:pPr>
            <a:r>
              <a:rPr dirty="0" sz="1050" spc="-5">
                <a:solidFill>
                  <a:srgbClr val="414141"/>
                </a:solidFill>
                <a:latin typeface="PMingLiU"/>
                <a:cs typeface="PMingLiU"/>
              </a:rPr>
              <a:t>主要目的：確保場域安全，防止未授權人員進入</a:t>
            </a:r>
            <a:endParaRPr sz="1050">
              <a:latin typeface="PMingLiU"/>
              <a:cs typeface="PMingLiU"/>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10455"/>
            <a:ext cx="2311400" cy="335280"/>
          </a:xfrm>
          <a:prstGeom prst="rect"/>
        </p:spPr>
        <p:txBody>
          <a:bodyPr wrap="square" lIns="0" tIns="16510" rIns="0" bIns="0" rtlCol="0" vert="horz">
            <a:spAutoFit/>
          </a:bodyPr>
          <a:lstStyle/>
          <a:p>
            <a:pPr marL="12700">
              <a:lnSpc>
                <a:spcPct val="100000"/>
              </a:lnSpc>
              <a:spcBef>
                <a:spcPts val="130"/>
              </a:spcBef>
            </a:pPr>
            <a:r>
              <a:rPr dirty="0" sz="1950" spc="-165">
                <a:latin typeface="PMingLiU"/>
                <a:cs typeface="PMingLiU"/>
              </a:rPr>
              <a:t>需</a:t>
            </a:r>
            <a:r>
              <a:rPr dirty="0" spc="-200"/>
              <a:t>求與</a:t>
            </a:r>
            <a:r>
              <a:rPr dirty="0" sz="1900" spc="-120">
                <a:latin typeface="PMingLiU"/>
                <a:cs typeface="PMingLiU"/>
              </a:rPr>
              <a:t>現</a:t>
            </a:r>
            <a:r>
              <a:rPr dirty="0" sz="1950" spc="-165"/>
              <a:t>有</a:t>
            </a:r>
            <a:r>
              <a:rPr dirty="0" spc="-200">
                <a:latin typeface="PMingLiU"/>
                <a:cs typeface="PMingLiU"/>
              </a:rPr>
              <a:t>能</a:t>
            </a:r>
            <a:r>
              <a:rPr dirty="0" spc="-185"/>
              <a:t>力對比表</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pic>
        <p:nvPicPr>
          <p:cNvPr id="4" name="object 4" descr=""/>
          <p:cNvPicPr/>
          <p:nvPr/>
        </p:nvPicPr>
        <p:blipFill>
          <a:blip r:embed="rId2" cstate="print"/>
          <a:stretch>
            <a:fillRect/>
          </a:stretch>
        </p:blipFill>
        <p:spPr>
          <a:xfrm>
            <a:off x="228600" y="838200"/>
            <a:ext cx="190499" cy="266699"/>
          </a:xfrm>
          <a:prstGeom prst="rect">
            <a:avLst/>
          </a:prstGeom>
        </p:spPr>
      </p:pic>
      <p:grpSp>
        <p:nvGrpSpPr>
          <p:cNvPr id="5" name="object 5" descr=""/>
          <p:cNvGrpSpPr/>
          <p:nvPr/>
        </p:nvGrpSpPr>
        <p:grpSpPr>
          <a:xfrm>
            <a:off x="228599" y="1257299"/>
            <a:ext cx="11734800" cy="4724400"/>
            <a:chOff x="228599" y="1257299"/>
            <a:chExt cx="11734800" cy="4724400"/>
          </a:xfrm>
        </p:grpSpPr>
        <p:sp>
          <p:nvSpPr>
            <p:cNvPr id="6" name="object 6" descr=""/>
            <p:cNvSpPr/>
            <p:nvPr/>
          </p:nvSpPr>
          <p:spPr>
            <a:xfrm>
              <a:off x="233362" y="1262062"/>
              <a:ext cx="11725275" cy="4714875"/>
            </a:xfrm>
            <a:custGeom>
              <a:avLst/>
              <a:gdLst/>
              <a:ahLst/>
              <a:cxnLst/>
              <a:rect l="l" t="t" r="r" b="b"/>
              <a:pathLst>
                <a:path w="11725275" h="4714875">
                  <a:moveTo>
                    <a:pt x="0" y="4643437"/>
                  </a:moveTo>
                  <a:lnTo>
                    <a:pt x="0" y="71437"/>
                  </a:lnTo>
                  <a:lnTo>
                    <a:pt x="0" y="66746"/>
                  </a:lnTo>
                  <a:lnTo>
                    <a:pt x="457" y="62101"/>
                  </a:lnTo>
                  <a:lnTo>
                    <a:pt x="1372" y="57500"/>
                  </a:lnTo>
                  <a:lnTo>
                    <a:pt x="2287" y="52899"/>
                  </a:lnTo>
                  <a:lnTo>
                    <a:pt x="3642" y="48432"/>
                  </a:lnTo>
                  <a:lnTo>
                    <a:pt x="5437" y="44099"/>
                  </a:lnTo>
                  <a:lnTo>
                    <a:pt x="7232" y="39765"/>
                  </a:lnTo>
                  <a:lnTo>
                    <a:pt x="20923" y="20923"/>
                  </a:lnTo>
                  <a:lnTo>
                    <a:pt x="24240" y="17606"/>
                  </a:lnTo>
                  <a:lnTo>
                    <a:pt x="27848" y="14645"/>
                  </a:lnTo>
                  <a:lnTo>
                    <a:pt x="31748" y="12039"/>
                  </a:lnTo>
                  <a:lnTo>
                    <a:pt x="35649" y="9433"/>
                  </a:lnTo>
                  <a:lnTo>
                    <a:pt x="66746" y="0"/>
                  </a:lnTo>
                  <a:lnTo>
                    <a:pt x="71437" y="0"/>
                  </a:lnTo>
                  <a:lnTo>
                    <a:pt x="11653836" y="0"/>
                  </a:lnTo>
                  <a:lnTo>
                    <a:pt x="11658525" y="0"/>
                  </a:lnTo>
                  <a:lnTo>
                    <a:pt x="11663170" y="457"/>
                  </a:lnTo>
                  <a:lnTo>
                    <a:pt x="11701032" y="17606"/>
                  </a:lnTo>
                  <a:lnTo>
                    <a:pt x="11722984" y="52899"/>
                  </a:lnTo>
                  <a:lnTo>
                    <a:pt x="11725274" y="66746"/>
                  </a:lnTo>
                  <a:lnTo>
                    <a:pt x="11725274" y="71437"/>
                  </a:lnTo>
                  <a:lnTo>
                    <a:pt x="11725274" y="4643437"/>
                  </a:lnTo>
                  <a:lnTo>
                    <a:pt x="11725274" y="4648127"/>
                  </a:lnTo>
                  <a:lnTo>
                    <a:pt x="11724815" y="4652772"/>
                  </a:lnTo>
                  <a:lnTo>
                    <a:pt x="11707665" y="4690633"/>
                  </a:lnTo>
                  <a:lnTo>
                    <a:pt x="11672372" y="4712586"/>
                  </a:lnTo>
                  <a:lnTo>
                    <a:pt x="11667771" y="4713501"/>
                  </a:lnTo>
                  <a:lnTo>
                    <a:pt x="11663170" y="4714417"/>
                  </a:lnTo>
                  <a:lnTo>
                    <a:pt x="11658525" y="4714874"/>
                  </a:lnTo>
                  <a:lnTo>
                    <a:pt x="11653836" y="4714874"/>
                  </a:lnTo>
                  <a:lnTo>
                    <a:pt x="71437" y="4714874"/>
                  </a:lnTo>
                  <a:lnTo>
                    <a:pt x="66746" y="4714874"/>
                  </a:lnTo>
                  <a:lnTo>
                    <a:pt x="62101" y="4714417"/>
                  </a:lnTo>
                  <a:lnTo>
                    <a:pt x="57500" y="4713501"/>
                  </a:lnTo>
                  <a:lnTo>
                    <a:pt x="52900" y="4712586"/>
                  </a:lnTo>
                  <a:lnTo>
                    <a:pt x="20923" y="4693950"/>
                  </a:lnTo>
                  <a:lnTo>
                    <a:pt x="17606" y="4690633"/>
                  </a:lnTo>
                  <a:lnTo>
                    <a:pt x="1372" y="4657372"/>
                  </a:lnTo>
                  <a:lnTo>
                    <a:pt x="457" y="4652772"/>
                  </a:lnTo>
                  <a:lnTo>
                    <a:pt x="0" y="4648127"/>
                  </a:lnTo>
                  <a:lnTo>
                    <a:pt x="0" y="4643437"/>
                  </a:lnTo>
                  <a:close/>
                </a:path>
              </a:pathLst>
            </a:custGeom>
            <a:ln w="9524">
              <a:solidFill>
                <a:srgbClr val="D0D5DA"/>
              </a:solidFill>
            </a:ln>
          </p:spPr>
          <p:txBody>
            <a:bodyPr wrap="square" lIns="0" tIns="0" rIns="0" bIns="0" rtlCol="0"/>
            <a:lstStyle/>
            <a:p/>
          </p:txBody>
        </p:sp>
        <p:sp>
          <p:nvSpPr>
            <p:cNvPr id="7" name="object 7" descr=""/>
            <p:cNvSpPr/>
            <p:nvPr/>
          </p:nvSpPr>
          <p:spPr>
            <a:xfrm>
              <a:off x="238112" y="1266824"/>
              <a:ext cx="11715750" cy="457200"/>
            </a:xfrm>
            <a:custGeom>
              <a:avLst/>
              <a:gdLst/>
              <a:ahLst/>
              <a:cxnLst/>
              <a:rect l="l" t="t" r="r" b="b"/>
              <a:pathLst>
                <a:path w="11715750" h="457200">
                  <a:moveTo>
                    <a:pt x="11715750" y="66675"/>
                  </a:moveTo>
                  <a:lnTo>
                    <a:pt x="11704523" y="29629"/>
                  </a:lnTo>
                  <a:lnTo>
                    <a:pt x="11674589" y="5080"/>
                  </a:lnTo>
                  <a:lnTo>
                    <a:pt x="11649075" y="0"/>
                  </a:lnTo>
                  <a:lnTo>
                    <a:pt x="7810500" y="0"/>
                  </a:lnTo>
                  <a:lnTo>
                    <a:pt x="4886325" y="0"/>
                  </a:lnTo>
                  <a:lnTo>
                    <a:pt x="1952625" y="0"/>
                  </a:lnTo>
                  <a:lnTo>
                    <a:pt x="66675" y="0"/>
                  </a:lnTo>
                  <a:lnTo>
                    <a:pt x="60109" y="317"/>
                  </a:lnTo>
                  <a:lnTo>
                    <a:pt x="24409" y="15113"/>
                  </a:lnTo>
                  <a:lnTo>
                    <a:pt x="2857" y="47358"/>
                  </a:lnTo>
                  <a:lnTo>
                    <a:pt x="0" y="66675"/>
                  </a:lnTo>
                  <a:lnTo>
                    <a:pt x="0" y="457200"/>
                  </a:lnTo>
                  <a:lnTo>
                    <a:pt x="1952625" y="457200"/>
                  </a:lnTo>
                  <a:lnTo>
                    <a:pt x="4886325" y="457200"/>
                  </a:lnTo>
                  <a:lnTo>
                    <a:pt x="7810500" y="457200"/>
                  </a:lnTo>
                  <a:lnTo>
                    <a:pt x="11715750" y="457200"/>
                  </a:lnTo>
                  <a:lnTo>
                    <a:pt x="11715750" y="66675"/>
                  </a:lnTo>
                  <a:close/>
                </a:path>
              </a:pathLst>
            </a:custGeom>
            <a:solidFill>
              <a:srgbClr val="414141"/>
            </a:solidFill>
          </p:spPr>
          <p:txBody>
            <a:bodyPr wrap="square" lIns="0" tIns="0" rIns="0" bIns="0" rtlCol="0"/>
            <a:lstStyle/>
            <a:p/>
          </p:txBody>
        </p:sp>
        <p:sp>
          <p:nvSpPr>
            <p:cNvPr id="8" name="object 8" descr=""/>
            <p:cNvSpPr/>
            <p:nvPr/>
          </p:nvSpPr>
          <p:spPr>
            <a:xfrm>
              <a:off x="238112" y="1724024"/>
              <a:ext cx="11715750" cy="1390650"/>
            </a:xfrm>
            <a:custGeom>
              <a:avLst/>
              <a:gdLst/>
              <a:ahLst/>
              <a:cxnLst/>
              <a:rect l="l" t="t" r="r" b="b"/>
              <a:pathLst>
                <a:path w="11715750" h="1390650">
                  <a:moveTo>
                    <a:pt x="11715750" y="0"/>
                  </a:moveTo>
                  <a:lnTo>
                    <a:pt x="7810500" y="0"/>
                  </a:lnTo>
                  <a:lnTo>
                    <a:pt x="4886325" y="0"/>
                  </a:lnTo>
                  <a:lnTo>
                    <a:pt x="1952625" y="0"/>
                  </a:lnTo>
                  <a:lnTo>
                    <a:pt x="0" y="0"/>
                  </a:lnTo>
                  <a:lnTo>
                    <a:pt x="0" y="1390650"/>
                  </a:lnTo>
                  <a:lnTo>
                    <a:pt x="1952625" y="1390650"/>
                  </a:lnTo>
                  <a:lnTo>
                    <a:pt x="1952625" y="695325"/>
                  </a:lnTo>
                  <a:lnTo>
                    <a:pt x="4886325" y="695325"/>
                  </a:lnTo>
                  <a:lnTo>
                    <a:pt x="7810500" y="695325"/>
                  </a:lnTo>
                  <a:lnTo>
                    <a:pt x="11715750" y="695325"/>
                  </a:lnTo>
                  <a:lnTo>
                    <a:pt x="11715750" y="0"/>
                  </a:lnTo>
                  <a:close/>
                </a:path>
              </a:pathLst>
            </a:custGeom>
            <a:solidFill>
              <a:srgbClr val="FFFFFF"/>
            </a:solidFill>
          </p:spPr>
          <p:txBody>
            <a:bodyPr wrap="square" lIns="0" tIns="0" rIns="0" bIns="0" rtlCol="0"/>
            <a:lstStyle/>
            <a:p/>
          </p:txBody>
        </p:sp>
        <p:sp>
          <p:nvSpPr>
            <p:cNvPr id="9" name="object 9" descr=""/>
            <p:cNvSpPr/>
            <p:nvPr/>
          </p:nvSpPr>
          <p:spPr>
            <a:xfrm>
              <a:off x="2190737" y="2419349"/>
              <a:ext cx="9763125" cy="695325"/>
            </a:xfrm>
            <a:custGeom>
              <a:avLst/>
              <a:gdLst/>
              <a:ahLst/>
              <a:cxnLst/>
              <a:rect l="l" t="t" r="r" b="b"/>
              <a:pathLst>
                <a:path w="9763125" h="695325">
                  <a:moveTo>
                    <a:pt x="9763125" y="0"/>
                  </a:moveTo>
                  <a:lnTo>
                    <a:pt x="5857875" y="0"/>
                  </a:lnTo>
                  <a:lnTo>
                    <a:pt x="2933700" y="0"/>
                  </a:lnTo>
                  <a:lnTo>
                    <a:pt x="0" y="0"/>
                  </a:lnTo>
                  <a:lnTo>
                    <a:pt x="0" y="695325"/>
                  </a:lnTo>
                  <a:lnTo>
                    <a:pt x="2933700" y="695325"/>
                  </a:lnTo>
                  <a:lnTo>
                    <a:pt x="5857875" y="695325"/>
                  </a:lnTo>
                  <a:lnTo>
                    <a:pt x="9763125" y="695325"/>
                  </a:lnTo>
                  <a:lnTo>
                    <a:pt x="9763125" y="0"/>
                  </a:lnTo>
                  <a:close/>
                </a:path>
              </a:pathLst>
            </a:custGeom>
            <a:solidFill>
              <a:srgbClr val="F0F0F0">
                <a:alpha val="70199"/>
              </a:srgbClr>
            </a:solidFill>
          </p:spPr>
          <p:txBody>
            <a:bodyPr wrap="square" lIns="0" tIns="0" rIns="0" bIns="0" rtlCol="0"/>
            <a:lstStyle/>
            <a:p/>
          </p:txBody>
        </p:sp>
        <p:sp>
          <p:nvSpPr>
            <p:cNvPr id="10" name="object 10" descr=""/>
            <p:cNvSpPr/>
            <p:nvPr/>
          </p:nvSpPr>
          <p:spPr>
            <a:xfrm>
              <a:off x="238112" y="3114674"/>
              <a:ext cx="11715750" cy="1628775"/>
            </a:xfrm>
            <a:custGeom>
              <a:avLst/>
              <a:gdLst/>
              <a:ahLst/>
              <a:cxnLst/>
              <a:rect l="l" t="t" r="r" b="b"/>
              <a:pathLst>
                <a:path w="11715750" h="1628775">
                  <a:moveTo>
                    <a:pt x="11715750" y="0"/>
                  </a:moveTo>
                  <a:lnTo>
                    <a:pt x="7810500" y="0"/>
                  </a:lnTo>
                  <a:lnTo>
                    <a:pt x="4886325" y="0"/>
                  </a:lnTo>
                  <a:lnTo>
                    <a:pt x="1952625" y="0"/>
                  </a:lnTo>
                  <a:lnTo>
                    <a:pt x="0" y="0"/>
                  </a:lnTo>
                  <a:lnTo>
                    <a:pt x="0" y="1628775"/>
                  </a:lnTo>
                  <a:lnTo>
                    <a:pt x="1952625" y="1628775"/>
                  </a:lnTo>
                  <a:lnTo>
                    <a:pt x="1952625" y="695325"/>
                  </a:lnTo>
                  <a:lnTo>
                    <a:pt x="4886325" y="695325"/>
                  </a:lnTo>
                  <a:lnTo>
                    <a:pt x="7810500" y="695325"/>
                  </a:lnTo>
                  <a:lnTo>
                    <a:pt x="11715750" y="695325"/>
                  </a:lnTo>
                  <a:lnTo>
                    <a:pt x="11715750" y="0"/>
                  </a:lnTo>
                  <a:close/>
                </a:path>
              </a:pathLst>
            </a:custGeom>
            <a:solidFill>
              <a:srgbClr val="FFFFFF"/>
            </a:solidFill>
          </p:spPr>
          <p:txBody>
            <a:bodyPr wrap="square" lIns="0" tIns="0" rIns="0" bIns="0" rtlCol="0"/>
            <a:lstStyle/>
            <a:p/>
          </p:txBody>
        </p:sp>
        <p:sp>
          <p:nvSpPr>
            <p:cNvPr id="11" name="object 11" descr=""/>
            <p:cNvSpPr/>
            <p:nvPr/>
          </p:nvSpPr>
          <p:spPr>
            <a:xfrm>
              <a:off x="2190737" y="3809999"/>
              <a:ext cx="9763125" cy="466725"/>
            </a:xfrm>
            <a:custGeom>
              <a:avLst/>
              <a:gdLst/>
              <a:ahLst/>
              <a:cxnLst/>
              <a:rect l="l" t="t" r="r" b="b"/>
              <a:pathLst>
                <a:path w="9763125" h="466725">
                  <a:moveTo>
                    <a:pt x="9763125" y="0"/>
                  </a:moveTo>
                  <a:lnTo>
                    <a:pt x="5857875" y="0"/>
                  </a:lnTo>
                  <a:lnTo>
                    <a:pt x="2933700" y="0"/>
                  </a:lnTo>
                  <a:lnTo>
                    <a:pt x="0" y="0"/>
                  </a:lnTo>
                  <a:lnTo>
                    <a:pt x="0" y="466725"/>
                  </a:lnTo>
                  <a:lnTo>
                    <a:pt x="2933700" y="466725"/>
                  </a:lnTo>
                  <a:lnTo>
                    <a:pt x="5857875" y="466725"/>
                  </a:lnTo>
                  <a:lnTo>
                    <a:pt x="9763125" y="466725"/>
                  </a:lnTo>
                  <a:lnTo>
                    <a:pt x="9763125" y="0"/>
                  </a:lnTo>
                  <a:close/>
                </a:path>
              </a:pathLst>
            </a:custGeom>
            <a:solidFill>
              <a:srgbClr val="F0F0F0">
                <a:alpha val="70199"/>
              </a:srgbClr>
            </a:solidFill>
          </p:spPr>
          <p:txBody>
            <a:bodyPr wrap="square" lIns="0" tIns="0" rIns="0" bIns="0" rtlCol="0"/>
            <a:lstStyle/>
            <a:p/>
          </p:txBody>
        </p:sp>
        <p:sp>
          <p:nvSpPr>
            <p:cNvPr id="12" name="object 12" descr=""/>
            <p:cNvSpPr/>
            <p:nvPr/>
          </p:nvSpPr>
          <p:spPr>
            <a:xfrm>
              <a:off x="2190737" y="4276724"/>
              <a:ext cx="9763125" cy="466725"/>
            </a:xfrm>
            <a:custGeom>
              <a:avLst/>
              <a:gdLst/>
              <a:ahLst/>
              <a:cxnLst/>
              <a:rect l="l" t="t" r="r" b="b"/>
              <a:pathLst>
                <a:path w="9763125" h="466725">
                  <a:moveTo>
                    <a:pt x="9763125" y="0"/>
                  </a:moveTo>
                  <a:lnTo>
                    <a:pt x="5857875" y="0"/>
                  </a:lnTo>
                  <a:lnTo>
                    <a:pt x="2933700" y="0"/>
                  </a:lnTo>
                  <a:lnTo>
                    <a:pt x="0" y="0"/>
                  </a:lnTo>
                  <a:lnTo>
                    <a:pt x="0" y="466725"/>
                  </a:lnTo>
                  <a:lnTo>
                    <a:pt x="2933700" y="466725"/>
                  </a:lnTo>
                  <a:lnTo>
                    <a:pt x="5857875" y="466725"/>
                  </a:lnTo>
                  <a:lnTo>
                    <a:pt x="9763125" y="466725"/>
                  </a:lnTo>
                  <a:lnTo>
                    <a:pt x="9763125" y="0"/>
                  </a:lnTo>
                  <a:close/>
                </a:path>
              </a:pathLst>
            </a:custGeom>
            <a:solidFill>
              <a:srgbClr val="FFFFFF"/>
            </a:solidFill>
          </p:spPr>
          <p:txBody>
            <a:bodyPr wrap="square" lIns="0" tIns="0" rIns="0" bIns="0" rtlCol="0"/>
            <a:lstStyle/>
            <a:p/>
          </p:txBody>
        </p:sp>
        <p:sp>
          <p:nvSpPr>
            <p:cNvPr id="13" name="object 13" descr=""/>
            <p:cNvSpPr/>
            <p:nvPr/>
          </p:nvSpPr>
          <p:spPr>
            <a:xfrm>
              <a:off x="238112" y="2409824"/>
              <a:ext cx="11715750" cy="2333625"/>
            </a:xfrm>
            <a:custGeom>
              <a:avLst/>
              <a:gdLst/>
              <a:ahLst/>
              <a:cxnLst/>
              <a:rect l="l" t="t" r="r" b="b"/>
              <a:pathLst>
                <a:path w="11715750" h="2333625">
                  <a:moveTo>
                    <a:pt x="11715750" y="2324100"/>
                  </a:moveTo>
                  <a:lnTo>
                    <a:pt x="7810500" y="2324100"/>
                  </a:lnTo>
                  <a:lnTo>
                    <a:pt x="4886325" y="2324100"/>
                  </a:lnTo>
                  <a:lnTo>
                    <a:pt x="1952625" y="2324100"/>
                  </a:lnTo>
                  <a:lnTo>
                    <a:pt x="0" y="2324100"/>
                  </a:lnTo>
                  <a:lnTo>
                    <a:pt x="0" y="2333625"/>
                  </a:lnTo>
                  <a:lnTo>
                    <a:pt x="1952625" y="2333625"/>
                  </a:lnTo>
                  <a:lnTo>
                    <a:pt x="4886325" y="2333625"/>
                  </a:lnTo>
                  <a:lnTo>
                    <a:pt x="7810500" y="2333625"/>
                  </a:lnTo>
                  <a:lnTo>
                    <a:pt x="11715750" y="2333625"/>
                  </a:lnTo>
                  <a:lnTo>
                    <a:pt x="11715750" y="2324100"/>
                  </a:lnTo>
                  <a:close/>
                </a:path>
                <a:path w="11715750" h="2333625">
                  <a:moveTo>
                    <a:pt x="11715750" y="1857375"/>
                  </a:moveTo>
                  <a:lnTo>
                    <a:pt x="7810500" y="1857375"/>
                  </a:lnTo>
                  <a:lnTo>
                    <a:pt x="4886325" y="1857375"/>
                  </a:lnTo>
                  <a:lnTo>
                    <a:pt x="1952625" y="1857375"/>
                  </a:lnTo>
                  <a:lnTo>
                    <a:pt x="1952625" y="1866900"/>
                  </a:lnTo>
                  <a:lnTo>
                    <a:pt x="4886325" y="1866900"/>
                  </a:lnTo>
                  <a:lnTo>
                    <a:pt x="7810500" y="1866900"/>
                  </a:lnTo>
                  <a:lnTo>
                    <a:pt x="11715750" y="1866900"/>
                  </a:lnTo>
                  <a:lnTo>
                    <a:pt x="11715750" y="1857375"/>
                  </a:lnTo>
                  <a:close/>
                </a:path>
                <a:path w="11715750" h="2333625">
                  <a:moveTo>
                    <a:pt x="11715750" y="1390650"/>
                  </a:moveTo>
                  <a:lnTo>
                    <a:pt x="7810500" y="1390650"/>
                  </a:lnTo>
                  <a:lnTo>
                    <a:pt x="4886325" y="1390650"/>
                  </a:lnTo>
                  <a:lnTo>
                    <a:pt x="1952625" y="1390650"/>
                  </a:lnTo>
                  <a:lnTo>
                    <a:pt x="1952625" y="1400175"/>
                  </a:lnTo>
                  <a:lnTo>
                    <a:pt x="4886325" y="1400175"/>
                  </a:lnTo>
                  <a:lnTo>
                    <a:pt x="7810500" y="1400175"/>
                  </a:lnTo>
                  <a:lnTo>
                    <a:pt x="11715750" y="1400175"/>
                  </a:lnTo>
                  <a:lnTo>
                    <a:pt x="11715750" y="1390650"/>
                  </a:lnTo>
                  <a:close/>
                </a:path>
                <a:path w="11715750" h="2333625">
                  <a:moveTo>
                    <a:pt x="11715750" y="695325"/>
                  </a:moveTo>
                  <a:lnTo>
                    <a:pt x="7810500" y="695325"/>
                  </a:lnTo>
                  <a:lnTo>
                    <a:pt x="4886325" y="695325"/>
                  </a:lnTo>
                  <a:lnTo>
                    <a:pt x="1952625" y="695325"/>
                  </a:lnTo>
                  <a:lnTo>
                    <a:pt x="0" y="695325"/>
                  </a:lnTo>
                  <a:lnTo>
                    <a:pt x="0" y="704850"/>
                  </a:lnTo>
                  <a:lnTo>
                    <a:pt x="1952625" y="704850"/>
                  </a:lnTo>
                  <a:lnTo>
                    <a:pt x="4886325" y="704850"/>
                  </a:lnTo>
                  <a:lnTo>
                    <a:pt x="7810500" y="704850"/>
                  </a:lnTo>
                  <a:lnTo>
                    <a:pt x="11715750" y="704850"/>
                  </a:lnTo>
                  <a:lnTo>
                    <a:pt x="11715750" y="695325"/>
                  </a:lnTo>
                  <a:close/>
                </a:path>
                <a:path w="11715750" h="2333625">
                  <a:moveTo>
                    <a:pt x="11715750" y="0"/>
                  </a:moveTo>
                  <a:lnTo>
                    <a:pt x="7810500" y="0"/>
                  </a:lnTo>
                  <a:lnTo>
                    <a:pt x="4886325" y="0"/>
                  </a:lnTo>
                  <a:lnTo>
                    <a:pt x="1952625" y="0"/>
                  </a:lnTo>
                  <a:lnTo>
                    <a:pt x="1952625" y="9525"/>
                  </a:lnTo>
                  <a:lnTo>
                    <a:pt x="4886325" y="9525"/>
                  </a:lnTo>
                  <a:lnTo>
                    <a:pt x="7810500" y="9525"/>
                  </a:lnTo>
                  <a:lnTo>
                    <a:pt x="11715750" y="9525"/>
                  </a:lnTo>
                  <a:lnTo>
                    <a:pt x="11715750" y="0"/>
                  </a:lnTo>
                  <a:close/>
                </a:path>
              </a:pathLst>
            </a:custGeom>
            <a:solidFill>
              <a:srgbClr val="E4E7EB"/>
            </a:solidFill>
          </p:spPr>
          <p:txBody>
            <a:bodyPr wrap="square" lIns="0" tIns="0" rIns="0" bIns="0" rtlCol="0"/>
            <a:lstStyle/>
            <a:p/>
          </p:txBody>
        </p:sp>
      </p:grpSp>
      <p:sp>
        <p:nvSpPr>
          <p:cNvPr id="14" name="object 14" descr=""/>
          <p:cNvSpPr txBox="1"/>
          <p:nvPr/>
        </p:nvSpPr>
        <p:spPr>
          <a:xfrm>
            <a:off x="377824" y="844550"/>
            <a:ext cx="3245485" cy="745490"/>
          </a:xfrm>
          <a:prstGeom prst="rect">
            <a:avLst/>
          </a:prstGeom>
        </p:spPr>
        <p:txBody>
          <a:bodyPr wrap="square" lIns="0" tIns="12700" rIns="0" bIns="0" rtlCol="0" vert="horz">
            <a:spAutoFit/>
          </a:bodyPr>
          <a:lstStyle/>
          <a:p>
            <a:pPr marL="116839">
              <a:lnSpc>
                <a:spcPct val="100000"/>
              </a:lnSpc>
              <a:spcBef>
                <a:spcPts val="100"/>
              </a:spcBef>
            </a:pPr>
            <a:r>
              <a:rPr dirty="0" sz="1350">
                <a:solidFill>
                  <a:srgbClr val="414141"/>
                </a:solidFill>
                <a:latin typeface="Arial"/>
                <a:cs typeface="Arial"/>
              </a:rPr>
              <a:t>AUO</a:t>
            </a:r>
            <a:r>
              <a:rPr dirty="0" sz="1350" spc="-5">
                <a:solidFill>
                  <a:srgbClr val="414141"/>
                </a:solidFill>
                <a:latin typeface="PMingLiU"/>
                <a:cs typeface="PMingLiU"/>
              </a:rPr>
              <a:t>庫房機器狗需求與現有能力對比分析</a:t>
            </a:r>
            <a:endParaRPr sz="1350">
              <a:latin typeface="PMingLiU"/>
              <a:cs typeface="PMingLiU"/>
            </a:endParaRPr>
          </a:p>
          <a:p>
            <a:pPr>
              <a:lnSpc>
                <a:spcPct val="100000"/>
              </a:lnSpc>
              <a:spcBef>
                <a:spcPts val="540"/>
              </a:spcBef>
            </a:pPr>
            <a:endParaRPr sz="1350">
              <a:latin typeface="PMingLiU"/>
              <a:cs typeface="PMingLiU"/>
            </a:endParaRPr>
          </a:p>
          <a:p>
            <a:pPr marL="12700">
              <a:lnSpc>
                <a:spcPct val="100000"/>
              </a:lnSpc>
              <a:tabLst>
                <a:tab pos="1964689" algn="l"/>
              </a:tabLst>
            </a:pPr>
            <a:r>
              <a:rPr dirty="0" sz="1300" spc="-110">
                <a:solidFill>
                  <a:srgbClr val="FFFFFF"/>
                </a:solidFill>
                <a:latin typeface="PMingLiU"/>
                <a:cs typeface="PMingLiU"/>
              </a:rPr>
              <a:t>需</a:t>
            </a:r>
            <a:r>
              <a:rPr dirty="0" sz="1350" spc="-170">
                <a:solidFill>
                  <a:srgbClr val="FFFFFF"/>
                </a:solidFill>
                <a:latin typeface="SimSun"/>
                <a:cs typeface="SimSun"/>
              </a:rPr>
              <a:t>求</a:t>
            </a:r>
            <a:r>
              <a:rPr dirty="0" sz="1300" spc="-110">
                <a:solidFill>
                  <a:srgbClr val="FFFFFF"/>
                </a:solidFill>
                <a:latin typeface="SimSun"/>
                <a:cs typeface="SimSun"/>
              </a:rPr>
              <a:t>類</a:t>
            </a:r>
            <a:r>
              <a:rPr dirty="0" sz="1350" spc="-50">
                <a:solidFill>
                  <a:srgbClr val="FFFFFF"/>
                </a:solidFill>
                <a:latin typeface="SimSun"/>
                <a:cs typeface="SimSun"/>
              </a:rPr>
              <a:t>別</a:t>
            </a:r>
            <a:r>
              <a:rPr dirty="0" sz="1350">
                <a:solidFill>
                  <a:srgbClr val="FFFFFF"/>
                </a:solidFill>
                <a:latin typeface="SimSun"/>
                <a:cs typeface="SimSun"/>
              </a:rPr>
              <a:t>	</a:t>
            </a:r>
            <a:r>
              <a:rPr dirty="0" sz="1300" spc="-110">
                <a:solidFill>
                  <a:srgbClr val="FFFFFF"/>
                </a:solidFill>
                <a:latin typeface="SimSun"/>
                <a:cs typeface="SimSun"/>
              </a:rPr>
              <a:t>具</a:t>
            </a:r>
            <a:r>
              <a:rPr dirty="0" sz="1300" spc="-110">
                <a:solidFill>
                  <a:srgbClr val="FFFFFF"/>
                </a:solidFill>
                <a:latin typeface="PMingLiU"/>
                <a:cs typeface="PMingLiU"/>
              </a:rPr>
              <a:t>體需</a:t>
            </a:r>
            <a:r>
              <a:rPr dirty="0" sz="1350" spc="-50">
                <a:solidFill>
                  <a:srgbClr val="FFFFFF"/>
                </a:solidFill>
                <a:latin typeface="SimSun"/>
                <a:cs typeface="SimSun"/>
              </a:rPr>
              <a:t>求</a:t>
            </a:r>
            <a:endParaRPr sz="1350">
              <a:latin typeface="SimSun"/>
              <a:cs typeface="SimSun"/>
            </a:endParaRPr>
          </a:p>
        </p:txBody>
      </p:sp>
      <p:sp>
        <p:nvSpPr>
          <p:cNvPr id="15" name="object 15" descr=""/>
          <p:cNvSpPr txBox="1"/>
          <p:nvPr/>
        </p:nvSpPr>
        <p:spPr>
          <a:xfrm>
            <a:off x="5259387" y="1358453"/>
            <a:ext cx="1397000" cy="231775"/>
          </a:xfrm>
          <a:prstGeom prst="rect">
            <a:avLst/>
          </a:prstGeom>
        </p:spPr>
        <p:txBody>
          <a:bodyPr wrap="square" lIns="0" tIns="12700" rIns="0" bIns="0" rtlCol="0" vert="horz">
            <a:spAutoFit/>
          </a:bodyPr>
          <a:lstStyle/>
          <a:p>
            <a:pPr marL="12700">
              <a:lnSpc>
                <a:spcPct val="100000"/>
              </a:lnSpc>
              <a:spcBef>
                <a:spcPts val="100"/>
              </a:spcBef>
            </a:pPr>
            <a:r>
              <a:rPr dirty="0" sz="1250" spc="-50">
                <a:solidFill>
                  <a:srgbClr val="FFFFFF"/>
                </a:solidFill>
                <a:latin typeface="PMingLiU"/>
                <a:cs typeface="PMingLiU"/>
              </a:rPr>
              <a:t>現</a:t>
            </a:r>
            <a:r>
              <a:rPr dirty="0" sz="1300" spc="-114">
                <a:solidFill>
                  <a:srgbClr val="FFFFFF"/>
                </a:solidFill>
                <a:latin typeface="SimSun"/>
                <a:cs typeface="SimSun"/>
              </a:rPr>
              <a:t>有機</a:t>
            </a:r>
            <a:r>
              <a:rPr dirty="0" sz="1300" spc="-110">
                <a:solidFill>
                  <a:srgbClr val="FFFFFF"/>
                </a:solidFill>
                <a:latin typeface="PMingLiU"/>
                <a:cs typeface="PMingLiU"/>
              </a:rPr>
              <a:t>器</a:t>
            </a:r>
            <a:r>
              <a:rPr dirty="0" sz="1300" spc="-110">
                <a:solidFill>
                  <a:srgbClr val="FFFFFF"/>
                </a:solidFill>
                <a:latin typeface="SimSun"/>
                <a:cs typeface="SimSun"/>
              </a:rPr>
              <a:t>狗</a:t>
            </a:r>
            <a:r>
              <a:rPr dirty="0" sz="1350" spc="-170">
                <a:solidFill>
                  <a:srgbClr val="FFFFFF"/>
                </a:solidFill>
                <a:latin typeface="PMingLiU"/>
                <a:cs typeface="PMingLiU"/>
              </a:rPr>
              <a:t>能</a:t>
            </a:r>
            <a:r>
              <a:rPr dirty="0" sz="1350" spc="-170">
                <a:solidFill>
                  <a:srgbClr val="FFFFFF"/>
                </a:solidFill>
                <a:latin typeface="SimSun"/>
                <a:cs typeface="SimSun"/>
              </a:rPr>
              <a:t>力</a:t>
            </a:r>
            <a:r>
              <a:rPr dirty="0" sz="1250" spc="-50">
                <a:solidFill>
                  <a:srgbClr val="FFFFFF"/>
                </a:solidFill>
                <a:latin typeface="PMingLiU"/>
                <a:cs typeface="PMingLiU"/>
              </a:rPr>
              <a:t>現</a:t>
            </a:r>
            <a:r>
              <a:rPr dirty="0" sz="1300" spc="-50">
                <a:solidFill>
                  <a:srgbClr val="FFFFFF"/>
                </a:solidFill>
                <a:latin typeface="SimSun"/>
                <a:cs typeface="SimSun"/>
              </a:rPr>
              <a:t>狀</a:t>
            </a:r>
            <a:endParaRPr sz="1300">
              <a:latin typeface="SimSun"/>
              <a:cs typeface="SimSun"/>
            </a:endParaRPr>
          </a:p>
        </p:txBody>
      </p:sp>
      <p:sp>
        <p:nvSpPr>
          <p:cNvPr id="16" name="object 16" descr=""/>
          <p:cNvSpPr txBox="1"/>
          <p:nvPr/>
        </p:nvSpPr>
        <p:spPr>
          <a:xfrm>
            <a:off x="8188325" y="1358900"/>
            <a:ext cx="1744345" cy="231140"/>
          </a:xfrm>
          <a:prstGeom prst="rect">
            <a:avLst/>
          </a:prstGeom>
        </p:spPr>
        <p:txBody>
          <a:bodyPr wrap="square" lIns="0" tIns="12700" rIns="0" bIns="0" rtlCol="0" vert="horz">
            <a:spAutoFit/>
          </a:bodyPr>
          <a:lstStyle/>
          <a:p>
            <a:pPr marL="12700">
              <a:lnSpc>
                <a:spcPct val="100000"/>
              </a:lnSpc>
              <a:spcBef>
                <a:spcPts val="100"/>
              </a:spcBef>
            </a:pPr>
            <a:r>
              <a:rPr dirty="0" sz="1300" spc="-110">
                <a:solidFill>
                  <a:srgbClr val="FFFFFF"/>
                </a:solidFill>
                <a:latin typeface="SimSun"/>
                <a:cs typeface="SimSun"/>
              </a:rPr>
              <a:t>無</a:t>
            </a:r>
            <a:r>
              <a:rPr dirty="0" sz="1350" spc="-170">
                <a:solidFill>
                  <a:srgbClr val="FFFFFF"/>
                </a:solidFill>
                <a:latin typeface="SimSun"/>
                <a:cs typeface="SimSun"/>
              </a:rPr>
              <a:t>法</a:t>
            </a:r>
            <a:r>
              <a:rPr dirty="0" sz="1300" spc="-110">
                <a:solidFill>
                  <a:srgbClr val="FFFFFF"/>
                </a:solidFill>
                <a:latin typeface="SimSun"/>
                <a:cs typeface="SimSun"/>
              </a:rPr>
              <a:t>滿</a:t>
            </a:r>
            <a:r>
              <a:rPr dirty="0" sz="1300" spc="-110">
                <a:solidFill>
                  <a:srgbClr val="FFFFFF"/>
                </a:solidFill>
                <a:latin typeface="PMingLiU"/>
                <a:cs typeface="PMingLiU"/>
              </a:rPr>
              <a:t>足</a:t>
            </a:r>
            <a:r>
              <a:rPr dirty="0" sz="1250" spc="-50">
                <a:solidFill>
                  <a:srgbClr val="FFFFFF"/>
                </a:solidFill>
                <a:latin typeface="PMingLiU"/>
                <a:cs typeface="PMingLiU"/>
              </a:rPr>
              <a:t>原</a:t>
            </a:r>
            <a:r>
              <a:rPr dirty="0" sz="1300" spc="-110">
                <a:solidFill>
                  <a:srgbClr val="FFFFFF"/>
                </a:solidFill>
                <a:latin typeface="PMingLiU"/>
                <a:cs typeface="PMingLiU"/>
              </a:rPr>
              <a:t>因</a:t>
            </a:r>
            <a:r>
              <a:rPr dirty="0" sz="1200" spc="-10" b="1" i="1">
                <a:solidFill>
                  <a:srgbClr val="FFFFFF"/>
                </a:solidFill>
                <a:latin typeface="Arial"/>
                <a:cs typeface="Arial"/>
              </a:rPr>
              <a:t>/</a:t>
            </a:r>
            <a:r>
              <a:rPr dirty="0" sz="1300" spc="-110">
                <a:solidFill>
                  <a:srgbClr val="FFFFFF"/>
                </a:solidFill>
                <a:latin typeface="PMingLiU"/>
                <a:cs typeface="PMingLiU"/>
              </a:rPr>
              <a:t>需</a:t>
            </a:r>
            <a:r>
              <a:rPr dirty="0" sz="1250" spc="-55">
                <a:solidFill>
                  <a:srgbClr val="FFFFFF"/>
                </a:solidFill>
                <a:latin typeface="PMingLiU"/>
                <a:cs typeface="PMingLiU"/>
              </a:rPr>
              <a:t>開</a:t>
            </a:r>
            <a:r>
              <a:rPr dirty="0" sz="1300" spc="-110">
                <a:solidFill>
                  <a:srgbClr val="FFFFFF"/>
                </a:solidFill>
                <a:latin typeface="SimSun"/>
                <a:cs typeface="SimSun"/>
              </a:rPr>
              <a:t>發項</a:t>
            </a:r>
            <a:r>
              <a:rPr dirty="0" sz="1250" spc="-50">
                <a:solidFill>
                  <a:srgbClr val="FFFFFF"/>
                </a:solidFill>
                <a:latin typeface="PMingLiU"/>
                <a:cs typeface="PMingLiU"/>
              </a:rPr>
              <a:t>目</a:t>
            </a:r>
            <a:endParaRPr sz="1250">
              <a:latin typeface="PMingLiU"/>
              <a:cs typeface="PMingLiU"/>
            </a:endParaRPr>
          </a:p>
        </p:txBody>
      </p:sp>
      <p:grpSp>
        <p:nvGrpSpPr>
          <p:cNvPr id="17" name="object 17" descr=""/>
          <p:cNvGrpSpPr/>
          <p:nvPr/>
        </p:nvGrpSpPr>
        <p:grpSpPr>
          <a:xfrm>
            <a:off x="390524" y="1990725"/>
            <a:ext cx="7962900" cy="504825"/>
            <a:chOff x="390524" y="1990725"/>
            <a:chExt cx="7962900" cy="504825"/>
          </a:xfrm>
        </p:grpSpPr>
        <p:pic>
          <p:nvPicPr>
            <p:cNvPr id="18" name="object 18" descr=""/>
            <p:cNvPicPr/>
            <p:nvPr/>
          </p:nvPicPr>
          <p:blipFill>
            <a:blip r:embed="rId3" cstate="print"/>
            <a:stretch>
              <a:fillRect/>
            </a:stretch>
          </p:blipFill>
          <p:spPr>
            <a:xfrm>
              <a:off x="390524" y="2343149"/>
              <a:ext cx="152399" cy="152399"/>
            </a:xfrm>
            <a:prstGeom prst="rect">
              <a:avLst/>
            </a:prstGeom>
          </p:spPr>
        </p:pic>
        <p:pic>
          <p:nvPicPr>
            <p:cNvPr id="19" name="object 19" descr=""/>
            <p:cNvPicPr/>
            <p:nvPr/>
          </p:nvPicPr>
          <p:blipFill>
            <a:blip r:embed="rId4" cstate="print"/>
            <a:stretch>
              <a:fillRect/>
            </a:stretch>
          </p:blipFill>
          <p:spPr>
            <a:xfrm>
              <a:off x="8201024" y="1990725"/>
              <a:ext cx="152399" cy="152399"/>
            </a:xfrm>
            <a:prstGeom prst="rect">
              <a:avLst/>
            </a:prstGeom>
          </p:spPr>
        </p:pic>
      </p:grpSp>
      <p:sp>
        <p:nvSpPr>
          <p:cNvPr id="20" name="object 20" descr=""/>
          <p:cNvSpPr txBox="1"/>
          <p:nvPr/>
        </p:nvSpPr>
        <p:spPr>
          <a:xfrm>
            <a:off x="606424" y="2301875"/>
            <a:ext cx="7874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PMingLiU"/>
                <a:cs typeface="PMingLiU"/>
              </a:rPr>
              <a:t>熱顯像點檢</a:t>
            </a:r>
            <a:endParaRPr sz="1200">
              <a:latin typeface="PMingLiU"/>
              <a:cs typeface="PMingLiU"/>
            </a:endParaRPr>
          </a:p>
        </p:txBody>
      </p:sp>
      <p:sp>
        <p:nvSpPr>
          <p:cNvPr id="21" name="object 21" descr=""/>
          <p:cNvSpPr txBox="1"/>
          <p:nvPr/>
        </p:nvSpPr>
        <p:spPr>
          <a:xfrm>
            <a:off x="2330449" y="1949450"/>
            <a:ext cx="1922145"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Arial"/>
                <a:cs typeface="Arial"/>
              </a:rPr>
              <a:t>PPBOX</a:t>
            </a:r>
            <a:r>
              <a:rPr dirty="0" sz="1200" spc="-10">
                <a:solidFill>
                  <a:srgbClr val="414141"/>
                </a:solidFill>
                <a:latin typeface="PMingLiU"/>
                <a:cs typeface="PMingLiU"/>
              </a:rPr>
              <a:t>存放區的熱顯像點檢</a:t>
            </a:r>
            <a:endParaRPr sz="1200">
              <a:latin typeface="PMingLiU"/>
              <a:cs typeface="PMingLiU"/>
            </a:endParaRPr>
          </a:p>
        </p:txBody>
      </p:sp>
      <p:sp>
        <p:nvSpPr>
          <p:cNvPr id="22" name="object 22" descr=""/>
          <p:cNvSpPr txBox="1"/>
          <p:nvPr/>
        </p:nvSpPr>
        <p:spPr>
          <a:xfrm>
            <a:off x="5259387" y="1789429"/>
            <a:ext cx="2531745" cy="482600"/>
          </a:xfrm>
          <a:prstGeom prst="rect">
            <a:avLst/>
          </a:prstGeom>
        </p:spPr>
        <p:txBody>
          <a:bodyPr wrap="square" lIns="0" tIns="12700" rIns="0" bIns="0" rtlCol="0" vert="horz">
            <a:spAutoFit/>
          </a:bodyPr>
          <a:lstStyle/>
          <a:p>
            <a:pPr marL="12700" marR="5080">
              <a:lnSpc>
                <a:spcPct val="125000"/>
              </a:lnSpc>
              <a:spcBef>
                <a:spcPts val="100"/>
              </a:spcBef>
            </a:pPr>
            <a:r>
              <a:rPr dirty="0" sz="1200">
                <a:solidFill>
                  <a:srgbClr val="414141"/>
                </a:solidFill>
                <a:latin typeface="PMingLiU"/>
                <a:cs typeface="PMingLiU"/>
              </a:rPr>
              <a:t>基本熱顯像功能，但缺乏針對</a:t>
            </a:r>
            <a:r>
              <a:rPr dirty="0" sz="1200" spc="-10">
                <a:solidFill>
                  <a:srgbClr val="414141"/>
                </a:solidFill>
                <a:latin typeface="Arial"/>
                <a:cs typeface="Arial"/>
              </a:rPr>
              <a:t>PPBOX</a:t>
            </a:r>
            <a:r>
              <a:rPr dirty="0" sz="1200" spc="-10">
                <a:solidFill>
                  <a:srgbClr val="414141"/>
                </a:solidFill>
                <a:latin typeface="PMingLiU"/>
                <a:cs typeface="PMingLiU"/>
              </a:rPr>
              <a:t>的自動分析</a:t>
            </a:r>
            <a:endParaRPr sz="1200">
              <a:latin typeface="PMingLiU"/>
              <a:cs typeface="PMingLiU"/>
            </a:endParaRPr>
          </a:p>
        </p:txBody>
      </p:sp>
      <p:sp>
        <p:nvSpPr>
          <p:cNvPr id="23" name="object 23" descr=""/>
          <p:cNvSpPr txBox="1"/>
          <p:nvPr/>
        </p:nvSpPr>
        <p:spPr>
          <a:xfrm>
            <a:off x="8378825" y="1949450"/>
            <a:ext cx="23114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缺乏自動識別異常熱點的智能算法</a:t>
            </a:r>
            <a:endParaRPr sz="1200">
              <a:latin typeface="PMingLiU"/>
              <a:cs typeface="PMingLiU"/>
            </a:endParaRPr>
          </a:p>
        </p:txBody>
      </p:sp>
      <p:sp>
        <p:nvSpPr>
          <p:cNvPr id="24" name="object 24" descr=""/>
          <p:cNvSpPr txBox="1"/>
          <p:nvPr/>
        </p:nvSpPr>
        <p:spPr>
          <a:xfrm>
            <a:off x="2330449" y="2484754"/>
            <a:ext cx="2616200" cy="482600"/>
          </a:xfrm>
          <a:prstGeom prst="rect">
            <a:avLst/>
          </a:prstGeom>
        </p:spPr>
        <p:txBody>
          <a:bodyPr wrap="square" lIns="0" tIns="12700" rIns="0" bIns="0" rtlCol="0" vert="horz">
            <a:spAutoFit/>
          </a:bodyPr>
          <a:lstStyle/>
          <a:p>
            <a:pPr marL="12700" marR="5080">
              <a:lnSpc>
                <a:spcPct val="125000"/>
              </a:lnSpc>
              <a:spcBef>
                <a:spcPts val="100"/>
              </a:spcBef>
            </a:pPr>
            <a:r>
              <a:rPr dirty="0" sz="1200">
                <a:solidFill>
                  <a:srgbClr val="414141"/>
                </a:solidFill>
                <a:latin typeface="PMingLiU"/>
                <a:cs typeface="PMingLiU"/>
              </a:rPr>
              <a:t>堆高機充電區（充電站及電池）</a:t>
            </a:r>
            <a:r>
              <a:rPr dirty="0" sz="1200" spc="-20">
                <a:solidFill>
                  <a:srgbClr val="414141"/>
                </a:solidFill>
                <a:latin typeface="PMingLiU"/>
                <a:cs typeface="PMingLiU"/>
              </a:rPr>
              <a:t>的熱顯像點檢</a:t>
            </a:r>
            <a:endParaRPr sz="1200">
              <a:latin typeface="PMingLiU"/>
              <a:cs typeface="PMingLiU"/>
            </a:endParaRPr>
          </a:p>
        </p:txBody>
      </p:sp>
      <p:sp>
        <p:nvSpPr>
          <p:cNvPr id="25" name="object 25" descr=""/>
          <p:cNvSpPr txBox="1"/>
          <p:nvPr/>
        </p:nvSpPr>
        <p:spPr>
          <a:xfrm>
            <a:off x="5259387" y="2484754"/>
            <a:ext cx="2616200" cy="482600"/>
          </a:xfrm>
          <a:prstGeom prst="rect">
            <a:avLst/>
          </a:prstGeom>
        </p:spPr>
        <p:txBody>
          <a:bodyPr wrap="square" lIns="0" tIns="12700" rIns="0" bIns="0" rtlCol="0" vert="horz">
            <a:spAutoFit/>
          </a:bodyPr>
          <a:lstStyle/>
          <a:p>
            <a:pPr marL="12700" marR="5080">
              <a:lnSpc>
                <a:spcPct val="125000"/>
              </a:lnSpc>
              <a:spcBef>
                <a:spcPts val="100"/>
              </a:spcBef>
            </a:pPr>
            <a:r>
              <a:rPr dirty="0" sz="1200" spc="-5">
                <a:solidFill>
                  <a:srgbClr val="414141"/>
                </a:solidFill>
                <a:latin typeface="PMingLiU"/>
                <a:cs typeface="PMingLiU"/>
              </a:rPr>
              <a:t>基礎熱顯像掃描，但無法區分充電站與</a:t>
            </a:r>
            <a:r>
              <a:rPr dirty="0" sz="1200" spc="-15">
                <a:solidFill>
                  <a:srgbClr val="414141"/>
                </a:solidFill>
                <a:latin typeface="PMingLiU"/>
                <a:cs typeface="PMingLiU"/>
              </a:rPr>
              <a:t>電池狀態</a:t>
            </a:r>
            <a:endParaRPr sz="1200">
              <a:latin typeface="PMingLiU"/>
              <a:cs typeface="PMingLiU"/>
            </a:endParaRPr>
          </a:p>
        </p:txBody>
      </p:sp>
      <p:pic>
        <p:nvPicPr>
          <p:cNvPr id="26" name="object 26" descr=""/>
          <p:cNvPicPr/>
          <p:nvPr/>
        </p:nvPicPr>
        <p:blipFill>
          <a:blip r:embed="rId4" cstate="print"/>
          <a:stretch>
            <a:fillRect/>
          </a:stretch>
        </p:blipFill>
        <p:spPr>
          <a:xfrm>
            <a:off x="8201025" y="2686049"/>
            <a:ext cx="152399" cy="152399"/>
          </a:xfrm>
          <a:prstGeom prst="rect">
            <a:avLst/>
          </a:prstGeom>
        </p:spPr>
      </p:pic>
      <p:sp>
        <p:nvSpPr>
          <p:cNvPr id="27" name="object 27" descr=""/>
          <p:cNvSpPr txBox="1"/>
          <p:nvPr/>
        </p:nvSpPr>
        <p:spPr>
          <a:xfrm>
            <a:off x="8378825" y="2484754"/>
            <a:ext cx="3378200" cy="482600"/>
          </a:xfrm>
          <a:prstGeom prst="rect">
            <a:avLst/>
          </a:prstGeom>
        </p:spPr>
        <p:txBody>
          <a:bodyPr wrap="square" lIns="0" tIns="12700" rIns="0" bIns="0" rtlCol="0" vert="horz">
            <a:spAutoFit/>
          </a:bodyPr>
          <a:lstStyle/>
          <a:p>
            <a:pPr marL="12700" marR="5080">
              <a:lnSpc>
                <a:spcPct val="125000"/>
              </a:lnSpc>
              <a:spcBef>
                <a:spcPts val="100"/>
              </a:spcBef>
            </a:pPr>
            <a:r>
              <a:rPr dirty="0" sz="1200" spc="-5">
                <a:solidFill>
                  <a:srgbClr val="414141"/>
                </a:solidFill>
                <a:latin typeface="PMingLiU"/>
                <a:cs typeface="PMingLiU"/>
              </a:rPr>
              <a:t>無法自動區分不同設備，缺乏電池狀態監測專用算</a:t>
            </a:r>
            <a:r>
              <a:rPr dirty="0" sz="1200" spc="-50">
                <a:solidFill>
                  <a:srgbClr val="414141"/>
                </a:solidFill>
                <a:latin typeface="PMingLiU"/>
                <a:cs typeface="PMingLiU"/>
              </a:rPr>
              <a:t>法</a:t>
            </a:r>
            <a:endParaRPr sz="1200">
              <a:latin typeface="PMingLiU"/>
              <a:cs typeface="PMingLiU"/>
            </a:endParaRPr>
          </a:p>
        </p:txBody>
      </p:sp>
      <p:grpSp>
        <p:nvGrpSpPr>
          <p:cNvPr id="28" name="object 28" descr=""/>
          <p:cNvGrpSpPr/>
          <p:nvPr/>
        </p:nvGrpSpPr>
        <p:grpSpPr>
          <a:xfrm>
            <a:off x="390524" y="3381375"/>
            <a:ext cx="7962900" cy="619125"/>
            <a:chOff x="390524" y="3381375"/>
            <a:chExt cx="7962900" cy="619125"/>
          </a:xfrm>
        </p:grpSpPr>
        <p:pic>
          <p:nvPicPr>
            <p:cNvPr id="29" name="object 29" descr=""/>
            <p:cNvPicPr/>
            <p:nvPr/>
          </p:nvPicPr>
          <p:blipFill>
            <a:blip r:embed="rId5" cstate="print"/>
            <a:stretch>
              <a:fillRect/>
            </a:stretch>
          </p:blipFill>
          <p:spPr>
            <a:xfrm>
              <a:off x="390524" y="3848100"/>
              <a:ext cx="152399" cy="152399"/>
            </a:xfrm>
            <a:prstGeom prst="rect">
              <a:avLst/>
            </a:prstGeom>
          </p:spPr>
        </p:pic>
        <p:pic>
          <p:nvPicPr>
            <p:cNvPr id="30" name="object 30" descr=""/>
            <p:cNvPicPr/>
            <p:nvPr/>
          </p:nvPicPr>
          <p:blipFill>
            <a:blip r:embed="rId4" cstate="print"/>
            <a:stretch>
              <a:fillRect/>
            </a:stretch>
          </p:blipFill>
          <p:spPr>
            <a:xfrm>
              <a:off x="8201024" y="3381375"/>
              <a:ext cx="152399" cy="152399"/>
            </a:xfrm>
            <a:prstGeom prst="rect">
              <a:avLst/>
            </a:prstGeom>
          </p:spPr>
        </p:pic>
      </p:grpSp>
      <p:sp>
        <p:nvSpPr>
          <p:cNvPr id="31" name="object 31" descr=""/>
          <p:cNvSpPr txBox="1"/>
          <p:nvPr/>
        </p:nvSpPr>
        <p:spPr>
          <a:xfrm>
            <a:off x="606424" y="3806825"/>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PMingLiU"/>
                <a:cs typeface="PMingLiU"/>
              </a:rPr>
              <a:t>環境安全巡檢</a:t>
            </a:r>
            <a:endParaRPr sz="1200">
              <a:latin typeface="PMingLiU"/>
              <a:cs typeface="PMingLiU"/>
            </a:endParaRPr>
          </a:p>
        </p:txBody>
      </p:sp>
      <p:sp>
        <p:nvSpPr>
          <p:cNvPr id="32" name="object 32" descr=""/>
          <p:cNvSpPr txBox="1"/>
          <p:nvPr/>
        </p:nvSpPr>
        <p:spPr>
          <a:xfrm>
            <a:off x="2330449" y="3340100"/>
            <a:ext cx="12446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PMingLiU"/>
                <a:cs typeface="PMingLiU"/>
              </a:rPr>
              <a:t>走道有無異物判斷</a:t>
            </a:r>
            <a:endParaRPr sz="1200">
              <a:latin typeface="PMingLiU"/>
              <a:cs typeface="PMingLiU"/>
            </a:endParaRPr>
          </a:p>
        </p:txBody>
      </p:sp>
      <p:sp>
        <p:nvSpPr>
          <p:cNvPr id="33" name="object 33" descr=""/>
          <p:cNvSpPr txBox="1"/>
          <p:nvPr/>
        </p:nvSpPr>
        <p:spPr>
          <a:xfrm>
            <a:off x="5259387" y="3180080"/>
            <a:ext cx="2616200" cy="482600"/>
          </a:xfrm>
          <a:prstGeom prst="rect">
            <a:avLst/>
          </a:prstGeom>
        </p:spPr>
        <p:txBody>
          <a:bodyPr wrap="square" lIns="0" tIns="12700" rIns="0" bIns="0" rtlCol="0" vert="horz">
            <a:spAutoFit/>
          </a:bodyPr>
          <a:lstStyle/>
          <a:p>
            <a:pPr marL="12700" marR="5080">
              <a:lnSpc>
                <a:spcPct val="125000"/>
              </a:lnSpc>
              <a:spcBef>
                <a:spcPts val="100"/>
              </a:spcBef>
            </a:pPr>
            <a:r>
              <a:rPr dirty="0" sz="1200" spc="-5">
                <a:solidFill>
                  <a:srgbClr val="414141"/>
                </a:solidFill>
                <a:latin typeface="PMingLiU"/>
                <a:cs typeface="PMingLiU"/>
              </a:rPr>
              <a:t>基礎視覺識別，但無法適應複雜倉庫環</a:t>
            </a:r>
            <a:r>
              <a:rPr dirty="0" sz="1200" spc="-50">
                <a:solidFill>
                  <a:srgbClr val="414141"/>
                </a:solidFill>
                <a:latin typeface="PMingLiU"/>
                <a:cs typeface="PMingLiU"/>
              </a:rPr>
              <a:t>境</a:t>
            </a:r>
            <a:endParaRPr sz="1200">
              <a:latin typeface="PMingLiU"/>
              <a:cs typeface="PMingLiU"/>
            </a:endParaRPr>
          </a:p>
        </p:txBody>
      </p:sp>
      <p:sp>
        <p:nvSpPr>
          <p:cNvPr id="34" name="object 34" descr=""/>
          <p:cNvSpPr txBox="1"/>
          <p:nvPr/>
        </p:nvSpPr>
        <p:spPr>
          <a:xfrm>
            <a:off x="8378825" y="3340100"/>
            <a:ext cx="33782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對倉庫特定環境適應性不足，異物與貨物難以區分</a:t>
            </a:r>
            <a:endParaRPr sz="1200">
              <a:latin typeface="PMingLiU"/>
              <a:cs typeface="PMingLiU"/>
            </a:endParaRPr>
          </a:p>
        </p:txBody>
      </p:sp>
      <p:sp>
        <p:nvSpPr>
          <p:cNvPr id="35" name="object 35" descr=""/>
          <p:cNvSpPr txBox="1"/>
          <p:nvPr/>
        </p:nvSpPr>
        <p:spPr>
          <a:xfrm>
            <a:off x="2330449" y="3921125"/>
            <a:ext cx="1321435"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414141"/>
                </a:solidFill>
                <a:latin typeface="Arial"/>
                <a:cs typeface="Arial"/>
              </a:rPr>
              <a:t>17:00</a:t>
            </a:r>
            <a:r>
              <a:rPr dirty="0" sz="1200" spc="-10">
                <a:solidFill>
                  <a:srgbClr val="414141"/>
                </a:solidFill>
                <a:latin typeface="PMingLiU"/>
                <a:cs typeface="PMingLiU"/>
              </a:rPr>
              <a:t>自主巡檢充電</a:t>
            </a:r>
            <a:endParaRPr sz="1200">
              <a:latin typeface="PMingLiU"/>
              <a:cs typeface="PMingLiU"/>
            </a:endParaRPr>
          </a:p>
        </p:txBody>
      </p:sp>
      <p:sp>
        <p:nvSpPr>
          <p:cNvPr id="36" name="object 36" descr=""/>
          <p:cNvSpPr txBox="1"/>
          <p:nvPr/>
        </p:nvSpPr>
        <p:spPr>
          <a:xfrm>
            <a:off x="5259387" y="3921125"/>
            <a:ext cx="21590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無法定時自主充電，需人工干預</a:t>
            </a:r>
            <a:endParaRPr sz="1200">
              <a:latin typeface="PMingLiU"/>
              <a:cs typeface="PMingLiU"/>
            </a:endParaRPr>
          </a:p>
        </p:txBody>
      </p:sp>
      <p:pic>
        <p:nvPicPr>
          <p:cNvPr id="37" name="object 37" descr=""/>
          <p:cNvPicPr/>
          <p:nvPr/>
        </p:nvPicPr>
        <p:blipFill>
          <a:blip r:embed="rId4" cstate="print"/>
          <a:stretch>
            <a:fillRect/>
          </a:stretch>
        </p:blipFill>
        <p:spPr>
          <a:xfrm>
            <a:off x="8201025" y="3962400"/>
            <a:ext cx="152399" cy="152399"/>
          </a:xfrm>
          <a:prstGeom prst="rect">
            <a:avLst/>
          </a:prstGeom>
        </p:spPr>
      </p:pic>
      <p:sp>
        <p:nvSpPr>
          <p:cNvPr id="38" name="object 38" descr=""/>
          <p:cNvSpPr txBox="1"/>
          <p:nvPr/>
        </p:nvSpPr>
        <p:spPr>
          <a:xfrm>
            <a:off x="8378825" y="3921125"/>
            <a:ext cx="29210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缺乏定時任務管理系統與自動充電協定機制</a:t>
            </a:r>
            <a:endParaRPr sz="1200">
              <a:latin typeface="PMingLiU"/>
              <a:cs typeface="PMingLiU"/>
            </a:endParaRPr>
          </a:p>
        </p:txBody>
      </p:sp>
      <p:sp>
        <p:nvSpPr>
          <p:cNvPr id="39" name="object 39" descr=""/>
          <p:cNvSpPr txBox="1"/>
          <p:nvPr/>
        </p:nvSpPr>
        <p:spPr>
          <a:xfrm>
            <a:off x="2330449" y="4387850"/>
            <a:ext cx="21590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下班時段有無外來人員走動判斷</a:t>
            </a:r>
            <a:endParaRPr sz="1200">
              <a:latin typeface="PMingLiU"/>
              <a:cs typeface="PMingLiU"/>
            </a:endParaRPr>
          </a:p>
        </p:txBody>
      </p:sp>
      <p:sp>
        <p:nvSpPr>
          <p:cNvPr id="40" name="object 40" descr=""/>
          <p:cNvSpPr txBox="1"/>
          <p:nvPr/>
        </p:nvSpPr>
        <p:spPr>
          <a:xfrm>
            <a:off x="5259387" y="4387850"/>
            <a:ext cx="20066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無法識別內部員工與外來人員</a:t>
            </a:r>
            <a:endParaRPr sz="1200">
              <a:latin typeface="PMingLiU"/>
              <a:cs typeface="PMingLiU"/>
            </a:endParaRPr>
          </a:p>
        </p:txBody>
      </p:sp>
      <p:pic>
        <p:nvPicPr>
          <p:cNvPr id="41" name="object 41" descr=""/>
          <p:cNvPicPr/>
          <p:nvPr/>
        </p:nvPicPr>
        <p:blipFill>
          <a:blip r:embed="rId4" cstate="print"/>
          <a:stretch>
            <a:fillRect/>
          </a:stretch>
        </p:blipFill>
        <p:spPr>
          <a:xfrm>
            <a:off x="8201025" y="4429125"/>
            <a:ext cx="152399" cy="152399"/>
          </a:xfrm>
          <a:prstGeom prst="rect">
            <a:avLst/>
          </a:prstGeom>
        </p:spPr>
      </p:pic>
      <p:sp>
        <p:nvSpPr>
          <p:cNvPr id="42" name="object 42" descr=""/>
          <p:cNvSpPr txBox="1"/>
          <p:nvPr/>
        </p:nvSpPr>
        <p:spPr>
          <a:xfrm>
            <a:off x="8378825" y="4387850"/>
            <a:ext cx="26162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缺乏人員行為分析與異常活動識別能力</a:t>
            </a:r>
            <a:endParaRPr sz="1200">
              <a:latin typeface="PMingLiU"/>
              <a:cs typeface="PMingLiU"/>
            </a:endParaRPr>
          </a:p>
        </p:txBody>
      </p:sp>
      <p:grpSp>
        <p:nvGrpSpPr>
          <p:cNvPr id="43" name="object 43" descr=""/>
          <p:cNvGrpSpPr/>
          <p:nvPr/>
        </p:nvGrpSpPr>
        <p:grpSpPr>
          <a:xfrm>
            <a:off x="228599" y="6134099"/>
            <a:ext cx="11734800" cy="495300"/>
            <a:chOff x="228599" y="6134099"/>
            <a:chExt cx="11734800" cy="495300"/>
          </a:xfrm>
        </p:grpSpPr>
        <p:sp>
          <p:nvSpPr>
            <p:cNvPr id="44" name="object 44" descr=""/>
            <p:cNvSpPr/>
            <p:nvPr/>
          </p:nvSpPr>
          <p:spPr>
            <a:xfrm>
              <a:off x="228599" y="6134099"/>
              <a:ext cx="11734800" cy="495300"/>
            </a:xfrm>
            <a:custGeom>
              <a:avLst/>
              <a:gdLst/>
              <a:ahLst/>
              <a:cxnLst/>
              <a:rect l="l" t="t" r="r" b="b"/>
              <a:pathLst>
                <a:path w="11734800" h="495300">
                  <a:moveTo>
                    <a:pt x="11663602" y="495299"/>
                  </a:moveTo>
                  <a:lnTo>
                    <a:pt x="71196" y="495299"/>
                  </a:lnTo>
                  <a:lnTo>
                    <a:pt x="66241" y="494811"/>
                  </a:lnTo>
                  <a:lnTo>
                    <a:pt x="29705" y="479677"/>
                  </a:lnTo>
                  <a:lnTo>
                    <a:pt x="3885" y="443636"/>
                  </a:lnTo>
                  <a:lnTo>
                    <a:pt x="0" y="424102"/>
                  </a:lnTo>
                  <a:lnTo>
                    <a:pt x="0" y="419099"/>
                  </a:lnTo>
                  <a:lnTo>
                    <a:pt x="0" y="71196"/>
                  </a:lnTo>
                  <a:lnTo>
                    <a:pt x="15621" y="29703"/>
                  </a:lnTo>
                  <a:lnTo>
                    <a:pt x="51661" y="3885"/>
                  </a:lnTo>
                  <a:lnTo>
                    <a:pt x="71196" y="0"/>
                  </a:lnTo>
                  <a:lnTo>
                    <a:pt x="11663602" y="0"/>
                  </a:lnTo>
                  <a:lnTo>
                    <a:pt x="11705091" y="15621"/>
                  </a:lnTo>
                  <a:lnTo>
                    <a:pt x="11730912" y="51660"/>
                  </a:lnTo>
                  <a:lnTo>
                    <a:pt x="11734797" y="71196"/>
                  </a:lnTo>
                  <a:lnTo>
                    <a:pt x="11734797" y="424102"/>
                  </a:lnTo>
                  <a:lnTo>
                    <a:pt x="11719175" y="465592"/>
                  </a:lnTo>
                  <a:lnTo>
                    <a:pt x="11683135" y="491413"/>
                  </a:lnTo>
                  <a:lnTo>
                    <a:pt x="11668556" y="494811"/>
                  </a:lnTo>
                  <a:lnTo>
                    <a:pt x="11663602" y="495299"/>
                  </a:lnTo>
                  <a:close/>
                </a:path>
              </a:pathLst>
            </a:custGeom>
            <a:solidFill>
              <a:srgbClr val="FFFFFF"/>
            </a:solidFill>
          </p:spPr>
          <p:txBody>
            <a:bodyPr wrap="square" lIns="0" tIns="0" rIns="0" bIns="0" rtlCol="0"/>
            <a:lstStyle/>
            <a:p/>
          </p:txBody>
        </p:sp>
        <p:pic>
          <p:nvPicPr>
            <p:cNvPr id="45" name="object 45" descr=""/>
            <p:cNvPicPr/>
            <p:nvPr/>
          </p:nvPicPr>
          <p:blipFill>
            <a:blip r:embed="rId6" cstate="print"/>
            <a:stretch>
              <a:fillRect/>
            </a:stretch>
          </p:blipFill>
          <p:spPr>
            <a:xfrm>
              <a:off x="342899" y="6248399"/>
              <a:ext cx="142874" cy="266699"/>
            </a:xfrm>
            <a:prstGeom prst="rect">
              <a:avLst/>
            </a:prstGeom>
          </p:spPr>
        </p:pic>
      </p:grpSp>
      <p:sp>
        <p:nvSpPr>
          <p:cNvPr id="46" name="object 46" descr=""/>
          <p:cNvSpPr txBox="1"/>
          <p:nvPr/>
        </p:nvSpPr>
        <p:spPr>
          <a:xfrm>
            <a:off x="587374" y="6283324"/>
            <a:ext cx="6849109"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總結：現有機器狗無法完全滿足</a:t>
            </a:r>
            <a:r>
              <a:rPr dirty="0" sz="1050">
                <a:solidFill>
                  <a:srgbClr val="414141"/>
                </a:solidFill>
                <a:latin typeface="Arial"/>
                <a:cs typeface="Arial"/>
              </a:rPr>
              <a:t>AUO</a:t>
            </a:r>
            <a:r>
              <a:rPr dirty="0" sz="1050" spc="-5">
                <a:solidFill>
                  <a:srgbClr val="414141"/>
                </a:solidFill>
                <a:latin typeface="PMingLiU"/>
                <a:cs typeface="PMingLiU"/>
              </a:rPr>
              <a:t>庫房的特定需求，主要缺乏智能算法、自動化任務管理、行為分析等高階功能。</a:t>
            </a:r>
            <a:endParaRPr sz="1050">
              <a:latin typeface="PMingLiU"/>
              <a:cs typeface="PMingLiU"/>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5875" rIns="0" bIns="0" rtlCol="0" vert="horz">
            <a:spAutoFit/>
          </a:bodyPr>
          <a:lstStyle/>
          <a:p>
            <a:pPr marL="12700">
              <a:lnSpc>
                <a:spcPct val="100000"/>
              </a:lnSpc>
              <a:spcBef>
                <a:spcPts val="125"/>
              </a:spcBef>
            </a:pPr>
            <a:r>
              <a:rPr dirty="0" spc="-200"/>
              <a:t>熱顯</a:t>
            </a:r>
            <a:r>
              <a:rPr dirty="0" sz="1950" spc="-165"/>
              <a:t>像點</a:t>
            </a:r>
            <a:r>
              <a:rPr dirty="0" spc="-220"/>
              <a:t>檢</a:t>
            </a:r>
            <a:r>
              <a:rPr dirty="0" sz="1950" spc="-165">
                <a:latin typeface="PMingLiU"/>
                <a:cs typeface="PMingLiU"/>
              </a:rPr>
              <a:t>需</a:t>
            </a:r>
            <a:r>
              <a:rPr dirty="0" spc="-200"/>
              <a:t>求缺</a:t>
            </a:r>
            <a:r>
              <a:rPr dirty="0" sz="1800" spc="-50">
                <a:latin typeface="PMingLiU"/>
                <a:cs typeface="PMingLiU"/>
              </a:rPr>
              <a:t>口</a:t>
            </a:r>
            <a:endParaRPr sz="180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sp>
        <p:nvSpPr>
          <p:cNvPr id="4" name="object 4" descr=""/>
          <p:cNvSpPr txBox="1"/>
          <p:nvPr/>
        </p:nvSpPr>
        <p:spPr>
          <a:xfrm>
            <a:off x="215900" y="835025"/>
            <a:ext cx="5293360"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現有</a:t>
            </a:r>
            <a:r>
              <a:rPr dirty="0" sz="1050" spc="-10">
                <a:solidFill>
                  <a:srgbClr val="414141"/>
                </a:solidFill>
                <a:latin typeface="Arial"/>
                <a:cs typeface="Arial"/>
              </a:rPr>
              <a:t>Cyberdog</a:t>
            </a:r>
            <a:r>
              <a:rPr dirty="0" sz="1050">
                <a:solidFill>
                  <a:srgbClr val="414141"/>
                </a:solidFill>
                <a:latin typeface="PMingLiU"/>
                <a:cs typeface="PMingLiU"/>
              </a:rPr>
              <a:t>機器狗在熱顯像點檢方面存在多個缺口，無法完全符合</a:t>
            </a:r>
            <a:r>
              <a:rPr dirty="0" sz="1050">
                <a:solidFill>
                  <a:srgbClr val="414141"/>
                </a:solidFill>
                <a:latin typeface="Arial"/>
                <a:cs typeface="Arial"/>
              </a:rPr>
              <a:t>AUO</a:t>
            </a:r>
            <a:r>
              <a:rPr dirty="0" sz="1050" spc="-10">
                <a:solidFill>
                  <a:srgbClr val="414141"/>
                </a:solidFill>
                <a:latin typeface="PMingLiU"/>
                <a:cs typeface="PMingLiU"/>
              </a:rPr>
              <a:t>庫房的特定需求</a:t>
            </a:r>
            <a:endParaRPr sz="1050">
              <a:latin typeface="PMingLiU"/>
              <a:cs typeface="PMingLiU"/>
            </a:endParaRPr>
          </a:p>
        </p:txBody>
      </p:sp>
      <p:grpSp>
        <p:nvGrpSpPr>
          <p:cNvPr id="5" name="object 5" descr=""/>
          <p:cNvGrpSpPr/>
          <p:nvPr/>
        </p:nvGrpSpPr>
        <p:grpSpPr>
          <a:xfrm>
            <a:off x="228599" y="1181099"/>
            <a:ext cx="5791200" cy="4800600"/>
            <a:chOff x="228599" y="1181099"/>
            <a:chExt cx="5791200" cy="4800600"/>
          </a:xfrm>
        </p:grpSpPr>
        <p:sp>
          <p:nvSpPr>
            <p:cNvPr id="6" name="object 6" descr=""/>
            <p:cNvSpPr/>
            <p:nvPr/>
          </p:nvSpPr>
          <p:spPr>
            <a:xfrm>
              <a:off x="228599" y="1181099"/>
              <a:ext cx="5791200" cy="4800600"/>
            </a:xfrm>
            <a:custGeom>
              <a:avLst/>
              <a:gdLst/>
              <a:ahLst/>
              <a:cxnLst/>
              <a:rect l="l" t="t" r="r" b="b"/>
              <a:pathLst>
                <a:path w="5791200" h="4800600">
                  <a:moveTo>
                    <a:pt x="5791199" y="4800599"/>
                  </a:moveTo>
                  <a:lnTo>
                    <a:pt x="0" y="4800599"/>
                  </a:lnTo>
                  <a:lnTo>
                    <a:pt x="0" y="0"/>
                  </a:lnTo>
                  <a:lnTo>
                    <a:pt x="5791199" y="0"/>
                  </a:lnTo>
                  <a:lnTo>
                    <a:pt x="5791199" y="4800599"/>
                  </a:lnTo>
                  <a:close/>
                </a:path>
              </a:pathLst>
            </a:custGeom>
            <a:solidFill>
              <a:srgbClr val="FFFFFF"/>
            </a:solidFill>
          </p:spPr>
          <p:txBody>
            <a:bodyPr wrap="square" lIns="0" tIns="0" rIns="0" bIns="0" rtlCol="0"/>
            <a:lstStyle/>
            <a:p/>
          </p:txBody>
        </p:sp>
        <p:sp>
          <p:nvSpPr>
            <p:cNvPr id="7" name="object 7" descr=""/>
            <p:cNvSpPr/>
            <p:nvPr/>
          </p:nvSpPr>
          <p:spPr>
            <a:xfrm>
              <a:off x="228599" y="1181099"/>
              <a:ext cx="38100" cy="4800600"/>
            </a:xfrm>
            <a:custGeom>
              <a:avLst/>
              <a:gdLst/>
              <a:ahLst/>
              <a:cxnLst/>
              <a:rect l="l" t="t" r="r" b="b"/>
              <a:pathLst>
                <a:path w="38100" h="4800600">
                  <a:moveTo>
                    <a:pt x="38099" y="4800599"/>
                  </a:moveTo>
                  <a:lnTo>
                    <a:pt x="0" y="4800599"/>
                  </a:lnTo>
                  <a:lnTo>
                    <a:pt x="0" y="0"/>
                  </a:lnTo>
                  <a:lnTo>
                    <a:pt x="38099" y="0"/>
                  </a:lnTo>
                  <a:lnTo>
                    <a:pt x="38099" y="4800599"/>
                  </a:lnTo>
                  <a:close/>
                </a:path>
              </a:pathLst>
            </a:custGeom>
            <a:solidFill>
              <a:srgbClr val="FF9800"/>
            </a:solidFill>
          </p:spPr>
          <p:txBody>
            <a:bodyPr wrap="square" lIns="0" tIns="0" rIns="0" bIns="0" rtlCol="0"/>
            <a:lstStyle/>
            <a:p/>
          </p:txBody>
        </p:sp>
        <p:pic>
          <p:nvPicPr>
            <p:cNvPr id="8" name="object 8" descr=""/>
            <p:cNvPicPr/>
            <p:nvPr/>
          </p:nvPicPr>
          <p:blipFill>
            <a:blip r:embed="rId2" cstate="print"/>
            <a:stretch>
              <a:fillRect/>
            </a:stretch>
          </p:blipFill>
          <p:spPr>
            <a:xfrm>
              <a:off x="419099" y="1381124"/>
              <a:ext cx="190499" cy="171449"/>
            </a:xfrm>
            <a:prstGeom prst="rect">
              <a:avLst/>
            </a:prstGeom>
          </p:spPr>
        </p:pic>
        <p:sp>
          <p:nvSpPr>
            <p:cNvPr id="9" name="object 9" descr=""/>
            <p:cNvSpPr/>
            <p:nvPr/>
          </p:nvSpPr>
          <p:spPr>
            <a:xfrm>
              <a:off x="423862" y="1719262"/>
              <a:ext cx="2600325" cy="1685925"/>
            </a:xfrm>
            <a:custGeom>
              <a:avLst/>
              <a:gdLst/>
              <a:ahLst/>
              <a:cxnLst/>
              <a:rect l="l" t="t" r="r" b="b"/>
              <a:pathLst>
                <a:path w="2600325" h="1685925">
                  <a:moveTo>
                    <a:pt x="2551376" y="1685924"/>
                  </a:moveTo>
                  <a:lnTo>
                    <a:pt x="48947" y="1685924"/>
                  </a:lnTo>
                  <a:lnTo>
                    <a:pt x="45540" y="1685589"/>
                  </a:lnTo>
                  <a:lnTo>
                    <a:pt x="10739" y="1665501"/>
                  </a:lnTo>
                  <a:lnTo>
                    <a:pt x="0" y="1636976"/>
                  </a:lnTo>
                  <a:lnTo>
                    <a:pt x="0" y="1633537"/>
                  </a:lnTo>
                  <a:lnTo>
                    <a:pt x="0" y="48947"/>
                  </a:lnTo>
                  <a:lnTo>
                    <a:pt x="17776" y="12911"/>
                  </a:lnTo>
                  <a:lnTo>
                    <a:pt x="48947" y="0"/>
                  </a:lnTo>
                  <a:lnTo>
                    <a:pt x="2551376" y="0"/>
                  </a:lnTo>
                  <a:lnTo>
                    <a:pt x="2587413" y="17776"/>
                  </a:lnTo>
                  <a:lnTo>
                    <a:pt x="2600324" y="48947"/>
                  </a:lnTo>
                  <a:lnTo>
                    <a:pt x="2600324" y="1636976"/>
                  </a:lnTo>
                  <a:lnTo>
                    <a:pt x="2582548" y="1673012"/>
                  </a:lnTo>
                  <a:lnTo>
                    <a:pt x="2554783" y="1685589"/>
                  </a:lnTo>
                  <a:lnTo>
                    <a:pt x="2551376" y="1685924"/>
                  </a:lnTo>
                  <a:close/>
                </a:path>
              </a:pathLst>
            </a:custGeom>
            <a:solidFill>
              <a:srgbClr val="FFFFFF"/>
            </a:solidFill>
          </p:spPr>
          <p:txBody>
            <a:bodyPr wrap="square" lIns="0" tIns="0" rIns="0" bIns="0" rtlCol="0"/>
            <a:lstStyle/>
            <a:p/>
          </p:txBody>
        </p:sp>
        <p:sp>
          <p:nvSpPr>
            <p:cNvPr id="10" name="object 10" descr=""/>
            <p:cNvSpPr/>
            <p:nvPr/>
          </p:nvSpPr>
          <p:spPr>
            <a:xfrm>
              <a:off x="423862" y="1719262"/>
              <a:ext cx="2600325" cy="1685925"/>
            </a:xfrm>
            <a:custGeom>
              <a:avLst/>
              <a:gdLst/>
              <a:ahLst/>
              <a:cxnLst/>
              <a:rect l="l" t="t" r="r" b="b"/>
              <a:pathLst>
                <a:path w="2600325" h="1685925">
                  <a:moveTo>
                    <a:pt x="0" y="1633537"/>
                  </a:moveTo>
                  <a:lnTo>
                    <a:pt x="0" y="52387"/>
                  </a:lnTo>
                  <a:lnTo>
                    <a:pt x="0" y="48947"/>
                  </a:lnTo>
                  <a:lnTo>
                    <a:pt x="335" y="45540"/>
                  </a:lnTo>
                  <a:lnTo>
                    <a:pt x="1006" y="42166"/>
                  </a:lnTo>
                  <a:lnTo>
                    <a:pt x="1677" y="38793"/>
                  </a:lnTo>
                  <a:lnTo>
                    <a:pt x="2671" y="35517"/>
                  </a:lnTo>
                  <a:lnTo>
                    <a:pt x="3987" y="32339"/>
                  </a:lnTo>
                  <a:lnTo>
                    <a:pt x="5304" y="29161"/>
                  </a:lnTo>
                  <a:lnTo>
                    <a:pt x="6917" y="26142"/>
                  </a:lnTo>
                  <a:lnTo>
                    <a:pt x="8828" y="23282"/>
                  </a:lnTo>
                  <a:lnTo>
                    <a:pt x="10739" y="20422"/>
                  </a:lnTo>
                  <a:lnTo>
                    <a:pt x="12911" y="17776"/>
                  </a:lnTo>
                  <a:lnTo>
                    <a:pt x="32339" y="3987"/>
                  </a:lnTo>
                  <a:lnTo>
                    <a:pt x="35517" y="2671"/>
                  </a:lnTo>
                  <a:lnTo>
                    <a:pt x="38793" y="1677"/>
                  </a:lnTo>
                  <a:lnTo>
                    <a:pt x="42167" y="1006"/>
                  </a:lnTo>
                  <a:lnTo>
                    <a:pt x="45540" y="335"/>
                  </a:lnTo>
                  <a:lnTo>
                    <a:pt x="48947" y="0"/>
                  </a:lnTo>
                  <a:lnTo>
                    <a:pt x="52387" y="0"/>
                  </a:lnTo>
                  <a:lnTo>
                    <a:pt x="2547937" y="0"/>
                  </a:lnTo>
                  <a:lnTo>
                    <a:pt x="2551376" y="0"/>
                  </a:lnTo>
                  <a:lnTo>
                    <a:pt x="2554783" y="335"/>
                  </a:lnTo>
                  <a:lnTo>
                    <a:pt x="2558157" y="1006"/>
                  </a:lnTo>
                  <a:lnTo>
                    <a:pt x="2561531" y="1677"/>
                  </a:lnTo>
                  <a:lnTo>
                    <a:pt x="2564806" y="2671"/>
                  </a:lnTo>
                  <a:lnTo>
                    <a:pt x="2567984" y="3987"/>
                  </a:lnTo>
                  <a:lnTo>
                    <a:pt x="2571162" y="5303"/>
                  </a:lnTo>
                  <a:lnTo>
                    <a:pt x="2584980" y="15343"/>
                  </a:lnTo>
                  <a:lnTo>
                    <a:pt x="2587413" y="17776"/>
                  </a:lnTo>
                  <a:lnTo>
                    <a:pt x="2589584" y="20422"/>
                  </a:lnTo>
                  <a:lnTo>
                    <a:pt x="2591495" y="23282"/>
                  </a:lnTo>
                  <a:lnTo>
                    <a:pt x="2593406" y="26142"/>
                  </a:lnTo>
                  <a:lnTo>
                    <a:pt x="2600324" y="52387"/>
                  </a:lnTo>
                  <a:lnTo>
                    <a:pt x="2600324" y="1633537"/>
                  </a:lnTo>
                  <a:lnTo>
                    <a:pt x="2591495" y="1662641"/>
                  </a:lnTo>
                  <a:lnTo>
                    <a:pt x="2589584" y="1665501"/>
                  </a:lnTo>
                  <a:lnTo>
                    <a:pt x="2554783" y="1685589"/>
                  </a:lnTo>
                  <a:lnTo>
                    <a:pt x="2551376" y="1685924"/>
                  </a:lnTo>
                  <a:lnTo>
                    <a:pt x="2547937" y="1685924"/>
                  </a:lnTo>
                  <a:lnTo>
                    <a:pt x="52387" y="1685924"/>
                  </a:lnTo>
                  <a:lnTo>
                    <a:pt x="48947" y="1685924"/>
                  </a:lnTo>
                  <a:lnTo>
                    <a:pt x="45540" y="1685589"/>
                  </a:lnTo>
                  <a:lnTo>
                    <a:pt x="23282" y="1677095"/>
                  </a:lnTo>
                  <a:lnTo>
                    <a:pt x="20422" y="1675184"/>
                  </a:lnTo>
                  <a:lnTo>
                    <a:pt x="335" y="1640383"/>
                  </a:lnTo>
                  <a:lnTo>
                    <a:pt x="0" y="1636976"/>
                  </a:lnTo>
                  <a:lnTo>
                    <a:pt x="0" y="1633537"/>
                  </a:lnTo>
                  <a:close/>
                </a:path>
              </a:pathLst>
            </a:custGeom>
            <a:ln w="9524">
              <a:solidFill>
                <a:srgbClr val="DFDFDF"/>
              </a:solidFill>
            </a:ln>
          </p:spPr>
          <p:txBody>
            <a:bodyPr wrap="square" lIns="0" tIns="0" rIns="0" bIns="0" rtlCol="0"/>
            <a:lstStyle/>
            <a:p/>
          </p:txBody>
        </p:sp>
        <p:pic>
          <p:nvPicPr>
            <p:cNvPr id="11" name="object 11" descr=""/>
            <p:cNvPicPr/>
            <p:nvPr/>
          </p:nvPicPr>
          <p:blipFill>
            <a:blip r:embed="rId3" cstate="print"/>
            <a:stretch>
              <a:fillRect/>
            </a:stretch>
          </p:blipFill>
          <p:spPr>
            <a:xfrm>
              <a:off x="971549" y="1800225"/>
              <a:ext cx="1504949" cy="1523999"/>
            </a:xfrm>
            <a:prstGeom prst="rect">
              <a:avLst/>
            </a:prstGeom>
          </p:spPr>
        </p:pic>
        <p:sp>
          <p:nvSpPr>
            <p:cNvPr id="12" name="object 12" descr=""/>
            <p:cNvSpPr/>
            <p:nvPr/>
          </p:nvSpPr>
          <p:spPr>
            <a:xfrm>
              <a:off x="419099" y="3524249"/>
              <a:ext cx="2609850" cy="838200"/>
            </a:xfrm>
            <a:custGeom>
              <a:avLst/>
              <a:gdLst/>
              <a:ahLst/>
              <a:cxnLst/>
              <a:rect l="l" t="t" r="r" b="b"/>
              <a:pathLst>
                <a:path w="2609850" h="838200">
                  <a:moveTo>
                    <a:pt x="2556452" y="838199"/>
                  </a:moveTo>
                  <a:lnTo>
                    <a:pt x="53397" y="838199"/>
                  </a:lnTo>
                  <a:lnTo>
                    <a:pt x="49680" y="837833"/>
                  </a:lnTo>
                  <a:lnTo>
                    <a:pt x="14085" y="818806"/>
                  </a:lnTo>
                  <a:lnTo>
                    <a:pt x="0" y="784802"/>
                  </a:lnTo>
                  <a:lnTo>
                    <a:pt x="0" y="781049"/>
                  </a:lnTo>
                  <a:lnTo>
                    <a:pt x="0" y="53397"/>
                  </a:lnTo>
                  <a:lnTo>
                    <a:pt x="19392" y="14085"/>
                  </a:lnTo>
                  <a:lnTo>
                    <a:pt x="53397" y="0"/>
                  </a:lnTo>
                  <a:lnTo>
                    <a:pt x="2556452" y="0"/>
                  </a:lnTo>
                  <a:lnTo>
                    <a:pt x="2595764" y="19392"/>
                  </a:lnTo>
                  <a:lnTo>
                    <a:pt x="2609849" y="53397"/>
                  </a:lnTo>
                  <a:lnTo>
                    <a:pt x="2609849" y="784802"/>
                  </a:lnTo>
                  <a:lnTo>
                    <a:pt x="2590457" y="824113"/>
                  </a:lnTo>
                  <a:lnTo>
                    <a:pt x="2560168" y="837833"/>
                  </a:lnTo>
                  <a:lnTo>
                    <a:pt x="2556452" y="838199"/>
                  </a:lnTo>
                  <a:close/>
                </a:path>
              </a:pathLst>
            </a:custGeom>
            <a:solidFill>
              <a:srgbClr val="F2F4F5"/>
            </a:solidFill>
          </p:spPr>
          <p:txBody>
            <a:bodyPr wrap="square" lIns="0" tIns="0" rIns="0" bIns="0" rtlCol="0"/>
            <a:lstStyle/>
            <a:p/>
          </p:txBody>
        </p:sp>
        <p:sp>
          <p:nvSpPr>
            <p:cNvPr id="13" name="object 13" descr=""/>
            <p:cNvSpPr/>
            <p:nvPr/>
          </p:nvSpPr>
          <p:spPr>
            <a:xfrm>
              <a:off x="552437" y="389572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sp>
          <p:nvSpPr>
            <p:cNvPr id="14" name="object 14" descr=""/>
            <p:cNvSpPr/>
            <p:nvPr/>
          </p:nvSpPr>
          <p:spPr>
            <a:xfrm>
              <a:off x="3257549" y="1714499"/>
              <a:ext cx="2609850" cy="838200"/>
            </a:xfrm>
            <a:custGeom>
              <a:avLst/>
              <a:gdLst/>
              <a:ahLst/>
              <a:cxnLst/>
              <a:rect l="l" t="t" r="r" b="b"/>
              <a:pathLst>
                <a:path w="2609850" h="838200">
                  <a:moveTo>
                    <a:pt x="2556451" y="838199"/>
                  </a:moveTo>
                  <a:lnTo>
                    <a:pt x="53397" y="838199"/>
                  </a:lnTo>
                  <a:lnTo>
                    <a:pt x="49680" y="837833"/>
                  </a:lnTo>
                  <a:lnTo>
                    <a:pt x="14084" y="818807"/>
                  </a:lnTo>
                  <a:lnTo>
                    <a:pt x="0" y="784802"/>
                  </a:lnTo>
                  <a:lnTo>
                    <a:pt x="0" y="781049"/>
                  </a:lnTo>
                  <a:lnTo>
                    <a:pt x="0" y="53397"/>
                  </a:lnTo>
                  <a:lnTo>
                    <a:pt x="19392" y="14085"/>
                  </a:lnTo>
                  <a:lnTo>
                    <a:pt x="53397" y="0"/>
                  </a:lnTo>
                  <a:lnTo>
                    <a:pt x="2556451" y="0"/>
                  </a:lnTo>
                  <a:lnTo>
                    <a:pt x="2595764" y="19392"/>
                  </a:lnTo>
                  <a:lnTo>
                    <a:pt x="2609849" y="53397"/>
                  </a:lnTo>
                  <a:lnTo>
                    <a:pt x="2609849" y="784802"/>
                  </a:lnTo>
                  <a:lnTo>
                    <a:pt x="2590456" y="824114"/>
                  </a:lnTo>
                  <a:lnTo>
                    <a:pt x="2560167" y="837833"/>
                  </a:lnTo>
                  <a:lnTo>
                    <a:pt x="2556451" y="838199"/>
                  </a:lnTo>
                  <a:close/>
                </a:path>
              </a:pathLst>
            </a:custGeom>
            <a:solidFill>
              <a:srgbClr val="FEF1F1"/>
            </a:solidFill>
          </p:spPr>
          <p:txBody>
            <a:bodyPr wrap="square" lIns="0" tIns="0" rIns="0" bIns="0" rtlCol="0"/>
            <a:lstStyle/>
            <a:p/>
          </p:txBody>
        </p:sp>
        <p:sp>
          <p:nvSpPr>
            <p:cNvPr id="15" name="object 15" descr=""/>
            <p:cNvSpPr/>
            <p:nvPr/>
          </p:nvSpPr>
          <p:spPr>
            <a:xfrm>
              <a:off x="3257549" y="2666999"/>
              <a:ext cx="2609850" cy="838200"/>
            </a:xfrm>
            <a:custGeom>
              <a:avLst/>
              <a:gdLst/>
              <a:ahLst/>
              <a:cxnLst/>
              <a:rect l="l" t="t" r="r" b="b"/>
              <a:pathLst>
                <a:path w="2609850" h="838200">
                  <a:moveTo>
                    <a:pt x="2556451" y="838199"/>
                  </a:moveTo>
                  <a:lnTo>
                    <a:pt x="53397" y="838199"/>
                  </a:lnTo>
                  <a:lnTo>
                    <a:pt x="49680" y="837833"/>
                  </a:lnTo>
                  <a:lnTo>
                    <a:pt x="14084" y="818807"/>
                  </a:lnTo>
                  <a:lnTo>
                    <a:pt x="0" y="784802"/>
                  </a:lnTo>
                  <a:lnTo>
                    <a:pt x="0" y="781049"/>
                  </a:lnTo>
                  <a:lnTo>
                    <a:pt x="0" y="53397"/>
                  </a:lnTo>
                  <a:lnTo>
                    <a:pt x="19392" y="14085"/>
                  </a:lnTo>
                  <a:lnTo>
                    <a:pt x="53397" y="0"/>
                  </a:lnTo>
                  <a:lnTo>
                    <a:pt x="2556451" y="0"/>
                  </a:lnTo>
                  <a:lnTo>
                    <a:pt x="2595764" y="19392"/>
                  </a:lnTo>
                  <a:lnTo>
                    <a:pt x="2609849" y="53397"/>
                  </a:lnTo>
                  <a:lnTo>
                    <a:pt x="2609849" y="784802"/>
                  </a:lnTo>
                  <a:lnTo>
                    <a:pt x="2590456" y="824114"/>
                  </a:lnTo>
                  <a:lnTo>
                    <a:pt x="2560167" y="837833"/>
                  </a:lnTo>
                  <a:lnTo>
                    <a:pt x="2556451" y="838199"/>
                  </a:lnTo>
                  <a:close/>
                </a:path>
              </a:pathLst>
            </a:custGeom>
            <a:solidFill>
              <a:srgbClr val="EFF5FF"/>
            </a:solidFill>
          </p:spPr>
          <p:txBody>
            <a:bodyPr wrap="square" lIns="0" tIns="0" rIns="0" bIns="0" rtlCol="0"/>
            <a:lstStyle/>
            <a:p/>
          </p:txBody>
        </p:sp>
        <p:pic>
          <p:nvPicPr>
            <p:cNvPr id="16" name="object 16" descr=""/>
            <p:cNvPicPr/>
            <p:nvPr/>
          </p:nvPicPr>
          <p:blipFill>
            <a:blip r:embed="rId4" cstate="print"/>
            <a:stretch>
              <a:fillRect/>
            </a:stretch>
          </p:blipFill>
          <p:spPr>
            <a:xfrm>
              <a:off x="3333749" y="1819274"/>
              <a:ext cx="133349" cy="133349"/>
            </a:xfrm>
            <a:prstGeom prst="rect">
              <a:avLst/>
            </a:prstGeom>
          </p:spPr>
        </p:pic>
        <p:sp>
          <p:nvSpPr>
            <p:cNvPr id="17" name="object 17" descr=""/>
            <p:cNvSpPr/>
            <p:nvPr/>
          </p:nvSpPr>
          <p:spPr>
            <a:xfrm>
              <a:off x="3390887" y="208597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pic>
          <p:nvPicPr>
            <p:cNvPr id="18" name="object 18" descr=""/>
            <p:cNvPicPr/>
            <p:nvPr/>
          </p:nvPicPr>
          <p:blipFill>
            <a:blip r:embed="rId5" cstate="print"/>
            <a:stretch>
              <a:fillRect/>
            </a:stretch>
          </p:blipFill>
          <p:spPr>
            <a:xfrm>
              <a:off x="3333749" y="2771774"/>
              <a:ext cx="171449" cy="133349"/>
            </a:xfrm>
            <a:prstGeom prst="rect">
              <a:avLst/>
            </a:prstGeom>
          </p:spPr>
        </p:pic>
        <p:sp>
          <p:nvSpPr>
            <p:cNvPr id="19" name="object 19" descr=""/>
            <p:cNvSpPr/>
            <p:nvPr/>
          </p:nvSpPr>
          <p:spPr>
            <a:xfrm>
              <a:off x="3390887" y="303847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grpSp>
      <p:sp>
        <p:nvSpPr>
          <p:cNvPr id="20" name="object 20" descr=""/>
          <p:cNvSpPr txBox="1"/>
          <p:nvPr/>
        </p:nvSpPr>
        <p:spPr>
          <a:xfrm>
            <a:off x="266699" y="1319088"/>
            <a:ext cx="5753100" cy="2964815"/>
          </a:xfrm>
          <a:prstGeom prst="rect">
            <a:avLst/>
          </a:prstGeom>
        </p:spPr>
        <p:txBody>
          <a:bodyPr wrap="square" lIns="0" tIns="13970" rIns="0" bIns="0" rtlCol="0" vert="horz">
            <a:spAutoFit/>
          </a:bodyPr>
          <a:lstStyle/>
          <a:p>
            <a:pPr marL="418465">
              <a:lnSpc>
                <a:spcPct val="100000"/>
              </a:lnSpc>
              <a:spcBef>
                <a:spcPts val="110"/>
              </a:spcBef>
            </a:pPr>
            <a:r>
              <a:rPr dirty="0" sz="1350" b="1">
                <a:solidFill>
                  <a:srgbClr val="414141"/>
                </a:solidFill>
                <a:latin typeface="Arial"/>
                <a:cs typeface="Arial"/>
              </a:rPr>
              <a:t>PPBOX</a:t>
            </a:r>
            <a:r>
              <a:rPr dirty="0" sz="1500" spc="-150">
                <a:solidFill>
                  <a:srgbClr val="414141"/>
                </a:solidFill>
                <a:latin typeface="SimSun"/>
                <a:cs typeface="SimSun"/>
              </a:rPr>
              <a:t>存</a:t>
            </a:r>
            <a:r>
              <a:rPr dirty="0" sz="1450" spc="-110">
                <a:solidFill>
                  <a:srgbClr val="414141"/>
                </a:solidFill>
                <a:latin typeface="SimSun"/>
                <a:cs typeface="SimSun"/>
              </a:rPr>
              <a:t>放</a:t>
            </a:r>
            <a:r>
              <a:rPr dirty="0" sz="1450" spc="-110">
                <a:solidFill>
                  <a:srgbClr val="414141"/>
                </a:solidFill>
                <a:latin typeface="PMingLiU"/>
                <a:cs typeface="PMingLiU"/>
              </a:rPr>
              <a:t>區</a:t>
            </a:r>
            <a:r>
              <a:rPr dirty="0" sz="1500" spc="-150">
                <a:solidFill>
                  <a:srgbClr val="414141"/>
                </a:solidFill>
                <a:latin typeface="SimSun"/>
                <a:cs typeface="SimSun"/>
              </a:rPr>
              <a:t>熱顯像</a:t>
            </a:r>
            <a:r>
              <a:rPr dirty="0" sz="1450" spc="-110">
                <a:solidFill>
                  <a:srgbClr val="414141"/>
                </a:solidFill>
                <a:latin typeface="SimSun"/>
                <a:cs typeface="SimSun"/>
              </a:rPr>
              <a:t>點</a:t>
            </a:r>
            <a:r>
              <a:rPr dirty="0" sz="1500" spc="-160">
                <a:solidFill>
                  <a:srgbClr val="414141"/>
                </a:solidFill>
                <a:latin typeface="SimSun"/>
                <a:cs typeface="SimSun"/>
              </a:rPr>
              <a:t>檢缺</a:t>
            </a:r>
            <a:r>
              <a:rPr dirty="0" sz="1450" spc="-50">
                <a:solidFill>
                  <a:srgbClr val="414141"/>
                </a:solidFill>
                <a:latin typeface="PMingLiU"/>
                <a:cs typeface="PMingLiU"/>
              </a:rPr>
              <a:t>口</a:t>
            </a:r>
            <a:endParaRPr sz="1450">
              <a:latin typeface="PMingLiU"/>
              <a:cs typeface="PMingLiU"/>
            </a:endParaRPr>
          </a:p>
          <a:p>
            <a:pPr marL="3237865">
              <a:lnSpc>
                <a:spcPct val="100000"/>
              </a:lnSpc>
              <a:spcBef>
                <a:spcPts val="1775"/>
              </a:spcBef>
            </a:pPr>
            <a:r>
              <a:rPr dirty="0" sz="1100" spc="-55">
                <a:solidFill>
                  <a:srgbClr val="414141"/>
                </a:solidFill>
                <a:latin typeface="PMingLiU"/>
                <a:cs typeface="PMingLiU"/>
              </a:rPr>
              <a:t>现</a:t>
            </a:r>
            <a:r>
              <a:rPr dirty="0" sz="1150" spc="-110">
                <a:solidFill>
                  <a:srgbClr val="414141"/>
                </a:solidFill>
                <a:latin typeface="SimSun"/>
                <a:cs typeface="SimSun"/>
              </a:rPr>
              <a:t>有缺</a:t>
            </a:r>
            <a:r>
              <a:rPr dirty="0" sz="1050" spc="-50">
                <a:solidFill>
                  <a:srgbClr val="414141"/>
                </a:solidFill>
                <a:latin typeface="PMingLiU"/>
                <a:cs typeface="PMingLiU"/>
              </a:rPr>
              <a:t>口</a:t>
            </a:r>
            <a:endParaRPr sz="1050">
              <a:latin typeface="PMingLiU"/>
              <a:cs typeface="PMingLiU"/>
            </a:endParaRPr>
          </a:p>
          <a:p>
            <a:pPr marL="3256915" marR="391795">
              <a:lnSpc>
                <a:spcPct val="111100"/>
              </a:lnSpc>
              <a:spcBef>
                <a:spcPts val="325"/>
              </a:spcBef>
            </a:pPr>
            <a:r>
              <a:rPr dirty="0" sz="900">
                <a:solidFill>
                  <a:srgbClr val="414141"/>
                </a:solidFill>
                <a:latin typeface="Arial"/>
                <a:cs typeface="Arial"/>
              </a:rPr>
              <a:t>Cyberdog</a:t>
            </a:r>
            <a:r>
              <a:rPr dirty="0" sz="900" spc="-5">
                <a:solidFill>
                  <a:srgbClr val="414141"/>
                </a:solidFill>
                <a:latin typeface="PMingLiU"/>
                <a:cs typeface="PMingLiU"/>
              </a:rPr>
              <a:t>機器狗缺乏高精度熱顯像攝像頭無法識別特定溫度閾值</a:t>
            </a:r>
            <a:endParaRPr sz="900">
              <a:latin typeface="PMingLiU"/>
              <a:cs typeface="PMingLiU"/>
            </a:endParaRPr>
          </a:p>
          <a:p>
            <a:pPr marL="3256915">
              <a:lnSpc>
                <a:spcPct val="100000"/>
              </a:lnSpc>
              <a:spcBef>
                <a:spcPts val="120"/>
              </a:spcBef>
            </a:pPr>
            <a:r>
              <a:rPr dirty="0" sz="900" spc="-10">
                <a:solidFill>
                  <a:srgbClr val="414141"/>
                </a:solidFill>
                <a:latin typeface="PMingLiU"/>
                <a:cs typeface="PMingLiU"/>
              </a:rPr>
              <a:t>缺乏自動警示機制</a:t>
            </a:r>
            <a:endParaRPr sz="900">
              <a:latin typeface="PMingLiU"/>
              <a:cs typeface="PMingLiU"/>
            </a:endParaRPr>
          </a:p>
          <a:p>
            <a:pPr>
              <a:lnSpc>
                <a:spcPct val="100000"/>
              </a:lnSpc>
              <a:spcBef>
                <a:spcPts val="940"/>
              </a:spcBef>
            </a:pPr>
            <a:endParaRPr sz="900">
              <a:latin typeface="PMingLiU"/>
              <a:cs typeface="PMingLiU"/>
            </a:endParaRPr>
          </a:p>
          <a:p>
            <a:pPr marL="3275965">
              <a:lnSpc>
                <a:spcPct val="100000"/>
              </a:lnSpc>
            </a:pPr>
            <a:r>
              <a:rPr dirty="0" sz="1150" spc="-110">
                <a:solidFill>
                  <a:srgbClr val="414141"/>
                </a:solidFill>
                <a:latin typeface="SimSun"/>
                <a:cs typeface="SimSun"/>
              </a:rPr>
              <a:t>技術</a:t>
            </a:r>
            <a:r>
              <a:rPr dirty="0" sz="1100" spc="-55">
                <a:solidFill>
                  <a:srgbClr val="414141"/>
                </a:solidFill>
                <a:latin typeface="PMingLiU"/>
                <a:cs typeface="PMingLiU"/>
              </a:rPr>
              <a:t>限</a:t>
            </a:r>
            <a:r>
              <a:rPr dirty="0" sz="1150" spc="-50">
                <a:solidFill>
                  <a:srgbClr val="414141"/>
                </a:solidFill>
                <a:latin typeface="SimSun"/>
                <a:cs typeface="SimSun"/>
              </a:rPr>
              <a:t>制</a:t>
            </a:r>
            <a:endParaRPr sz="1150">
              <a:latin typeface="SimSun"/>
              <a:cs typeface="SimSun"/>
            </a:endParaRPr>
          </a:p>
          <a:p>
            <a:pPr marL="3256915" marR="1116965">
              <a:lnSpc>
                <a:spcPct val="111100"/>
              </a:lnSpc>
              <a:spcBef>
                <a:spcPts val="325"/>
              </a:spcBef>
            </a:pPr>
            <a:r>
              <a:rPr dirty="0" sz="900" spc="-5">
                <a:solidFill>
                  <a:srgbClr val="414141"/>
                </a:solidFill>
                <a:latin typeface="PMingLiU"/>
                <a:cs typeface="PMingLiU"/>
              </a:rPr>
              <a:t>機器狗攝像頭分辨率限制</a:t>
            </a:r>
            <a:r>
              <a:rPr dirty="0" sz="900" spc="500">
                <a:solidFill>
                  <a:srgbClr val="414141"/>
                </a:solidFill>
                <a:latin typeface="PMingLiU"/>
                <a:cs typeface="PMingLiU"/>
              </a:rPr>
              <a:t> </a:t>
            </a:r>
            <a:r>
              <a:rPr dirty="0" sz="900" spc="-5">
                <a:solidFill>
                  <a:srgbClr val="414141"/>
                </a:solidFill>
                <a:latin typeface="PMingLiU"/>
                <a:cs typeface="PMingLiU"/>
              </a:rPr>
              <a:t>熱顯像圖像處理算法不足缺乏與後端系統的集成能力</a:t>
            </a:r>
            <a:endParaRPr sz="900">
              <a:latin typeface="PMingLiU"/>
              <a:cs typeface="PMingLiU"/>
            </a:endParaRPr>
          </a:p>
          <a:p>
            <a:pPr>
              <a:lnSpc>
                <a:spcPct val="100000"/>
              </a:lnSpc>
              <a:spcBef>
                <a:spcPts val="185"/>
              </a:spcBef>
            </a:pPr>
            <a:endParaRPr sz="900">
              <a:latin typeface="PMingLiU"/>
              <a:cs typeface="PMingLiU"/>
            </a:endParaRPr>
          </a:p>
          <a:p>
            <a:pPr marL="228600">
              <a:lnSpc>
                <a:spcPct val="100000"/>
              </a:lnSpc>
            </a:pPr>
            <a:r>
              <a:rPr dirty="0" sz="1150" spc="-110">
                <a:solidFill>
                  <a:srgbClr val="414141"/>
                </a:solidFill>
                <a:latin typeface="PMingLiU"/>
                <a:cs typeface="PMingLiU"/>
              </a:rPr>
              <a:t>需</a:t>
            </a:r>
            <a:r>
              <a:rPr dirty="0" sz="1150" spc="-110">
                <a:solidFill>
                  <a:srgbClr val="414141"/>
                </a:solidFill>
                <a:latin typeface="SimSun"/>
                <a:cs typeface="SimSun"/>
              </a:rPr>
              <a:t>求</a:t>
            </a:r>
            <a:r>
              <a:rPr dirty="0" sz="1100" spc="-55">
                <a:solidFill>
                  <a:srgbClr val="414141"/>
                </a:solidFill>
                <a:latin typeface="PMingLiU"/>
                <a:cs typeface="PMingLiU"/>
              </a:rPr>
              <a:t>細</a:t>
            </a:r>
            <a:r>
              <a:rPr dirty="0" sz="1050" spc="-50">
                <a:solidFill>
                  <a:srgbClr val="414141"/>
                </a:solidFill>
                <a:latin typeface="PMingLiU"/>
                <a:cs typeface="PMingLiU"/>
              </a:rPr>
              <a:t>項</a:t>
            </a:r>
            <a:endParaRPr sz="1050">
              <a:latin typeface="PMingLiU"/>
              <a:cs typeface="PMingLiU"/>
            </a:endParaRPr>
          </a:p>
          <a:p>
            <a:pPr marL="418465" marR="3674745">
              <a:lnSpc>
                <a:spcPct val="111100"/>
              </a:lnSpc>
              <a:spcBef>
                <a:spcPts val="325"/>
              </a:spcBef>
            </a:pPr>
            <a:r>
              <a:rPr dirty="0" sz="900">
                <a:solidFill>
                  <a:srgbClr val="414141"/>
                </a:solidFill>
                <a:latin typeface="Arial"/>
                <a:cs typeface="Arial"/>
              </a:rPr>
              <a:t>PPBOX</a:t>
            </a:r>
            <a:r>
              <a:rPr dirty="0" sz="900" spc="-5">
                <a:solidFill>
                  <a:srgbClr val="414141"/>
                </a:solidFill>
                <a:latin typeface="PMingLiU"/>
                <a:cs typeface="PMingLiU"/>
              </a:rPr>
              <a:t>存放區的熱顯像異常偵測</a:t>
            </a:r>
            <a:r>
              <a:rPr dirty="0" sz="900" spc="-10">
                <a:solidFill>
                  <a:srgbClr val="414141"/>
                </a:solidFill>
                <a:latin typeface="PMingLiU"/>
                <a:cs typeface="PMingLiU"/>
              </a:rPr>
              <a:t>高溫點位自動警示</a:t>
            </a:r>
            <a:endParaRPr sz="900">
              <a:latin typeface="PMingLiU"/>
              <a:cs typeface="PMingLiU"/>
            </a:endParaRPr>
          </a:p>
          <a:p>
            <a:pPr marL="418465">
              <a:lnSpc>
                <a:spcPct val="100000"/>
              </a:lnSpc>
              <a:spcBef>
                <a:spcPts val="120"/>
              </a:spcBef>
            </a:pPr>
            <a:r>
              <a:rPr dirty="0" sz="900" spc="-10">
                <a:solidFill>
                  <a:srgbClr val="414141"/>
                </a:solidFill>
                <a:latin typeface="PMingLiU"/>
                <a:cs typeface="PMingLiU"/>
              </a:rPr>
              <a:t>異常模式識別</a:t>
            </a:r>
            <a:endParaRPr sz="900">
              <a:latin typeface="PMingLiU"/>
              <a:cs typeface="PMingLiU"/>
            </a:endParaRPr>
          </a:p>
        </p:txBody>
      </p:sp>
      <p:grpSp>
        <p:nvGrpSpPr>
          <p:cNvPr id="21" name="object 21" descr=""/>
          <p:cNvGrpSpPr/>
          <p:nvPr/>
        </p:nvGrpSpPr>
        <p:grpSpPr>
          <a:xfrm>
            <a:off x="6172199" y="1181099"/>
            <a:ext cx="5791200" cy="4800600"/>
            <a:chOff x="6172199" y="1181099"/>
            <a:chExt cx="5791200" cy="4800600"/>
          </a:xfrm>
        </p:grpSpPr>
        <p:sp>
          <p:nvSpPr>
            <p:cNvPr id="22" name="object 22" descr=""/>
            <p:cNvSpPr/>
            <p:nvPr/>
          </p:nvSpPr>
          <p:spPr>
            <a:xfrm>
              <a:off x="6172199" y="1181099"/>
              <a:ext cx="5791200" cy="4800600"/>
            </a:xfrm>
            <a:custGeom>
              <a:avLst/>
              <a:gdLst/>
              <a:ahLst/>
              <a:cxnLst/>
              <a:rect l="l" t="t" r="r" b="b"/>
              <a:pathLst>
                <a:path w="5791200" h="4800600">
                  <a:moveTo>
                    <a:pt x="5791199" y="4800599"/>
                  </a:moveTo>
                  <a:lnTo>
                    <a:pt x="0" y="4800599"/>
                  </a:lnTo>
                  <a:lnTo>
                    <a:pt x="0" y="0"/>
                  </a:lnTo>
                  <a:lnTo>
                    <a:pt x="5791199" y="0"/>
                  </a:lnTo>
                  <a:lnTo>
                    <a:pt x="5791199" y="4800599"/>
                  </a:lnTo>
                  <a:close/>
                </a:path>
              </a:pathLst>
            </a:custGeom>
            <a:solidFill>
              <a:srgbClr val="FFFFFF"/>
            </a:solidFill>
          </p:spPr>
          <p:txBody>
            <a:bodyPr wrap="square" lIns="0" tIns="0" rIns="0" bIns="0" rtlCol="0"/>
            <a:lstStyle/>
            <a:p/>
          </p:txBody>
        </p:sp>
        <p:sp>
          <p:nvSpPr>
            <p:cNvPr id="23" name="object 23" descr=""/>
            <p:cNvSpPr/>
            <p:nvPr/>
          </p:nvSpPr>
          <p:spPr>
            <a:xfrm>
              <a:off x="6172199" y="1181099"/>
              <a:ext cx="38100" cy="4800600"/>
            </a:xfrm>
            <a:custGeom>
              <a:avLst/>
              <a:gdLst/>
              <a:ahLst/>
              <a:cxnLst/>
              <a:rect l="l" t="t" r="r" b="b"/>
              <a:pathLst>
                <a:path w="38100" h="4800600">
                  <a:moveTo>
                    <a:pt x="38099" y="4800599"/>
                  </a:moveTo>
                  <a:lnTo>
                    <a:pt x="0" y="4800599"/>
                  </a:lnTo>
                  <a:lnTo>
                    <a:pt x="0" y="0"/>
                  </a:lnTo>
                  <a:lnTo>
                    <a:pt x="38099" y="0"/>
                  </a:lnTo>
                  <a:lnTo>
                    <a:pt x="38099" y="4800599"/>
                  </a:lnTo>
                  <a:close/>
                </a:path>
              </a:pathLst>
            </a:custGeom>
            <a:solidFill>
              <a:srgbClr val="FF9800"/>
            </a:solidFill>
          </p:spPr>
          <p:txBody>
            <a:bodyPr wrap="square" lIns="0" tIns="0" rIns="0" bIns="0" rtlCol="0"/>
            <a:lstStyle/>
            <a:p/>
          </p:txBody>
        </p:sp>
        <p:pic>
          <p:nvPicPr>
            <p:cNvPr id="24" name="object 24" descr=""/>
            <p:cNvPicPr/>
            <p:nvPr/>
          </p:nvPicPr>
          <p:blipFill>
            <a:blip r:embed="rId6" cstate="print"/>
            <a:stretch>
              <a:fillRect/>
            </a:stretch>
          </p:blipFill>
          <p:spPr>
            <a:xfrm>
              <a:off x="6362699" y="1381124"/>
              <a:ext cx="190499" cy="171449"/>
            </a:xfrm>
            <a:prstGeom prst="rect">
              <a:avLst/>
            </a:prstGeom>
          </p:spPr>
        </p:pic>
        <p:sp>
          <p:nvSpPr>
            <p:cNvPr id="25" name="object 25" descr=""/>
            <p:cNvSpPr/>
            <p:nvPr/>
          </p:nvSpPr>
          <p:spPr>
            <a:xfrm>
              <a:off x="6367462" y="1719262"/>
              <a:ext cx="2600325" cy="1685925"/>
            </a:xfrm>
            <a:custGeom>
              <a:avLst/>
              <a:gdLst/>
              <a:ahLst/>
              <a:cxnLst/>
              <a:rect l="l" t="t" r="r" b="b"/>
              <a:pathLst>
                <a:path w="2600325" h="1685925">
                  <a:moveTo>
                    <a:pt x="2551376" y="1685924"/>
                  </a:moveTo>
                  <a:lnTo>
                    <a:pt x="48947" y="1685924"/>
                  </a:lnTo>
                  <a:lnTo>
                    <a:pt x="45540" y="1685589"/>
                  </a:lnTo>
                  <a:lnTo>
                    <a:pt x="10740" y="1665501"/>
                  </a:lnTo>
                  <a:lnTo>
                    <a:pt x="0" y="1636976"/>
                  </a:lnTo>
                  <a:lnTo>
                    <a:pt x="0" y="1633537"/>
                  </a:lnTo>
                  <a:lnTo>
                    <a:pt x="0" y="48947"/>
                  </a:lnTo>
                  <a:lnTo>
                    <a:pt x="17775" y="12911"/>
                  </a:lnTo>
                  <a:lnTo>
                    <a:pt x="48947" y="0"/>
                  </a:lnTo>
                  <a:lnTo>
                    <a:pt x="2551376" y="0"/>
                  </a:lnTo>
                  <a:lnTo>
                    <a:pt x="2587411" y="17776"/>
                  </a:lnTo>
                  <a:lnTo>
                    <a:pt x="2600324" y="48947"/>
                  </a:lnTo>
                  <a:lnTo>
                    <a:pt x="2600324" y="1636976"/>
                  </a:lnTo>
                  <a:lnTo>
                    <a:pt x="2582546" y="1673012"/>
                  </a:lnTo>
                  <a:lnTo>
                    <a:pt x="2554783" y="1685589"/>
                  </a:lnTo>
                  <a:lnTo>
                    <a:pt x="2551376" y="1685924"/>
                  </a:lnTo>
                  <a:close/>
                </a:path>
              </a:pathLst>
            </a:custGeom>
            <a:solidFill>
              <a:srgbClr val="FFFFFF"/>
            </a:solidFill>
          </p:spPr>
          <p:txBody>
            <a:bodyPr wrap="square" lIns="0" tIns="0" rIns="0" bIns="0" rtlCol="0"/>
            <a:lstStyle/>
            <a:p/>
          </p:txBody>
        </p:sp>
        <p:sp>
          <p:nvSpPr>
            <p:cNvPr id="26" name="object 26" descr=""/>
            <p:cNvSpPr/>
            <p:nvPr/>
          </p:nvSpPr>
          <p:spPr>
            <a:xfrm>
              <a:off x="6367462" y="1719262"/>
              <a:ext cx="2600325" cy="1685925"/>
            </a:xfrm>
            <a:custGeom>
              <a:avLst/>
              <a:gdLst/>
              <a:ahLst/>
              <a:cxnLst/>
              <a:rect l="l" t="t" r="r" b="b"/>
              <a:pathLst>
                <a:path w="2600325" h="1685925">
                  <a:moveTo>
                    <a:pt x="0" y="1633537"/>
                  </a:moveTo>
                  <a:lnTo>
                    <a:pt x="0" y="52387"/>
                  </a:lnTo>
                  <a:lnTo>
                    <a:pt x="0" y="48947"/>
                  </a:lnTo>
                  <a:lnTo>
                    <a:pt x="335" y="45540"/>
                  </a:lnTo>
                  <a:lnTo>
                    <a:pt x="1006" y="42166"/>
                  </a:lnTo>
                  <a:lnTo>
                    <a:pt x="1677" y="38793"/>
                  </a:lnTo>
                  <a:lnTo>
                    <a:pt x="2671" y="35517"/>
                  </a:lnTo>
                  <a:lnTo>
                    <a:pt x="3987" y="32339"/>
                  </a:lnTo>
                  <a:lnTo>
                    <a:pt x="5303" y="29161"/>
                  </a:lnTo>
                  <a:lnTo>
                    <a:pt x="23282" y="8828"/>
                  </a:lnTo>
                  <a:lnTo>
                    <a:pt x="26142" y="6917"/>
                  </a:lnTo>
                  <a:lnTo>
                    <a:pt x="29160" y="5303"/>
                  </a:lnTo>
                  <a:lnTo>
                    <a:pt x="32339" y="3987"/>
                  </a:lnTo>
                  <a:lnTo>
                    <a:pt x="35517" y="2671"/>
                  </a:lnTo>
                  <a:lnTo>
                    <a:pt x="38792" y="1677"/>
                  </a:lnTo>
                  <a:lnTo>
                    <a:pt x="42166" y="1006"/>
                  </a:lnTo>
                  <a:lnTo>
                    <a:pt x="45540" y="335"/>
                  </a:lnTo>
                  <a:lnTo>
                    <a:pt x="48947" y="0"/>
                  </a:lnTo>
                  <a:lnTo>
                    <a:pt x="52387" y="0"/>
                  </a:lnTo>
                  <a:lnTo>
                    <a:pt x="2547937" y="0"/>
                  </a:lnTo>
                  <a:lnTo>
                    <a:pt x="2551376" y="0"/>
                  </a:lnTo>
                  <a:lnTo>
                    <a:pt x="2554782" y="335"/>
                  </a:lnTo>
                  <a:lnTo>
                    <a:pt x="2558156" y="1006"/>
                  </a:lnTo>
                  <a:lnTo>
                    <a:pt x="2561530" y="1677"/>
                  </a:lnTo>
                  <a:lnTo>
                    <a:pt x="2564806" y="2671"/>
                  </a:lnTo>
                  <a:lnTo>
                    <a:pt x="2567983" y="3987"/>
                  </a:lnTo>
                  <a:lnTo>
                    <a:pt x="2571161" y="5303"/>
                  </a:lnTo>
                  <a:lnTo>
                    <a:pt x="2591493" y="23282"/>
                  </a:lnTo>
                  <a:lnTo>
                    <a:pt x="2593405" y="26142"/>
                  </a:lnTo>
                  <a:lnTo>
                    <a:pt x="2595019" y="29161"/>
                  </a:lnTo>
                  <a:lnTo>
                    <a:pt x="2596335" y="32339"/>
                  </a:lnTo>
                  <a:lnTo>
                    <a:pt x="2597652" y="35517"/>
                  </a:lnTo>
                  <a:lnTo>
                    <a:pt x="2600324" y="52387"/>
                  </a:lnTo>
                  <a:lnTo>
                    <a:pt x="2600324" y="1633537"/>
                  </a:lnTo>
                  <a:lnTo>
                    <a:pt x="2600324" y="1636976"/>
                  </a:lnTo>
                  <a:lnTo>
                    <a:pt x="2599988" y="1640383"/>
                  </a:lnTo>
                  <a:lnTo>
                    <a:pt x="2599316" y="1643757"/>
                  </a:lnTo>
                  <a:lnTo>
                    <a:pt x="2598645" y="1647130"/>
                  </a:lnTo>
                  <a:lnTo>
                    <a:pt x="2597652" y="1650406"/>
                  </a:lnTo>
                  <a:lnTo>
                    <a:pt x="2596335" y="1653584"/>
                  </a:lnTo>
                  <a:lnTo>
                    <a:pt x="2595019" y="1656762"/>
                  </a:lnTo>
                  <a:lnTo>
                    <a:pt x="2593405" y="1659781"/>
                  </a:lnTo>
                  <a:lnTo>
                    <a:pt x="2591493" y="1662641"/>
                  </a:lnTo>
                  <a:lnTo>
                    <a:pt x="2589582" y="1665501"/>
                  </a:lnTo>
                  <a:lnTo>
                    <a:pt x="2554783" y="1685589"/>
                  </a:lnTo>
                  <a:lnTo>
                    <a:pt x="2551376" y="1685924"/>
                  </a:lnTo>
                  <a:lnTo>
                    <a:pt x="2547937" y="1685924"/>
                  </a:lnTo>
                  <a:lnTo>
                    <a:pt x="52387" y="1685924"/>
                  </a:lnTo>
                  <a:lnTo>
                    <a:pt x="48947" y="1685924"/>
                  </a:lnTo>
                  <a:lnTo>
                    <a:pt x="45540" y="1685589"/>
                  </a:lnTo>
                  <a:lnTo>
                    <a:pt x="10740" y="1665501"/>
                  </a:lnTo>
                  <a:lnTo>
                    <a:pt x="0" y="1636976"/>
                  </a:lnTo>
                  <a:lnTo>
                    <a:pt x="0" y="1633537"/>
                  </a:lnTo>
                  <a:close/>
                </a:path>
              </a:pathLst>
            </a:custGeom>
            <a:ln w="9524">
              <a:solidFill>
                <a:srgbClr val="DFDFDF"/>
              </a:solidFill>
            </a:ln>
          </p:spPr>
          <p:txBody>
            <a:bodyPr wrap="square" lIns="0" tIns="0" rIns="0" bIns="0" rtlCol="0"/>
            <a:lstStyle/>
            <a:p/>
          </p:txBody>
        </p:sp>
        <p:pic>
          <p:nvPicPr>
            <p:cNvPr id="27" name="object 27" descr=""/>
            <p:cNvPicPr/>
            <p:nvPr/>
          </p:nvPicPr>
          <p:blipFill>
            <a:blip r:embed="rId7" cstate="print"/>
            <a:stretch>
              <a:fillRect/>
            </a:stretch>
          </p:blipFill>
          <p:spPr>
            <a:xfrm>
              <a:off x="7096124" y="1800225"/>
              <a:ext cx="1142999" cy="1523999"/>
            </a:xfrm>
            <a:prstGeom prst="rect">
              <a:avLst/>
            </a:prstGeom>
          </p:spPr>
        </p:pic>
        <p:sp>
          <p:nvSpPr>
            <p:cNvPr id="28" name="object 28" descr=""/>
            <p:cNvSpPr/>
            <p:nvPr/>
          </p:nvSpPr>
          <p:spPr>
            <a:xfrm>
              <a:off x="6362699" y="3524249"/>
              <a:ext cx="2609850" cy="838200"/>
            </a:xfrm>
            <a:custGeom>
              <a:avLst/>
              <a:gdLst/>
              <a:ahLst/>
              <a:cxnLst/>
              <a:rect l="l" t="t" r="r" b="b"/>
              <a:pathLst>
                <a:path w="2609850" h="838200">
                  <a:moveTo>
                    <a:pt x="2556452" y="838199"/>
                  </a:moveTo>
                  <a:lnTo>
                    <a:pt x="53397" y="838199"/>
                  </a:lnTo>
                  <a:lnTo>
                    <a:pt x="49680" y="837833"/>
                  </a:lnTo>
                  <a:lnTo>
                    <a:pt x="14084" y="818806"/>
                  </a:lnTo>
                  <a:lnTo>
                    <a:pt x="0" y="784802"/>
                  </a:lnTo>
                  <a:lnTo>
                    <a:pt x="0" y="781049"/>
                  </a:lnTo>
                  <a:lnTo>
                    <a:pt x="0" y="53397"/>
                  </a:lnTo>
                  <a:lnTo>
                    <a:pt x="19391" y="14085"/>
                  </a:lnTo>
                  <a:lnTo>
                    <a:pt x="53397" y="0"/>
                  </a:lnTo>
                  <a:lnTo>
                    <a:pt x="2556452" y="0"/>
                  </a:lnTo>
                  <a:lnTo>
                    <a:pt x="2595763" y="19392"/>
                  </a:lnTo>
                  <a:lnTo>
                    <a:pt x="2609849" y="53397"/>
                  </a:lnTo>
                  <a:lnTo>
                    <a:pt x="2609849" y="784802"/>
                  </a:lnTo>
                  <a:lnTo>
                    <a:pt x="2590457" y="824113"/>
                  </a:lnTo>
                  <a:lnTo>
                    <a:pt x="2560168" y="837833"/>
                  </a:lnTo>
                  <a:lnTo>
                    <a:pt x="2556452" y="838199"/>
                  </a:lnTo>
                  <a:close/>
                </a:path>
              </a:pathLst>
            </a:custGeom>
            <a:solidFill>
              <a:srgbClr val="F2F4F5"/>
            </a:solidFill>
          </p:spPr>
          <p:txBody>
            <a:bodyPr wrap="square" lIns="0" tIns="0" rIns="0" bIns="0" rtlCol="0"/>
            <a:lstStyle/>
            <a:p/>
          </p:txBody>
        </p:sp>
        <p:sp>
          <p:nvSpPr>
            <p:cNvPr id="29" name="object 29" descr=""/>
            <p:cNvSpPr/>
            <p:nvPr/>
          </p:nvSpPr>
          <p:spPr>
            <a:xfrm>
              <a:off x="6496037" y="389572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sp>
          <p:nvSpPr>
            <p:cNvPr id="30" name="object 30" descr=""/>
            <p:cNvSpPr/>
            <p:nvPr/>
          </p:nvSpPr>
          <p:spPr>
            <a:xfrm>
              <a:off x="9201148" y="1714499"/>
              <a:ext cx="2609850" cy="838200"/>
            </a:xfrm>
            <a:custGeom>
              <a:avLst/>
              <a:gdLst/>
              <a:ahLst/>
              <a:cxnLst/>
              <a:rect l="l" t="t" r="r" b="b"/>
              <a:pathLst>
                <a:path w="2609850" h="838200">
                  <a:moveTo>
                    <a:pt x="2556452" y="838199"/>
                  </a:moveTo>
                  <a:lnTo>
                    <a:pt x="53397" y="838199"/>
                  </a:lnTo>
                  <a:lnTo>
                    <a:pt x="49681" y="837833"/>
                  </a:lnTo>
                  <a:lnTo>
                    <a:pt x="14085" y="818807"/>
                  </a:lnTo>
                  <a:lnTo>
                    <a:pt x="0" y="784802"/>
                  </a:lnTo>
                  <a:lnTo>
                    <a:pt x="0" y="781049"/>
                  </a:lnTo>
                  <a:lnTo>
                    <a:pt x="0" y="53397"/>
                  </a:lnTo>
                  <a:lnTo>
                    <a:pt x="19391" y="14085"/>
                  </a:lnTo>
                  <a:lnTo>
                    <a:pt x="53397" y="0"/>
                  </a:lnTo>
                  <a:lnTo>
                    <a:pt x="2556452" y="0"/>
                  </a:lnTo>
                  <a:lnTo>
                    <a:pt x="2595765" y="19392"/>
                  </a:lnTo>
                  <a:lnTo>
                    <a:pt x="2609850" y="53397"/>
                  </a:lnTo>
                  <a:lnTo>
                    <a:pt x="2609850" y="784802"/>
                  </a:lnTo>
                  <a:lnTo>
                    <a:pt x="2590457" y="824114"/>
                  </a:lnTo>
                  <a:lnTo>
                    <a:pt x="2560168" y="837833"/>
                  </a:lnTo>
                  <a:lnTo>
                    <a:pt x="2556452" y="838199"/>
                  </a:lnTo>
                  <a:close/>
                </a:path>
              </a:pathLst>
            </a:custGeom>
            <a:solidFill>
              <a:srgbClr val="FEF1F1"/>
            </a:solidFill>
          </p:spPr>
          <p:txBody>
            <a:bodyPr wrap="square" lIns="0" tIns="0" rIns="0" bIns="0" rtlCol="0"/>
            <a:lstStyle/>
            <a:p/>
          </p:txBody>
        </p:sp>
        <p:sp>
          <p:nvSpPr>
            <p:cNvPr id="31" name="object 31" descr=""/>
            <p:cNvSpPr/>
            <p:nvPr/>
          </p:nvSpPr>
          <p:spPr>
            <a:xfrm>
              <a:off x="9201148" y="2666999"/>
              <a:ext cx="2609850" cy="838200"/>
            </a:xfrm>
            <a:custGeom>
              <a:avLst/>
              <a:gdLst/>
              <a:ahLst/>
              <a:cxnLst/>
              <a:rect l="l" t="t" r="r" b="b"/>
              <a:pathLst>
                <a:path w="2609850" h="838200">
                  <a:moveTo>
                    <a:pt x="2556452" y="838199"/>
                  </a:moveTo>
                  <a:lnTo>
                    <a:pt x="53397" y="838199"/>
                  </a:lnTo>
                  <a:lnTo>
                    <a:pt x="49681" y="837833"/>
                  </a:lnTo>
                  <a:lnTo>
                    <a:pt x="14085" y="818807"/>
                  </a:lnTo>
                  <a:lnTo>
                    <a:pt x="0" y="784802"/>
                  </a:lnTo>
                  <a:lnTo>
                    <a:pt x="0" y="781049"/>
                  </a:lnTo>
                  <a:lnTo>
                    <a:pt x="0" y="53397"/>
                  </a:lnTo>
                  <a:lnTo>
                    <a:pt x="19391" y="14085"/>
                  </a:lnTo>
                  <a:lnTo>
                    <a:pt x="53397" y="0"/>
                  </a:lnTo>
                  <a:lnTo>
                    <a:pt x="2556452" y="0"/>
                  </a:lnTo>
                  <a:lnTo>
                    <a:pt x="2595765" y="19392"/>
                  </a:lnTo>
                  <a:lnTo>
                    <a:pt x="2609850" y="53397"/>
                  </a:lnTo>
                  <a:lnTo>
                    <a:pt x="2609850" y="784802"/>
                  </a:lnTo>
                  <a:lnTo>
                    <a:pt x="2590457" y="824114"/>
                  </a:lnTo>
                  <a:lnTo>
                    <a:pt x="2560168" y="837833"/>
                  </a:lnTo>
                  <a:lnTo>
                    <a:pt x="2556452" y="838199"/>
                  </a:lnTo>
                  <a:close/>
                </a:path>
              </a:pathLst>
            </a:custGeom>
            <a:solidFill>
              <a:srgbClr val="EFF5FF"/>
            </a:solidFill>
          </p:spPr>
          <p:txBody>
            <a:bodyPr wrap="square" lIns="0" tIns="0" rIns="0" bIns="0" rtlCol="0"/>
            <a:lstStyle/>
            <a:p/>
          </p:txBody>
        </p:sp>
        <p:pic>
          <p:nvPicPr>
            <p:cNvPr id="32" name="object 32" descr=""/>
            <p:cNvPicPr/>
            <p:nvPr/>
          </p:nvPicPr>
          <p:blipFill>
            <a:blip r:embed="rId8" cstate="print"/>
            <a:stretch>
              <a:fillRect/>
            </a:stretch>
          </p:blipFill>
          <p:spPr>
            <a:xfrm>
              <a:off x="9277349" y="1819274"/>
              <a:ext cx="133349" cy="133349"/>
            </a:xfrm>
            <a:prstGeom prst="rect">
              <a:avLst/>
            </a:prstGeom>
          </p:spPr>
        </p:pic>
        <p:sp>
          <p:nvSpPr>
            <p:cNvPr id="33" name="object 33" descr=""/>
            <p:cNvSpPr/>
            <p:nvPr/>
          </p:nvSpPr>
          <p:spPr>
            <a:xfrm>
              <a:off x="9334487" y="2085974"/>
              <a:ext cx="38100" cy="342900"/>
            </a:xfrm>
            <a:custGeom>
              <a:avLst/>
              <a:gdLst/>
              <a:ahLst/>
              <a:cxnLst/>
              <a:rect l="l" t="t" r="r" b="b"/>
              <a:pathLst>
                <a:path w="38100" h="342900">
                  <a:moveTo>
                    <a:pt x="38100" y="321335"/>
                  </a:moveTo>
                  <a:lnTo>
                    <a:pt x="21577" y="304800"/>
                  </a:lnTo>
                  <a:lnTo>
                    <a:pt x="16522" y="304800"/>
                  </a:lnTo>
                  <a:lnTo>
                    <a:pt x="0" y="321335"/>
                  </a:lnTo>
                  <a:lnTo>
                    <a:pt x="0" y="326377"/>
                  </a:lnTo>
                  <a:lnTo>
                    <a:pt x="16522" y="342900"/>
                  </a:lnTo>
                  <a:lnTo>
                    <a:pt x="21577" y="342900"/>
                  </a:lnTo>
                  <a:lnTo>
                    <a:pt x="38100" y="326377"/>
                  </a:lnTo>
                  <a:lnTo>
                    <a:pt x="38100" y="323850"/>
                  </a:lnTo>
                  <a:lnTo>
                    <a:pt x="38100" y="321335"/>
                  </a:lnTo>
                  <a:close/>
                </a:path>
                <a:path w="38100" h="342900">
                  <a:moveTo>
                    <a:pt x="38100" y="168935"/>
                  </a:moveTo>
                  <a:lnTo>
                    <a:pt x="21577" y="152400"/>
                  </a:lnTo>
                  <a:lnTo>
                    <a:pt x="16522" y="152400"/>
                  </a:lnTo>
                  <a:lnTo>
                    <a:pt x="0" y="168935"/>
                  </a:lnTo>
                  <a:lnTo>
                    <a:pt x="0" y="173977"/>
                  </a:lnTo>
                  <a:lnTo>
                    <a:pt x="16522" y="190500"/>
                  </a:lnTo>
                  <a:lnTo>
                    <a:pt x="21577" y="190500"/>
                  </a:lnTo>
                  <a:lnTo>
                    <a:pt x="38100" y="173977"/>
                  </a:lnTo>
                  <a:lnTo>
                    <a:pt x="38100" y="171450"/>
                  </a:lnTo>
                  <a:lnTo>
                    <a:pt x="38100" y="168935"/>
                  </a:lnTo>
                  <a:close/>
                </a:path>
                <a:path w="38100" h="342900">
                  <a:moveTo>
                    <a:pt x="38100" y="16535"/>
                  </a:moveTo>
                  <a:lnTo>
                    <a:pt x="21577" y="0"/>
                  </a:lnTo>
                  <a:lnTo>
                    <a:pt x="16522" y="0"/>
                  </a:lnTo>
                  <a:lnTo>
                    <a:pt x="0" y="16535"/>
                  </a:lnTo>
                  <a:lnTo>
                    <a:pt x="0" y="21577"/>
                  </a:lnTo>
                  <a:lnTo>
                    <a:pt x="16522"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pic>
          <p:nvPicPr>
            <p:cNvPr id="34" name="object 34" descr=""/>
            <p:cNvPicPr/>
            <p:nvPr/>
          </p:nvPicPr>
          <p:blipFill>
            <a:blip r:embed="rId9" cstate="print"/>
            <a:stretch>
              <a:fillRect/>
            </a:stretch>
          </p:blipFill>
          <p:spPr>
            <a:xfrm>
              <a:off x="9277349" y="2771774"/>
              <a:ext cx="171449" cy="133349"/>
            </a:xfrm>
            <a:prstGeom prst="rect">
              <a:avLst/>
            </a:prstGeom>
          </p:spPr>
        </p:pic>
        <p:sp>
          <p:nvSpPr>
            <p:cNvPr id="35" name="object 35" descr=""/>
            <p:cNvSpPr/>
            <p:nvPr/>
          </p:nvSpPr>
          <p:spPr>
            <a:xfrm>
              <a:off x="9334487" y="3038474"/>
              <a:ext cx="38100" cy="342900"/>
            </a:xfrm>
            <a:custGeom>
              <a:avLst/>
              <a:gdLst/>
              <a:ahLst/>
              <a:cxnLst/>
              <a:rect l="l" t="t" r="r" b="b"/>
              <a:pathLst>
                <a:path w="38100" h="342900">
                  <a:moveTo>
                    <a:pt x="38100" y="321335"/>
                  </a:moveTo>
                  <a:lnTo>
                    <a:pt x="21577" y="304800"/>
                  </a:lnTo>
                  <a:lnTo>
                    <a:pt x="16522" y="304800"/>
                  </a:lnTo>
                  <a:lnTo>
                    <a:pt x="0" y="321335"/>
                  </a:lnTo>
                  <a:lnTo>
                    <a:pt x="0" y="326377"/>
                  </a:lnTo>
                  <a:lnTo>
                    <a:pt x="16522" y="342900"/>
                  </a:lnTo>
                  <a:lnTo>
                    <a:pt x="21577" y="342900"/>
                  </a:lnTo>
                  <a:lnTo>
                    <a:pt x="38100" y="326377"/>
                  </a:lnTo>
                  <a:lnTo>
                    <a:pt x="38100" y="323850"/>
                  </a:lnTo>
                  <a:lnTo>
                    <a:pt x="38100" y="321335"/>
                  </a:lnTo>
                  <a:close/>
                </a:path>
                <a:path w="38100" h="342900">
                  <a:moveTo>
                    <a:pt x="38100" y="168935"/>
                  </a:moveTo>
                  <a:lnTo>
                    <a:pt x="21577" y="152400"/>
                  </a:lnTo>
                  <a:lnTo>
                    <a:pt x="16522" y="152400"/>
                  </a:lnTo>
                  <a:lnTo>
                    <a:pt x="0" y="168935"/>
                  </a:lnTo>
                  <a:lnTo>
                    <a:pt x="0" y="173977"/>
                  </a:lnTo>
                  <a:lnTo>
                    <a:pt x="16522" y="190500"/>
                  </a:lnTo>
                  <a:lnTo>
                    <a:pt x="21577" y="190500"/>
                  </a:lnTo>
                  <a:lnTo>
                    <a:pt x="38100" y="173977"/>
                  </a:lnTo>
                  <a:lnTo>
                    <a:pt x="38100" y="171450"/>
                  </a:lnTo>
                  <a:lnTo>
                    <a:pt x="38100" y="168935"/>
                  </a:lnTo>
                  <a:close/>
                </a:path>
                <a:path w="38100" h="342900">
                  <a:moveTo>
                    <a:pt x="38100" y="16535"/>
                  </a:moveTo>
                  <a:lnTo>
                    <a:pt x="21577" y="0"/>
                  </a:lnTo>
                  <a:lnTo>
                    <a:pt x="16522" y="0"/>
                  </a:lnTo>
                  <a:lnTo>
                    <a:pt x="0" y="16535"/>
                  </a:lnTo>
                  <a:lnTo>
                    <a:pt x="0" y="21577"/>
                  </a:lnTo>
                  <a:lnTo>
                    <a:pt x="16522"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grpSp>
      <p:sp>
        <p:nvSpPr>
          <p:cNvPr id="36" name="object 36" descr=""/>
          <p:cNvSpPr txBox="1">
            <a:spLocks noGrp="1"/>
          </p:cNvSpPr>
          <p:nvPr>
            <p:ph type="body" idx="1"/>
          </p:nvPr>
        </p:nvSpPr>
        <p:spPr>
          <a:prstGeom prst="rect"/>
        </p:spPr>
        <p:txBody>
          <a:bodyPr wrap="square" lIns="0" tIns="12700" rIns="0" bIns="0" rtlCol="0" vert="horz">
            <a:spAutoFit/>
          </a:bodyPr>
          <a:lstStyle/>
          <a:p>
            <a:pPr marL="419100">
              <a:lnSpc>
                <a:spcPct val="100000"/>
              </a:lnSpc>
              <a:spcBef>
                <a:spcPts val="100"/>
              </a:spcBef>
            </a:pPr>
            <a:r>
              <a:rPr dirty="0" spc="-150"/>
              <a:t>堆</a:t>
            </a:r>
            <a:r>
              <a:rPr dirty="0" sz="1550" spc="-210"/>
              <a:t>高</a:t>
            </a:r>
            <a:r>
              <a:rPr dirty="0" spc="-160"/>
              <a:t>機</a:t>
            </a:r>
            <a:r>
              <a:rPr dirty="0" sz="1550" spc="-210"/>
              <a:t>充</a:t>
            </a:r>
            <a:r>
              <a:rPr dirty="0" sz="1450" spc="-110">
                <a:latin typeface="PMingLiU"/>
                <a:cs typeface="PMingLiU"/>
              </a:rPr>
              <a:t>電區</a:t>
            </a:r>
            <a:r>
              <a:rPr dirty="0" spc="-150"/>
              <a:t>熱顯像</a:t>
            </a:r>
            <a:r>
              <a:rPr dirty="0" sz="1450" spc="-110"/>
              <a:t>點</a:t>
            </a:r>
            <a:r>
              <a:rPr dirty="0" spc="-160"/>
              <a:t>檢缺</a:t>
            </a:r>
            <a:r>
              <a:rPr dirty="0" sz="1450" spc="-50">
                <a:latin typeface="PMingLiU"/>
                <a:cs typeface="PMingLiU"/>
              </a:rPr>
              <a:t>口</a:t>
            </a:r>
            <a:endParaRPr sz="1450">
              <a:latin typeface="PMingLiU"/>
              <a:cs typeface="PMingLiU"/>
            </a:endParaRPr>
          </a:p>
          <a:p>
            <a:pPr marL="3238500">
              <a:lnSpc>
                <a:spcPct val="100000"/>
              </a:lnSpc>
              <a:spcBef>
                <a:spcPts val="1764"/>
              </a:spcBef>
            </a:pPr>
            <a:r>
              <a:rPr dirty="0" sz="1100" spc="-55">
                <a:latin typeface="PMingLiU"/>
                <a:cs typeface="PMingLiU"/>
              </a:rPr>
              <a:t>现</a:t>
            </a:r>
            <a:r>
              <a:rPr dirty="0" sz="1150" spc="-110"/>
              <a:t>有缺</a:t>
            </a:r>
            <a:r>
              <a:rPr dirty="0" sz="1050" spc="-50">
                <a:latin typeface="PMingLiU"/>
                <a:cs typeface="PMingLiU"/>
              </a:rPr>
              <a:t>口</a:t>
            </a:r>
            <a:endParaRPr sz="1050">
              <a:latin typeface="PMingLiU"/>
              <a:cs typeface="PMingLiU"/>
            </a:endParaRPr>
          </a:p>
          <a:p>
            <a:pPr marL="3257550" marR="545465">
              <a:lnSpc>
                <a:spcPct val="111100"/>
              </a:lnSpc>
              <a:spcBef>
                <a:spcPts val="325"/>
              </a:spcBef>
            </a:pPr>
            <a:r>
              <a:rPr dirty="0" sz="900" spc="-5">
                <a:latin typeface="PMingLiU"/>
                <a:cs typeface="PMingLiU"/>
              </a:rPr>
              <a:t>無法針對充電設備進行專門熱顯像掃描缺乏電池溫度曲線分析功能</a:t>
            </a:r>
            <a:endParaRPr sz="900">
              <a:latin typeface="PMingLiU"/>
              <a:cs typeface="PMingLiU"/>
            </a:endParaRPr>
          </a:p>
          <a:p>
            <a:pPr marL="3257550">
              <a:lnSpc>
                <a:spcPct val="100000"/>
              </a:lnSpc>
              <a:spcBef>
                <a:spcPts val="120"/>
              </a:spcBef>
            </a:pPr>
            <a:r>
              <a:rPr dirty="0" sz="900" spc="-5">
                <a:latin typeface="PMingLiU"/>
                <a:cs typeface="PMingLiU"/>
              </a:rPr>
              <a:t>充電時間自動記錄不足</a:t>
            </a:r>
            <a:endParaRPr sz="900">
              <a:latin typeface="PMingLiU"/>
              <a:cs typeface="PMingLiU"/>
            </a:endParaRPr>
          </a:p>
          <a:p>
            <a:pPr>
              <a:lnSpc>
                <a:spcPct val="100000"/>
              </a:lnSpc>
              <a:spcBef>
                <a:spcPts val="935"/>
              </a:spcBef>
            </a:pPr>
            <a:endParaRPr sz="900">
              <a:latin typeface="PMingLiU"/>
              <a:cs typeface="PMingLiU"/>
            </a:endParaRPr>
          </a:p>
          <a:p>
            <a:pPr marL="3276600">
              <a:lnSpc>
                <a:spcPct val="100000"/>
              </a:lnSpc>
              <a:spcBef>
                <a:spcPts val="5"/>
              </a:spcBef>
            </a:pPr>
            <a:r>
              <a:rPr dirty="0" sz="1150" spc="-110"/>
              <a:t>技術</a:t>
            </a:r>
            <a:r>
              <a:rPr dirty="0" sz="1100" spc="-55">
                <a:latin typeface="PMingLiU"/>
                <a:cs typeface="PMingLiU"/>
              </a:rPr>
              <a:t>限</a:t>
            </a:r>
            <a:r>
              <a:rPr dirty="0" sz="1150" spc="-50"/>
              <a:t>制</a:t>
            </a:r>
            <a:endParaRPr sz="1150">
              <a:latin typeface="PMingLiU"/>
              <a:cs typeface="PMingLiU"/>
            </a:endParaRPr>
          </a:p>
          <a:p>
            <a:pPr marL="3257550" marR="1002665">
              <a:lnSpc>
                <a:spcPct val="111100"/>
              </a:lnSpc>
              <a:spcBef>
                <a:spcPts val="325"/>
              </a:spcBef>
            </a:pPr>
            <a:r>
              <a:rPr dirty="0" sz="900" spc="-5">
                <a:latin typeface="PMingLiU"/>
                <a:cs typeface="PMingLiU"/>
              </a:rPr>
              <a:t>機器狗無法長時間駐留監控</a:t>
            </a:r>
            <a:r>
              <a:rPr dirty="0" sz="900" spc="500">
                <a:latin typeface="PMingLiU"/>
                <a:cs typeface="PMingLiU"/>
              </a:rPr>
              <a:t> </a:t>
            </a:r>
            <a:r>
              <a:rPr dirty="0" sz="900" spc="-5">
                <a:latin typeface="PMingLiU"/>
                <a:cs typeface="PMingLiU"/>
              </a:rPr>
              <a:t>缺乏電氣設備專業熱顯像算法數據存儲與分析能力有限</a:t>
            </a:r>
            <a:endParaRPr sz="900">
              <a:latin typeface="PMingLiU"/>
              <a:cs typeface="PMingLiU"/>
            </a:endParaRPr>
          </a:p>
          <a:p>
            <a:pPr>
              <a:lnSpc>
                <a:spcPct val="100000"/>
              </a:lnSpc>
              <a:spcBef>
                <a:spcPts val="185"/>
              </a:spcBef>
            </a:pPr>
            <a:endParaRPr sz="900">
              <a:latin typeface="PMingLiU"/>
              <a:cs typeface="PMingLiU"/>
            </a:endParaRPr>
          </a:p>
          <a:p>
            <a:pPr marL="228600">
              <a:lnSpc>
                <a:spcPct val="100000"/>
              </a:lnSpc>
            </a:pPr>
            <a:r>
              <a:rPr dirty="0" sz="1150" spc="-110">
                <a:latin typeface="PMingLiU"/>
                <a:cs typeface="PMingLiU"/>
              </a:rPr>
              <a:t>需</a:t>
            </a:r>
            <a:r>
              <a:rPr dirty="0" sz="1150" spc="-110"/>
              <a:t>求</a:t>
            </a:r>
            <a:r>
              <a:rPr dirty="0" sz="1100" spc="-55">
                <a:latin typeface="PMingLiU"/>
                <a:cs typeface="PMingLiU"/>
              </a:rPr>
              <a:t>細</a:t>
            </a:r>
            <a:r>
              <a:rPr dirty="0" sz="1050" spc="-50">
                <a:latin typeface="PMingLiU"/>
                <a:cs typeface="PMingLiU"/>
              </a:rPr>
              <a:t>項</a:t>
            </a:r>
            <a:endParaRPr sz="1050">
              <a:latin typeface="PMingLiU"/>
              <a:cs typeface="PMingLiU"/>
            </a:endParaRPr>
          </a:p>
          <a:p>
            <a:pPr marL="419100" marR="3726815">
              <a:lnSpc>
                <a:spcPct val="111100"/>
              </a:lnSpc>
              <a:spcBef>
                <a:spcPts val="325"/>
              </a:spcBef>
            </a:pPr>
            <a:r>
              <a:rPr dirty="0" sz="900" spc="-5">
                <a:latin typeface="PMingLiU"/>
                <a:cs typeface="PMingLiU"/>
              </a:rPr>
              <a:t>充電站及電池的熱顯像異常偵測</a:t>
            </a:r>
            <a:r>
              <a:rPr dirty="0" sz="900" spc="-10">
                <a:latin typeface="PMingLiU"/>
                <a:cs typeface="PMingLiU"/>
              </a:rPr>
              <a:t>充電過程中溫度監控</a:t>
            </a:r>
            <a:endParaRPr sz="900">
              <a:latin typeface="PMingLiU"/>
              <a:cs typeface="PMingLiU"/>
            </a:endParaRPr>
          </a:p>
          <a:p>
            <a:pPr marL="419100">
              <a:lnSpc>
                <a:spcPct val="100000"/>
              </a:lnSpc>
              <a:spcBef>
                <a:spcPts val="120"/>
              </a:spcBef>
            </a:pPr>
            <a:r>
              <a:rPr dirty="0" sz="900" spc="-10">
                <a:latin typeface="PMingLiU"/>
                <a:cs typeface="PMingLiU"/>
              </a:rPr>
              <a:t>電池健康狀態評估</a:t>
            </a:r>
            <a:endParaRPr sz="900">
              <a:latin typeface="PMingLiU"/>
              <a:cs typeface="PMingLiU"/>
            </a:endParaRPr>
          </a:p>
        </p:txBody>
      </p:sp>
      <p:grpSp>
        <p:nvGrpSpPr>
          <p:cNvPr id="37" name="object 37" descr=""/>
          <p:cNvGrpSpPr/>
          <p:nvPr/>
        </p:nvGrpSpPr>
        <p:grpSpPr>
          <a:xfrm>
            <a:off x="228599" y="6134099"/>
            <a:ext cx="11734800" cy="495300"/>
            <a:chOff x="228599" y="6134099"/>
            <a:chExt cx="11734800" cy="495300"/>
          </a:xfrm>
        </p:grpSpPr>
        <p:sp>
          <p:nvSpPr>
            <p:cNvPr id="38" name="object 38" descr=""/>
            <p:cNvSpPr/>
            <p:nvPr/>
          </p:nvSpPr>
          <p:spPr>
            <a:xfrm>
              <a:off x="228599" y="6134099"/>
              <a:ext cx="11734800" cy="495300"/>
            </a:xfrm>
            <a:custGeom>
              <a:avLst/>
              <a:gdLst/>
              <a:ahLst/>
              <a:cxnLst/>
              <a:rect l="l" t="t" r="r" b="b"/>
              <a:pathLst>
                <a:path w="11734800" h="495300">
                  <a:moveTo>
                    <a:pt x="11681401" y="495299"/>
                  </a:moveTo>
                  <a:lnTo>
                    <a:pt x="53397" y="495299"/>
                  </a:lnTo>
                  <a:lnTo>
                    <a:pt x="49680" y="494933"/>
                  </a:lnTo>
                  <a:lnTo>
                    <a:pt x="14085" y="475906"/>
                  </a:lnTo>
                  <a:lnTo>
                    <a:pt x="0" y="441902"/>
                  </a:lnTo>
                  <a:lnTo>
                    <a:pt x="0" y="438149"/>
                  </a:lnTo>
                  <a:lnTo>
                    <a:pt x="0" y="53397"/>
                  </a:lnTo>
                  <a:lnTo>
                    <a:pt x="19392" y="14084"/>
                  </a:lnTo>
                  <a:lnTo>
                    <a:pt x="53397" y="0"/>
                  </a:lnTo>
                  <a:lnTo>
                    <a:pt x="11681401" y="0"/>
                  </a:lnTo>
                  <a:lnTo>
                    <a:pt x="11720711" y="19390"/>
                  </a:lnTo>
                  <a:lnTo>
                    <a:pt x="11734797" y="53397"/>
                  </a:lnTo>
                  <a:lnTo>
                    <a:pt x="11734797" y="441902"/>
                  </a:lnTo>
                  <a:lnTo>
                    <a:pt x="11715403" y="481213"/>
                  </a:lnTo>
                  <a:lnTo>
                    <a:pt x="11685117" y="494933"/>
                  </a:lnTo>
                  <a:lnTo>
                    <a:pt x="11681401" y="495299"/>
                  </a:lnTo>
                  <a:close/>
                </a:path>
              </a:pathLst>
            </a:custGeom>
            <a:solidFill>
              <a:srgbClr val="E4E7EB"/>
            </a:solidFill>
          </p:spPr>
          <p:txBody>
            <a:bodyPr wrap="square" lIns="0" tIns="0" rIns="0" bIns="0" rtlCol="0"/>
            <a:lstStyle/>
            <a:p/>
          </p:txBody>
        </p:sp>
        <p:pic>
          <p:nvPicPr>
            <p:cNvPr id="39" name="object 39" descr=""/>
            <p:cNvPicPr/>
            <p:nvPr/>
          </p:nvPicPr>
          <p:blipFill>
            <a:blip r:embed="rId10" cstate="print"/>
            <a:stretch>
              <a:fillRect/>
            </a:stretch>
          </p:blipFill>
          <p:spPr>
            <a:xfrm>
              <a:off x="342899" y="6248399"/>
              <a:ext cx="142874" cy="266699"/>
            </a:xfrm>
            <a:prstGeom prst="rect">
              <a:avLst/>
            </a:prstGeom>
          </p:spPr>
        </p:pic>
      </p:grpSp>
      <p:sp>
        <p:nvSpPr>
          <p:cNvPr id="40" name="object 40" descr=""/>
          <p:cNvSpPr txBox="1"/>
          <p:nvPr/>
        </p:nvSpPr>
        <p:spPr>
          <a:xfrm>
            <a:off x="587374" y="6283324"/>
            <a:ext cx="7960359"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總結：現有</a:t>
            </a:r>
            <a:r>
              <a:rPr dirty="0" sz="1050" spc="-10">
                <a:solidFill>
                  <a:srgbClr val="414141"/>
                </a:solidFill>
                <a:latin typeface="Arial"/>
                <a:cs typeface="Arial"/>
              </a:rPr>
              <a:t>Cyberdog</a:t>
            </a:r>
            <a:r>
              <a:rPr dirty="0" sz="1050">
                <a:solidFill>
                  <a:srgbClr val="414141"/>
                </a:solidFill>
                <a:latin typeface="PMingLiU"/>
                <a:cs typeface="PMingLiU"/>
              </a:rPr>
              <a:t>機器狗在熱顯像點檢方面存在技術能力與實際需求的顯著差距，需要針對</a:t>
            </a:r>
            <a:r>
              <a:rPr dirty="0" sz="1050">
                <a:solidFill>
                  <a:srgbClr val="414141"/>
                </a:solidFill>
                <a:latin typeface="Arial"/>
                <a:cs typeface="Arial"/>
              </a:rPr>
              <a:t>AUO</a:t>
            </a:r>
            <a:r>
              <a:rPr dirty="0" sz="1050" spc="-5">
                <a:solidFill>
                  <a:srgbClr val="414141"/>
                </a:solidFill>
                <a:latin typeface="PMingLiU"/>
                <a:cs typeface="PMingLiU"/>
              </a:rPr>
              <a:t>庫房特定場景進行功能擴充與優化。</a:t>
            </a:r>
            <a:endParaRPr sz="1050">
              <a:latin typeface="PMingLiU"/>
              <a:cs typeface="PMingLiU"/>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05543"/>
            <a:ext cx="1850389" cy="340995"/>
          </a:xfrm>
          <a:prstGeom prst="rect"/>
        </p:spPr>
        <p:txBody>
          <a:bodyPr wrap="square" lIns="0" tIns="14604" rIns="0" bIns="0" rtlCol="0" vert="horz">
            <a:spAutoFit/>
          </a:bodyPr>
          <a:lstStyle/>
          <a:p>
            <a:pPr marL="12700">
              <a:lnSpc>
                <a:spcPct val="100000"/>
              </a:lnSpc>
              <a:spcBef>
                <a:spcPts val="114"/>
              </a:spcBef>
            </a:pPr>
            <a:r>
              <a:rPr dirty="0" sz="1950" spc="-165">
                <a:latin typeface="PMingLiU"/>
                <a:cs typeface="PMingLiU"/>
              </a:rPr>
              <a:t>環</a:t>
            </a:r>
            <a:r>
              <a:rPr dirty="0" sz="2050" spc="-270">
                <a:latin typeface="PMingLiU"/>
                <a:cs typeface="PMingLiU"/>
              </a:rPr>
              <a:t>境</a:t>
            </a:r>
            <a:r>
              <a:rPr dirty="0" sz="2050" spc="-270"/>
              <a:t>安</a:t>
            </a:r>
            <a:r>
              <a:rPr dirty="0" spc="-200">
                <a:latin typeface="PMingLiU"/>
                <a:cs typeface="PMingLiU"/>
              </a:rPr>
              <a:t>全巡</a:t>
            </a:r>
            <a:r>
              <a:rPr dirty="0" spc="-220"/>
              <a:t>檢</a:t>
            </a:r>
            <a:r>
              <a:rPr dirty="0" sz="1950" spc="-120"/>
              <a:t>挑戰</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304799" y="914399"/>
            <a:ext cx="11582400" cy="571500"/>
            <a:chOff x="304799" y="914399"/>
            <a:chExt cx="11582400" cy="571500"/>
          </a:xfrm>
        </p:grpSpPr>
        <p:sp>
          <p:nvSpPr>
            <p:cNvPr id="5" name="object 5" descr=""/>
            <p:cNvSpPr/>
            <p:nvPr/>
          </p:nvSpPr>
          <p:spPr>
            <a:xfrm>
              <a:off x="304799" y="914399"/>
              <a:ext cx="11582400" cy="571500"/>
            </a:xfrm>
            <a:custGeom>
              <a:avLst/>
              <a:gdLst/>
              <a:ahLst/>
              <a:cxnLst/>
              <a:rect l="l" t="t" r="r" b="b"/>
              <a:pathLst>
                <a:path w="11582400" h="571500">
                  <a:moveTo>
                    <a:pt x="11582399" y="571499"/>
                  </a:moveTo>
                  <a:lnTo>
                    <a:pt x="0" y="571499"/>
                  </a:lnTo>
                  <a:lnTo>
                    <a:pt x="0" y="0"/>
                  </a:lnTo>
                  <a:lnTo>
                    <a:pt x="11582399" y="0"/>
                  </a:lnTo>
                  <a:lnTo>
                    <a:pt x="11582399" y="571499"/>
                  </a:lnTo>
                  <a:close/>
                </a:path>
              </a:pathLst>
            </a:custGeom>
            <a:solidFill>
              <a:srgbClr val="FFFFFF"/>
            </a:solidFill>
          </p:spPr>
          <p:txBody>
            <a:bodyPr wrap="square" lIns="0" tIns="0" rIns="0" bIns="0" rtlCol="0"/>
            <a:lstStyle/>
            <a:p/>
          </p:txBody>
        </p:sp>
        <p:pic>
          <p:nvPicPr>
            <p:cNvPr id="6" name="object 6" descr=""/>
            <p:cNvPicPr/>
            <p:nvPr/>
          </p:nvPicPr>
          <p:blipFill>
            <a:blip r:embed="rId2" cstate="print"/>
            <a:stretch>
              <a:fillRect/>
            </a:stretch>
          </p:blipFill>
          <p:spPr>
            <a:xfrm>
              <a:off x="457199" y="1066799"/>
              <a:ext cx="190499" cy="266699"/>
            </a:xfrm>
            <a:prstGeom prst="rect">
              <a:avLst/>
            </a:prstGeom>
          </p:spPr>
        </p:pic>
      </p:grpSp>
      <p:sp>
        <p:nvSpPr>
          <p:cNvPr id="7" name="object 7" descr=""/>
          <p:cNvSpPr txBox="1"/>
          <p:nvPr/>
        </p:nvSpPr>
        <p:spPr>
          <a:xfrm>
            <a:off x="304799" y="914399"/>
            <a:ext cx="11582400" cy="571500"/>
          </a:xfrm>
          <a:prstGeom prst="rect">
            <a:avLst/>
          </a:prstGeom>
        </p:spPr>
        <p:txBody>
          <a:bodyPr wrap="square" lIns="0" tIns="5715" rIns="0" bIns="0" rtlCol="0" vert="horz">
            <a:spAutoFit/>
          </a:bodyPr>
          <a:lstStyle/>
          <a:p>
            <a:pPr>
              <a:lnSpc>
                <a:spcPct val="100000"/>
              </a:lnSpc>
              <a:spcBef>
                <a:spcPts val="45"/>
              </a:spcBef>
            </a:pPr>
            <a:endParaRPr sz="1200">
              <a:latin typeface="Times New Roman"/>
              <a:cs typeface="Times New Roman"/>
            </a:endParaRPr>
          </a:p>
          <a:p>
            <a:pPr marL="456565">
              <a:lnSpc>
                <a:spcPct val="100000"/>
              </a:lnSpc>
            </a:pPr>
            <a:r>
              <a:rPr dirty="0" sz="1200">
                <a:solidFill>
                  <a:srgbClr val="414141"/>
                </a:solidFill>
                <a:latin typeface="PMingLiU"/>
                <a:cs typeface="PMingLiU"/>
              </a:rPr>
              <a:t>現有</a:t>
            </a:r>
            <a:r>
              <a:rPr dirty="0" sz="1200">
                <a:solidFill>
                  <a:srgbClr val="414141"/>
                </a:solidFill>
                <a:latin typeface="Arial"/>
                <a:cs typeface="Arial"/>
              </a:rPr>
              <a:t>Cyberdog</a:t>
            </a:r>
            <a:r>
              <a:rPr dirty="0" sz="1200">
                <a:solidFill>
                  <a:srgbClr val="414141"/>
                </a:solidFill>
                <a:latin typeface="PMingLiU"/>
                <a:cs typeface="PMingLiU"/>
              </a:rPr>
              <a:t>機器狗在環境安全巡檢項目面臨多項挑戰，導致無法完全滿足</a:t>
            </a:r>
            <a:r>
              <a:rPr dirty="0" sz="1200">
                <a:solidFill>
                  <a:srgbClr val="414141"/>
                </a:solidFill>
                <a:latin typeface="Arial"/>
                <a:cs typeface="Arial"/>
              </a:rPr>
              <a:t>AUO</a:t>
            </a:r>
            <a:r>
              <a:rPr dirty="0" sz="1200" spc="-10">
                <a:solidFill>
                  <a:srgbClr val="414141"/>
                </a:solidFill>
                <a:latin typeface="PMingLiU"/>
                <a:cs typeface="PMingLiU"/>
              </a:rPr>
              <a:t>庫房的安全需求</a:t>
            </a:r>
            <a:endParaRPr sz="1200">
              <a:latin typeface="PMingLiU"/>
              <a:cs typeface="PMingLiU"/>
            </a:endParaRPr>
          </a:p>
        </p:txBody>
      </p:sp>
      <p:grpSp>
        <p:nvGrpSpPr>
          <p:cNvPr id="8" name="object 8" descr=""/>
          <p:cNvGrpSpPr/>
          <p:nvPr/>
        </p:nvGrpSpPr>
        <p:grpSpPr>
          <a:xfrm>
            <a:off x="304799" y="1714499"/>
            <a:ext cx="3705225" cy="4038600"/>
            <a:chOff x="304799" y="1714499"/>
            <a:chExt cx="3705225" cy="4038600"/>
          </a:xfrm>
        </p:grpSpPr>
        <p:sp>
          <p:nvSpPr>
            <p:cNvPr id="9" name="object 9" descr=""/>
            <p:cNvSpPr/>
            <p:nvPr/>
          </p:nvSpPr>
          <p:spPr>
            <a:xfrm>
              <a:off x="304799" y="1714499"/>
              <a:ext cx="3705225" cy="4038600"/>
            </a:xfrm>
            <a:custGeom>
              <a:avLst/>
              <a:gdLst/>
              <a:ahLst/>
              <a:cxnLst/>
              <a:rect l="l" t="t" r="r" b="b"/>
              <a:pathLst>
                <a:path w="3705225" h="4038600">
                  <a:moveTo>
                    <a:pt x="3705224" y="4038599"/>
                  </a:moveTo>
                  <a:lnTo>
                    <a:pt x="0" y="4038599"/>
                  </a:lnTo>
                  <a:lnTo>
                    <a:pt x="0" y="0"/>
                  </a:lnTo>
                  <a:lnTo>
                    <a:pt x="3705224" y="0"/>
                  </a:lnTo>
                  <a:lnTo>
                    <a:pt x="3705224" y="4038599"/>
                  </a:lnTo>
                  <a:close/>
                </a:path>
              </a:pathLst>
            </a:custGeom>
            <a:solidFill>
              <a:srgbClr val="FFFFFF"/>
            </a:solidFill>
          </p:spPr>
          <p:txBody>
            <a:bodyPr wrap="square" lIns="0" tIns="0" rIns="0" bIns="0" rtlCol="0"/>
            <a:lstStyle/>
            <a:p/>
          </p:txBody>
        </p:sp>
        <p:sp>
          <p:nvSpPr>
            <p:cNvPr id="10" name="object 10" descr=""/>
            <p:cNvSpPr/>
            <p:nvPr/>
          </p:nvSpPr>
          <p:spPr>
            <a:xfrm>
              <a:off x="304799"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p:txBody>
        </p:sp>
        <p:sp>
          <p:nvSpPr>
            <p:cNvPr id="11" name="object 11" descr=""/>
            <p:cNvSpPr/>
            <p:nvPr/>
          </p:nvSpPr>
          <p:spPr>
            <a:xfrm>
              <a:off x="533399" y="1904999"/>
              <a:ext cx="571500" cy="571500"/>
            </a:xfrm>
            <a:custGeom>
              <a:avLst/>
              <a:gdLst/>
              <a:ahLst/>
              <a:cxnLst/>
              <a:rect l="l" t="t" r="r" b="b"/>
              <a:pathLst>
                <a:path w="571500" h="571500">
                  <a:moveTo>
                    <a:pt x="285749" y="571499"/>
                  </a:moveTo>
                  <a:lnTo>
                    <a:pt x="243821" y="568407"/>
                  </a:lnTo>
                  <a:lnTo>
                    <a:pt x="202800" y="559195"/>
                  </a:lnTo>
                  <a:lnTo>
                    <a:pt x="163575" y="544065"/>
                  </a:lnTo>
                  <a:lnTo>
                    <a:pt x="126995" y="523342"/>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4"/>
                  </a:lnTo>
                  <a:lnTo>
                    <a:pt x="115528" y="56233"/>
                  </a:lnTo>
                  <a:lnTo>
                    <a:pt x="151048" y="33740"/>
                  </a:lnTo>
                  <a:lnTo>
                    <a:pt x="189483" y="16703"/>
                  </a:lnTo>
                  <a:lnTo>
                    <a:pt x="230002" y="5490"/>
                  </a:lnTo>
                  <a:lnTo>
                    <a:pt x="271728" y="344"/>
                  </a:lnTo>
                  <a:lnTo>
                    <a:pt x="285749" y="0"/>
                  </a:lnTo>
                  <a:lnTo>
                    <a:pt x="299771" y="344"/>
                  </a:lnTo>
                  <a:lnTo>
                    <a:pt x="341496" y="5490"/>
                  </a:lnTo>
                  <a:lnTo>
                    <a:pt x="382016" y="16703"/>
                  </a:lnTo>
                  <a:lnTo>
                    <a:pt x="420451" y="33740"/>
                  </a:lnTo>
                  <a:lnTo>
                    <a:pt x="455971" y="56233"/>
                  </a:lnTo>
                  <a:lnTo>
                    <a:pt x="487805" y="83694"/>
                  </a:lnTo>
                  <a:lnTo>
                    <a:pt x="515266" y="115528"/>
                  </a:lnTo>
                  <a:lnTo>
                    <a:pt x="537758" y="151048"/>
                  </a:lnTo>
                  <a:lnTo>
                    <a:pt x="554796" y="189483"/>
                  </a:lnTo>
                  <a:lnTo>
                    <a:pt x="566009" y="230002"/>
                  </a:lnTo>
                  <a:lnTo>
                    <a:pt x="571156" y="271728"/>
                  </a:lnTo>
                  <a:lnTo>
                    <a:pt x="571499" y="285749"/>
                  </a:lnTo>
                  <a:lnTo>
                    <a:pt x="571156" y="299771"/>
                  </a:lnTo>
                  <a:lnTo>
                    <a:pt x="566009" y="341496"/>
                  </a:lnTo>
                  <a:lnTo>
                    <a:pt x="554796" y="382016"/>
                  </a:lnTo>
                  <a:lnTo>
                    <a:pt x="537758" y="420451"/>
                  </a:lnTo>
                  <a:lnTo>
                    <a:pt x="515266" y="455971"/>
                  </a:lnTo>
                  <a:lnTo>
                    <a:pt x="487805" y="487805"/>
                  </a:lnTo>
                  <a:lnTo>
                    <a:pt x="455971" y="515266"/>
                  </a:lnTo>
                  <a:lnTo>
                    <a:pt x="420451" y="537758"/>
                  </a:lnTo>
                  <a:lnTo>
                    <a:pt x="382016"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12" name="object 12" descr=""/>
            <p:cNvPicPr/>
            <p:nvPr/>
          </p:nvPicPr>
          <p:blipFill>
            <a:blip r:embed="rId3" cstate="print"/>
            <a:stretch>
              <a:fillRect/>
            </a:stretch>
          </p:blipFill>
          <p:spPr>
            <a:xfrm>
              <a:off x="704849" y="2038349"/>
              <a:ext cx="228599" cy="304799"/>
            </a:xfrm>
            <a:prstGeom prst="rect">
              <a:avLst/>
            </a:prstGeom>
          </p:spPr>
        </p:pic>
        <p:sp>
          <p:nvSpPr>
            <p:cNvPr id="13" name="object 13" descr=""/>
            <p:cNvSpPr/>
            <p:nvPr/>
          </p:nvSpPr>
          <p:spPr>
            <a:xfrm>
              <a:off x="533399" y="2895599"/>
              <a:ext cx="3286125" cy="95250"/>
            </a:xfrm>
            <a:custGeom>
              <a:avLst/>
              <a:gdLst/>
              <a:ahLst/>
              <a:cxnLst/>
              <a:rect l="l" t="t" r="r" b="b"/>
              <a:pathLst>
                <a:path w="3286125" h="95250">
                  <a:moveTo>
                    <a:pt x="3244815" y="95249"/>
                  </a:moveTo>
                  <a:lnTo>
                    <a:pt x="41309" y="95249"/>
                  </a:lnTo>
                  <a:lnTo>
                    <a:pt x="35234" y="94041"/>
                  </a:lnTo>
                  <a:lnTo>
                    <a:pt x="1208" y="60014"/>
                  </a:lnTo>
                  <a:lnTo>
                    <a:pt x="0" y="53939"/>
                  </a:lnTo>
                  <a:lnTo>
                    <a:pt x="0" y="47624"/>
                  </a:lnTo>
                  <a:lnTo>
                    <a:pt x="0" y="41309"/>
                  </a:lnTo>
                  <a:lnTo>
                    <a:pt x="23564" y="6041"/>
                  </a:lnTo>
                  <a:lnTo>
                    <a:pt x="41309" y="0"/>
                  </a:lnTo>
                  <a:lnTo>
                    <a:pt x="3244815" y="0"/>
                  </a:lnTo>
                  <a:lnTo>
                    <a:pt x="3280082" y="23564"/>
                  </a:lnTo>
                  <a:lnTo>
                    <a:pt x="3286124" y="41309"/>
                  </a:lnTo>
                  <a:lnTo>
                    <a:pt x="3286124" y="53939"/>
                  </a:lnTo>
                  <a:lnTo>
                    <a:pt x="3262559" y="89207"/>
                  </a:lnTo>
                  <a:lnTo>
                    <a:pt x="3250889" y="94041"/>
                  </a:lnTo>
                  <a:lnTo>
                    <a:pt x="3244815" y="95249"/>
                  </a:lnTo>
                  <a:close/>
                </a:path>
              </a:pathLst>
            </a:custGeom>
            <a:solidFill>
              <a:srgbClr val="DFDFDF"/>
            </a:solidFill>
          </p:spPr>
          <p:txBody>
            <a:bodyPr wrap="square" lIns="0" tIns="0" rIns="0" bIns="0" rtlCol="0"/>
            <a:lstStyle/>
            <a:p/>
          </p:txBody>
        </p:sp>
        <p:sp>
          <p:nvSpPr>
            <p:cNvPr id="14" name="object 14" descr=""/>
            <p:cNvSpPr/>
            <p:nvPr/>
          </p:nvSpPr>
          <p:spPr>
            <a:xfrm>
              <a:off x="533399" y="2895599"/>
              <a:ext cx="1314450" cy="95250"/>
            </a:xfrm>
            <a:custGeom>
              <a:avLst/>
              <a:gdLst/>
              <a:ahLst/>
              <a:cxnLst/>
              <a:rect l="l" t="t" r="r" b="b"/>
              <a:pathLst>
                <a:path w="1314450" h="95250">
                  <a:moveTo>
                    <a:pt x="1273140" y="95249"/>
                  </a:moveTo>
                  <a:lnTo>
                    <a:pt x="41309" y="95249"/>
                  </a:lnTo>
                  <a:lnTo>
                    <a:pt x="35234" y="94041"/>
                  </a:lnTo>
                  <a:lnTo>
                    <a:pt x="1208" y="60014"/>
                  </a:lnTo>
                  <a:lnTo>
                    <a:pt x="0" y="53939"/>
                  </a:lnTo>
                  <a:lnTo>
                    <a:pt x="0" y="47624"/>
                  </a:lnTo>
                  <a:lnTo>
                    <a:pt x="0" y="41309"/>
                  </a:lnTo>
                  <a:lnTo>
                    <a:pt x="23564" y="6041"/>
                  </a:lnTo>
                  <a:lnTo>
                    <a:pt x="41309" y="0"/>
                  </a:lnTo>
                  <a:lnTo>
                    <a:pt x="1273140" y="0"/>
                  </a:lnTo>
                  <a:lnTo>
                    <a:pt x="1308407" y="23564"/>
                  </a:lnTo>
                  <a:lnTo>
                    <a:pt x="1314449" y="41309"/>
                  </a:lnTo>
                  <a:lnTo>
                    <a:pt x="1314449" y="53939"/>
                  </a:lnTo>
                  <a:lnTo>
                    <a:pt x="1290884" y="89207"/>
                  </a:lnTo>
                  <a:lnTo>
                    <a:pt x="1279215" y="94041"/>
                  </a:lnTo>
                  <a:lnTo>
                    <a:pt x="1273140" y="95249"/>
                  </a:lnTo>
                  <a:close/>
                </a:path>
              </a:pathLst>
            </a:custGeom>
            <a:solidFill>
              <a:srgbClr val="FF9800"/>
            </a:solidFill>
          </p:spPr>
          <p:txBody>
            <a:bodyPr wrap="square" lIns="0" tIns="0" rIns="0" bIns="0" rtlCol="0"/>
            <a:lstStyle/>
            <a:p/>
          </p:txBody>
        </p:sp>
        <p:sp>
          <p:nvSpPr>
            <p:cNvPr id="15" name="object 15" descr=""/>
            <p:cNvSpPr/>
            <p:nvPr/>
          </p:nvSpPr>
          <p:spPr>
            <a:xfrm>
              <a:off x="533399" y="5143499"/>
              <a:ext cx="3286125" cy="419100"/>
            </a:xfrm>
            <a:custGeom>
              <a:avLst/>
              <a:gdLst/>
              <a:ahLst/>
              <a:cxnLst/>
              <a:rect l="l" t="t" r="r" b="b"/>
              <a:pathLst>
                <a:path w="3286125" h="419100">
                  <a:moveTo>
                    <a:pt x="3232727" y="419099"/>
                  </a:moveTo>
                  <a:lnTo>
                    <a:pt x="53397" y="419099"/>
                  </a:lnTo>
                  <a:lnTo>
                    <a:pt x="49680" y="418733"/>
                  </a:lnTo>
                  <a:lnTo>
                    <a:pt x="14085" y="399706"/>
                  </a:lnTo>
                  <a:lnTo>
                    <a:pt x="0" y="365702"/>
                  </a:lnTo>
                  <a:lnTo>
                    <a:pt x="0" y="361949"/>
                  </a:lnTo>
                  <a:lnTo>
                    <a:pt x="0" y="53397"/>
                  </a:lnTo>
                  <a:lnTo>
                    <a:pt x="19392" y="14084"/>
                  </a:lnTo>
                  <a:lnTo>
                    <a:pt x="53397" y="0"/>
                  </a:lnTo>
                  <a:lnTo>
                    <a:pt x="3232727" y="0"/>
                  </a:lnTo>
                  <a:lnTo>
                    <a:pt x="3272039" y="19391"/>
                  </a:lnTo>
                  <a:lnTo>
                    <a:pt x="3286124" y="53397"/>
                  </a:lnTo>
                  <a:lnTo>
                    <a:pt x="3286124" y="365702"/>
                  </a:lnTo>
                  <a:lnTo>
                    <a:pt x="3266732" y="405014"/>
                  </a:lnTo>
                  <a:lnTo>
                    <a:pt x="3236443" y="418733"/>
                  </a:lnTo>
                  <a:lnTo>
                    <a:pt x="3232727" y="419099"/>
                  </a:lnTo>
                  <a:close/>
                </a:path>
              </a:pathLst>
            </a:custGeom>
            <a:solidFill>
              <a:srgbClr val="FFECD5"/>
            </a:solidFill>
          </p:spPr>
          <p:txBody>
            <a:bodyPr wrap="square" lIns="0" tIns="0" rIns="0" bIns="0" rtlCol="0"/>
            <a:lstStyle/>
            <a:p/>
          </p:txBody>
        </p:sp>
        <p:pic>
          <p:nvPicPr>
            <p:cNvPr id="16" name="object 16" descr=""/>
            <p:cNvPicPr/>
            <p:nvPr/>
          </p:nvPicPr>
          <p:blipFill>
            <a:blip r:embed="rId4" cstate="print"/>
            <a:stretch>
              <a:fillRect/>
            </a:stretch>
          </p:blipFill>
          <p:spPr>
            <a:xfrm>
              <a:off x="647699" y="5286374"/>
              <a:ext cx="133349" cy="133349"/>
            </a:xfrm>
            <a:prstGeom prst="rect">
              <a:avLst/>
            </a:prstGeom>
          </p:spPr>
        </p:pic>
      </p:grpSp>
      <p:sp>
        <p:nvSpPr>
          <p:cNvPr id="17" name="object 17" descr=""/>
          <p:cNvSpPr txBox="1"/>
          <p:nvPr/>
        </p:nvSpPr>
        <p:spPr>
          <a:xfrm>
            <a:off x="342899" y="2032086"/>
            <a:ext cx="3667125" cy="3408045"/>
          </a:xfrm>
          <a:prstGeom prst="rect">
            <a:avLst/>
          </a:prstGeom>
        </p:spPr>
        <p:txBody>
          <a:bodyPr wrap="square" lIns="0" tIns="15875" rIns="0" bIns="0" rtlCol="0" vert="horz">
            <a:spAutoFit/>
          </a:bodyPr>
          <a:lstStyle/>
          <a:p>
            <a:pPr marL="875665">
              <a:lnSpc>
                <a:spcPct val="100000"/>
              </a:lnSpc>
              <a:spcBef>
                <a:spcPts val="125"/>
              </a:spcBef>
            </a:pPr>
            <a:r>
              <a:rPr dirty="0" sz="1650" spc="-165">
                <a:solidFill>
                  <a:srgbClr val="414141"/>
                </a:solidFill>
                <a:latin typeface="SimSun"/>
                <a:cs typeface="SimSun"/>
              </a:rPr>
              <a:t>走</a:t>
            </a:r>
            <a:r>
              <a:rPr dirty="0" sz="1650" spc="-165">
                <a:solidFill>
                  <a:srgbClr val="414141"/>
                </a:solidFill>
                <a:latin typeface="PMingLiU"/>
                <a:cs typeface="PMingLiU"/>
              </a:rPr>
              <a:t>道</a:t>
            </a:r>
            <a:r>
              <a:rPr dirty="0" sz="1600" spc="-120">
                <a:solidFill>
                  <a:srgbClr val="414141"/>
                </a:solidFill>
                <a:latin typeface="PMingLiU"/>
                <a:cs typeface="PMingLiU"/>
              </a:rPr>
              <a:t>異</a:t>
            </a:r>
            <a:r>
              <a:rPr dirty="0" sz="1650" spc="-130">
                <a:solidFill>
                  <a:srgbClr val="414141"/>
                </a:solidFill>
                <a:latin typeface="SimSun"/>
                <a:cs typeface="SimSun"/>
              </a:rPr>
              <a:t>物判斷</a:t>
            </a:r>
            <a:endParaRPr sz="1650">
              <a:latin typeface="SimSun"/>
              <a:cs typeface="SimSun"/>
            </a:endParaRPr>
          </a:p>
          <a:p>
            <a:pPr>
              <a:lnSpc>
                <a:spcPct val="100000"/>
              </a:lnSpc>
              <a:spcBef>
                <a:spcPts val="745"/>
              </a:spcBef>
            </a:pPr>
            <a:endParaRPr sz="1500">
              <a:latin typeface="SimSun"/>
              <a:cs typeface="SimSun"/>
            </a:endParaRPr>
          </a:p>
          <a:p>
            <a:pPr marL="190500">
              <a:lnSpc>
                <a:spcPct val="100000"/>
              </a:lnSpc>
            </a:pPr>
            <a:r>
              <a:rPr dirty="0" sz="1050" spc="-5">
                <a:solidFill>
                  <a:srgbClr val="414141"/>
                </a:solidFill>
                <a:latin typeface="PMingLiU"/>
                <a:cs typeface="PMingLiU"/>
              </a:rPr>
              <a:t>需求：自動判斷走道上有無異物阻礙物</a:t>
            </a:r>
            <a:endParaRPr sz="1050">
              <a:latin typeface="PMingLiU"/>
              <a:cs typeface="PMingLiU"/>
            </a:endParaRPr>
          </a:p>
          <a:p>
            <a:pPr>
              <a:lnSpc>
                <a:spcPct val="100000"/>
              </a:lnSpc>
              <a:spcBef>
                <a:spcPts val="345"/>
              </a:spcBef>
            </a:pPr>
            <a:endParaRPr sz="1050">
              <a:latin typeface="PMingLiU"/>
              <a:cs typeface="PMingLiU"/>
            </a:endParaRPr>
          </a:p>
          <a:p>
            <a:pPr algn="r" marR="179705">
              <a:lnSpc>
                <a:spcPct val="100000"/>
              </a:lnSpc>
              <a:spcBef>
                <a:spcPts val="5"/>
              </a:spcBef>
            </a:pPr>
            <a:r>
              <a:rPr dirty="0" sz="900" spc="-15">
                <a:solidFill>
                  <a:srgbClr val="6A7280"/>
                </a:solidFill>
                <a:latin typeface="PMingLiU"/>
                <a:cs typeface="PMingLiU"/>
              </a:rPr>
              <a:t>現有能力</a:t>
            </a: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spcBef>
                <a:spcPts val="180"/>
              </a:spcBef>
            </a:pPr>
            <a:endParaRPr sz="900">
              <a:latin typeface="PMingLiU"/>
              <a:cs typeface="PMingLiU"/>
            </a:endParaRPr>
          </a:p>
          <a:p>
            <a:pPr marL="513080">
              <a:lnSpc>
                <a:spcPct val="100000"/>
              </a:lnSpc>
            </a:pPr>
            <a:r>
              <a:rPr dirty="0" sz="1050" spc="-5">
                <a:solidFill>
                  <a:srgbClr val="C2400C"/>
                </a:solidFill>
                <a:latin typeface="PMingLiU"/>
                <a:cs typeface="PMingLiU"/>
              </a:rPr>
              <a:t>現有機器狗無法區分常規物品與異物</a:t>
            </a:r>
            <a:endParaRPr sz="1050">
              <a:latin typeface="PMingLiU"/>
              <a:cs typeface="PMingLiU"/>
            </a:endParaRPr>
          </a:p>
        </p:txBody>
      </p:sp>
      <p:grpSp>
        <p:nvGrpSpPr>
          <p:cNvPr id="18" name="object 18" descr=""/>
          <p:cNvGrpSpPr/>
          <p:nvPr/>
        </p:nvGrpSpPr>
        <p:grpSpPr>
          <a:xfrm>
            <a:off x="4238624" y="1714499"/>
            <a:ext cx="3714750" cy="4038600"/>
            <a:chOff x="4238624" y="1714499"/>
            <a:chExt cx="3714750" cy="4038600"/>
          </a:xfrm>
        </p:grpSpPr>
        <p:sp>
          <p:nvSpPr>
            <p:cNvPr id="19" name="object 19" descr=""/>
            <p:cNvSpPr/>
            <p:nvPr/>
          </p:nvSpPr>
          <p:spPr>
            <a:xfrm>
              <a:off x="4238624" y="1714499"/>
              <a:ext cx="3714750" cy="4038600"/>
            </a:xfrm>
            <a:custGeom>
              <a:avLst/>
              <a:gdLst/>
              <a:ahLst/>
              <a:cxnLst/>
              <a:rect l="l" t="t" r="r" b="b"/>
              <a:pathLst>
                <a:path w="3714750" h="4038600">
                  <a:moveTo>
                    <a:pt x="3714749" y="4038599"/>
                  </a:moveTo>
                  <a:lnTo>
                    <a:pt x="0" y="4038599"/>
                  </a:lnTo>
                  <a:lnTo>
                    <a:pt x="0" y="0"/>
                  </a:lnTo>
                  <a:lnTo>
                    <a:pt x="3714749" y="0"/>
                  </a:lnTo>
                  <a:lnTo>
                    <a:pt x="3714749" y="4038599"/>
                  </a:lnTo>
                  <a:close/>
                </a:path>
              </a:pathLst>
            </a:custGeom>
            <a:solidFill>
              <a:srgbClr val="FFFFFF"/>
            </a:solidFill>
          </p:spPr>
          <p:txBody>
            <a:bodyPr wrap="square" lIns="0" tIns="0" rIns="0" bIns="0" rtlCol="0"/>
            <a:lstStyle/>
            <a:p/>
          </p:txBody>
        </p:sp>
        <p:sp>
          <p:nvSpPr>
            <p:cNvPr id="20" name="object 20" descr=""/>
            <p:cNvSpPr/>
            <p:nvPr/>
          </p:nvSpPr>
          <p:spPr>
            <a:xfrm>
              <a:off x="423862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p:txBody>
        </p:sp>
        <p:sp>
          <p:nvSpPr>
            <p:cNvPr id="21" name="object 21" descr=""/>
            <p:cNvSpPr/>
            <p:nvPr/>
          </p:nvSpPr>
          <p:spPr>
            <a:xfrm>
              <a:off x="4467224" y="1904999"/>
              <a:ext cx="571500" cy="571500"/>
            </a:xfrm>
            <a:custGeom>
              <a:avLst/>
              <a:gdLst/>
              <a:ahLst/>
              <a:cxnLst/>
              <a:rect l="l" t="t" r="r" b="b"/>
              <a:pathLst>
                <a:path w="571500" h="571500">
                  <a:moveTo>
                    <a:pt x="285749" y="571499"/>
                  </a:moveTo>
                  <a:lnTo>
                    <a:pt x="243821" y="568407"/>
                  </a:lnTo>
                  <a:lnTo>
                    <a:pt x="202800" y="559195"/>
                  </a:lnTo>
                  <a:lnTo>
                    <a:pt x="163575" y="544065"/>
                  </a:lnTo>
                  <a:lnTo>
                    <a:pt x="126995" y="523342"/>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2" y="115528"/>
                  </a:lnTo>
                  <a:lnTo>
                    <a:pt x="83693" y="83694"/>
                  </a:lnTo>
                  <a:lnTo>
                    <a:pt x="115528" y="56233"/>
                  </a:lnTo>
                  <a:lnTo>
                    <a:pt x="151047" y="33740"/>
                  </a:lnTo>
                  <a:lnTo>
                    <a:pt x="189483" y="16703"/>
                  </a:lnTo>
                  <a:lnTo>
                    <a:pt x="230002" y="5490"/>
                  </a:lnTo>
                  <a:lnTo>
                    <a:pt x="271728" y="344"/>
                  </a:lnTo>
                  <a:lnTo>
                    <a:pt x="285749" y="0"/>
                  </a:lnTo>
                  <a:lnTo>
                    <a:pt x="299771" y="344"/>
                  </a:lnTo>
                  <a:lnTo>
                    <a:pt x="341496" y="5490"/>
                  </a:lnTo>
                  <a:lnTo>
                    <a:pt x="382015" y="16703"/>
                  </a:lnTo>
                  <a:lnTo>
                    <a:pt x="420451" y="33740"/>
                  </a:lnTo>
                  <a:lnTo>
                    <a:pt x="455970" y="56233"/>
                  </a:lnTo>
                  <a:lnTo>
                    <a:pt x="487805" y="83694"/>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6"/>
                  </a:lnTo>
                  <a:lnTo>
                    <a:pt x="537758"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22" name="object 22" descr=""/>
            <p:cNvPicPr/>
            <p:nvPr/>
          </p:nvPicPr>
          <p:blipFill>
            <a:blip r:embed="rId5" cstate="print"/>
            <a:stretch>
              <a:fillRect/>
            </a:stretch>
          </p:blipFill>
          <p:spPr>
            <a:xfrm>
              <a:off x="4629149" y="2038349"/>
              <a:ext cx="257174" cy="304799"/>
            </a:xfrm>
            <a:prstGeom prst="rect">
              <a:avLst/>
            </a:prstGeom>
          </p:spPr>
        </p:pic>
        <p:sp>
          <p:nvSpPr>
            <p:cNvPr id="23" name="object 23" descr=""/>
            <p:cNvSpPr/>
            <p:nvPr/>
          </p:nvSpPr>
          <p:spPr>
            <a:xfrm>
              <a:off x="4467224" y="2895599"/>
              <a:ext cx="3295650" cy="95250"/>
            </a:xfrm>
            <a:custGeom>
              <a:avLst/>
              <a:gdLst/>
              <a:ahLst/>
              <a:cxnLst/>
              <a:rect l="l" t="t" r="r" b="b"/>
              <a:pathLst>
                <a:path w="3295650" h="95250">
                  <a:moveTo>
                    <a:pt x="3254340" y="95249"/>
                  </a:moveTo>
                  <a:lnTo>
                    <a:pt x="41309" y="95249"/>
                  </a:lnTo>
                  <a:lnTo>
                    <a:pt x="35234" y="94041"/>
                  </a:lnTo>
                  <a:lnTo>
                    <a:pt x="1208" y="60014"/>
                  </a:lnTo>
                  <a:lnTo>
                    <a:pt x="0" y="53939"/>
                  </a:lnTo>
                  <a:lnTo>
                    <a:pt x="0" y="47624"/>
                  </a:lnTo>
                  <a:lnTo>
                    <a:pt x="0" y="41309"/>
                  </a:lnTo>
                  <a:lnTo>
                    <a:pt x="23564" y="6041"/>
                  </a:lnTo>
                  <a:lnTo>
                    <a:pt x="41309" y="0"/>
                  </a:lnTo>
                  <a:lnTo>
                    <a:pt x="3254340" y="0"/>
                  </a:lnTo>
                  <a:lnTo>
                    <a:pt x="3289606" y="23564"/>
                  </a:lnTo>
                  <a:lnTo>
                    <a:pt x="3295649" y="41309"/>
                  </a:lnTo>
                  <a:lnTo>
                    <a:pt x="3295649" y="53939"/>
                  </a:lnTo>
                  <a:lnTo>
                    <a:pt x="3272084" y="89207"/>
                  </a:lnTo>
                  <a:lnTo>
                    <a:pt x="3260414" y="94041"/>
                  </a:lnTo>
                  <a:lnTo>
                    <a:pt x="3254340" y="95249"/>
                  </a:lnTo>
                  <a:close/>
                </a:path>
              </a:pathLst>
            </a:custGeom>
            <a:solidFill>
              <a:srgbClr val="DFDFDF"/>
            </a:solidFill>
          </p:spPr>
          <p:txBody>
            <a:bodyPr wrap="square" lIns="0" tIns="0" rIns="0" bIns="0" rtlCol="0"/>
            <a:lstStyle/>
            <a:p/>
          </p:txBody>
        </p:sp>
        <p:sp>
          <p:nvSpPr>
            <p:cNvPr id="24" name="object 24" descr=""/>
            <p:cNvSpPr/>
            <p:nvPr/>
          </p:nvSpPr>
          <p:spPr>
            <a:xfrm>
              <a:off x="4467224" y="2895599"/>
              <a:ext cx="990600" cy="95250"/>
            </a:xfrm>
            <a:custGeom>
              <a:avLst/>
              <a:gdLst/>
              <a:ahLst/>
              <a:cxnLst/>
              <a:rect l="l" t="t" r="r" b="b"/>
              <a:pathLst>
                <a:path w="990600" h="95250">
                  <a:moveTo>
                    <a:pt x="949290" y="95249"/>
                  </a:moveTo>
                  <a:lnTo>
                    <a:pt x="41309" y="95249"/>
                  </a:lnTo>
                  <a:lnTo>
                    <a:pt x="35234" y="94041"/>
                  </a:lnTo>
                  <a:lnTo>
                    <a:pt x="1208" y="60014"/>
                  </a:lnTo>
                  <a:lnTo>
                    <a:pt x="0" y="53939"/>
                  </a:lnTo>
                  <a:lnTo>
                    <a:pt x="0" y="47624"/>
                  </a:lnTo>
                  <a:lnTo>
                    <a:pt x="0" y="41309"/>
                  </a:lnTo>
                  <a:lnTo>
                    <a:pt x="23564" y="6041"/>
                  </a:lnTo>
                  <a:lnTo>
                    <a:pt x="41309" y="0"/>
                  </a:lnTo>
                  <a:lnTo>
                    <a:pt x="949290" y="0"/>
                  </a:lnTo>
                  <a:lnTo>
                    <a:pt x="984557" y="23564"/>
                  </a:lnTo>
                  <a:lnTo>
                    <a:pt x="990599" y="41309"/>
                  </a:lnTo>
                  <a:lnTo>
                    <a:pt x="990599" y="53939"/>
                  </a:lnTo>
                  <a:lnTo>
                    <a:pt x="967034" y="89207"/>
                  </a:lnTo>
                  <a:lnTo>
                    <a:pt x="955365" y="94041"/>
                  </a:lnTo>
                  <a:lnTo>
                    <a:pt x="949290" y="95249"/>
                  </a:lnTo>
                  <a:close/>
                </a:path>
              </a:pathLst>
            </a:custGeom>
            <a:solidFill>
              <a:srgbClr val="FF9800"/>
            </a:solidFill>
          </p:spPr>
          <p:txBody>
            <a:bodyPr wrap="square" lIns="0" tIns="0" rIns="0" bIns="0" rtlCol="0"/>
            <a:lstStyle/>
            <a:p/>
          </p:txBody>
        </p:sp>
        <p:sp>
          <p:nvSpPr>
            <p:cNvPr id="25" name="object 25" descr=""/>
            <p:cNvSpPr/>
            <p:nvPr/>
          </p:nvSpPr>
          <p:spPr>
            <a:xfrm>
              <a:off x="4467224" y="5143499"/>
              <a:ext cx="3295650" cy="419100"/>
            </a:xfrm>
            <a:custGeom>
              <a:avLst/>
              <a:gdLst/>
              <a:ahLst/>
              <a:cxnLst/>
              <a:rect l="l" t="t" r="r" b="b"/>
              <a:pathLst>
                <a:path w="3295650" h="419100">
                  <a:moveTo>
                    <a:pt x="3242252" y="419099"/>
                  </a:moveTo>
                  <a:lnTo>
                    <a:pt x="53397" y="419099"/>
                  </a:lnTo>
                  <a:lnTo>
                    <a:pt x="49680" y="418733"/>
                  </a:lnTo>
                  <a:lnTo>
                    <a:pt x="14085" y="399706"/>
                  </a:lnTo>
                  <a:lnTo>
                    <a:pt x="0" y="365702"/>
                  </a:lnTo>
                  <a:lnTo>
                    <a:pt x="0" y="361949"/>
                  </a:lnTo>
                  <a:lnTo>
                    <a:pt x="0" y="53397"/>
                  </a:lnTo>
                  <a:lnTo>
                    <a:pt x="19392" y="14084"/>
                  </a:lnTo>
                  <a:lnTo>
                    <a:pt x="53397" y="0"/>
                  </a:lnTo>
                  <a:lnTo>
                    <a:pt x="3242252" y="0"/>
                  </a:lnTo>
                  <a:lnTo>
                    <a:pt x="3281563" y="19391"/>
                  </a:lnTo>
                  <a:lnTo>
                    <a:pt x="3295649" y="53397"/>
                  </a:lnTo>
                  <a:lnTo>
                    <a:pt x="3295649" y="365702"/>
                  </a:lnTo>
                  <a:lnTo>
                    <a:pt x="3276256" y="405014"/>
                  </a:lnTo>
                  <a:lnTo>
                    <a:pt x="3245968" y="418733"/>
                  </a:lnTo>
                  <a:lnTo>
                    <a:pt x="3242252" y="419099"/>
                  </a:lnTo>
                  <a:close/>
                </a:path>
              </a:pathLst>
            </a:custGeom>
            <a:solidFill>
              <a:srgbClr val="FFECD5"/>
            </a:solidFill>
          </p:spPr>
          <p:txBody>
            <a:bodyPr wrap="square" lIns="0" tIns="0" rIns="0" bIns="0" rtlCol="0"/>
            <a:lstStyle/>
            <a:p/>
          </p:txBody>
        </p:sp>
        <p:pic>
          <p:nvPicPr>
            <p:cNvPr id="26" name="object 26" descr=""/>
            <p:cNvPicPr/>
            <p:nvPr/>
          </p:nvPicPr>
          <p:blipFill>
            <a:blip r:embed="rId4" cstate="print"/>
            <a:stretch>
              <a:fillRect/>
            </a:stretch>
          </p:blipFill>
          <p:spPr>
            <a:xfrm>
              <a:off x="4581524" y="5286374"/>
              <a:ext cx="133349" cy="133349"/>
            </a:xfrm>
            <a:prstGeom prst="rect">
              <a:avLst/>
            </a:prstGeom>
          </p:spPr>
        </p:pic>
      </p:grpSp>
      <p:sp>
        <p:nvSpPr>
          <p:cNvPr id="27" name="object 27" descr=""/>
          <p:cNvSpPr txBox="1"/>
          <p:nvPr/>
        </p:nvSpPr>
        <p:spPr>
          <a:xfrm>
            <a:off x="4276724" y="2025203"/>
            <a:ext cx="3676650" cy="3415029"/>
          </a:xfrm>
          <a:prstGeom prst="rect">
            <a:avLst/>
          </a:prstGeom>
        </p:spPr>
        <p:txBody>
          <a:bodyPr wrap="square" lIns="0" tIns="15875" rIns="0" bIns="0" rtlCol="0" vert="horz">
            <a:spAutoFit/>
          </a:bodyPr>
          <a:lstStyle/>
          <a:p>
            <a:pPr marL="878840">
              <a:lnSpc>
                <a:spcPct val="100000"/>
              </a:lnSpc>
              <a:spcBef>
                <a:spcPts val="125"/>
              </a:spcBef>
            </a:pPr>
            <a:r>
              <a:rPr dirty="0" sz="1650" spc="-165">
                <a:solidFill>
                  <a:srgbClr val="414141"/>
                </a:solidFill>
                <a:latin typeface="SimSun"/>
                <a:cs typeface="SimSun"/>
              </a:rPr>
              <a:t>自</a:t>
            </a:r>
            <a:r>
              <a:rPr dirty="0" sz="1700" spc="-210">
                <a:solidFill>
                  <a:srgbClr val="414141"/>
                </a:solidFill>
                <a:latin typeface="SimSun"/>
                <a:cs typeface="SimSun"/>
              </a:rPr>
              <a:t>主</a:t>
            </a:r>
            <a:r>
              <a:rPr dirty="0" sz="1650" spc="-165">
                <a:solidFill>
                  <a:srgbClr val="414141"/>
                </a:solidFill>
                <a:latin typeface="PMingLiU"/>
                <a:cs typeface="PMingLiU"/>
              </a:rPr>
              <a:t>巡</a:t>
            </a:r>
            <a:r>
              <a:rPr dirty="0" sz="1650" spc="-165">
                <a:solidFill>
                  <a:srgbClr val="414141"/>
                </a:solidFill>
                <a:latin typeface="SimSun"/>
                <a:cs typeface="SimSun"/>
              </a:rPr>
              <a:t>檢</a:t>
            </a:r>
            <a:r>
              <a:rPr dirty="0" sz="1700" spc="-210">
                <a:solidFill>
                  <a:srgbClr val="414141"/>
                </a:solidFill>
                <a:latin typeface="SimSun"/>
                <a:cs typeface="SimSun"/>
              </a:rPr>
              <a:t>充</a:t>
            </a:r>
            <a:r>
              <a:rPr dirty="0" sz="1600" spc="-50">
                <a:solidFill>
                  <a:srgbClr val="414141"/>
                </a:solidFill>
                <a:latin typeface="PMingLiU"/>
                <a:cs typeface="PMingLiU"/>
              </a:rPr>
              <a:t>電</a:t>
            </a:r>
            <a:endParaRPr sz="1600">
              <a:latin typeface="PMingLiU"/>
              <a:cs typeface="PMingLiU"/>
            </a:endParaRPr>
          </a:p>
          <a:p>
            <a:pPr>
              <a:lnSpc>
                <a:spcPct val="100000"/>
              </a:lnSpc>
              <a:spcBef>
                <a:spcPts val="565"/>
              </a:spcBef>
            </a:pPr>
            <a:endParaRPr sz="1500">
              <a:latin typeface="PMingLiU"/>
              <a:cs typeface="PMingLiU"/>
            </a:endParaRPr>
          </a:p>
          <a:p>
            <a:pPr marL="193040">
              <a:lnSpc>
                <a:spcPct val="100000"/>
              </a:lnSpc>
            </a:pPr>
            <a:r>
              <a:rPr dirty="0" sz="1050">
                <a:solidFill>
                  <a:srgbClr val="414141"/>
                </a:solidFill>
                <a:latin typeface="PMingLiU"/>
                <a:cs typeface="PMingLiU"/>
              </a:rPr>
              <a:t>需求：每日</a:t>
            </a:r>
            <a:r>
              <a:rPr dirty="0" sz="1050" spc="-10">
                <a:solidFill>
                  <a:srgbClr val="414141"/>
                </a:solidFill>
                <a:latin typeface="Arial"/>
                <a:cs typeface="Arial"/>
              </a:rPr>
              <a:t>17:00</a:t>
            </a:r>
            <a:r>
              <a:rPr dirty="0" sz="1050" spc="-10">
                <a:solidFill>
                  <a:srgbClr val="414141"/>
                </a:solidFill>
                <a:latin typeface="PMingLiU"/>
                <a:cs typeface="PMingLiU"/>
              </a:rPr>
              <a:t>自動前往充電站充電</a:t>
            </a:r>
            <a:endParaRPr sz="1050">
              <a:latin typeface="PMingLiU"/>
              <a:cs typeface="PMingLiU"/>
            </a:endParaRPr>
          </a:p>
          <a:p>
            <a:pPr>
              <a:lnSpc>
                <a:spcPct val="100000"/>
              </a:lnSpc>
              <a:spcBef>
                <a:spcPts val="345"/>
              </a:spcBef>
            </a:pPr>
            <a:endParaRPr sz="1050">
              <a:latin typeface="PMingLiU"/>
              <a:cs typeface="PMingLiU"/>
            </a:endParaRPr>
          </a:p>
          <a:p>
            <a:pPr algn="r" marR="186055">
              <a:lnSpc>
                <a:spcPct val="100000"/>
              </a:lnSpc>
            </a:pPr>
            <a:r>
              <a:rPr dirty="0" sz="900" spc="-15">
                <a:solidFill>
                  <a:srgbClr val="6A7280"/>
                </a:solidFill>
                <a:latin typeface="PMingLiU"/>
                <a:cs typeface="PMingLiU"/>
              </a:rPr>
              <a:t>現有能力</a:t>
            </a: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spcBef>
                <a:spcPts val="185"/>
              </a:spcBef>
            </a:pPr>
            <a:endParaRPr sz="900">
              <a:latin typeface="PMingLiU"/>
              <a:cs typeface="PMingLiU"/>
            </a:endParaRPr>
          </a:p>
          <a:p>
            <a:pPr marL="516255">
              <a:lnSpc>
                <a:spcPct val="100000"/>
              </a:lnSpc>
            </a:pPr>
            <a:r>
              <a:rPr dirty="0" sz="1050" spc="-5">
                <a:solidFill>
                  <a:srgbClr val="C2400C"/>
                </a:solidFill>
                <a:latin typeface="PMingLiU"/>
                <a:cs typeface="PMingLiU"/>
              </a:rPr>
              <a:t>現有機器狗無法準確執行定時自主充電任務</a:t>
            </a:r>
            <a:endParaRPr sz="1050">
              <a:latin typeface="PMingLiU"/>
              <a:cs typeface="PMingLiU"/>
            </a:endParaRPr>
          </a:p>
        </p:txBody>
      </p:sp>
      <p:grpSp>
        <p:nvGrpSpPr>
          <p:cNvPr id="28" name="object 28" descr=""/>
          <p:cNvGrpSpPr/>
          <p:nvPr/>
        </p:nvGrpSpPr>
        <p:grpSpPr>
          <a:xfrm>
            <a:off x="8181974" y="1714499"/>
            <a:ext cx="3705225" cy="4038600"/>
            <a:chOff x="8181974" y="1714499"/>
            <a:chExt cx="3705225" cy="4038600"/>
          </a:xfrm>
        </p:grpSpPr>
        <p:sp>
          <p:nvSpPr>
            <p:cNvPr id="29" name="object 29" descr=""/>
            <p:cNvSpPr/>
            <p:nvPr/>
          </p:nvSpPr>
          <p:spPr>
            <a:xfrm>
              <a:off x="8181974" y="1714499"/>
              <a:ext cx="3705225" cy="4038600"/>
            </a:xfrm>
            <a:custGeom>
              <a:avLst/>
              <a:gdLst/>
              <a:ahLst/>
              <a:cxnLst/>
              <a:rect l="l" t="t" r="r" b="b"/>
              <a:pathLst>
                <a:path w="3705225" h="4038600">
                  <a:moveTo>
                    <a:pt x="3705224" y="4038599"/>
                  </a:moveTo>
                  <a:lnTo>
                    <a:pt x="0" y="4038599"/>
                  </a:lnTo>
                  <a:lnTo>
                    <a:pt x="0" y="0"/>
                  </a:lnTo>
                  <a:lnTo>
                    <a:pt x="3705224" y="0"/>
                  </a:lnTo>
                  <a:lnTo>
                    <a:pt x="3705224" y="4038599"/>
                  </a:lnTo>
                  <a:close/>
                </a:path>
              </a:pathLst>
            </a:custGeom>
            <a:solidFill>
              <a:srgbClr val="FFFFFF"/>
            </a:solidFill>
          </p:spPr>
          <p:txBody>
            <a:bodyPr wrap="square" lIns="0" tIns="0" rIns="0" bIns="0" rtlCol="0"/>
            <a:lstStyle/>
            <a:p/>
          </p:txBody>
        </p:sp>
        <p:sp>
          <p:nvSpPr>
            <p:cNvPr id="30" name="object 30" descr=""/>
            <p:cNvSpPr/>
            <p:nvPr/>
          </p:nvSpPr>
          <p:spPr>
            <a:xfrm>
              <a:off x="818197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p:txBody>
        </p:sp>
        <p:sp>
          <p:nvSpPr>
            <p:cNvPr id="31" name="object 31" descr=""/>
            <p:cNvSpPr/>
            <p:nvPr/>
          </p:nvSpPr>
          <p:spPr>
            <a:xfrm>
              <a:off x="8410574" y="1904999"/>
              <a:ext cx="571500" cy="571500"/>
            </a:xfrm>
            <a:custGeom>
              <a:avLst/>
              <a:gdLst/>
              <a:ahLst/>
              <a:cxnLst/>
              <a:rect l="l" t="t" r="r" b="b"/>
              <a:pathLst>
                <a:path w="571500" h="571500">
                  <a:moveTo>
                    <a:pt x="285749" y="571499"/>
                  </a:moveTo>
                  <a:lnTo>
                    <a:pt x="243821" y="568407"/>
                  </a:lnTo>
                  <a:lnTo>
                    <a:pt x="202800" y="559195"/>
                  </a:lnTo>
                  <a:lnTo>
                    <a:pt x="163574" y="544065"/>
                  </a:lnTo>
                  <a:lnTo>
                    <a:pt x="126993" y="523342"/>
                  </a:lnTo>
                  <a:lnTo>
                    <a:pt x="93851" y="497476"/>
                  </a:lnTo>
                  <a:lnTo>
                    <a:pt x="64861" y="467027"/>
                  </a:lnTo>
                  <a:lnTo>
                    <a:pt x="40653" y="432654"/>
                  </a:lnTo>
                  <a:lnTo>
                    <a:pt x="21750" y="395101"/>
                  </a:lnTo>
                  <a:lnTo>
                    <a:pt x="8563" y="355181"/>
                  </a:lnTo>
                  <a:lnTo>
                    <a:pt x="1376" y="313758"/>
                  </a:lnTo>
                  <a:lnTo>
                    <a:pt x="0" y="285749"/>
                  </a:lnTo>
                  <a:lnTo>
                    <a:pt x="344" y="271728"/>
                  </a:lnTo>
                  <a:lnTo>
                    <a:pt x="5490" y="230002"/>
                  </a:lnTo>
                  <a:lnTo>
                    <a:pt x="16703" y="189483"/>
                  </a:lnTo>
                  <a:lnTo>
                    <a:pt x="33740" y="151048"/>
                  </a:lnTo>
                  <a:lnTo>
                    <a:pt x="56232" y="115528"/>
                  </a:lnTo>
                  <a:lnTo>
                    <a:pt x="83693" y="83694"/>
                  </a:lnTo>
                  <a:lnTo>
                    <a:pt x="115528" y="56233"/>
                  </a:lnTo>
                  <a:lnTo>
                    <a:pt x="151047" y="33740"/>
                  </a:lnTo>
                  <a:lnTo>
                    <a:pt x="189482" y="16703"/>
                  </a:lnTo>
                  <a:lnTo>
                    <a:pt x="230002" y="5490"/>
                  </a:lnTo>
                  <a:lnTo>
                    <a:pt x="271729" y="344"/>
                  </a:lnTo>
                  <a:lnTo>
                    <a:pt x="285749" y="0"/>
                  </a:lnTo>
                  <a:lnTo>
                    <a:pt x="299771" y="344"/>
                  </a:lnTo>
                  <a:lnTo>
                    <a:pt x="341496" y="5490"/>
                  </a:lnTo>
                  <a:lnTo>
                    <a:pt x="382015" y="16703"/>
                  </a:lnTo>
                  <a:lnTo>
                    <a:pt x="420451" y="33740"/>
                  </a:lnTo>
                  <a:lnTo>
                    <a:pt x="455970" y="56233"/>
                  </a:lnTo>
                  <a:lnTo>
                    <a:pt x="487805" y="83694"/>
                  </a:lnTo>
                  <a:lnTo>
                    <a:pt x="515266" y="115528"/>
                  </a:lnTo>
                  <a:lnTo>
                    <a:pt x="537759" y="151048"/>
                  </a:lnTo>
                  <a:lnTo>
                    <a:pt x="554796" y="189483"/>
                  </a:lnTo>
                  <a:lnTo>
                    <a:pt x="566009" y="230002"/>
                  </a:lnTo>
                  <a:lnTo>
                    <a:pt x="571156" y="271728"/>
                  </a:lnTo>
                  <a:lnTo>
                    <a:pt x="571499" y="285749"/>
                  </a:lnTo>
                  <a:lnTo>
                    <a:pt x="571156" y="299771"/>
                  </a:lnTo>
                  <a:lnTo>
                    <a:pt x="566009" y="341496"/>
                  </a:lnTo>
                  <a:lnTo>
                    <a:pt x="554796" y="382016"/>
                  </a:lnTo>
                  <a:lnTo>
                    <a:pt x="537759"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32" name="object 32" descr=""/>
            <p:cNvPicPr/>
            <p:nvPr/>
          </p:nvPicPr>
          <p:blipFill>
            <a:blip r:embed="rId6" cstate="print"/>
            <a:stretch>
              <a:fillRect/>
            </a:stretch>
          </p:blipFill>
          <p:spPr>
            <a:xfrm>
              <a:off x="8553449" y="2038349"/>
              <a:ext cx="285749" cy="304799"/>
            </a:xfrm>
            <a:prstGeom prst="rect">
              <a:avLst/>
            </a:prstGeom>
          </p:spPr>
        </p:pic>
        <p:sp>
          <p:nvSpPr>
            <p:cNvPr id="33" name="object 33" descr=""/>
            <p:cNvSpPr/>
            <p:nvPr/>
          </p:nvSpPr>
          <p:spPr>
            <a:xfrm>
              <a:off x="8410573" y="2895599"/>
              <a:ext cx="3286125" cy="95250"/>
            </a:xfrm>
            <a:custGeom>
              <a:avLst/>
              <a:gdLst/>
              <a:ahLst/>
              <a:cxnLst/>
              <a:rect l="l" t="t" r="r" b="b"/>
              <a:pathLst>
                <a:path w="3286125" h="95250">
                  <a:moveTo>
                    <a:pt x="3244815" y="95249"/>
                  </a:moveTo>
                  <a:lnTo>
                    <a:pt x="41309" y="95249"/>
                  </a:lnTo>
                  <a:lnTo>
                    <a:pt x="35233" y="94041"/>
                  </a:lnTo>
                  <a:lnTo>
                    <a:pt x="1208" y="60014"/>
                  </a:lnTo>
                  <a:lnTo>
                    <a:pt x="0" y="53939"/>
                  </a:lnTo>
                  <a:lnTo>
                    <a:pt x="0" y="47624"/>
                  </a:lnTo>
                  <a:lnTo>
                    <a:pt x="0" y="41309"/>
                  </a:lnTo>
                  <a:lnTo>
                    <a:pt x="23564" y="6041"/>
                  </a:lnTo>
                  <a:lnTo>
                    <a:pt x="41309" y="0"/>
                  </a:lnTo>
                  <a:lnTo>
                    <a:pt x="3244815" y="0"/>
                  </a:lnTo>
                  <a:lnTo>
                    <a:pt x="3280081" y="23564"/>
                  </a:lnTo>
                  <a:lnTo>
                    <a:pt x="3286124" y="41309"/>
                  </a:lnTo>
                  <a:lnTo>
                    <a:pt x="3286124" y="53939"/>
                  </a:lnTo>
                  <a:lnTo>
                    <a:pt x="3262559" y="89207"/>
                  </a:lnTo>
                  <a:lnTo>
                    <a:pt x="3250890" y="94041"/>
                  </a:lnTo>
                  <a:lnTo>
                    <a:pt x="3244815" y="95249"/>
                  </a:lnTo>
                  <a:close/>
                </a:path>
              </a:pathLst>
            </a:custGeom>
            <a:solidFill>
              <a:srgbClr val="DFDFDF"/>
            </a:solidFill>
          </p:spPr>
          <p:txBody>
            <a:bodyPr wrap="square" lIns="0" tIns="0" rIns="0" bIns="0" rtlCol="0"/>
            <a:lstStyle/>
            <a:p/>
          </p:txBody>
        </p:sp>
        <p:sp>
          <p:nvSpPr>
            <p:cNvPr id="34" name="object 34" descr=""/>
            <p:cNvSpPr/>
            <p:nvPr/>
          </p:nvSpPr>
          <p:spPr>
            <a:xfrm>
              <a:off x="8410573" y="2895599"/>
              <a:ext cx="1152525" cy="95250"/>
            </a:xfrm>
            <a:custGeom>
              <a:avLst/>
              <a:gdLst/>
              <a:ahLst/>
              <a:cxnLst/>
              <a:rect l="l" t="t" r="r" b="b"/>
              <a:pathLst>
                <a:path w="1152525" h="95250">
                  <a:moveTo>
                    <a:pt x="1111215" y="95249"/>
                  </a:moveTo>
                  <a:lnTo>
                    <a:pt x="41309" y="95249"/>
                  </a:lnTo>
                  <a:lnTo>
                    <a:pt x="35233" y="94041"/>
                  </a:lnTo>
                  <a:lnTo>
                    <a:pt x="1208" y="60014"/>
                  </a:lnTo>
                  <a:lnTo>
                    <a:pt x="0" y="53939"/>
                  </a:lnTo>
                  <a:lnTo>
                    <a:pt x="0" y="47624"/>
                  </a:lnTo>
                  <a:lnTo>
                    <a:pt x="0" y="41309"/>
                  </a:lnTo>
                  <a:lnTo>
                    <a:pt x="23564" y="6041"/>
                  </a:lnTo>
                  <a:lnTo>
                    <a:pt x="41309" y="0"/>
                  </a:lnTo>
                  <a:lnTo>
                    <a:pt x="1111215" y="0"/>
                  </a:lnTo>
                  <a:lnTo>
                    <a:pt x="1146482" y="23564"/>
                  </a:lnTo>
                  <a:lnTo>
                    <a:pt x="1152524" y="41309"/>
                  </a:lnTo>
                  <a:lnTo>
                    <a:pt x="1152524" y="53939"/>
                  </a:lnTo>
                  <a:lnTo>
                    <a:pt x="1128959" y="89207"/>
                  </a:lnTo>
                  <a:lnTo>
                    <a:pt x="1117289" y="94041"/>
                  </a:lnTo>
                  <a:lnTo>
                    <a:pt x="1111215" y="95249"/>
                  </a:lnTo>
                  <a:close/>
                </a:path>
              </a:pathLst>
            </a:custGeom>
            <a:solidFill>
              <a:srgbClr val="FF9800"/>
            </a:solidFill>
          </p:spPr>
          <p:txBody>
            <a:bodyPr wrap="square" lIns="0" tIns="0" rIns="0" bIns="0" rtlCol="0"/>
            <a:lstStyle/>
            <a:p/>
          </p:txBody>
        </p:sp>
        <p:sp>
          <p:nvSpPr>
            <p:cNvPr id="35" name="object 35" descr=""/>
            <p:cNvSpPr/>
            <p:nvPr/>
          </p:nvSpPr>
          <p:spPr>
            <a:xfrm>
              <a:off x="8410574" y="5143499"/>
              <a:ext cx="3286125" cy="419100"/>
            </a:xfrm>
            <a:custGeom>
              <a:avLst/>
              <a:gdLst/>
              <a:ahLst/>
              <a:cxnLst/>
              <a:rect l="l" t="t" r="r" b="b"/>
              <a:pathLst>
                <a:path w="3286125" h="419100">
                  <a:moveTo>
                    <a:pt x="3232726" y="419099"/>
                  </a:moveTo>
                  <a:lnTo>
                    <a:pt x="53397" y="419099"/>
                  </a:lnTo>
                  <a:lnTo>
                    <a:pt x="49680" y="418733"/>
                  </a:lnTo>
                  <a:lnTo>
                    <a:pt x="14084" y="399706"/>
                  </a:lnTo>
                  <a:lnTo>
                    <a:pt x="0" y="365702"/>
                  </a:lnTo>
                  <a:lnTo>
                    <a:pt x="0" y="361949"/>
                  </a:lnTo>
                  <a:lnTo>
                    <a:pt x="0" y="53397"/>
                  </a:lnTo>
                  <a:lnTo>
                    <a:pt x="19390" y="14084"/>
                  </a:lnTo>
                  <a:lnTo>
                    <a:pt x="53397" y="0"/>
                  </a:lnTo>
                  <a:lnTo>
                    <a:pt x="3232726" y="0"/>
                  </a:lnTo>
                  <a:lnTo>
                    <a:pt x="3272038" y="19391"/>
                  </a:lnTo>
                  <a:lnTo>
                    <a:pt x="3286124" y="53397"/>
                  </a:lnTo>
                  <a:lnTo>
                    <a:pt x="3286124" y="365702"/>
                  </a:lnTo>
                  <a:lnTo>
                    <a:pt x="3266731" y="405014"/>
                  </a:lnTo>
                  <a:lnTo>
                    <a:pt x="3236442" y="418733"/>
                  </a:lnTo>
                  <a:lnTo>
                    <a:pt x="3232726" y="419099"/>
                  </a:lnTo>
                  <a:close/>
                </a:path>
              </a:pathLst>
            </a:custGeom>
            <a:solidFill>
              <a:srgbClr val="FFECD5"/>
            </a:solidFill>
          </p:spPr>
          <p:txBody>
            <a:bodyPr wrap="square" lIns="0" tIns="0" rIns="0" bIns="0" rtlCol="0"/>
            <a:lstStyle/>
            <a:p/>
          </p:txBody>
        </p:sp>
        <p:pic>
          <p:nvPicPr>
            <p:cNvPr id="36" name="object 36" descr=""/>
            <p:cNvPicPr/>
            <p:nvPr/>
          </p:nvPicPr>
          <p:blipFill>
            <a:blip r:embed="rId7" cstate="print"/>
            <a:stretch>
              <a:fillRect/>
            </a:stretch>
          </p:blipFill>
          <p:spPr>
            <a:xfrm>
              <a:off x="8534399" y="5286374"/>
              <a:ext cx="123824" cy="133349"/>
            </a:xfrm>
            <a:prstGeom prst="rect">
              <a:avLst/>
            </a:prstGeom>
          </p:spPr>
        </p:pic>
      </p:grpSp>
      <p:sp>
        <p:nvSpPr>
          <p:cNvPr id="37" name="object 37" descr=""/>
          <p:cNvSpPr txBox="1"/>
          <p:nvPr/>
        </p:nvSpPr>
        <p:spPr>
          <a:xfrm>
            <a:off x="8220074" y="2025203"/>
            <a:ext cx="3667125" cy="3415029"/>
          </a:xfrm>
          <a:prstGeom prst="rect">
            <a:avLst/>
          </a:prstGeom>
        </p:spPr>
        <p:txBody>
          <a:bodyPr wrap="square" lIns="0" tIns="15875" rIns="0" bIns="0" rtlCol="0" vert="horz">
            <a:spAutoFit/>
          </a:bodyPr>
          <a:lstStyle/>
          <a:p>
            <a:pPr marL="872490">
              <a:lnSpc>
                <a:spcPct val="100000"/>
              </a:lnSpc>
              <a:spcBef>
                <a:spcPts val="125"/>
              </a:spcBef>
            </a:pPr>
            <a:r>
              <a:rPr dirty="0" sz="1700" spc="-210">
                <a:solidFill>
                  <a:srgbClr val="414141"/>
                </a:solidFill>
                <a:latin typeface="SimSun"/>
                <a:cs typeface="SimSun"/>
              </a:rPr>
              <a:t>人</a:t>
            </a:r>
            <a:r>
              <a:rPr dirty="0" sz="1600" spc="-120">
                <a:solidFill>
                  <a:srgbClr val="414141"/>
                </a:solidFill>
                <a:latin typeface="PMingLiU"/>
                <a:cs typeface="PMingLiU"/>
              </a:rPr>
              <a:t>員</a:t>
            </a:r>
            <a:r>
              <a:rPr dirty="0" sz="1700" spc="-220">
                <a:solidFill>
                  <a:srgbClr val="414141"/>
                </a:solidFill>
                <a:latin typeface="SimSun"/>
                <a:cs typeface="SimSun"/>
              </a:rPr>
              <a:t>識</a:t>
            </a:r>
            <a:r>
              <a:rPr dirty="0" sz="1650" spc="-50">
                <a:solidFill>
                  <a:srgbClr val="414141"/>
                </a:solidFill>
                <a:latin typeface="SimSun"/>
                <a:cs typeface="SimSun"/>
              </a:rPr>
              <a:t>別</a:t>
            </a:r>
            <a:endParaRPr sz="1650">
              <a:latin typeface="SimSun"/>
              <a:cs typeface="SimSun"/>
            </a:endParaRPr>
          </a:p>
          <a:p>
            <a:pPr>
              <a:lnSpc>
                <a:spcPct val="100000"/>
              </a:lnSpc>
              <a:spcBef>
                <a:spcPts val="740"/>
              </a:spcBef>
            </a:pPr>
            <a:endParaRPr sz="1500">
              <a:latin typeface="SimSun"/>
              <a:cs typeface="SimSun"/>
            </a:endParaRPr>
          </a:p>
          <a:p>
            <a:pPr marL="186690">
              <a:lnSpc>
                <a:spcPct val="100000"/>
              </a:lnSpc>
            </a:pPr>
            <a:r>
              <a:rPr dirty="0" sz="1050" spc="-5">
                <a:solidFill>
                  <a:srgbClr val="414141"/>
                </a:solidFill>
                <a:latin typeface="PMingLiU"/>
                <a:cs typeface="PMingLiU"/>
              </a:rPr>
              <a:t>需求：下班時段判斷有無外來人員走動</a:t>
            </a:r>
            <a:endParaRPr sz="1050">
              <a:latin typeface="PMingLiU"/>
              <a:cs typeface="PMingLiU"/>
            </a:endParaRPr>
          </a:p>
          <a:p>
            <a:pPr>
              <a:lnSpc>
                <a:spcPct val="100000"/>
              </a:lnSpc>
              <a:spcBef>
                <a:spcPts val="345"/>
              </a:spcBef>
            </a:pPr>
            <a:endParaRPr sz="1050">
              <a:latin typeface="PMingLiU"/>
              <a:cs typeface="PMingLiU"/>
            </a:endParaRPr>
          </a:p>
          <a:p>
            <a:pPr algn="r" marR="183515">
              <a:lnSpc>
                <a:spcPct val="100000"/>
              </a:lnSpc>
            </a:pPr>
            <a:r>
              <a:rPr dirty="0" sz="900" spc="-15">
                <a:solidFill>
                  <a:srgbClr val="6A7280"/>
                </a:solidFill>
                <a:latin typeface="PMingLiU"/>
                <a:cs typeface="PMingLiU"/>
              </a:rPr>
              <a:t>現有能力</a:t>
            </a: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spcBef>
                <a:spcPts val="185"/>
              </a:spcBef>
            </a:pPr>
            <a:endParaRPr sz="900">
              <a:latin typeface="PMingLiU"/>
              <a:cs typeface="PMingLiU"/>
            </a:endParaRPr>
          </a:p>
          <a:p>
            <a:pPr marL="509905">
              <a:lnSpc>
                <a:spcPct val="100000"/>
              </a:lnSpc>
            </a:pPr>
            <a:r>
              <a:rPr dirty="0" sz="1050" spc="-5">
                <a:solidFill>
                  <a:srgbClr val="C2400C"/>
                </a:solidFill>
                <a:latin typeface="PMingLiU"/>
                <a:cs typeface="PMingLiU"/>
              </a:rPr>
              <a:t>現有機器狗無法有效區分員工與外來人員</a:t>
            </a:r>
            <a:endParaRPr sz="1050">
              <a:latin typeface="PMingLiU"/>
              <a:cs typeface="PMingLiU"/>
            </a:endParaRPr>
          </a:p>
        </p:txBody>
      </p:sp>
      <p:grpSp>
        <p:nvGrpSpPr>
          <p:cNvPr id="38" name="object 38" descr=""/>
          <p:cNvGrpSpPr/>
          <p:nvPr/>
        </p:nvGrpSpPr>
        <p:grpSpPr>
          <a:xfrm>
            <a:off x="304799" y="5981699"/>
            <a:ext cx="11582400" cy="571500"/>
            <a:chOff x="304799" y="5981699"/>
            <a:chExt cx="11582400" cy="571500"/>
          </a:xfrm>
        </p:grpSpPr>
        <p:sp>
          <p:nvSpPr>
            <p:cNvPr id="39" name="object 39" descr=""/>
            <p:cNvSpPr/>
            <p:nvPr/>
          </p:nvSpPr>
          <p:spPr>
            <a:xfrm>
              <a:off x="304799" y="5981699"/>
              <a:ext cx="11582400" cy="571500"/>
            </a:xfrm>
            <a:custGeom>
              <a:avLst/>
              <a:gdLst/>
              <a:ahLst/>
              <a:cxnLst/>
              <a:rect l="l" t="t" r="r" b="b"/>
              <a:pathLst>
                <a:path w="11582400" h="571500">
                  <a:moveTo>
                    <a:pt x="11529001" y="571499"/>
                  </a:moveTo>
                  <a:lnTo>
                    <a:pt x="53397" y="571499"/>
                  </a:lnTo>
                  <a:lnTo>
                    <a:pt x="49681" y="571133"/>
                  </a:lnTo>
                  <a:lnTo>
                    <a:pt x="14085" y="552106"/>
                  </a:lnTo>
                  <a:lnTo>
                    <a:pt x="0" y="518102"/>
                  </a:lnTo>
                  <a:lnTo>
                    <a:pt x="0" y="514349"/>
                  </a:lnTo>
                  <a:lnTo>
                    <a:pt x="0" y="53397"/>
                  </a:lnTo>
                  <a:lnTo>
                    <a:pt x="19392" y="14084"/>
                  </a:lnTo>
                  <a:lnTo>
                    <a:pt x="53397" y="0"/>
                  </a:lnTo>
                  <a:lnTo>
                    <a:pt x="11529001" y="0"/>
                  </a:lnTo>
                  <a:lnTo>
                    <a:pt x="11568312" y="19391"/>
                  </a:lnTo>
                  <a:lnTo>
                    <a:pt x="11582397" y="53397"/>
                  </a:lnTo>
                  <a:lnTo>
                    <a:pt x="11582397" y="518102"/>
                  </a:lnTo>
                  <a:lnTo>
                    <a:pt x="11563006" y="557414"/>
                  </a:lnTo>
                  <a:lnTo>
                    <a:pt x="11532717" y="571133"/>
                  </a:lnTo>
                  <a:lnTo>
                    <a:pt x="11529001" y="571499"/>
                  </a:lnTo>
                  <a:close/>
                </a:path>
              </a:pathLst>
            </a:custGeom>
            <a:solidFill>
              <a:srgbClr val="E4E7EB"/>
            </a:solidFill>
          </p:spPr>
          <p:txBody>
            <a:bodyPr wrap="square" lIns="0" tIns="0" rIns="0" bIns="0" rtlCol="0"/>
            <a:lstStyle/>
            <a:p/>
          </p:txBody>
        </p:sp>
        <p:pic>
          <p:nvPicPr>
            <p:cNvPr id="40" name="object 40" descr=""/>
            <p:cNvPicPr/>
            <p:nvPr/>
          </p:nvPicPr>
          <p:blipFill>
            <a:blip r:embed="rId8" cstate="print"/>
            <a:stretch>
              <a:fillRect/>
            </a:stretch>
          </p:blipFill>
          <p:spPr>
            <a:xfrm>
              <a:off x="457199" y="6134099"/>
              <a:ext cx="142874" cy="266699"/>
            </a:xfrm>
            <a:prstGeom prst="rect">
              <a:avLst/>
            </a:prstGeom>
          </p:spPr>
        </p:pic>
      </p:grpSp>
      <p:sp>
        <p:nvSpPr>
          <p:cNvPr id="41" name="object 41" descr=""/>
          <p:cNvSpPr txBox="1"/>
          <p:nvPr/>
        </p:nvSpPr>
        <p:spPr>
          <a:xfrm>
            <a:off x="701674" y="6153658"/>
            <a:ext cx="9997440" cy="204470"/>
          </a:xfrm>
          <a:prstGeom prst="rect">
            <a:avLst/>
          </a:prstGeom>
        </p:spPr>
        <p:txBody>
          <a:bodyPr wrap="square" lIns="0" tIns="15240" rIns="0" bIns="0" rtlCol="0" vert="horz">
            <a:spAutoFit/>
          </a:bodyPr>
          <a:lstStyle/>
          <a:p>
            <a:pPr marL="12700">
              <a:lnSpc>
                <a:spcPct val="100000"/>
              </a:lnSpc>
              <a:spcBef>
                <a:spcPts val="120"/>
              </a:spcBef>
            </a:pPr>
            <a:r>
              <a:rPr dirty="0" sz="1150" spc="-114">
                <a:solidFill>
                  <a:srgbClr val="414141"/>
                </a:solidFill>
                <a:latin typeface="SimSun"/>
                <a:cs typeface="SimSun"/>
              </a:rPr>
              <a:t>挑戰</a:t>
            </a:r>
            <a:r>
              <a:rPr dirty="0" sz="1150" spc="-110">
                <a:solidFill>
                  <a:srgbClr val="414141"/>
                </a:solidFill>
                <a:latin typeface="PMingLiU"/>
                <a:cs typeface="PMingLiU"/>
              </a:rPr>
              <a:t>總結</a:t>
            </a:r>
            <a:r>
              <a:rPr dirty="0" sz="1000" spc="70">
                <a:solidFill>
                  <a:srgbClr val="414141"/>
                </a:solidFill>
                <a:latin typeface="PMingLiU"/>
                <a:cs typeface="PMingLiU"/>
              </a:rPr>
              <a:t>： </a:t>
            </a:r>
            <a:r>
              <a:rPr dirty="0" sz="1050">
                <a:solidFill>
                  <a:srgbClr val="414141"/>
                </a:solidFill>
                <a:latin typeface="PMingLiU"/>
                <a:cs typeface="PMingLiU"/>
              </a:rPr>
              <a:t>現有</a:t>
            </a:r>
            <a:r>
              <a:rPr dirty="0" sz="1050" spc="-10">
                <a:solidFill>
                  <a:srgbClr val="414141"/>
                </a:solidFill>
                <a:latin typeface="Arial"/>
                <a:cs typeface="Arial"/>
              </a:rPr>
              <a:t>Cyberdog</a:t>
            </a:r>
            <a:r>
              <a:rPr dirty="0" sz="1050">
                <a:solidFill>
                  <a:srgbClr val="414141"/>
                </a:solidFill>
                <a:latin typeface="PMingLiU"/>
                <a:cs typeface="PMingLiU"/>
              </a:rPr>
              <a:t>機器狗在環境安全巡檢方面存在識別準確度不足、自主任務執行能力有限及人員判斷能力欠缺等問題，導致無法完全滿足</a:t>
            </a:r>
            <a:r>
              <a:rPr dirty="0" sz="1050">
                <a:solidFill>
                  <a:srgbClr val="414141"/>
                </a:solidFill>
                <a:latin typeface="Arial"/>
                <a:cs typeface="Arial"/>
              </a:rPr>
              <a:t>AUO</a:t>
            </a:r>
            <a:r>
              <a:rPr dirty="0" sz="1050" spc="-10">
                <a:solidFill>
                  <a:srgbClr val="414141"/>
                </a:solidFill>
                <a:latin typeface="PMingLiU"/>
                <a:cs typeface="PMingLiU"/>
              </a:rPr>
              <a:t>庫房的安全需求。</a:t>
            </a:r>
            <a:endParaRPr sz="1050">
              <a:latin typeface="PMingLiU"/>
              <a:cs typeface="PMingLiU"/>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07036"/>
            <a:ext cx="1397000" cy="339090"/>
          </a:xfrm>
          <a:prstGeom prst="rect"/>
        </p:spPr>
        <p:txBody>
          <a:bodyPr wrap="square" lIns="0" tIns="13335" rIns="0" bIns="0" rtlCol="0" vert="horz">
            <a:spAutoFit/>
          </a:bodyPr>
          <a:lstStyle/>
          <a:p>
            <a:pPr marL="12700">
              <a:lnSpc>
                <a:spcPct val="100000"/>
              </a:lnSpc>
              <a:spcBef>
                <a:spcPts val="105"/>
              </a:spcBef>
            </a:pPr>
            <a:r>
              <a:rPr dirty="0" spc="-200"/>
              <a:t>技</a:t>
            </a:r>
            <a:r>
              <a:rPr dirty="0" sz="1950" spc="-165"/>
              <a:t>術改</a:t>
            </a:r>
            <a:r>
              <a:rPr dirty="0" sz="1950" spc="-165">
                <a:latin typeface="PMingLiU"/>
                <a:cs typeface="PMingLiU"/>
              </a:rPr>
              <a:t>進</a:t>
            </a:r>
            <a:r>
              <a:rPr dirty="0" spc="-200">
                <a:latin typeface="PMingLiU"/>
                <a:cs typeface="PMingLiU"/>
              </a:rPr>
              <a:t>建</a:t>
            </a:r>
            <a:r>
              <a:rPr dirty="0" sz="2050" spc="-320"/>
              <a:t>議</a:t>
            </a:r>
            <a:endParaRPr sz="20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228599" y="838199"/>
            <a:ext cx="11734800" cy="571500"/>
            <a:chOff x="228599" y="838199"/>
            <a:chExt cx="11734800" cy="571500"/>
          </a:xfrm>
        </p:grpSpPr>
        <p:sp>
          <p:nvSpPr>
            <p:cNvPr id="5" name="object 5" descr=""/>
            <p:cNvSpPr/>
            <p:nvPr/>
          </p:nvSpPr>
          <p:spPr>
            <a:xfrm>
              <a:off x="228599" y="838199"/>
              <a:ext cx="11734800" cy="571500"/>
            </a:xfrm>
            <a:custGeom>
              <a:avLst/>
              <a:gdLst/>
              <a:ahLst/>
              <a:cxnLst/>
              <a:rect l="l" t="t" r="r" b="b"/>
              <a:pathLst>
                <a:path w="11734800" h="571500">
                  <a:moveTo>
                    <a:pt x="11701751" y="571499"/>
                  </a:moveTo>
                  <a:lnTo>
                    <a:pt x="33047" y="571499"/>
                  </a:lnTo>
                  <a:lnTo>
                    <a:pt x="28187" y="570533"/>
                  </a:lnTo>
                  <a:lnTo>
                    <a:pt x="966" y="543312"/>
                  </a:lnTo>
                  <a:lnTo>
                    <a:pt x="0" y="538452"/>
                  </a:lnTo>
                  <a:lnTo>
                    <a:pt x="0" y="533399"/>
                  </a:lnTo>
                  <a:lnTo>
                    <a:pt x="0" y="33047"/>
                  </a:lnTo>
                  <a:lnTo>
                    <a:pt x="28187" y="966"/>
                  </a:lnTo>
                  <a:lnTo>
                    <a:pt x="33047" y="0"/>
                  </a:lnTo>
                  <a:lnTo>
                    <a:pt x="11701751" y="0"/>
                  </a:lnTo>
                  <a:lnTo>
                    <a:pt x="11733830" y="28187"/>
                  </a:lnTo>
                  <a:lnTo>
                    <a:pt x="11734797" y="33047"/>
                  </a:lnTo>
                  <a:lnTo>
                    <a:pt x="11734797" y="538452"/>
                  </a:lnTo>
                  <a:lnTo>
                    <a:pt x="11706610" y="570533"/>
                  </a:lnTo>
                  <a:lnTo>
                    <a:pt x="11701751" y="571499"/>
                  </a:lnTo>
                  <a:close/>
                </a:path>
              </a:pathLst>
            </a:custGeom>
            <a:solidFill>
              <a:srgbClr val="FFFFFF"/>
            </a:solidFill>
          </p:spPr>
          <p:txBody>
            <a:bodyPr wrap="square" lIns="0" tIns="0" rIns="0" bIns="0" rtlCol="0"/>
            <a:lstStyle/>
            <a:p/>
          </p:txBody>
        </p:sp>
        <p:pic>
          <p:nvPicPr>
            <p:cNvPr id="6" name="object 6" descr=""/>
            <p:cNvPicPr/>
            <p:nvPr/>
          </p:nvPicPr>
          <p:blipFill>
            <a:blip r:embed="rId2" cstate="print"/>
            <a:stretch>
              <a:fillRect/>
            </a:stretch>
          </p:blipFill>
          <p:spPr>
            <a:xfrm>
              <a:off x="380999" y="990599"/>
              <a:ext cx="142874" cy="266699"/>
            </a:xfrm>
            <a:prstGeom prst="rect">
              <a:avLst/>
            </a:prstGeom>
          </p:spPr>
        </p:pic>
      </p:grpSp>
      <p:sp>
        <p:nvSpPr>
          <p:cNvPr id="7" name="object 7" descr=""/>
          <p:cNvSpPr txBox="1"/>
          <p:nvPr/>
        </p:nvSpPr>
        <p:spPr>
          <a:xfrm>
            <a:off x="625474" y="1006475"/>
            <a:ext cx="7671434"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414141"/>
                </a:solidFill>
                <a:latin typeface="PMingLiU"/>
                <a:cs typeface="PMingLiU"/>
              </a:rPr>
              <a:t>針對</a:t>
            </a:r>
            <a:r>
              <a:rPr dirty="0" sz="1200">
                <a:solidFill>
                  <a:srgbClr val="414141"/>
                </a:solidFill>
                <a:latin typeface="Arial"/>
                <a:cs typeface="Arial"/>
              </a:rPr>
              <a:t>AUO</a:t>
            </a:r>
            <a:r>
              <a:rPr dirty="0" sz="1200" spc="-5">
                <a:solidFill>
                  <a:srgbClr val="414141"/>
                </a:solidFill>
                <a:latin typeface="PMingLiU"/>
                <a:cs typeface="PMingLiU"/>
              </a:rPr>
              <a:t>庫房無法滿足的需求，提出以下技術改進方向和可行性解決方案，以提升機器狗在庫房場域的應用效果。</a:t>
            </a:r>
            <a:endParaRPr sz="1200">
              <a:latin typeface="PMingLiU"/>
              <a:cs typeface="PMingLiU"/>
            </a:endParaRPr>
          </a:p>
        </p:txBody>
      </p:sp>
      <p:grpSp>
        <p:nvGrpSpPr>
          <p:cNvPr id="8" name="object 8" descr=""/>
          <p:cNvGrpSpPr/>
          <p:nvPr/>
        </p:nvGrpSpPr>
        <p:grpSpPr>
          <a:xfrm>
            <a:off x="228599" y="1600199"/>
            <a:ext cx="5772150" cy="1905000"/>
            <a:chOff x="228599" y="1600199"/>
            <a:chExt cx="5772150" cy="1905000"/>
          </a:xfrm>
        </p:grpSpPr>
        <p:sp>
          <p:nvSpPr>
            <p:cNvPr id="9" name="object 9" descr=""/>
            <p:cNvSpPr/>
            <p:nvPr/>
          </p:nvSpPr>
          <p:spPr>
            <a:xfrm>
              <a:off x="247649" y="1600199"/>
              <a:ext cx="5753100" cy="1905000"/>
            </a:xfrm>
            <a:custGeom>
              <a:avLst/>
              <a:gdLst/>
              <a:ahLst/>
              <a:cxnLst/>
              <a:rect l="l" t="t" r="r" b="b"/>
              <a:pathLst>
                <a:path w="5753100" h="1905000">
                  <a:moveTo>
                    <a:pt x="5720051" y="1904999"/>
                  </a:moveTo>
                  <a:lnTo>
                    <a:pt x="16523" y="1904999"/>
                  </a:lnTo>
                  <a:lnTo>
                    <a:pt x="14093" y="1904032"/>
                  </a:lnTo>
                  <a:lnTo>
                    <a:pt x="0" y="1871952"/>
                  </a:lnTo>
                  <a:lnTo>
                    <a:pt x="0" y="1866899"/>
                  </a:lnTo>
                  <a:lnTo>
                    <a:pt x="0" y="33047"/>
                  </a:lnTo>
                  <a:lnTo>
                    <a:pt x="16523" y="0"/>
                  </a:lnTo>
                  <a:lnTo>
                    <a:pt x="5720051" y="0"/>
                  </a:lnTo>
                  <a:lnTo>
                    <a:pt x="5752132" y="28187"/>
                  </a:lnTo>
                  <a:lnTo>
                    <a:pt x="5753099" y="33047"/>
                  </a:lnTo>
                  <a:lnTo>
                    <a:pt x="5753099" y="1871952"/>
                  </a:lnTo>
                  <a:lnTo>
                    <a:pt x="5724911" y="1904032"/>
                  </a:lnTo>
                  <a:lnTo>
                    <a:pt x="5720051" y="1904999"/>
                  </a:lnTo>
                  <a:close/>
                </a:path>
              </a:pathLst>
            </a:custGeom>
            <a:solidFill>
              <a:srgbClr val="FFFFFF"/>
            </a:solidFill>
          </p:spPr>
          <p:txBody>
            <a:bodyPr wrap="square" lIns="0" tIns="0" rIns="0" bIns="0" rtlCol="0"/>
            <a:lstStyle/>
            <a:p/>
          </p:txBody>
        </p:sp>
        <p:sp>
          <p:nvSpPr>
            <p:cNvPr id="10" name="object 10" descr=""/>
            <p:cNvSpPr/>
            <p:nvPr/>
          </p:nvSpPr>
          <p:spPr>
            <a:xfrm>
              <a:off x="228599" y="1600199"/>
              <a:ext cx="38100" cy="1905000"/>
            </a:xfrm>
            <a:custGeom>
              <a:avLst/>
              <a:gdLst/>
              <a:ahLst/>
              <a:cxnLst/>
              <a:rect l="l" t="t" r="r" b="b"/>
              <a:pathLst>
                <a:path w="38100" h="1905000">
                  <a:moveTo>
                    <a:pt x="38099" y="1904999"/>
                  </a:moveTo>
                  <a:lnTo>
                    <a:pt x="2789" y="1881525"/>
                  </a:lnTo>
                  <a:lnTo>
                    <a:pt x="0" y="1866899"/>
                  </a:lnTo>
                  <a:lnTo>
                    <a:pt x="0" y="38099"/>
                  </a:lnTo>
                  <a:lnTo>
                    <a:pt x="23474" y="2789"/>
                  </a:lnTo>
                  <a:lnTo>
                    <a:pt x="38099" y="0"/>
                  </a:lnTo>
                  <a:lnTo>
                    <a:pt x="38099" y="1904999"/>
                  </a:lnTo>
                  <a:close/>
                </a:path>
              </a:pathLst>
            </a:custGeom>
            <a:solidFill>
              <a:srgbClr val="F44236"/>
            </a:solidFill>
          </p:spPr>
          <p:txBody>
            <a:bodyPr wrap="square" lIns="0" tIns="0" rIns="0" bIns="0" rtlCol="0"/>
            <a:lstStyle/>
            <a:p/>
          </p:txBody>
        </p:sp>
        <p:sp>
          <p:nvSpPr>
            <p:cNvPr id="11" name="object 11" descr=""/>
            <p:cNvSpPr/>
            <p:nvPr/>
          </p:nvSpPr>
          <p:spPr>
            <a:xfrm>
              <a:off x="419168" y="1752600"/>
              <a:ext cx="457200" cy="1600200"/>
            </a:xfrm>
            <a:custGeom>
              <a:avLst/>
              <a:gdLst/>
              <a:ahLst/>
              <a:cxnLst/>
              <a:rect l="l" t="t" r="r" b="b"/>
              <a:pathLst>
                <a:path w="457200" h="1600200">
                  <a:moveTo>
                    <a:pt x="236018" y="1600199"/>
                  </a:moveTo>
                  <a:lnTo>
                    <a:pt x="221044" y="1600199"/>
                  </a:lnTo>
                  <a:lnTo>
                    <a:pt x="213575" y="1598915"/>
                  </a:lnTo>
                  <a:lnTo>
                    <a:pt x="178442" y="1580757"/>
                  </a:lnTo>
                  <a:lnTo>
                    <a:pt x="151518" y="1553429"/>
                  </a:lnTo>
                  <a:lnTo>
                    <a:pt x="125751" y="1514771"/>
                  </a:lnTo>
                  <a:lnTo>
                    <a:pt x="106232" y="1476070"/>
                  </a:lnTo>
                  <a:lnTo>
                    <a:pt x="87890" y="1430859"/>
                  </a:lnTo>
                  <a:lnTo>
                    <a:pt x="75012" y="1392935"/>
                  </a:lnTo>
                  <a:lnTo>
                    <a:pt x="62967" y="1351797"/>
                  </a:lnTo>
                  <a:lnTo>
                    <a:pt x="48314" y="1292342"/>
                  </a:lnTo>
                  <a:lnTo>
                    <a:pt x="35396" y="1228146"/>
                  </a:lnTo>
                  <a:lnTo>
                    <a:pt x="24339" y="1159828"/>
                  </a:lnTo>
                  <a:lnTo>
                    <a:pt x="15248" y="1088046"/>
                  </a:lnTo>
                  <a:lnTo>
                    <a:pt x="8211" y="1013490"/>
                  </a:lnTo>
                  <a:lnTo>
                    <a:pt x="5485" y="975408"/>
                  </a:lnTo>
                  <a:lnTo>
                    <a:pt x="3296" y="936880"/>
                  </a:lnTo>
                  <a:lnTo>
                    <a:pt x="1650" y="898046"/>
                  </a:lnTo>
                  <a:lnTo>
                    <a:pt x="550" y="858953"/>
                  </a:lnTo>
                  <a:lnTo>
                    <a:pt x="0" y="819741"/>
                  </a:lnTo>
                  <a:lnTo>
                    <a:pt x="0" y="780458"/>
                  </a:lnTo>
                  <a:lnTo>
                    <a:pt x="550" y="741246"/>
                  </a:lnTo>
                  <a:lnTo>
                    <a:pt x="1650" y="702152"/>
                  </a:lnTo>
                  <a:lnTo>
                    <a:pt x="3296" y="663318"/>
                  </a:lnTo>
                  <a:lnTo>
                    <a:pt x="5485" y="624790"/>
                  </a:lnTo>
                  <a:lnTo>
                    <a:pt x="8211" y="586708"/>
                  </a:lnTo>
                  <a:lnTo>
                    <a:pt x="15248" y="512153"/>
                  </a:lnTo>
                  <a:lnTo>
                    <a:pt x="24339" y="440370"/>
                  </a:lnTo>
                  <a:lnTo>
                    <a:pt x="35396" y="372052"/>
                  </a:lnTo>
                  <a:lnTo>
                    <a:pt x="48314" y="307857"/>
                  </a:lnTo>
                  <a:lnTo>
                    <a:pt x="62967" y="248402"/>
                  </a:lnTo>
                  <a:lnTo>
                    <a:pt x="75012" y="207264"/>
                  </a:lnTo>
                  <a:lnTo>
                    <a:pt x="87890" y="169339"/>
                  </a:lnTo>
                  <a:lnTo>
                    <a:pt x="106232" y="124129"/>
                  </a:lnTo>
                  <a:lnTo>
                    <a:pt x="125751" y="85428"/>
                  </a:lnTo>
                  <a:lnTo>
                    <a:pt x="151518" y="46769"/>
                  </a:lnTo>
                  <a:lnTo>
                    <a:pt x="178442" y="19441"/>
                  </a:lnTo>
                  <a:lnTo>
                    <a:pt x="213575" y="1284"/>
                  </a:lnTo>
                  <a:lnTo>
                    <a:pt x="221044" y="0"/>
                  </a:lnTo>
                  <a:lnTo>
                    <a:pt x="236018" y="0"/>
                  </a:lnTo>
                  <a:lnTo>
                    <a:pt x="273128" y="15373"/>
                  </a:lnTo>
                  <a:lnTo>
                    <a:pt x="305544" y="46769"/>
                  </a:lnTo>
                  <a:lnTo>
                    <a:pt x="331310" y="85428"/>
                  </a:lnTo>
                  <a:lnTo>
                    <a:pt x="350830" y="124129"/>
                  </a:lnTo>
                  <a:lnTo>
                    <a:pt x="369171" y="169339"/>
                  </a:lnTo>
                  <a:lnTo>
                    <a:pt x="382049" y="207264"/>
                  </a:lnTo>
                  <a:lnTo>
                    <a:pt x="394095" y="248402"/>
                  </a:lnTo>
                  <a:lnTo>
                    <a:pt x="408748" y="307857"/>
                  </a:lnTo>
                  <a:lnTo>
                    <a:pt x="421665" y="372052"/>
                  </a:lnTo>
                  <a:lnTo>
                    <a:pt x="432723" y="440370"/>
                  </a:lnTo>
                  <a:lnTo>
                    <a:pt x="441813" y="512153"/>
                  </a:lnTo>
                  <a:lnTo>
                    <a:pt x="448850" y="586708"/>
                  </a:lnTo>
                  <a:lnTo>
                    <a:pt x="451576" y="624790"/>
                  </a:lnTo>
                  <a:lnTo>
                    <a:pt x="453765" y="663318"/>
                  </a:lnTo>
                  <a:lnTo>
                    <a:pt x="455411" y="702152"/>
                  </a:lnTo>
                  <a:lnTo>
                    <a:pt x="456511" y="741246"/>
                  </a:lnTo>
                  <a:lnTo>
                    <a:pt x="457062" y="780458"/>
                  </a:lnTo>
                  <a:lnTo>
                    <a:pt x="457131" y="800099"/>
                  </a:lnTo>
                  <a:lnTo>
                    <a:pt x="456855" y="839359"/>
                  </a:lnTo>
                  <a:lnTo>
                    <a:pt x="456030" y="878523"/>
                  </a:lnTo>
                  <a:lnTo>
                    <a:pt x="454657" y="917499"/>
                  </a:lnTo>
                  <a:lnTo>
                    <a:pt x="452738" y="956191"/>
                  </a:lnTo>
                  <a:lnTo>
                    <a:pt x="450280" y="994508"/>
                  </a:lnTo>
                  <a:lnTo>
                    <a:pt x="443768" y="1069645"/>
                  </a:lnTo>
                  <a:lnTo>
                    <a:pt x="435183" y="1142186"/>
                  </a:lnTo>
                  <a:lnTo>
                    <a:pt x="424608" y="1211433"/>
                  </a:lnTo>
                  <a:lnTo>
                    <a:pt x="412144" y="1276719"/>
                  </a:lnTo>
                  <a:lnTo>
                    <a:pt x="397912" y="1337414"/>
                  </a:lnTo>
                  <a:lnTo>
                    <a:pt x="386159" y="1379574"/>
                  </a:lnTo>
                  <a:lnTo>
                    <a:pt x="373553" y="1418585"/>
                  </a:lnTo>
                  <a:lnTo>
                    <a:pt x="355534" y="1465358"/>
                  </a:lnTo>
                  <a:lnTo>
                    <a:pt x="336292" y="1505724"/>
                  </a:lnTo>
                  <a:lnTo>
                    <a:pt x="316012" y="1539295"/>
                  </a:lnTo>
                  <a:lnTo>
                    <a:pt x="289500" y="1571218"/>
                  </a:lnTo>
                  <a:lnTo>
                    <a:pt x="258388" y="1593778"/>
                  </a:lnTo>
                  <a:lnTo>
                    <a:pt x="236018" y="1600199"/>
                  </a:lnTo>
                  <a:close/>
                </a:path>
              </a:pathLst>
            </a:custGeom>
            <a:solidFill>
              <a:srgbClr val="FF9800">
                <a:alpha val="10198"/>
              </a:srgbClr>
            </a:solidFill>
          </p:spPr>
          <p:txBody>
            <a:bodyPr wrap="square" lIns="0" tIns="0" rIns="0" bIns="0" rtlCol="0"/>
            <a:lstStyle/>
            <a:p/>
          </p:txBody>
        </p:sp>
        <p:pic>
          <p:nvPicPr>
            <p:cNvPr id="12" name="object 12" descr=""/>
            <p:cNvPicPr/>
            <p:nvPr/>
          </p:nvPicPr>
          <p:blipFill>
            <a:blip r:embed="rId3" cstate="print"/>
            <a:stretch>
              <a:fillRect/>
            </a:stretch>
          </p:blipFill>
          <p:spPr>
            <a:xfrm>
              <a:off x="533399" y="1866899"/>
              <a:ext cx="228599" cy="304799"/>
            </a:xfrm>
            <a:prstGeom prst="rect">
              <a:avLst/>
            </a:prstGeom>
          </p:spPr>
        </p:pic>
        <p:sp>
          <p:nvSpPr>
            <p:cNvPr id="13" name="object 13" descr=""/>
            <p:cNvSpPr/>
            <p:nvPr/>
          </p:nvSpPr>
          <p:spPr>
            <a:xfrm>
              <a:off x="1066787" y="2190749"/>
              <a:ext cx="47625" cy="809625"/>
            </a:xfrm>
            <a:custGeom>
              <a:avLst/>
              <a:gdLst/>
              <a:ahLst/>
              <a:cxnLst/>
              <a:rect l="l" t="t" r="r" b="b"/>
              <a:pathLst>
                <a:path w="47625" h="809625">
                  <a:moveTo>
                    <a:pt x="47625" y="782662"/>
                  </a:moveTo>
                  <a:lnTo>
                    <a:pt x="26974" y="762000"/>
                  </a:lnTo>
                  <a:lnTo>
                    <a:pt x="20662" y="762000"/>
                  </a:lnTo>
                  <a:lnTo>
                    <a:pt x="0" y="782662"/>
                  </a:lnTo>
                  <a:lnTo>
                    <a:pt x="0" y="788974"/>
                  </a:lnTo>
                  <a:lnTo>
                    <a:pt x="20662" y="809625"/>
                  </a:lnTo>
                  <a:lnTo>
                    <a:pt x="26974" y="809625"/>
                  </a:lnTo>
                  <a:lnTo>
                    <a:pt x="47625" y="788974"/>
                  </a:lnTo>
                  <a:lnTo>
                    <a:pt x="47625" y="785812"/>
                  </a:lnTo>
                  <a:lnTo>
                    <a:pt x="47625" y="782662"/>
                  </a:lnTo>
                  <a:close/>
                </a:path>
                <a:path w="47625" h="809625">
                  <a:moveTo>
                    <a:pt x="47625" y="515962"/>
                  </a:moveTo>
                  <a:lnTo>
                    <a:pt x="26974" y="495300"/>
                  </a:lnTo>
                  <a:lnTo>
                    <a:pt x="20662" y="495300"/>
                  </a:lnTo>
                  <a:lnTo>
                    <a:pt x="0" y="515962"/>
                  </a:lnTo>
                  <a:lnTo>
                    <a:pt x="0" y="522274"/>
                  </a:lnTo>
                  <a:lnTo>
                    <a:pt x="20662" y="542925"/>
                  </a:lnTo>
                  <a:lnTo>
                    <a:pt x="26974" y="542925"/>
                  </a:lnTo>
                  <a:lnTo>
                    <a:pt x="47625" y="522274"/>
                  </a:lnTo>
                  <a:lnTo>
                    <a:pt x="47625" y="519112"/>
                  </a:lnTo>
                  <a:lnTo>
                    <a:pt x="47625" y="515962"/>
                  </a:lnTo>
                  <a:close/>
                </a:path>
                <a:path w="47625" h="8096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14" name="object 14" descr=""/>
          <p:cNvSpPr txBox="1"/>
          <p:nvPr/>
        </p:nvSpPr>
        <p:spPr>
          <a:xfrm>
            <a:off x="1016000" y="1736514"/>
            <a:ext cx="4703445" cy="1326515"/>
          </a:xfrm>
          <a:prstGeom prst="rect">
            <a:avLst/>
          </a:prstGeom>
        </p:spPr>
        <p:txBody>
          <a:bodyPr wrap="square" lIns="0" tIns="15875" rIns="0" bIns="0" rtlCol="0" vert="horz">
            <a:spAutoFit/>
          </a:bodyPr>
          <a:lstStyle/>
          <a:p>
            <a:pPr marL="12700">
              <a:lnSpc>
                <a:spcPct val="100000"/>
              </a:lnSpc>
              <a:spcBef>
                <a:spcPts val="125"/>
              </a:spcBef>
            </a:pPr>
            <a:r>
              <a:rPr dirty="0" sz="1500" spc="-150">
                <a:solidFill>
                  <a:srgbClr val="414141"/>
                </a:solidFill>
                <a:latin typeface="SimSun"/>
                <a:cs typeface="SimSun"/>
              </a:rPr>
              <a:t>熱顯像檢測系統升級</a:t>
            </a:r>
            <a:endParaRPr sz="1500">
              <a:latin typeface="SimSun"/>
              <a:cs typeface="SimSun"/>
            </a:endParaRPr>
          </a:p>
          <a:p>
            <a:pPr marL="202565" marR="5080">
              <a:lnSpc>
                <a:spcPct val="125000"/>
              </a:lnSpc>
              <a:spcBef>
                <a:spcPts val="615"/>
              </a:spcBef>
            </a:pPr>
            <a:r>
              <a:rPr dirty="0" sz="1200">
                <a:solidFill>
                  <a:srgbClr val="414141"/>
                </a:solidFill>
                <a:latin typeface="PMingLiU"/>
                <a:cs typeface="PMingLiU"/>
              </a:rPr>
              <a:t>整合更高分辨率的熱顯像傳感器，提高</a:t>
            </a:r>
            <a:r>
              <a:rPr dirty="0" sz="1200" spc="-10">
                <a:solidFill>
                  <a:srgbClr val="414141"/>
                </a:solidFill>
                <a:latin typeface="Arial"/>
                <a:cs typeface="Arial"/>
              </a:rPr>
              <a:t>PPBOX</a:t>
            </a:r>
            <a:r>
              <a:rPr dirty="0" sz="1200" spc="-10">
                <a:solidFill>
                  <a:srgbClr val="414141"/>
                </a:solidFill>
                <a:latin typeface="PMingLiU"/>
                <a:cs typeface="PMingLiU"/>
              </a:rPr>
              <a:t>和充電區異常溫度檢</a:t>
            </a:r>
            <a:r>
              <a:rPr dirty="0" sz="1200" spc="-15">
                <a:solidFill>
                  <a:srgbClr val="414141"/>
                </a:solidFill>
                <a:latin typeface="PMingLiU"/>
                <a:cs typeface="PMingLiU"/>
              </a:rPr>
              <a:t>測精確度</a:t>
            </a:r>
            <a:endParaRPr sz="1200">
              <a:latin typeface="PMingLiU"/>
              <a:cs typeface="PMingLiU"/>
            </a:endParaRPr>
          </a:p>
          <a:p>
            <a:pPr marL="202565" marR="1292860">
              <a:lnSpc>
                <a:spcPct val="145800"/>
              </a:lnSpc>
            </a:pPr>
            <a:r>
              <a:rPr dirty="0" sz="1200" spc="-5">
                <a:solidFill>
                  <a:srgbClr val="414141"/>
                </a:solidFill>
                <a:latin typeface="PMingLiU"/>
                <a:cs typeface="PMingLiU"/>
              </a:rPr>
              <a:t>開發實時熱圖分析算法，自動識別設備過熱模式增加多點同時檢測能力，縮短單次巡檢時間</a:t>
            </a:r>
            <a:endParaRPr sz="1200">
              <a:latin typeface="PMingLiU"/>
              <a:cs typeface="PMingLiU"/>
            </a:endParaRPr>
          </a:p>
        </p:txBody>
      </p:sp>
      <p:grpSp>
        <p:nvGrpSpPr>
          <p:cNvPr id="15" name="object 15" descr=""/>
          <p:cNvGrpSpPr/>
          <p:nvPr/>
        </p:nvGrpSpPr>
        <p:grpSpPr>
          <a:xfrm>
            <a:off x="6191249" y="1600199"/>
            <a:ext cx="5772150" cy="1905000"/>
            <a:chOff x="6191249" y="1600199"/>
            <a:chExt cx="5772150" cy="1905000"/>
          </a:xfrm>
        </p:grpSpPr>
        <p:sp>
          <p:nvSpPr>
            <p:cNvPr id="16" name="object 16" descr=""/>
            <p:cNvSpPr/>
            <p:nvPr/>
          </p:nvSpPr>
          <p:spPr>
            <a:xfrm>
              <a:off x="6210298" y="1600199"/>
              <a:ext cx="5753100" cy="1905000"/>
            </a:xfrm>
            <a:custGeom>
              <a:avLst/>
              <a:gdLst/>
              <a:ahLst/>
              <a:cxnLst/>
              <a:rect l="l" t="t" r="r" b="b"/>
              <a:pathLst>
                <a:path w="5753100" h="1905000">
                  <a:moveTo>
                    <a:pt x="5720052" y="1904999"/>
                  </a:moveTo>
                  <a:lnTo>
                    <a:pt x="16523" y="1904999"/>
                  </a:lnTo>
                  <a:lnTo>
                    <a:pt x="14093" y="1904032"/>
                  </a:lnTo>
                  <a:lnTo>
                    <a:pt x="0" y="1871952"/>
                  </a:lnTo>
                  <a:lnTo>
                    <a:pt x="0" y="1866899"/>
                  </a:lnTo>
                  <a:lnTo>
                    <a:pt x="0" y="33047"/>
                  </a:lnTo>
                  <a:lnTo>
                    <a:pt x="16523" y="0"/>
                  </a:lnTo>
                  <a:lnTo>
                    <a:pt x="5720052" y="0"/>
                  </a:lnTo>
                  <a:lnTo>
                    <a:pt x="5752131" y="28187"/>
                  </a:lnTo>
                  <a:lnTo>
                    <a:pt x="5753098" y="33047"/>
                  </a:lnTo>
                  <a:lnTo>
                    <a:pt x="5753098" y="1871952"/>
                  </a:lnTo>
                  <a:lnTo>
                    <a:pt x="5724911" y="1904032"/>
                  </a:lnTo>
                  <a:lnTo>
                    <a:pt x="5720052" y="1904999"/>
                  </a:lnTo>
                  <a:close/>
                </a:path>
              </a:pathLst>
            </a:custGeom>
            <a:solidFill>
              <a:srgbClr val="FFFFFF"/>
            </a:solidFill>
          </p:spPr>
          <p:txBody>
            <a:bodyPr wrap="square" lIns="0" tIns="0" rIns="0" bIns="0" rtlCol="0"/>
            <a:lstStyle/>
            <a:p/>
          </p:txBody>
        </p:sp>
        <p:sp>
          <p:nvSpPr>
            <p:cNvPr id="17" name="object 17" descr=""/>
            <p:cNvSpPr/>
            <p:nvPr/>
          </p:nvSpPr>
          <p:spPr>
            <a:xfrm>
              <a:off x="6191249" y="1600199"/>
              <a:ext cx="38100" cy="1905000"/>
            </a:xfrm>
            <a:custGeom>
              <a:avLst/>
              <a:gdLst/>
              <a:ahLst/>
              <a:cxnLst/>
              <a:rect l="l" t="t" r="r" b="b"/>
              <a:pathLst>
                <a:path w="38100" h="1905000">
                  <a:moveTo>
                    <a:pt x="38099" y="1904999"/>
                  </a:moveTo>
                  <a:lnTo>
                    <a:pt x="2789" y="1881525"/>
                  </a:lnTo>
                  <a:lnTo>
                    <a:pt x="0" y="1866899"/>
                  </a:lnTo>
                  <a:lnTo>
                    <a:pt x="0" y="38099"/>
                  </a:lnTo>
                  <a:lnTo>
                    <a:pt x="23473" y="2789"/>
                  </a:lnTo>
                  <a:lnTo>
                    <a:pt x="38099" y="0"/>
                  </a:lnTo>
                  <a:lnTo>
                    <a:pt x="38099" y="1904999"/>
                  </a:lnTo>
                  <a:close/>
                </a:path>
              </a:pathLst>
            </a:custGeom>
            <a:solidFill>
              <a:srgbClr val="FF9800"/>
            </a:solidFill>
          </p:spPr>
          <p:txBody>
            <a:bodyPr wrap="square" lIns="0" tIns="0" rIns="0" bIns="0" rtlCol="0"/>
            <a:lstStyle/>
            <a:p/>
          </p:txBody>
        </p:sp>
        <p:sp>
          <p:nvSpPr>
            <p:cNvPr id="18" name="object 18" descr=""/>
            <p:cNvSpPr/>
            <p:nvPr/>
          </p:nvSpPr>
          <p:spPr>
            <a:xfrm>
              <a:off x="6381822" y="1752600"/>
              <a:ext cx="485775" cy="1600200"/>
            </a:xfrm>
            <a:custGeom>
              <a:avLst/>
              <a:gdLst/>
              <a:ahLst/>
              <a:cxnLst/>
              <a:rect l="l" t="t" r="r" b="b"/>
              <a:pathLst>
                <a:path w="485775" h="1600200">
                  <a:moveTo>
                    <a:pt x="250769" y="1600199"/>
                  </a:moveTo>
                  <a:lnTo>
                    <a:pt x="234860" y="1600199"/>
                  </a:lnTo>
                  <a:lnTo>
                    <a:pt x="226924" y="1598915"/>
                  </a:lnTo>
                  <a:lnTo>
                    <a:pt x="189595" y="1580757"/>
                  </a:lnTo>
                  <a:lnTo>
                    <a:pt x="160987" y="1553429"/>
                  </a:lnTo>
                  <a:lnTo>
                    <a:pt x="133610" y="1514771"/>
                  </a:lnTo>
                  <a:lnTo>
                    <a:pt x="112870" y="1476070"/>
                  </a:lnTo>
                  <a:lnTo>
                    <a:pt x="93383" y="1430859"/>
                  </a:lnTo>
                  <a:lnTo>
                    <a:pt x="79700" y="1392935"/>
                  </a:lnTo>
                  <a:lnTo>
                    <a:pt x="66901" y="1351797"/>
                  </a:lnTo>
                  <a:lnTo>
                    <a:pt x="51333" y="1292342"/>
                  </a:lnTo>
                  <a:lnTo>
                    <a:pt x="37608" y="1228146"/>
                  </a:lnTo>
                  <a:lnTo>
                    <a:pt x="25859" y="1159828"/>
                  </a:lnTo>
                  <a:lnTo>
                    <a:pt x="16200" y="1088046"/>
                  </a:lnTo>
                  <a:lnTo>
                    <a:pt x="8724" y="1013490"/>
                  </a:lnTo>
                  <a:lnTo>
                    <a:pt x="5828" y="975408"/>
                  </a:lnTo>
                  <a:lnTo>
                    <a:pt x="3502" y="936880"/>
                  </a:lnTo>
                  <a:lnTo>
                    <a:pt x="1753" y="898046"/>
                  </a:lnTo>
                  <a:lnTo>
                    <a:pt x="584" y="858953"/>
                  </a:lnTo>
                  <a:lnTo>
                    <a:pt x="0" y="819741"/>
                  </a:lnTo>
                  <a:lnTo>
                    <a:pt x="0" y="780458"/>
                  </a:lnTo>
                  <a:lnTo>
                    <a:pt x="584" y="741246"/>
                  </a:lnTo>
                  <a:lnTo>
                    <a:pt x="1753" y="702152"/>
                  </a:lnTo>
                  <a:lnTo>
                    <a:pt x="3502" y="663318"/>
                  </a:lnTo>
                  <a:lnTo>
                    <a:pt x="5828" y="624790"/>
                  </a:lnTo>
                  <a:lnTo>
                    <a:pt x="8724" y="586708"/>
                  </a:lnTo>
                  <a:lnTo>
                    <a:pt x="16200" y="512153"/>
                  </a:lnTo>
                  <a:lnTo>
                    <a:pt x="25859" y="440370"/>
                  </a:lnTo>
                  <a:lnTo>
                    <a:pt x="37608" y="372052"/>
                  </a:lnTo>
                  <a:lnTo>
                    <a:pt x="51333" y="307857"/>
                  </a:lnTo>
                  <a:lnTo>
                    <a:pt x="66901" y="248402"/>
                  </a:lnTo>
                  <a:lnTo>
                    <a:pt x="79700" y="207264"/>
                  </a:lnTo>
                  <a:lnTo>
                    <a:pt x="93383" y="169339"/>
                  </a:lnTo>
                  <a:lnTo>
                    <a:pt x="112870" y="124129"/>
                  </a:lnTo>
                  <a:lnTo>
                    <a:pt x="133610" y="85428"/>
                  </a:lnTo>
                  <a:lnTo>
                    <a:pt x="155401" y="53609"/>
                  </a:lnTo>
                  <a:lnTo>
                    <a:pt x="183796" y="23977"/>
                  </a:lnTo>
                  <a:lnTo>
                    <a:pt x="219007" y="3852"/>
                  </a:lnTo>
                  <a:lnTo>
                    <a:pt x="234860" y="0"/>
                  </a:lnTo>
                  <a:lnTo>
                    <a:pt x="250769" y="0"/>
                  </a:lnTo>
                  <a:lnTo>
                    <a:pt x="290198" y="15373"/>
                  </a:lnTo>
                  <a:lnTo>
                    <a:pt x="319004" y="40383"/>
                  </a:lnTo>
                  <a:lnTo>
                    <a:pt x="346661" y="76817"/>
                  </a:lnTo>
                  <a:lnTo>
                    <a:pt x="367682" y="113830"/>
                  </a:lnTo>
                  <a:lnTo>
                    <a:pt x="387501" y="157452"/>
                  </a:lnTo>
                  <a:lnTo>
                    <a:pt x="401462" y="194260"/>
                  </a:lnTo>
                  <a:lnTo>
                    <a:pt x="414561" y="234343"/>
                  </a:lnTo>
                  <a:lnTo>
                    <a:pt x="426729" y="277491"/>
                  </a:lnTo>
                  <a:lnTo>
                    <a:pt x="441394" y="339390"/>
                  </a:lnTo>
                  <a:lnTo>
                    <a:pt x="454146" y="405726"/>
                  </a:lnTo>
                  <a:lnTo>
                    <a:pt x="464863" y="475860"/>
                  </a:lnTo>
                  <a:lnTo>
                    <a:pt x="473442" y="549117"/>
                  </a:lnTo>
                  <a:lnTo>
                    <a:pt x="479799" y="624790"/>
                  </a:lnTo>
                  <a:lnTo>
                    <a:pt x="482125" y="663318"/>
                  </a:lnTo>
                  <a:lnTo>
                    <a:pt x="483875" y="702152"/>
                  </a:lnTo>
                  <a:lnTo>
                    <a:pt x="485044" y="741246"/>
                  </a:lnTo>
                  <a:lnTo>
                    <a:pt x="485629" y="780458"/>
                  </a:lnTo>
                  <a:lnTo>
                    <a:pt x="485701" y="800099"/>
                  </a:lnTo>
                  <a:lnTo>
                    <a:pt x="485409" y="839359"/>
                  </a:lnTo>
                  <a:lnTo>
                    <a:pt x="484532" y="878523"/>
                  </a:lnTo>
                  <a:lnTo>
                    <a:pt x="483073" y="917499"/>
                  </a:lnTo>
                  <a:lnTo>
                    <a:pt x="481034" y="956191"/>
                  </a:lnTo>
                  <a:lnTo>
                    <a:pt x="478423" y="994508"/>
                  </a:lnTo>
                  <a:lnTo>
                    <a:pt x="471503" y="1069645"/>
                  </a:lnTo>
                  <a:lnTo>
                    <a:pt x="462381" y="1142186"/>
                  </a:lnTo>
                  <a:lnTo>
                    <a:pt x="451145" y="1211433"/>
                  </a:lnTo>
                  <a:lnTo>
                    <a:pt x="437903" y="1276719"/>
                  </a:lnTo>
                  <a:lnTo>
                    <a:pt x="422782" y="1337414"/>
                  </a:lnTo>
                  <a:lnTo>
                    <a:pt x="410293" y="1379574"/>
                  </a:lnTo>
                  <a:lnTo>
                    <a:pt x="396900" y="1418585"/>
                  </a:lnTo>
                  <a:lnTo>
                    <a:pt x="382671" y="1454246"/>
                  </a:lnTo>
                  <a:lnTo>
                    <a:pt x="362534" y="1496253"/>
                  </a:lnTo>
                  <a:lnTo>
                    <a:pt x="341243" y="1531556"/>
                  </a:lnTo>
                  <a:lnTo>
                    <a:pt x="313319" y="1565747"/>
                  </a:lnTo>
                  <a:lnTo>
                    <a:pt x="278453" y="1591540"/>
                  </a:lnTo>
                  <a:lnTo>
                    <a:pt x="250769" y="1600199"/>
                  </a:lnTo>
                  <a:close/>
                </a:path>
              </a:pathLst>
            </a:custGeom>
            <a:solidFill>
              <a:srgbClr val="FF9800">
                <a:alpha val="10198"/>
              </a:srgbClr>
            </a:solidFill>
          </p:spPr>
          <p:txBody>
            <a:bodyPr wrap="square" lIns="0" tIns="0" rIns="0" bIns="0" rtlCol="0"/>
            <a:lstStyle/>
            <a:p/>
          </p:txBody>
        </p:sp>
        <p:pic>
          <p:nvPicPr>
            <p:cNvPr id="19" name="object 19" descr=""/>
            <p:cNvPicPr/>
            <p:nvPr/>
          </p:nvPicPr>
          <p:blipFill>
            <a:blip r:embed="rId4" cstate="print"/>
            <a:stretch>
              <a:fillRect/>
            </a:stretch>
          </p:blipFill>
          <p:spPr>
            <a:xfrm>
              <a:off x="6496049" y="1866899"/>
              <a:ext cx="257174" cy="304799"/>
            </a:xfrm>
            <a:prstGeom prst="rect">
              <a:avLst/>
            </a:prstGeom>
          </p:spPr>
        </p:pic>
        <p:sp>
          <p:nvSpPr>
            <p:cNvPr id="20" name="object 20" descr=""/>
            <p:cNvSpPr/>
            <p:nvPr/>
          </p:nvSpPr>
          <p:spPr>
            <a:xfrm>
              <a:off x="7058012" y="2190749"/>
              <a:ext cx="47625" cy="581025"/>
            </a:xfrm>
            <a:custGeom>
              <a:avLst/>
              <a:gdLst/>
              <a:ahLst/>
              <a:cxnLst/>
              <a:rect l="l" t="t" r="r" b="b"/>
              <a:pathLst>
                <a:path w="47625" h="5810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5810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5810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21" name="object 21" descr=""/>
          <p:cNvSpPr txBox="1"/>
          <p:nvPr/>
        </p:nvSpPr>
        <p:spPr>
          <a:xfrm>
            <a:off x="7007225" y="1733667"/>
            <a:ext cx="4178300" cy="1100455"/>
          </a:xfrm>
          <a:prstGeom prst="rect">
            <a:avLst/>
          </a:prstGeom>
        </p:spPr>
        <p:txBody>
          <a:bodyPr wrap="square" lIns="0" tIns="12700" rIns="0" bIns="0" rtlCol="0" vert="horz">
            <a:spAutoFit/>
          </a:bodyPr>
          <a:lstStyle/>
          <a:p>
            <a:pPr marL="12700">
              <a:lnSpc>
                <a:spcPct val="100000"/>
              </a:lnSpc>
              <a:spcBef>
                <a:spcPts val="100"/>
              </a:spcBef>
            </a:pPr>
            <a:r>
              <a:rPr dirty="0" sz="1500" spc="-155">
                <a:solidFill>
                  <a:srgbClr val="414141"/>
                </a:solidFill>
                <a:latin typeface="SimSun"/>
                <a:cs typeface="SimSun"/>
              </a:rPr>
              <a:t>視覺識</a:t>
            </a:r>
            <a:r>
              <a:rPr dirty="0" sz="1450" spc="-125">
                <a:solidFill>
                  <a:srgbClr val="414141"/>
                </a:solidFill>
                <a:latin typeface="SimSun"/>
                <a:cs typeface="SimSun"/>
              </a:rPr>
              <a:t>別</a:t>
            </a:r>
            <a:r>
              <a:rPr dirty="0" sz="1500" spc="-160">
                <a:solidFill>
                  <a:srgbClr val="414141"/>
                </a:solidFill>
                <a:latin typeface="SimSun"/>
                <a:cs typeface="SimSun"/>
              </a:rPr>
              <a:t>系統</a:t>
            </a:r>
            <a:r>
              <a:rPr dirty="0" sz="1550" spc="-210">
                <a:solidFill>
                  <a:srgbClr val="414141"/>
                </a:solidFill>
                <a:latin typeface="SimSun"/>
                <a:cs typeface="SimSun"/>
              </a:rPr>
              <a:t>優</a:t>
            </a:r>
            <a:r>
              <a:rPr dirty="0" sz="1500" spc="-50">
                <a:solidFill>
                  <a:srgbClr val="414141"/>
                </a:solidFill>
                <a:latin typeface="SimSun"/>
                <a:cs typeface="SimSun"/>
              </a:rPr>
              <a:t>化</a:t>
            </a:r>
            <a:endParaRPr sz="1500">
              <a:latin typeface="SimSun"/>
              <a:cs typeface="SimSun"/>
            </a:endParaRPr>
          </a:p>
          <a:p>
            <a:pPr marL="202565" marR="5080">
              <a:lnSpc>
                <a:spcPct val="145800"/>
              </a:lnSpc>
              <a:spcBef>
                <a:spcPts val="305"/>
              </a:spcBef>
            </a:pPr>
            <a:r>
              <a:rPr dirty="0" sz="1200" spc="-5">
                <a:solidFill>
                  <a:srgbClr val="414141"/>
                </a:solidFill>
                <a:latin typeface="PMingLiU"/>
                <a:cs typeface="PMingLiU"/>
              </a:rPr>
              <a:t>改進機器狗的物體識別算法，提高對走道異物的判斷準確率增加特定人員特征庫，實現外來人員自動識別</a:t>
            </a:r>
            <a:endParaRPr sz="1200">
              <a:latin typeface="PMingLiU"/>
              <a:cs typeface="PMingLiU"/>
            </a:endParaRPr>
          </a:p>
          <a:p>
            <a:pPr marL="202565">
              <a:lnSpc>
                <a:spcPct val="100000"/>
              </a:lnSpc>
              <a:spcBef>
                <a:spcPts val="660"/>
              </a:spcBef>
            </a:pPr>
            <a:r>
              <a:rPr dirty="0" sz="1200" spc="-5">
                <a:solidFill>
                  <a:srgbClr val="414141"/>
                </a:solidFill>
                <a:latin typeface="PMingLiU"/>
                <a:cs typeface="PMingLiU"/>
              </a:rPr>
              <a:t>優化圖像穩定性，確保低光照環境下巡檢效果</a:t>
            </a:r>
            <a:endParaRPr sz="1200">
              <a:latin typeface="PMingLiU"/>
              <a:cs typeface="PMingLiU"/>
            </a:endParaRPr>
          </a:p>
        </p:txBody>
      </p:sp>
      <p:grpSp>
        <p:nvGrpSpPr>
          <p:cNvPr id="22" name="object 22" descr=""/>
          <p:cNvGrpSpPr/>
          <p:nvPr/>
        </p:nvGrpSpPr>
        <p:grpSpPr>
          <a:xfrm>
            <a:off x="228599" y="3695699"/>
            <a:ext cx="5772150" cy="1676400"/>
            <a:chOff x="228599" y="3695699"/>
            <a:chExt cx="5772150" cy="1676400"/>
          </a:xfrm>
        </p:grpSpPr>
        <p:sp>
          <p:nvSpPr>
            <p:cNvPr id="23" name="object 23" descr=""/>
            <p:cNvSpPr/>
            <p:nvPr/>
          </p:nvSpPr>
          <p:spPr>
            <a:xfrm>
              <a:off x="247649" y="3695699"/>
              <a:ext cx="5753100" cy="1676400"/>
            </a:xfrm>
            <a:custGeom>
              <a:avLst/>
              <a:gdLst/>
              <a:ahLst/>
              <a:cxnLst/>
              <a:rect l="l" t="t" r="r" b="b"/>
              <a:pathLst>
                <a:path w="5753100" h="1676400">
                  <a:moveTo>
                    <a:pt x="5720051" y="1676399"/>
                  </a:moveTo>
                  <a:lnTo>
                    <a:pt x="16523" y="1676399"/>
                  </a:lnTo>
                  <a:lnTo>
                    <a:pt x="14093" y="1675432"/>
                  </a:lnTo>
                  <a:lnTo>
                    <a:pt x="0" y="1643352"/>
                  </a:lnTo>
                  <a:lnTo>
                    <a:pt x="0" y="1638299"/>
                  </a:lnTo>
                  <a:lnTo>
                    <a:pt x="0" y="33047"/>
                  </a:lnTo>
                  <a:lnTo>
                    <a:pt x="16523" y="0"/>
                  </a:lnTo>
                  <a:lnTo>
                    <a:pt x="5720051" y="0"/>
                  </a:lnTo>
                  <a:lnTo>
                    <a:pt x="5752132" y="28186"/>
                  </a:lnTo>
                  <a:lnTo>
                    <a:pt x="5753099" y="33047"/>
                  </a:lnTo>
                  <a:lnTo>
                    <a:pt x="5753099" y="1643352"/>
                  </a:lnTo>
                  <a:lnTo>
                    <a:pt x="5724911" y="1675432"/>
                  </a:lnTo>
                  <a:lnTo>
                    <a:pt x="5720051" y="1676399"/>
                  </a:lnTo>
                  <a:close/>
                </a:path>
              </a:pathLst>
            </a:custGeom>
            <a:solidFill>
              <a:srgbClr val="FFFFFF"/>
            </a:solidFill>
          </p:spPr>
          <p:txBody>
            <a:bodyPr wrap="square" lIns="0" tIns="0" rIns="0" bIns="0" rtlCol="0"/>
            <a:lstStyle/>
            <a:p/>
          </p:txBody>
        </p:sp>
        <p:sp>
          <p:nvSpPr>
            <p:cNvPr id="24" name="object 24" descr=""/>
            <p:cNvSpPr/>
            <p:nvPr/>
          </p:nvSpPr>
          <p:spPr>
            <a:xfrm>
              <a:off x="228599" y="3695699"/>
              <a:ext cx="38100" cy="1676400"/>
            </a:xfrm>
            <a:custGeom>
              <a:avLst/>
              <a:gdLst/>
              <a:ahLst/>
              <a:cxnLst/>
              <a:rect l="l" t="t" r="r" b="b"/>
              <a:pathLst>
                <a:path w="38100" h="1676400">
                  <a:moveTo>
                    <a:pt x="38099" y="1676399"/>
                  </a:moveTo>
                  <a:lnTo>
                    <a:pt x="2789" y="1652925"/>
                  </a:lnTo>
                  <a:lnTo>
                    <a:pt x="0" y="1638299"/>
                  </a:lnTo>
                  <a:lnTo>
                    <a:pt x="0" y="38099"/>
                  </a:lnTo>
                  <a:lnTo>
                    <a:pt x="23474" y="2789"/>
                  </a:lnTo>
                  <a:lnTo>
                    <a:pt x="38099" y="0"/>
                  </a:lnTo>
                  <a:lnTo>
                    <a:pt x="38099" y="1676399"/>
                  </a:lnTo>
                  <a:close/>
                </a:path>
              </a:pathLst>
            </a:custGeom>
            <a:solidFill>
              <a:srgbClr val="FF9800"/>
            </a:solidFill>
          </p:spPr>
          <p:txBody>
            <a:bodyPr wrap="square" lIns="0" tIns="0" rIns="0" bIns="0" rtlCol="0"/>
            <a:lstStyle/>
            <a:p/>
          </p:txBody>
        </p:sp>
        <p:sp>
          <p:nvSpPr>
            <p:cNvPr id="25" name="object 25" descr=""/>
            <p:cNvSpPr/>
            <p:nvPr/>
          </p:nvSpPr>
          <p:spPr>
            <a:xfrm>
              <a:off x="419099" y="3848099"/>
              <a:ext cx="457200" cy="1371600"/>
            </a:xfrm>
            <a:custGeom>
              <a:avLst/>
              <a:gdLst/>
              <a:ahLst/>
              <a:cxnLst/>
              <a:rect l="l" t="t" r="r" b="b"/>
              <a:pathLst>
                <a:path w="457200" h="1371600">
                  <a:moveTo>
                    <a:pt x="236086" y="1371599"/>
                  </a:moveTo>
                  <a:lnTo>
                    <a:pt x="221113" y="1371599"/>
                  </a:lnTo>
                  <a:lnTo>
                    <a:pt x="213644" y="1370498"/>
                  </a:lnTo>
                  <a:lnTo>
                    <a:pt x="178511" y="1354934"/>
                  </a:lnTo>
                  <a:lnTo>
                    <a:pt x="146329" y="1325647"/>
                  </a:lnTo>
                  <a:lnTo>
                    <a:pt x="120838" y="1290620"/>
                  </a:lnTo>
                  <a:lnTo>
                    <a:pt x="101596" y="1256020"/>
                  </a:lnTo>
                  <a:lnTo>
                    <a:pt x="83577" y="1215929"/>
                  </a:lnTo>
                  <a:lnTo>
                    <a:pt x="66955" y="1170732"/>
                  </a:lnTo>
                  <a:lnTo>
                    <a:pt x="51889" y="1120866"/>
                  </a:lnTo>
                  <a:lnTo>
                    <a:pt x="38525" y="1066808"/>
                  </a:lnTo>
                  <a:lnTo>
                    <a:pt x="26992" y="1009082"/>
                  </a:lnTo>
                  <a:lnTo>
                    <a:pt x="17401" y="948243"/>
                  </a:lnTo>
                  <a:lnTo>
                    <a:pt x="9843" y="884876"/>
                  </a:lnTo>
                  <a:lnTo>
                    <a:pt x="4392" y="819592"/>
                  </a:lnTo>
                  <a:lnTo>
                    <a:pt x="1100" y="753019"/>
                  </a:lnTo>
                  <a:lnTo>
                    <a:pt x="0" y="685799"/>
                  </a:lnTo>
                  <a:lnTo>
                    <a:pt x="275" y="652148"/>
                  </a:lnTo>
                  <a:lnTo>
                    <a:pt x="2474" y="585171"/>
                  </a:lnTo>
                  <a:lnTo>
                    <a:pt x="6850" y="519163"/>
                  </a:lnTo>
                  <a:lnTo>
                    <a:pt x="13362" y="454760"/>
                  </a:lnTo>
                  <a:lnTo>
                    <a:pt x="21947" y="392582"/>
                  </a:lnTo>
                  <a:lnTo>
                    <a:pt x="32523" y="333227"/>
                  </a:lnTo>
                  <a:lnTo>
                    <a:pt x="44986" y="277268"/>
                  </a:lnTo>
                  <a:lnTo>
                    <a:pt x="59218" y="225244"/>
                  </a:lnTo>
                  <a:lnTo>
                    <a:pt x="75081" y="177654"/>
                  </a:lnTo>
                  <a:lnTo>
                    <a:pt x="92423" y="134959"/>
                  </a:lnTo>
                  <a:lnTo>
                    <a:pt x="111075" y="97569"/>
                  </a:lnTo>
                  <a:lnTo>
                    <a:pt x="135960" y="58836"/>
                  </a:lnTo>
                  <a:lnTo>
                    <a:pt x="162240" y="29529"/>
                  </a:lnTo>
                  <a:lnTo>
                    <a:pt x="198742" y="5503"/>
                  </a:lnTo>
                  <a:lnTo>
                    <a:pt x="221113" y="0"/>
                  </a:lnTo>
                  <a:lnTo>
                    <a:pt x="236086" y="0"/>
                  </a:lnTo>
                  <a:lnTo>
                    <a:pt x="273197" y="13177"/>
                  </a:lnTo>
                  <a:lnTo>
                    <a:pt x="305613" y="40088"/>
                  </a:lnTo>
                  <a:lnTo>
                    <a:pt x="331379" y="73223"/>
                  </a:lnTo>
                  <a:lnTo>
                    <a:pt x="350899" y="106395"/>
                  </a:lnTo>
                  <a:lnTo>
                    <a:pt x="369240" y="145148"/>
                  </a:lnTo>
                  <a:lnTo>
                    <a:pt x="390244" y="200865"/>
                  </a:lnTo>
                  <a:lnTo>
                    <a:pt x="405310" y="250732"/>
                  </a:lnTo>
                  <a:lnTo>
                    <a:pt x="418673" y="304789"/>
                  </a:lnTo>
                  <a:lnTo>
                    <a:pt x="430207" y="362515"/>
                  </a:lnTo>
                  <a:lnTo>
                    <a:pt x="439798" y="423354"/>
                  </a:lnTo>
                  <a:lnTo>
                    <a:pt x="447356" y="486722"/>
                  </a:lnTo>
                  <a:lnTo>
                    <a:pt x="452807" y="552006"/>
                  </a:lnTo>
                  <a:lnTo>
                    <a:pt x="456099" y="618579"/>
                  </a:lnTo>
                  <a:lnTo>
                    <a:pt x="457199" y="685799"/>
                  </a:lnTo>
                  <a:lnTo>
                    <a:pt x="456924" y="719450"/>
                  </a:lnTo>
                  <a:lnTo>
                    <a:pt x="454725" y="786427"/>
                  </a:lnTo>
                  <a:lnTo>
                    <a:pt x="450349" y="852435"/>
                  </a:lnTo>
                  <a:lnTo>
                    <a:pt x="443837" y="916838"/>
                  </a:lnTo>
                  <a:lnTo>
                    <a:pt x="435252" y="979016"/>
                  </a:lnTo>
                  <a:lnTo>
                    <a:pt x="424676" y="1038370"/>
                  </a:lnTo>
                  <a:lnTo>
                    <a:pt x="412213" y="1094329"/>
                  </a:lnTo>
                  <a:lnTo>
                    <a:pt x="397981" y="1146354"/>
                  </a:lnTo>
                  <a:lnTo>
                    <a:pt x="382118" y="1193943"/>
                  </a:lnTo>
                  <a:lnTo>
                    <a:pt x="364776" y="1236638"/>
                  </a:lnTo>
                  <a:lnTo>
                    <a:pt x="346123" y="1274029"/>
                  </a:lnTo>
                  <a:lnTo>
                    <a:pt x="321239" y="1312761"/>
                  </a:lnTo>
                  <a:lnTo>
                    <a:pt x="294959" y="1342068"/>
                  </a:lnTo>
                  <a:lnTo>
                    <a:pt x="258457" y="1366095"/>
                  </a:lnTo>
                  <a:lnTo>
                    <a:pt x="236086" y="1371599"/>
                  </a:lnTo>
                  <a:close/>
                </a:path>
              </a:pathLst>
            </a:custGeom>
            <a:solidFill>
              <a:srgbClr val="FF9800">
                <a:alpha val="10198"/>
              </a:srgbClr>
            </a:solidFill>
          </p:spPr>
          <p:txBody>
            <a:bodyPr wrap="square" lIns="0" tIns="0" rIns="0" bIns="0" rtlCol="0"/>
            <a:lstStyle/>
            <a:p/>
          </p:txBody>
        </p:sp>
        <p:pic>
          <p:nvPicPr>
            <p:cNvPr id="26" name="object 26" descr=""/>
            <p:cNvPicPr/>
            <p:nvPr/>
          </p:nvPicPr>
          <p:blipFill>
            <a:blip r:embed="rId5" cstate="print"/>
            <a:stretch>
              <a:fillRect/>
            </a:stretch>
          </p:blipFill>
          <p:spPr>
            <a:xfrm>
              <a:off x="533399" y="3962399"/>
              <a:ext cx="228599" cy="304799"/>
            </a:xfrm>
            <a:prstGeom prst="rect">
              <a:avLst/>
            </a:prstGeom>
          </p:spPr>
        </p:pic>
        <p:sp>
          <p:nvSpPr>
            <p:cNvPr id="27" name="object 27" descr=""/>
            <p:cNvSpPr/>
            <p:nvPr/>
          </p:nvSpPr>
          <p:spPr>
            <a:xfrm>
              <a:off x="1066787" y="4286249"/>
              <a:ext cx="47625" cy="581025"/>
            </a:xfrm>
            <a:custGeom>
              <a:avLst/>
              <a:gdLst/>
              <a:ahLst/>
              <a:cxnLst/>
              <a:rect l="l" t="t" r="r" b="b"/>
              <a:pathLst>
                <a:path w="47625" h="5810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5810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5810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28" name="object 28" descr=""/>
          <p:cNvSpPr txBox="1"/>
          <p:nvPr/>
        </p:nvSpPr>
        <p:spPr>
          <a:xfrm>
            <a:off x="1016000" y="3828330"/>
            <a:ext cx="3568700" cy="1101725"/>
          </a:xfrm>
          <a:prstGeom prst="rect">
            <a:avLst/>
          </a:prstGeom>
        </p:spPr>
        <p:txBody>
          <a:bodyPr wrap="square" lIns="0" tIns="13335" rIns="0" bIns="0" rtlCol="0" vert="horz">
            <a:spAutoFit/>
          </a:bodyPr>
          <a:lstStyle/>
          <a:p>
            <a:pPr marL="12700">
              <a:lnSpc>
                <a:spcPct val="100000"/>
              </a:lnSpc>
              <a:spcBef>
                <a:spcPts val="105"/>
              </a:spcBef>
            </a:pPr>
            <a:r>
              <a:rPr dirty="0" sz="1500" spc="-150">
                <a:solidFill>
                  <a:srgbClr val="414141"/>
                </a:solidFill>
                <a:latin typeface="SimSun"/>
                <a:cs typeface="SimSun"/>
              </a:rPr>
              <a:t>自</a:t>
            </a:r>
            <a:r>
              <a:rPr dirty="0" sz="1550" spc="-210">
                <a:solidFill>
                  <a:srgbClr val="414141"/>
                </a:solidFill>
                <a:latin typeface="SimSun"/>
                <a:cs typeface="SimSun"/>
              </a:rPr>
              <a:t>主充</a:t>
            </a:r>
            <a:r>
              <a:rPr dirty="0" sz="1450" spc="-110">
                <a:solidFill>
                  <a:srgbClr val="414141"/>
                </a:solidFill>
                <a:latin typeface="PMingLiU"/>
                <a:cs typeface="PMingLiU"/>
              </a:rPr>
              <a:t>電</a:t>
            </a:r>
            <a:r>
              <a:rPr dirty="0" sz="1500" spc="-150">
                <a:solidFill>
                  <a:srgbClr val="414141"/>
                </a:solidFill>
                <a:latin typeface="SimSun"/>
                <a:cs typeface="SimSun"/>
              </a:rPr>
              <a:t>與</a:t>
            </a:r>
            <a:r>
              <a:rPr dirty="0" sz="1550" spc="-210">
                <a:solidFill>
                  <a:srgbClr val="414141"/>
                </a:solidFill>
                <a:latin typeface="SimSun"/>
                <a:cs typeface="SimSun"/>
              </a:rPr>
              <a:t>任</a:t>
            </a:r>
            <a:r>
              <a:rPr dirty="0" sz="1450" spc="-110">
                <a:solidFill>
                  <a:srgbClr val="414141"/>
                </a:solidFill>
                <a:latin typeface="SimSun"/>
                <a:cs typeface="SimSun"/>
              </a:rPr>
              <a:t>務</a:t>
            </a:r>
            <a:r>
              <a:rPr dirty="0" sz="1500" spc="-155">
                <a:solidFill>
                  <a:srgbClr val="414141"/>
                </a:solidFill>
                <a:latin typeface="SimSun"/>
                <a:cs typeface="SimSun"/>
              </a:rPr>
              <a:t>排</a:t>
            </a:r>
            <a:r>
              <a:rPr dirty="0" sz="1400" spc="-50">
                <a:solidFill>
                  <a:srgbClr val="414141"/>
                </a:solidFill>
                <a:latin typeface="PMingLiU"/>
                <a:cs typeface="PMingLiU"/>
              </a:rPr>
              <a:t>程</a:t>
            </a:r>
            <a:endParaRPr sz="1400">
              <a:latin typeface="PMingLiU"/>
              <a:cs typeface="PMingLiU"/>
            </a:endParaRPr>
          </a:p>
          <a:p>
            <a:pPr marL="202565" marR="80645">
              <a:lnSpc>
                <a:spcPct val="145800"/>
              </a:lnSpc>
              <a:spcBef>
                <a:spcPts val="305"/>
              </a:spcBef>
            </a:pPr>
            <a:r>
              <a:rPr dirty="0" sz="1200">
                <a:solidFill>
                  <a:srgbClr val="414141"/>
                </a:solidFill>
                <a:latin typeface="PMingLiU"/>
                <a:cs typeface="PMingLiU"/>
              </a:rPr>
              <a:t>開發智能充電排程系統，實現</a:t>
            </a:r>
            <a:r>
              <a:rPr dirty="0" sz="1200">
                <a:solidFill>
                  <a:srgbClr val="414141"/>
                </a:solidFill>
                <a:latin typeface="Arial"/>
                <a:cs typeface="Arial"/>
              </a:rPr>
              <a:t>17:00</a:t>
            </a:r>
            <a:r>
              <a:rPr dirty="0" sz="1200" spc="-10">
                <a:solidFill>
                  <a:srgbClr val="414141"/>
                </a:solidFill>
                <a:latin typeface="PMingLiU"/>
                <a:cs typeface="PMingLiU"/>
              </a:rPr>
              <a:t>自動充電需求</a:t>
            </a:r>
            <a:r>
              <a:rPr dirty="0" sz="1200" spc="-5">
                <a:solidFill>
                  <a:srgbClr val="414141"/>
                </a:solidFill>
                <a:latin typeface="PMingLiU"/>
                <a:cs typeface="PMingLiU"/>
              </a:rPr>
              <a:t>優化電池管理算法，延長單次充電工作時間</a:t>
            </a:r>
            <a:endParaRPr sz="1200">
              <a:latin typeface="PMingLiU"/>
              <a:cs typeface="PMingLiU"/>
            </a:endParaRPr>
          </a:p>
          <a:p>
            <a:pPr marL="202565">
              <a:lnSpc>
                <a:spcPct val="100000"/>
              </a:lnSpc>
              <a:spcBef>
                <a:spcPts val="660"/>
              </a:spcBef>
            </a:pPr>
            <a:r>
              <a:rPr dirty="0" sz="1200" spc="-5">
                <a:solidFill>
                  <a:srgbClr val="414141"/>
                </a:solidFill>
                <a:latin typeface="PMingLiU"/>
                <a:cs typeface="PMingLiU"/>
              </a:rPr>
              <a:t>實现充電過程中自動任務切換，提高電能利用效率</a:t>
            </a:r>
            <a:endParaRPr sz="1200">
              <a:latin typeface="PMingLiU"/>
              <a:cs typeface="PMingLiU"/>
            </a:endParaRPr>
          </a:p>
        </p:txBody>
      </p:sp>
      <p:grpSp>
        <p:nvGrpSpPr>
          <p:cNvPr id="29" name="object 29" descr=""/>
          <p:cNvGrpSpPr/>
          <p:nvPr/>
        </p:nvGrpSpPr>
        <p:grpSpPr>
          <a:xfrm>
            <a:off x="6191249" y="3695699"/>
            <a:ext cx="5772150" cy="1676400"/>
            <a:chOff x="6191249" y="3695699"/>
            <a:chExt cx="5772150" cy="1676400"/>
          </a:xfrm>
        </p:grpSpPr>
        <p:sp>
          <p:nvSpPr>
            <p:cNvPr id="30" name="object 30" descr=""/>
            <p:cNvSpPr/>
            <p:nvPr/>
          </p:nvSpPr>
          <p:spPr>
            <a:xfrm>
              <a:off x="6210298" y="3695699"/>
              <a:ext cx="5753100" cy="1676400"/>
            </a:xfrm>
            <a:custGeom>
              <a:avLst/>
              <a:gdLst/>
              <a:ahLst/>
              <a:cxnLst/>
              <a:rect l="l" t="t" r="r" b="b"/>
              <a:pathLst>
                <a:path w="5753100" h="1676400">
                  <a:moveTo>
                    <a:pt x="5720052" y="1676399"/>
                  </a:moveTo>
                  <a:lnTo>
                    <a:pt x="16523" y="1676399"/>
                  </a:lnTo>
                  <a:lnTo>
                    <a:pt x="14093" y="1675432"/>
                  </a:lnTo>
                  <a:lnTo>
                    <a:pt x="0" y="1643352"/>
                  </a:lnTo>
                  <a:lnTo>
                    <a:pt x="0" y="1638299"/>
                  </a:lnTo>
                  <a:lnTo>
                    <a:pt x="0" y="33047"/>
                  </a:lnTo>
                  <a:lnTo>
                    <a:pt x="16523" y="0"/>
                  </a:lnTo>
                  <a:lnTo>
                    <a:pt x="5720052" y="0"/>
                  </a:lnTo>
                  <a:lnTo>
                    <a:pt x="5752131" y="28186"/>
                  </a:lnTo>
                  <a:lnTo>
                    <a:pt x="5753098" y="33047"/>
                  </a:lnTo>
                  <a:lnTo>
                    <a:pt x="5753098" y="1643352"/>
                  </a:lnTo>
                  <a:lnTo>
                    <a:pt x="5724911" y="1675432"/>
                  </a:lnTo>
                  <a:lnTo>
                    <a:pt x="5720052" y="1676399"/>
                  </a:lnTo>
                  <a:close/>
                </a:path>
              </a:pathLst>
            </a:custGeom>
            <a:solidFill>
              <a:srgbClr val="FFFFFF"/>
            </a:solidFill>
          </p:spPr>
          <p:txBody>
            <a:bodyPr wrap="square" lIns="0" tIns="0" rIns="0" bIns="0" rtlCol="0"/>
            <a:lstStyle/>
            <a:p/>
          </p:txBody>
        </p:sp>
        <p:sp>
          <p:nvSpPr>
            <p:cNvPr id="31" name="object 31" descr=""/>
            <p:cNvSpPr/>
            <p:nvPr/>
          </p:nvSpPr>
          <p:spPr>
            <a:xfrm>
              <a:off x="6191249" y="3695699"/>
              <a:ext cx="38100" cy="1676400"/>
            </a:xfrm>
            <a:custGeom>
              <a:avLst/>
              <a:gdLst/>
              <a:ahLst/>
              <a:cxnLst/>
              <a:rect l="l" t="t" r="r" b="b"/>
              <a:pathLst>
                <a:path w="38100" h="1676400">
                  <a:moveTo>
                    <a:pt x="38099" y="1676399"/>
                  </a:moveTo>
                  <a:lnTo>
                    <a:pt x="2789" y="1652925"/>
                  </a:lnTo>
                  <a:lnTo>
                    <a:pt x="0" y="1638299"/>
                  </a:lnTo>
                  <a:lnTo>
                    <a:pt x="0" y="38099"/>
                  </a:lnTo>
                  <a:lnTo>
                    <a:pt x="23473" y="2789"/>
                  </a:lnTo>
                  <a:lnTo>
                    <a:pt x="38099" y="0"/>
                  </a:lnTo>
                  <a:lnTo>
                    <a:pt x="38099" y="1676399"/>
                  </a:lnTo>
                  <a:close/>
                </a:path>
              </a:pathLst>
            </a:custGeom>
            <a:solidFill>
              <a:srgbClr val="4BAF4F"/>
            </a:solidFill>
          </p:spPr>
          <p:txBody>
            <a:bodyPr wrap="square" lIns="0" tIns="0" rIns="0" bIns="0" rtlCol="0"/>
            <a:lstStyle/>
            <a:p/>
          </p:txBody>
        </p:sp>
        <p:sp>
          <p:nvSpPr>
            <p:cNvPr id="32" name="object 32" descr=""/>
            <p:cNvSpPr/>
            <p:nvPr/>
          </p:nvSpPr>
          <p:spPr>
            <a:xfrm>
              <a:off x="6381749" y="3848099"/>
              <a:ext cx="514350" cy="1371600"/>
            </a:xfrm>
            <a:custGeom>
              <a:avLst/>
              <a:gdLst/>
              <a:ahLst/>
              <a:cxnLst/>
              <a:rect l="l" t="t" r="r" b="b"/>
              <a:pathLst>
                <a:path w="514350" h="1371600">
                  <a:moveTo>
                    <a:pt x="257174" y="1371599"/>
                  </a:moveTo>
                  <a:lnTo>
                    <a:pt x="219439" y="1364177"/>
                  </a:lnTo>
                  <a:lnTo>
                    <a:pt x="182520" y="1342069"/>
                  </a:lnTo>
                  <a:lnTo>
                    <a:pt x="152954" y="1312762"/>
                  </a:lnTo>
                  <a:lnTo>
                    <a:pt x="124959" y="1274029"/>
                  </a:lnTo>
                  <a:lnTo>
                    <a:pt x="103974" y="1236638"/>
                  </a:lnTo>
                  <a:lnTo>
                    <a:pt x="84465" y="1193943"/>
                  </a:lnTo>
                  <a:lnTo>
                    <a:pt x="66620" y="1146354"/>
                  </a:lnTo>
                  <a:lnTo>
                    <a:pt x="50609" y="1094329"/>
                  </a:lnTo>
                  <a:lnTo>
                    <a:pt x="36587" y="1038370"/>
                  </a:lnTo>
                  <a:lnTo>
                    <a:pt x="24690" y="979016"/>
                  </a:lnTo>
                  <a:lnTo>
                    <a:pt x="15032" y="916838"/>
                  </a:lnTo>
                  <a:lnTo>
                    <a:pt x="7706" y="852435"/>
                  </a:lnTo>
                  <a:lnTo>
                    <a:pt x="2783" y="786427"/>
                  </a:lnTo>
                  <a:lnTo>
                    <a:pt x="309" y="719450"/>
                  </a:lnTo>
                  <a:lnTo>
                    <a:pt x="0" y="685799"/>
                  </a:lnTo>
                  <a:lnTo>
                    <a:pt x="309" y="652149"/>
                  </a:lnTo>
                  <a:lnTo>
                    <a:pt x="2783" y="585172"/>
                  </a:lnTo>
                  <a:lnTo>
                    <a:pt x="7706" y="519163"/>
                  </a:lnTo>
                  <a:lnTo>
                    <a:pt x="15032" y="454760"/>
                  </a:lnTo>
                  <a:lnTo>
                    <a:pt x="24690" y="392582"/>
                  </a:lnTo>
                  <a:lnTo>
                    <a:pt x="36587" y="333227"/>
                  </a:lnTo>
                  <a:lnTo>
                    <a:pt x="50609" y="277268"/>
                  </a:lnTo>
                  <a:lnTo>
                    <a:pt x="62440" y="237849"/>
                  </a:lnTo>
                  <a:lnTo>
                    <a:pt x="75323" y="200865"/>
                  </a:lnTo>
                  <a:lnTo>
                    <a:pt x="94023" y="155669"/>
                  </a:lnTo>
                  <a:lnTo>
                    <a:pt x="114294" y="115578"/>
                  </a:lnTo>
                  <a:lnTo>
                    <a:pt x="135942" y="80978"/>
                  </a:lnTo>
                  <a:lnTo>
                    <a:pt x="164619" y="45951"/>
                  </a:lnTo>
                  <a:lnTo>
                    <a:pt x="194686" y="20552"/>
                  </a:lnTo>
                  <a:lnTo>
                    <a:pt x="231967" y="3302"/>
                  </a:lnTo>
                  <a:lnTo>
                    <a:pt x="257174" y="0"/>
                  </a:lnTo>
                  <a:lnTo>
                    <a:pt x="263488" y="206"/>
                  </a:lnTo>
                  <a:lnTo>
                    <a:pt x="301140" y="10095"/>
                  </a:lnTo>
                  <a:lnTo>
                    <a:pt x="337847" y="34614"/>
                  </a:lnTo>
                  <a:lnTo>
                    <a:pt x="367131" y="65843"/>
                  </a:lnTo>
                  <a:lnTo>
                    <a:pt x="389389" y="97569"/>
                  </a:lnTo>
                  <a:lnTo>
                    <a:pt x="410374" y="134959"/>
                  </a:lnTo>
                  <a:lnTo>
                    <a:pt x="429883" y="177655"/>
                  </a:lnTo>
                  <a:lnTo>
                    <a:pt x="447729" y="225244"/>
                  </a:lnTo>
                  <a:lnTo>
                    <a:pt x="463739" y="277268"/>
                  </a:lnTo>
                  <a:lnTo>
                    <a:pt x="477761" y="333227"/>
                  </a:lnTo>
                  <a:lnTo>
                    <a:pt x="489657" y="392582"/>
                  </a:lnTo>
                  <a:lnTo>
                    <a:pt x="499316" y="454760"/>
                  </a:lnTo>
                  <a:lnTo>
                    <a:pt x="506642" y="519163"/>
                  </a:lnTo>
                  <a:lnTo>
                    <a:pt x="511566" y="585172"/>
                  </a:lnTo>
                  <a:lnTo>
                    <a:pt x="514040" y="652149"/>
                  </a:lnTo>
                  <a:lnTo>
                    <a:pt x="514349" y="685799"/>
                  </a:lnTo>
                  <a:lnTo>
                    <a:pt x="514040" y="719450"/>
                  </a:lnTo>
                  <a:lnTo>
                    <a:pt x="511565" y="786427"/>
                  </a:lnTo>
                  <a:lnTo>
                    <a:pt x="506641" y="852435"/>
                  </a:lnTo>
                  <a:lnTo>
                    <a:pt x="499315" y="916838"/>
                  </a:lnTo>
                  <a:lnTo>
                    <a:pt x="489657" y="979016"/>
                  </a:lnTo>
                  <a:lnTo>
                    <a:pt x="477760" y="1038370"/>
                  </a:lnTo>
                  <a:lnTo>
                    <a:pt x="463739" y="1094329"/>
                  </a:lnTo>
                  <a:lnTo>
                    <a:pt x="451908" y="1133749"/>
                  </a:lnTo>
                  <a:lnTo>
                    <a:pt x="439024" y="1170733"/>
                  </a:lnTo>
                  <a:lnTo>
                    <a:pt x="420324" y="1215929"/>
                  </a:lnTo>
                  <a:lnTo>
                    <a:pt x="400053" y="1256020"/>
                  </a:lnTo>
                  <a:lnTo>
                    <a:pt x="378406" y="1290621"/>
                  </a:lnTo>
                  <a:lnTo>
                    <a:pt x="349728" y="1325647"/>
                  </a:lnTo>
                  <a:lnTo>
                    <a:pt x="319663" y="1351047"/>
                  </a:lnTo>
                  <a:lnTo>
                    <a:pt x="282382" y="1368297"/>
                  </a:lnTo>
                  <a:lnTo>
                    <a:pt x="257174" y="1371599"/>
                  </a:lnTo>
                  <a:close/>
                </a:path>
              </a:pathLst>
            </a:custGeom>
            <a:solidFill>
              <a:srgbClr val="FF9800">
                <a:alpha val="10198"/>
              </a:srgbClr>
            </a:solidFill>
          </p:spPr>
          <p:txBody>
            <a:bodyPr wrap="square" lIns="0" tIns="0" rIns="0" bIns="0" rtlCol="0"/>
            <a:lstStyle/>
            <a:p/>
          </p:txBody>
        </p:sp>
        <p:pic>
          <p:nvPicPr>
            <p:cNvPr id="33" name="object 33" descr=""/>
            <p:cNvPicPr/>
            <p:nvPr/>
          </p:nvPicPr>
          <p:blipFill>
            <a:blip r:embed="rId6" cstate="print"/>
            <a:stretch>
              <a:fillRect/>
            </a:stretch>
          </p:blipFill>
          <p:spPr>
            <a:xfrm>
              <a:off x="6496049" y="3962399"/>
              <a:ext cx="285749" cy="304799"/>
            </a:xfrm>
            <a:prstGeom prst="rect">
              <a:avLst/>
            </a:prstGeom>
          </p:spPr>
        </p:pic>
        <p:sp>
          <p:nvSpPr>
            <p:cNvPr id="34" name="object 34" descr=""/>
            <p:cNvSpPr/>
            <p:nvPr/>
          </p:nvSpPr>
          <p:spPr>
            <a:xfrm>
              <a:off x="7086587" y="4286249"/>
              <a:ext cx="47625" cy="581025"/>
            </a:xfrm>
            <a:custGeom>
              <a:avLst/>
              <a:gdLst/>
              <a:ahLst/>
              <a:cxnLst/>
              <a:rect l="l" t="t" r="r" b="b"/>
              <a:pathLst>
                <a:path w="47625" h="5810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5810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5810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35" name="object 35" descr=""/>
          <p:cNvSpPr txBox="1"/>
          <p:nvPr/>
        </p:nvSpPr>
        <p:spPr>
          <a:xfrm>
            <a:off x="7035800" y="3829167"/>
            <a:ext cx="3263900" cy="1100455"/>
          </a:xfrm>
          <a:prstGeom prst="rect">
            <a:avLst/>
          </a:prstGeom>
        </p:spPr>
        <p:txBody>
          <a:bodyPr wrap="square" lIns="0" tIns="12700" rIns="0" bIns="0" rtlCol="0" vert="horz">
            <a:spAutoFit/>
          </a:bodyPr>
          <a:lstStyle/>
          <a:p>
            <a:pPr marL="12700">
              <a:lnSpc>
                <a:spcPct val="100000"/>
              </a:lnSpc>
              <a:spcBef>
                <a:spcPts val="100"/>
              </a:spcBef>
            </a:pPr>
            <a:r>
              <a:rPr dirty="0" sz="1500" spc="-165">
                <a:solidFill>
                  <a:srgbClr val="414141"/>
                </a:solidFill>
                <a:latin typeface="SimSun"/>
                <a:cs typeface="SimSun"/>
              </a:rPr>
              <a:t>系統集成與</a:t>
            </a:r>
            <a:r>
              <a:rPr dirty="0" sz="1450" spc="-110">
                <a:solidFill>
                  <a:srgbClr val="414141"/>
                </a:solidFill>
                <a:latin typeface="SimSun"/>
                <a:cs typeface="SimSun"/>
              </a:rPr>
              <a:t>數</a:t>
            </a:r>
            <a:r>
              <a:rPr dirty="0" sz="1500" spc="-165">
                <a:solidFill>
                  <a:srgbClr val="414141"/>
                </a:solidFill>
                <a:latin typeface="SimSun"/>
                <a:cs typeface="SimSun"/>
              </a:rPr>
              <a:t>據</a:t>
            </a:r>
            <a:r>
              <a:rPr dirty="0" sz="1550" spc="-210">
                <a:solidFill>
                  <a:srgbClr val="414141"/>
                </a:solidFill>
                <a:latin typeface="SimSun"/>
                <a:cs typeface="SimSun"/>
              </a:rPr>
              <a:t>分</a:t>
            </a:r>
            <a:r>
              <a:rPr dirty="0" sz="1450" spc="-50">
                <a:solidFill>
                  <a:srgbClr val="414141"/>
                </a:solidFill>
                <a:latin typeface="SimSun"/>
                <a:cs typeface="SimSun"/>
              </a:rPr>
              <a:t>析</a:t>
            </a:r>
            <a:endParaRPr sz="1450">
              <a:latin typeface="SimSun"/>
              <a:cs typeface="SimSun"/>
            </a:endParaRPr>
          </a:p>
          <a:p>
            <a:pPr marL="202565">
              <a:lnSpc>
                <a:spcPct val="100000"/>
              </a:lnSpc>
              <a:spcBef>
                <a:spcPts val="965"/>
              </a:spcBef>
            </a:pPr>
            <a:r>
              <a:rPr dirty="0" sz="1200" spc="-5">
                <a:solidFill>
                  <a:srgbClr val="414141"/>
                </a:solidFill>
                <a:latin typeface="PMingLiU"/>
                <a:cs typeface="PMingLiU"/>
              </a:rPr>
              <a:t>開發與庫房管理系統的深度集成接口</a:t>
            </a:r>
            <a:endParaRPr sz="1200">
              <a:latin typeface="PMingLiU"/>
              <a:cs typeface="PMingLiU"/>
            </a:endParaRPr>
          </a:p>
          <a:p>
            <a:pPr marL="202565" marR="5080">
              <a:lnSpc>
                <a:spcPct val="145800"/>
              </a:lnSpc>
            </a:pPr>
            <a:r>
              <a:rPr dirty="0" sz="1200" spc="-5">
                <a:solidFill>
                  <a:srgbClr val="414141"/>
                </a:solidFill>
                <a:latin typeface="PMingLiU"/>
                <a:cs typeface="PMingLiU"/>
              </a:rPr>
              <a:t>建立實時數據分析平臺，追踪機器狗巡檢數據增加異常事件自動報警與通知功能</a:t>
            </a:r>
            <a:endParaRPr sz="1200">
              <a:latin typeface="PMingLiU"/>
              <a:cs typeface="PMingLiU"/>
            </a:endParaRPr>
          </a:p>
        </p:txBody>
      </p:sp>
      <p:grpSp>
        <p:nvGrpSpPr>
          <p:cNvPr id="36" name="object 36" descr=""/>
          <p:cNvGrpSpPr/>
          <p:nvPr/>
        </p:nvGrpSpPr>
        <p:grpSpPr>
          <a:xfrm>
            <a:off x="228599" y="5562599"/>
            <a:ext cx="11734800" cy="1066800"/>
            <a:chOff x="228599" y="5562599"/>
            <a:chExt cx="11734800" cy="1066800"/>
          </a:xfrm>
        </p:grpSpPr>
        <p:sp>
          <p:nvSpPr>
            <p:cNvPr id="37" name="object 37" descr=""/>
            <p:cNvSpPr/>
            <p:nvPr/>
          </p:nvSpPr>
          <p:spPr>
            <a:xfrm>
              <a:off x="228599" y="5562599"/>
              <a:ext cx="11734800" cy="1066800"/>
            </a:xfrm>
            <a:custGeom>
              <a:avLst/>
              <a:gdLst/>
              <a:ahLst/>
              <a:cxnLst/>
              <a:rect l="l" t="t" r="r" b="b"/>
              <a:pathLst>
                <a:path w="11734800" h="1066800">
                  <a:moveTo>
                    <a:pt x="11701751" y="1066799"/>
                  </a:moveTo>
                  <a:lnTo>
                    <a:pt x="33047" y="1066799"/>
                  </a:lnTo>
                  <a:lnTo>
                    <a:pt x="28187" y="1065832"/>
                  </a:lnTo>
                  <a:lnTo>
                    <a:pt x="966" y="1038610"/>
                  </a:lnTo>
                  <a:lnTo>
                    <a:pt x="0" y="1033751"/>
                  </a:lnTo>
                  <a:lnTo>
                    <a:pt x="0" y="1028699"/>
                  </a:lnTo>
                  <a:lnTo>
                    <a:pt x="0" y="33047"/>
                  </a:lnTo>
                  <a:lnTo>
                    <a:pt x="28187" y="966"/>
                  </a:lnTo>
                  <a:lnTo>
                    <a:pt x="33047" y="0"/>
                  </a:lnTo>
                  <a:lnTo>
                    <a:pt x="11701751" y="0"/>
                  </a:lnTo>
                  <a:lnTo>
                    <a:pt x="11733830" y="28186"/>
                  </a:lnTo>
                  <a:lnTo>
                    <a:pt x="11734797" y="33047"/>
                  </a:lnTo>
                  <a:lnTo>
                    <a:pt x="11734797" y="1033751"/>
                  </a:lnTo>
                  <a:lnTo>
                    <a:pt x="11706610" y="1065832"/>
                  </a:lnTo>
                  <a:lnTo>
                    <a:pt x="11701751" y="1066799"/>
                  </a:lnTo>
                  <a:close/>
                </a:path>
              </a:pathLst>
            </a:custGeom>
            <a:solidFill>
              <a:srgbClr val="FFFFFF"/>
            </a:solidFill>
          </p:spPr>
          <p:txBody>
            <a:bodyPr wrap="square" lIns="0" tIns="0" rIns="0" bIns="0" rtlCol="0"/>
            <a:lstStyle/>
            <a:p/>
          </p:txBody>
        </p:sp>
        <p:pic>
          <p:nvPicPr>
            <p:cNvPr id="38" name="object 38" descr=""/>
            <p:cNvPicPr/>
            <p:nvPr/>
          </p:nvPicPr>
          <p:blipFill>
            <a:blip r:embed="rId7" cstate="print"/>
            <a:stretch>
              <a:fillRect/>
            </a:stretch>
          </p:blipFill>
          <p:spPr>
            <a:xfrm>
              <a:off x="380999" y="5962649"/>
              <a:ext cx="219074" cy="266699"/>
            </a:xfrm>
            <a:prstGeom prst="rect">
              <a:avLst/>
            </a:prstGeom>
          </p:spPr>
        </p:pic>
        <p:sp>
          <p:nvSpPr>
            <p:cNvPr id="39" name="object 39" descr=""/>
            <p:cNvSpPr/>
            <p:nvPr/>
          </p:nvSpPr>
          <p:spPr>
            <a:xfrm>
              <a:off x="790574" y="5981699"/>
              <a:ext cx="304800" cy="304800"/>
            </a:xfrm>
            <a:custGeom>
              <a:avLst/>
              <a:gdLst/>
              <a:ahLst/>
              <a:cxnLst/>
              <a:rect l="l" t="t" r="r" b="b"/>
              <a:pathLst>
                <a:path w="304800" h="304800">
                  <a:moveTo>
                    <a:pt x="152399" y="304799"/>
                  </a:moveTo>
                  <a:lnTo>
                    <a:pt x="108159" y="298238"/>
                  </a:lnTo>
                  <a:lnTo>
                    <a:pt x="67730" y="279114"/>
                  </a:lnTo>
                  <a:lnTo>
                    <a:pt x="34591" y="249082"/>
                  </a:lnTo>
                  <a:lnTo>
                    <a:pt x="11600" y="210720"/>
                  </a:lnTo>
                  <a:lnTo>
                    <a:pt x="732" y="167337"/>
                  </a:lnTo>
                  <a:lnTo>
                    <a:pt x="0" y="152399"/>
                  </a:lnTo>
                  <a:lnTo>
                    <a:pt x="183" y="144912"/>
                  </a:lnTo>
                  <a:lnTo>
                    <a:pt x="8904" y="101064"/>
                  </a:lnTo>
                  <a:lnTo>
                    <a:pt x="29995" y="61606"/>
                  </a:lnTo>
                  <a:lnTo>
                    <a:pt x="61607" y="29995"/>
                  </a:lnTo>
                  <a:lnTo>
                    <a:pt x="101066" y="8903"/>
                  </a:lnTo>
                  <a:lnTo>
                    <a:pt x="144912" y="183"/>
                  </a:lnTo>
                  <a:lnTo>
                    <a:pt x="152399" y="0"/>
                  </a:lnTo>
                  <a:lnTo>
                    <a:pt x="159886" y="183"/>
                  </a:lnTo>
                  <a:lnTo>
                    <a:pt x="203733" y="8903"/>
                  </a:lnTo>
                  <a:lnTo>
                    <a:pt x="243192" y="29995"/>
                  </a:lnTo>
                  <a:lnTo>
                    <a:pt x="274804" y="61606"/>
                  </a:lnTo>
                  <a:lnTo>
                    <a:pt x="295895" y="101064"/>
                  </a:lnTo>
                  <a:lnTo>
                    <a:pt x="304616" y="144912"/>
                  </a:lnTo>
                  <a:lnTo>
                    <a:pt x="304799" y="152399"/>
                  </a:lnTo>
                  <a:lnTo>
                    <a:pt x="304616" y="159886"/>
                  </a:lnTo>
                  <a:lnTo>
                    <a:pt x="295895" y="203732"/>
                  </a:lnTo>
                  <a:lnTo>
                    <a:pt x="274804" y="243191"/>
                  </a:lnTo>
                  <a:lnTo>
                    <a:pt x="243192" y="274803"/>
                  </a:lnTo>
                  <a:lnTo>
                    <a:pt x="203733" y="295894"/>
                  </a:lnTo>
                  <a:lnTo>
                    <a:pt x="159886" y="304616"/>
                  </a:lnTo>
                  <a:lnTo>
                    <a:pt x="152399" y="304799"/>
                  </a:lnTo>
                  <a:close/>
                </a:path>
              </a:pathLst>
            </a:custGeom>
            <a:solidFill>
              <a:srgbClr val="FFECD5"/>
            </a:solidFill>
          </p:spPr>
          <p:txBody>
            <a:bodyPr wrap="square" lIns="0" tIns="0" rIns="0" bIns="0" rtlCol="0"/>
            <a:lstStyle/>
            <a:p/>
          </p:txBody>
        </p:sp>
        <p:sp>
          <p:nvSpPr>
            <p:cNvPr id="40" name="object 40" descr=""/>
            <p:cNvSpPr/>
            <p:nvPr/>
          </p:nvSpPr>
          <p:spPr>
            <a:xfrm>
              <a:off x="1247774" y="5981699"/>
              <a:ext cx="304800" cy="304800"/>
            </a:xfrm>
            <a:custGeom>
              <a:avLst/>
              <a:gdLst/>
              <a:ahLst/>
              <a:cxnLst/>
              <a:rect l="l" t="t" r="r" b="b"/>
              <a:pathLst>
                <a:path w="304800" h="304800">
                  <a:moveTo>
                    <a:pt x="152399" y="304799"/>
                  </a:moveTo>
                  <a:lnTo>
                    <a:pt x="108159" y="298238"/>
                  </a:lnTo>
                  <a:lnTo>
                    <a:pt x="67730" y="279114"/>
                  </a:lnTo>
                  <a:lnTo>
                    <a:pt x="34591" y="249082"/>
                  </a:lnTo>
                  <a:lnTo>
                    <a:pt x="11600" y="210720"/>
                  </a:lnTo>
                  <a:lnTo>
                    <a:pt x="731" y="167337"/>
                  </a:lnTo>
                  <a:lnTo>
                    <a:pt x="0" y="152399"/>
                  </a:lnTo>
                  <a:lnTo>
                    <a:pt x="182" y="144912"/>
                  </a:lnTo>
                  <a:lnTo>
                    <a:pt x="8904" y="101064"/>
                  </a:lnTo>
                  <a:lnTo>
                    <a:pt x="29995" y="61606"/>
                  </a:lnTo>
                  <a:lnTo>
                    <a:pt x="61607" y="29995"/>
                  </a:lnTo>
                  <a:lnTo>
                    <a:pt x="101066" y="8903"/>
                  </a:lnTo>
                  <a:lnTo>
                    <a:pt x="144912" y="183"/>
                  </a:lnTo>
                  <a:lnTo>
                    <a:pt x="152399" y="0"/>
                  </a:lnTo>
                  <a:lnTo>
                    <a:pt x="159886" y="183"/>
                  </a:lnTo>
                  <a:lnTo>
                    <a:pt x="203733" y="8903"/>
                  </a:lnTo>
                  <a:lnTo>
                    <a:pt x="243192" y="29995"/>
                  </a:lnTo>
                  <a:lnTo>
                    <a:pt x="274804" y="61606"/>
                  </a:lnTo>
                  <a:lnTo>
                    <a:pt x="295895" y="101064"/>
                  </a:lnTo>
                  <a:lnTo>
                    <a:pt x="304616" y="144912"/>
                  </a:lnTo>
                  <a:lnTo>
                    <a:pt x="304799" y="152399"/>
                  </a:lnTo>
                  <a:lnTo>
                    <a:pt x="304616" y="159886"/>
                  </a:lnTo>
                  <a:lnTo>
                    <a:pt x="295895" y="203732"/>
                  </a:lnTo>
                  <a:lnTo>
                    <a:pt x="274803" y="243191"/>
                  </a:lnTo>
                  <a:lnTo>
                    <a:pt x="243192" y="274803"/>
                  </a:lnTo>
                  <a:lnTo>
                    <a:pt x="203733" y="295894"/>
                  </a:lnTo>
                  <a:lnTo>
                    <a:pt x="159886" y="304616"/>
                  </a:lnTo>
                  <a:lnTo>
                    <a:pt x="152399" y="304799"/>
                  </a:lnTo>
                  <a:close/>
                </a:path>
              </a:pathLst>
            </a:custGeom>
            <a:solidFill>
              <a:srgbClr val="FED6AA"/>
            </a:solidFill>
          </p:spPr>
          <p:txBody>
            <a:bodyPr wrap="square" lIns="0" tIns="0" rIns="0" bIns="0" rtlCol="0"/>
            <a:lstStyle/>
            <a:p/>
          </p:txBody>
        </p:sp>
        <p:sp>
          <p:nvSpPr>
            <p:cNvPr id="41" name="object 41" descr=""/>
            <p:cNvSpPr/>
            <p:nvPr/>
          </p:nvSpPr>
          <p:spPr>
            <a:xfrm>
              <a:off x="1704974" y="5981699"/>
              <a:ext cx="304800" cy="304800"/>
            </a:xfrm>
            <a:custGeom>
              <a:avLst/>
              <a:gdLst/>
              <a:ahLst/>
              <a:cxnLst/>
              <a:rect l="l" t="t" r="r" b="b"/>
              <a:pathLst>
                <a:path w="304800" h="304800">
                  <a:moveTo>
                    <a:pt x="152399" y="304799"/>
                  </a:moveTo>
                  <a:lnTo>
                    <a:pt x="108159" y="298238"/>
                  </a:lnTo>
                  <a:lnTo>
                    <a:pt x="67730" y="279114"/>
                  </a:lnTo>
                  <a:lnTo>
                    <a:pt x="34591" y="249082"/>
                  </a:lnTo>
                  <a:lnTo>
                    <a:pt x="11600" y="210720"/>
                  </a:lnTo>
                  <a:lnTo>
                    <a:pt x="731" y="167337"/>
                  </a:lnTo>
                  <a:lnTo>
                    <a:pt x="0" y="152399"/>
                  </a:lnTo>
                  <a:lnTo>
                    <a:pt x="182" y="144912"/>
                  </a:lnTo>
                  <a:lnTo>
                    <a:pt x="8904" y="101064"/>
                  </a:lnTo>
                  <a:lnTo>
                    <a:pt x="29995" y="61606"/>
                  </a:lnTo>
                  <a:lnTo>
                    <a:pt x="61607" y="29995"/>
                  </a:lnTo>
                  <a:lnTo>
                    <a:pt x="101066" y="8903"/>
                  </a:lnTo>
                  <a:lnTo>
                    <a:pt x="144912" y="183"/>
                  </a:lnTo>
                  <a:lnTo>
                    <a:pt x="152399" y="0"/>
                  </a:lnTo>
                  <a:lnTo>
                    <a:pt x="159886" y="183"/>
                  </a:lnTo>
                  <a:lnTo>
                    <a:pt x="203733" y="8903"/>
                  </a:lnTo>
                  <a:lnTo>
                    <a:pt x="243192" y="29995"/>
                  </a:lnTo>
                  <a:lnTo>
                    <a:pt x="274803" y="61606"/>
                  </a:lnTo>
                  <a:lnTo>
                    <a:pt x="295894" y="101064"/>
                  </a:lnTo>
                  <a:lnTo>
                    <a:pt x="304616" y="144912"/>
                  </a:lnTo>
                  <a:lnTo>
                    <a:pt x="304799" y="152399"/>
                  </a:lnTo>
                  <a:lnTo>
                    <a:pt x="304616" y="159886"/>
                  </a:lnTo>
                  <a:lnTo>
                    <a:pt x="295894" y="203732"/>
                  </a:lnTo>
                  <a:lnTo>
                    <a:pt x="274803" y="243191"/>
                  </a:lnTo>
                  <a:lnTo>
                    <a:pt x="243192" y="274803"/>
                  </a:lnTo>
                  <a:lnTo>
                    <a:pt x="203733" y="295894"/>
                  </a:lnTo>
                  <a:lnTo>
                    <a:pt x="159886" y="304616"/>
                  </a:lnTo>
                  <a:lnTo>
                    <a:pt x="152399" y="304799"/>
                  </a:lnTo>
                  <a:close/>
                </a:path>
              </a:pathLst>
            </a:custGeom>
            <a:solidFill>
              <a:srgbClr val="FDB973"/>
            </a:solidFill>
          </p:spPr>
          <p:txBody>
            <a:bodyPr wrap="square" lIns="0" tIns="0" rIns="0" bIns="0" rtlCol="0"/>
            <a:lstStyle/>
            <a:p/>
          </p:txBody>
        </p:sp>
      </p:grpSp>
      <p:sp>
        <p:nvSpPr>
          <p:cNvPr id="42" name="object 42" descr=""/>
          <p:cNvSpPr txBox="1"/>
          <p:nvPr/>
        </p:nvSpPr>
        <p:spPr>
          <a:xfrm>
            <a:off x="701674" y="5692774"/>
            <a:ext cx="1397000" cy="781685"/>
          </a:xfrm>
          <a:prstGeom prst="rect">
            <a:avLst/>
          </a:prstGeom>
        </p:spPr>
        <p:txBody>
          <a:bodyPr wrap="square" lIns="0" tIns="12700" rIns="0" bIns="0" rtlCol="0" vert="horz">
            <a:spAutoFit/>
          </a:bodyPr>
          <a:lstStyle/>
          <a:p>
            <a:pPr marL="12700">
              <a:lnSpc>
                <a:spcPct val="100000"/>
              </a:lnSpc>
              <a:spcBef>
                <a:spcPts val="100"/>
              </a:spcBef>
            </a:pPr>
            <a:r>
              <a:rPr dirty="0" sz="1350" spc="-170">
                <a:solidFill>
                  <a:srgbClr val="414141"/>
                </a:solidFill>
                <a:latin typeface="SimSun"/>
                <a:cs typeface="SimSun"/>
              </a:rPr>
              <a:t>實施</a:t>
            </a:r>
            <a:r>
              <a:rPr dirty="0" sz="1300" spc="-110">
                <a:solidFill>
                  <a:srgbClr val="414141"/>
                </a:solidFill>
                <a:latin typeface="SimSun"/>
                <a:cs typeface="SimSun"/>
              </a:rPr>
              <a:t>路</a:t>
            </a:r>
            <a:r>
              <a:rPr dirty="0" sz="1300" spc="-110">
                <a:solidFill>
                  <a:srgbClr val="414141"/>
                </a:solidFill>
                <a:latin typeface="PMingLiU"/>
                <a:cs typeface="PMingLiU"/>
              </a:rPr>
              <a:t>線</a:t>
            </a:r>
            <a:r>
              <a:rPr dirty="0" sz="1250" spc="-50">
                <a:solidFill>
                  <a:srgbClr val="414141"/>
                </a:solidFill>
                <a:latin typeface="PMingLiU"/>
                <a:cs typeface="PMingLiU"/>
              </a:rPr>
              <a:t>圖</a:t>
            </a:r>
            <a:endParaRPr sz="1250">
              <a:latin typeface="PMingLiU"/>
              <a:cs typeface="PMingLiU"/>
            </a:endParaRPr>
          </a:p>
          <a:p>
            <a:pPr algn="ctr">
              <a:lnSpc>
                <a:spcPct val="100000"/>
              </a:lnSpc>
              <a:spcBef>
                <a:spcPts val="930"/>
              </a:spcBef>
              <a:tabLst>
                <a:tab pos="456565" algn="l"/>
                <a:tab pos="913765" algn="l"/>
              </a:tabLst>
            </a:pPr>
            <a:r>
              <a:rPr dirty="0" sz="1200" spc="-25">
                <a:solidFill>
                  <a:srgbClr val="C2400C"/>
                </a:solidFill>
                <a:latin typeface="Arial"/>
                <a:cs typeface="Arial"/>
              </a:rPr>
              <a:t>Q1</a:t>
            </a:r>
            <a:r>
              <a:rPr dirty="0" sz="1200">
                <a:solidFill>
                  <a:srgbClr val="C2400C"/>
                </a:solidFill>
                <a:latin typeface="Arial"/>
                <a:cs typeface="Arial"/>
              </a:rPr>
              <a:t>	</a:t>
            </a:r>
            <a:r>
              <a:rPr dirty="0" sz="1200" spc="-25">
                <a:solidFill>
                  <a:srgbClr val="C2400C"/>
                </a:solidFill>
                <a:latin typeface="Arial"/>
                <a:cs typeface="Arial"/>
              </a:rPr>
              <a:t>Q2</a:t>
            </a:r>
            <a:r>
              <a:rPr dirty="0" sz="1200">
                <a:solidFill>
                  <a:srgbClr val="C2400C"/>
                </a:solidFill>
                <a:latin typeface="Arial"/>
                <a:cs typeface="Arial"/>
              </a:rPr>
              <a:t>	</a:t>
            </a:r>
            <a:r>
              <a:rPr dirty="0" sz="1200" spc="-25">
                <a:solidFill>
                  <a:srgbClr val="C2400C"/>
                </a:solidFill>
                <a:latin typeface="Arial"/>
                <a:cs typeface="Arial"/>
              </a:rPr>
              <a:t>Q3</a:t>
            </a:r>
            <a:endParaRPr sz="1200">
              <a:latin typeface="Arial"/>
              <a:cs typeface="Arial"/>
            </a:endParaRPr>
          </a:p>
          <a:p>
            <a:pPr algn="ctr">
              <a:lnSpc>
                <a:spcPct val="100000"/>
              </a:lnSpc>
              <a:spcBef>
                <a:spcPts val="885"/>
              </a:spcBef>
            </a:pPr>
            <a:r>
              <a:rPr dirty="0" sz="900" spc="-5">
                <a:solidFill>
                  <a:srgbClr val="414141"/>
                </a:solidFill>
                <a:latin typeface="PMingLiU"/>
                <a:cs typeface="PMingLiU"/>
              </a:rPr>
              <a:t>短期優化中期升級長期擴展</a:t>
            </a:r>
            <a:endParaRPr sz="900">
              <a:latin typeface="PMingLiU"/>
              <a:cs typeface="PMingLiU"/>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10232"/>
            <a:ext cx="1391285" cy="335280"/>
          </a:xfrm>
          <a:prstGeom prst="rect"/>
        </p:spPr>
        <p:txBody>
          <a:bodyPr wrap="square" lIns="0" tIns="16510" rIns="0" bIns="0" rtlCol="0" vert="horz">
            <a:spAutoFit/>
          </a:bodyPr>
          <a:lstStyle/>
          <a:p>
            <a:pPr marL="12700">
              <a:lnSpc>
                <a:spcPct val="100000"/>
              </a:lnSpc>
              <a:spcBef>
                <a:spcPts val="130"/>
              </a:spcBef>
            </a:pPr>
            <a:r>
              <a:rPr dirty="0" spc="-220"/>
              <a:t>後續實施計劃</a:t>
            </a: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228599" y="838199"/>
            <a:ext cx="3810000" cy="1733550"/>
            <a:chOff x="228599" y="838199"/>
            <a:chExt cx="3810000" cy="1733550"/>
          </a:xfrm>
        </p:grpSpPr>
        <p:sp>
          <p:nvSpPr>
            <p:cNvPr id="5" name="object 5" descr=""/>
            <p:cNvSpPr/>
            <p:nvPr/>
          </p:nvSpPr>
          <p:spPr>
            <a:xfrm>
              <a:off x="228599" y="838199"/>
              <a:ext cx="3810000" cy="1733550"/>
            </a:xfrm>
            <a:custGeom>
              <a:avLst/>
              <a:gdLst/>
              <a:ahLst/>
              <a:cxnLst/>
              <a:rect l="l" t="t" r="r" b="b"/>
              <a:pathLst>
                <a:path w="3810000" h="1733550">
                  <a:moveTo>
                    <a:pt x="3809999" y="1733549"/>
                  </a:moveTo>
                  <a:lnTo>
                    <a:pt x="0" y="1733549"/>
                  </a:lnTo>
                  <a:lnTo>
                    <a:pt x="0" y="0"/>
                  </a:lnTo>
                  <a:lnTo>
                    <a:pt x="3809999" y="0"/>
                  </a:lnTo>
                  <a:lnTo>
                    <a:pt x="3809999" y="1733549"/>
                  </a:lnTo>
                  <a:close/>
                </a:path>
              </a:pathLst>
            </a:custGeom>
            <a:solidFill>
              <a:srgbClr val="FFFFFF"/>
            </a:solidFill>
          </p:spPr>
          <p:txBody>
            <a:bodyPr wrap="square" lIns="0" tIns="0" rIns="0" bIns="0" rtlCol="0"/>
            <a:lstStyle/>
            <a:p/>
          </p:txBody>
        </p:sp>
        <p:sp>
          <p:nvSpPr>
            <p:cNvPr id="6" name="object 6" descr=""/>
            <p:cNvSpPr/>
            <p:nvPr/>
          </p:nvSpPr>
          <p:spPr>
            <a:xfrm>
              <a:off x="228599" y="838199"/>
              <a:ext cx="38100" cy="1733550"/>
            </a:xfrm>
            <a:custGeom>
              <a:avLst/>
              <a:gdLst/>
              <a:ahLst/>
              <a:cxnLst/>
              <a:rect l="l" t="t" r="r" b="b"/>
              <a:pathLst>
                <a:path w="38100" h="1733550">
                  <a:moveTo>
                    <a:pt x="38099" y="1733549"/>
                  </a:moveTo>
                  <a:lnTo>
                    <a:pt x="0" y="1733549"/>
                  </a:lnTo>
                  <a:lnTo>
                    <a:pt x="0" y="0"/>
                  </a:lnTo>
                  <a:lnTo>
                    <a:pt x="38099" y="0"/>
                  </a:lnTo>
                  <a:lnTo>
                    <a:pt x="38099" y="1733549"/>
                  </a:lnTo>
                  <a:close/>
                </a:path>
              </a:pathLst>
            </a:custGeom>
            <a:solidFill>
              <a:srgbClr val="FF9800"/>
            </a:solidFill>
          </p:spPr>
          <p:txBody>
            <a:bodyPr wrap="square" lIns="0" tIns="0" rIns="0" bIns="0" rtlCol="0"/>
            <a:lstStyle/>
            <a:p/>
          </p:txBody>
        </p:sp>
        <p:sp>
          <p:nvSpPr>
            <p:cNvPr id="7" name="object 7" descr=""/>
            <p:cNvSpPr/>
            <p:nvPr/>
          </p:nvSpPr>
          <p:spPr>
            <a:xfrm>
              <a:off x="419099" y="990599"/>
              <a:ext cx="476250" cy="476250"/>
            </a:xfrm>
            <a:custGeom>
              <a:avLst/>
              <a:gdLst/>
              <a:ahLst/>
              <a:cxnLst/>
              <a:rect l="l" t="t" r="r" b="b"/>
              <a:pathLst>
                <a:path w="476250" h="476250">
                  <a:moveTo>
                    <a:pt x="245923" y="476249"/>
                  </a:moveTo>
                  <a:lnTo>
                    <a:pt x="230326" y="476249"/>
                  </a:lnTo>
                  <a:lnTo>
                    <a:pt x="222546" y="475867"/>
                  </a:lnTo>
                  <a:lnTo>
                    <a:pt x="184020" y="470152"/>
                  </a:lnTo>
                  <a:lnTo>
                    <a:pt x="139793" y="455138"/>
                  </a:lnTo>
                  <a:lnTo>
                    <a:pt x="99345" y="431785"/>
                  </a:lnTo>
                  <a:lnTo>
                    <a:pt x="64230" y="400989"/>
                  </a:lnTo>
                  <a:lnTo>
                    <a:pt x="35798" y="363935"/>
                  </a:lnTo>
                  <a:lnTo>
                    <a:pt x="15141" y="322046"/>
                  </a:lnTo>
                  <a:lnTo>
                    <a:pt x="3053" y="276931"/>
                  </a:lnTo>
                  <a:lnTo>
                    <a:pt x="0" y="245923"/>
                  </a:lnTo>
                  <a:lnTo>
                    <a:pt x="0" y="230326"/>
                  </a:lnTo>
                  <a:lnTo>
                    <a:pt x="6096" y="184019"/>
                  </a:lnTo>
                  <a:lnTo>
                    <a:pt x="21110" y="139793"/>
                  </a:lnTo>
                  <a:lnTo>
                    <a:pt x="44464" y="99345"/>
                  </a:lnTo>
                  <a:lnTo>
                    <a:pt x="75259" y="64230"/>
                  </a:lnTo>
                  <a:lnTo>
                    <a:pt x="112314" y="35798"/>
                  </a:lnTo>
                  <a:lnTo>
                    <a:pt x="154203" y="15141"/>
                  </a:lnTo>
                  <a:lnTo>
                    <a:pt x="199318" y="3054"/>
                  </a:lnTo>
                  <a:lnTo>
                    <a:pt x="230326" y="0"/>
                  </a:lnTo>
                  <a:lnTo>
                    <a:pt x="245923" y="0"/>
                  </a:lnTo>
                  <a:lnTo>
                    <a:pt x="292229" y="6096"/>
                  </a:lnTo>
                  <a:lnTo>
                    <a:pt x="336456" y="21110"/>
                  </a:lnTo>
                  <a:lnTo>
                    <a:pt x="376904" y="44463"/>
                  </a:lnTo>
                  <a:lnTo>
                    <a:pt x="412019" y="75259"/>
                  </a:lnTo>
                  <a:lnTo>
                    <a:pt x="440451" y="112314"/>
                  </a:lnTo>
                  <a:lnTo>
                    <a:pt x="461108" y="154203"/>
                  </a:lnTo>
                  <a:lnTo>
                    <a:pt x="473195" y="199317"/>
                  </a:lnTo>
                  <a:lnTo>
                    <a:pt x="476250" y="230326"/>
                  </a:lnTo>
                  <a:lnTo>
                    <a:pt x="476249" y="238124"/>
                  </a:lnTo>
                  <a:lnTo>
                    <a:pt x="476250" y="245923"/>
                  </a:lnTo>
                  <a:lnTo>
                    <a:pt x="470152" y="292229"/>
                  </a:lnTo>
                  <a:lnTo>
                    <a:pt x="455139" y="336456"/>
                  </a:lnTo>
                  <a:lnTo>
                    <a:pt x="431785" y="376904"/>
                  </a:lnTo>
                  <a:lnTo>
                    <a:pt x="400990" y="412019"/>
                  </a:lnTo>
                  <a:lnTo>
                    <a:pt x="363935" y="440451"/>
                  </a:lnTo>
                  <a:lnTo>
                    <a:pt x="322046" y="461108"/>
                  </a:lnTo>
                  <a:lnTo>
                    <a:pt x="276931" y="473195"/>
                  </a:lnTo>
                  <a:lnTo>
                    <a:pt x="253703" y="475867"/>
                  </a:lnTo>
                  <a:lnTo>
                    <a:pt x="245923" y="476249"/>
                  </a:lnTo>
                  <a:close/>
                </a:path>
              </a:pathLst>
            </a:custGeom>
            <a:solidFill>
              <a:srgbClr val="DFDFDF"/>
            </a:solidFill>
          </p:spPr>
          <p:txBody>
            <a:bodyPr wrap="square" lIns="0" tIns="0" rIns="0" bIns="0" rtlCol="0"/>
            <a:lstStyle/>
            <a:p/>
          </p:txBody>
        </p:sp>
        <p:pic>
          <p:nvPicPr>
            <p:cNvPr id="8" name="object 8" descr=""/>
            <p:cNvPicPr/>
            <p:nvPr/>
          </p:nvPicPr>
          <p:blipFill>
            <a:blip r:embed="rId2" cstate="print"/>
            <a:stretch>
              <a:fillRect/>
            </a:stretch>
          </p:blipFill>
          <p:spPr>
            <a:xfrm>
              <a:off x="561974" y="1095374"/>
              <a:ext cx="190499" cy="266699"/>
            </a:xfrm>
            <a:prstGeom prst="rect">
              <a:avLst/>
            </a:prstGeom>
          </p:spPr>
        </p:pic>
        <p:pic>
          <p:nvPicPr>
            <p:cNvPr id="9" name="object 9" descr=""/>
            <p:cNvPicPr/>
            <p:nvPr/>
          </p:nvPicPr>
          <p:blipFill>
            <a:blip r:embed="rId3" cstate="print"/>
            <a:stretch>
              <a:fillRect/>
            </a:stretch>
          </p:blipFill>
          <p:spPr>
            <a:xfrm>
              <a:off x="571499" y="1619249"/>
              <a:ext cx="152399" cy="152399"/>
            </a:xfrm>
            <a:prstGeom prst="rect">
              <a:avLst/>
            </a:prstGeom>
          </p:spPr>
        </p:pic>
        <p:pic>
          <p:nvPicPr>
            <p:cNvPr id="10" name="object 10" descr=""/>
            <p:cNvPicPr/>
            <p:nvPr/>
          </p:nvPicPr>
          <p:blipFill>
            <a:blip r:embed="rId3" cstate="print"/>
            <a:stretch>
              <a:fillRect/>
            </a:stretch>
          </p:blipFill>
          <p:spPr>
            <a:xfrm>
              <a:off x="571499" y="1924049"/>
              <a:ext cx="152399" cy="152399"/>
            </a:xfrm>
            <a:prstGeom prst="rect">
              <a:avLst/>
            </a:prstGeom>
          </p:spPr>
        </p:pic>
        <p:pic>
          <p:nvPicPr>
            <p:cNvPr id="11" name="object 11" descr=""/>
            <p:cNvPicPr/>
            <p:nvPr/>
          </p:nvPicPr>
          <p:blipFill>
            <a:blip r:embed="rId3" cstate="print"/>
            <a:stretch>
              <a:fillRect/>
            </a:stretch>
          </p:blipFill>
          <p:spPr>
            <a:xfrm>
              <a:off x="571499" y="2228849"/>
              <a:ext cx="152399" cy="152399"/>
            </a:xfrm>
            <a:prstGeom prst="rect">
              <a:avLst/>
            </a:prstGeom>
          </p:spPr>
        </p:pic>
      </p:grpSp>
      <p:sp>
        <p:nvSpPr>
          <p:cNvPr id="12" name="object 12" descr=""/>
          <p:cNvSpPr txBox="1"/>
          <p:nvPr/>
        </p:nvSpPr>
        <p:spPr>
          <a:xfrm>
            <a:off x="266699" y="1081633"/>
            <a:ext cx="3771900" cy="1314450"/>
          </a:xfrm>
          <a:prstGeom prst="rect">
            <a:avLst/>
          </a:prstGeom>
        </p:spPr>
        <p:txBody>
          <a:bodyPr wrap="square" lIns="0" tIns="13335" rIns="0" bIns="0" rtlCol="0" vert="horz">
            <a:spAutoFit/>
          </a:bodyPr>
          <a:lstStyle/>
          <a:p>
            <a:pPr marL="742315">
              <a:lnSpc>
                <a:spcPct val="100000"/>
              </a:lnSpc>
              <a:spcBef>
                <a:spcPts val="105"/>
              </a:spcBef>
            </a:pPr>
            <a:r>
              <a:rPr dirty="0" sz="1450" spc="-110">
                <a:solidFill>
                  <a:srgbClr val="414141"/>
                </a:solidFill>
                <a:latin typeface="PMingLiU"/>
                <a:cs typeface="PMingLiU"/>
              </a:rPr>
              <a:t>短</a:t>
            </a:r>
            <a:r>
              <a:rPr dirty="0" sz="1500" spc="-254">
                <a:solidFill>
                  <a:srgbClr val="414141"/>
                </a:solidFill>
                <a:latin typeface="SimSun"/>
                <a:cs typeface="SimSun"/>
              </a:rPr>
              <a:t>期 </a:t>
            </a:r>
            <a:r>
              <a:rPr dirty="0" sz="1350" b="1">
                <a:solidFill>
                  <a:srgbClr val="414141"/>
                </a:solidFill>
                <a:latin typeface="Arial"/>
                <a:cs typeface="Arial"/>
              </a:rPr>
              <a:t>(1-3</a:t>
            </a:r>
            <a:r>
              <a:rPr dirty="0" sz="1450" spc="-110">
                <a:solidFill>
                  <a:srgbClr val="414141"/>
                </a:solidFill>
                <a:latin typeface="PMingLiU"/>
                <a:cs typeface="PMingLiU"/>
              </a:rPr>
              <a:t>個</a:t>
            </a:r>
            <a:r>
              <a:rPr dirty="0" sz="1500" spc="-150">
                <a:solidFill>
                  <a:srgbClr val="414141"/>
                </a:solidFill>
                <a:latin typeface="SimSun"/>
                <a:cs typeface="SimSun"/>
              </a:rPr>
              <a:t>月</a:t>
            </a:r>
            <a:r>
              <a:rPr dirty="0" sz="1350" spc="-50" b="1">
                <a:solidFill>
                  <a:srgbClr val="414141"/>
                </a:solidFill>
                <a:latin typeface="Arial"/>
                <a:cs typeface="Arial"/>
              </a:rPr>
              <a:t>)</a:t>
            </a:r>
            <a:endParaRPr sz="1350">
              <a:latin typeface="Arial"/>
              <a:cs typeface="Arial"/>
            </a:endParaRPr>
          </a:p>
          <a:p>
            <a:pPr algn="just" marL="532765" marR="1402715">
              <a:lnSpc>
                <a:spcPct val="166700"/>
              </a:lnSpc>
              <a:spcBef>
                <a:spcPts val="1140"/>
              </a:spcBef>
            </a:pPr>
            <a:r>
              <a:rPr dirty="0" sz="1200" spc="-5">
                <a:solidFill>
                  <a:srgbClr val="414141"/>
                </a:solidFill>
                <a:latin typeface="PMingLiU"/>
                <a:cs typeface="PMingLiU"/>
              </a:rPr>
              <a:t>優先實現走道異物判斷功能下班時段外來人員走動判斷建立基礎架構與集成接口</a:t>
            </a:r>
            <a:endParaRPr sz="1200">
              <a:latin typeface="PMingLiU"/>
              <a:cs typeface="PMingLiU"/>
            </a:endParaRPr>
          </a:p>
        </p:txBody>
      </p:sp>
      <p:grpSp>
        <p:nvGrpSpPr>
          <p:cNvPr id="13" name="object 13" descr=""/>
          <p:cNvGrpSpPr/>
          <p:nvPr/>
        </p:nvGrpSpPr>
        <p:grpSpPr>
          <a:xfrm>
            <a:off x="4190999" y="838199"/>
            <a:ext cx="3810000" cy="1733550"/>
            <a:chOff x="4190999" y="838199"/>
            <a:chExt cx="3810000" cy="1733550"/>
          </a:xfrm>
        </p:grpSpPr>
        <p:sp>
          <p:nvSpPr>
            <p:cNvPr id="14" name="object 14" descr=""/>
            <p:cNvSpPr/>
            <p:nvPr/>
          </p:nvSpPr>
          <p:spPr>
            <a:xfrm>
              <a:off x="4190999" y="838199"/>
              <a:ext cx="3810000" cy="1733550"/>
            </a:xfrm>
            <a:custGeom>
              <a:avLst/>
              <a:gdLst/>
              <a:ahLst/>
              <a:cxnLst/>
              <a:rect l="l" t="t" r="r" b="b"/>
              <a:pathLst>
                <a:path w="3810000" h="1733550">
                  <a:moveTo>
                    <a:pt x="3809999" y="1733549"/>
                  </a:moveTo>
                  <a:lnTo>
                    <a:pt x="0" y="1733549"/>
                  </a:lnTo>
                  <a:lnTo>
                    <a:pt x="0" y="0"/>
                  </a:lnTo>
                  <a:lnTo>
                    <a:pt x="3809999" y="0"/>
                  </a:lnTo>
                  <a:lnTo>
                    <a:pt x="3809999" y="1733549"/>
                  </a:lnTo>
                  <a:close/>
                </a:path>
              </a:pathLst>
            </a:custGeom>
            <a:solidFill>
              <a:srgbClr val="FFFFFF"/>
            </a:solidFill>
          </p:spPr>
          <p:txBody>
            <a:bodyPr wrap="square" lIns="0" tIns="0" rIns="0" bIns="0" rtlCol="0"/>
            <a:lstStyle/>
            <a:p/>
          </p:txBody>
        </p:sp>
        <p:sp>
          <p:nvSpPr>
            <p:cNvPr id="15" name="object 15" descr=""/>
            <p:cNvSpPr/>
            <p:nvPr/>
          </p:nvSpPr>
          <p:spPr>
            <a:xfrm>
              <a:off x="4190999" y="838199"/>
              <a:ext cx="38100" cy="1733550"/>
            </a:xfrm>
            <a:custGeom>
              <a:avLst/>
              <a:gdLst/>
              <a:ahLst/>
              <a:cxnLst/>
              <a:rect l="l" t="t" r="r" b="b"/>
              <a:pathLst>
                <a:path w="38100" h="1733550">
                  <a:moveTo>
                    <a:pt x="38099" y="1733549"/>
                  </a:moveTo>
                  <a:lnTo>
                    <a:pt x="0" y="1733549"/>
                  </a:lnTo>
                  <a:lnTo>
                    <a:pt x="0" y="0"/>
                  </a:lnTo>
                  <a:lnTo>
                    <a:pt x="38099" y="0"/>
                  </a:lnTo>
                  <a:lnTo>
                    <a:pt x="38099" y="1733549"/>
                  </a:lnTo>
                  <a:close/>
                </a:path>
              </a:pathLst>
            </a:custGeom>
            <a:solidFill>
              <a:srgbClr val="FF9800"/>
            </a:solidFill>
          </p:spPr>
          <p:txBody>
            <a:bodyPr wrap="square" lIns="0" tIns="0" rIns="0" bIns="0" rtlCol="0"/>
            <a:lstStyle/>
            <a:p/>
          </p:txBody>
        </p:sp>
        <p:sp>
          <p:nvSpPr>
            <p:cNvPr id="16" name="object 16" descr=""/>
            <p:cNvSpPr/>
            <p:nvPr/>
          </p:nvSpPr>
          <p:spPr>
            <a:xfrm>
              <a:off x="4381499" y="990599"/>
              <a:ext cx="476250" cy="476250"/>
            </a:xfrm>
            <a:custGeom>
              <a:avLst/>
              <a:gdLst/>
              <a:ahLst/>
              <a:cxnLst/>
              <a:rect l="l" t="t" r="r" b="b"/>
              <a:pathLst>
                <a:path w="476250" h="476250">
                  <a:moveTo>
                    <a:pt x="245923" y="476249"/>
                  </a:moveTo>
                  <a:lnTo>
                    <a:pt x="230326" y="476249"/>
                  </a:lnTo>
                  <a:lnTo>
                    <a:pt x="222545" y="475867"/>
                  </a:lnTo>
                  <a:lnTo>
                    <a:pt x="184019" y="470152"/>
                  </a:lnTo>
                  <a:lnTo>
                    <a:pt x="139792" y="455138"/>
                  </a:lnTo>
                  <a:lnTo>
                    <a:pt x="99345" y="431785"/>
                  </a:lnTo>
                  <a:lnTo>
                    <a:pt x="64230" y="400989"/>
                  </a:lnTo>
                  <a:lnTo>
                    <a:pt x="35798" y="363935"/>
                  </a:lnTo>
                  <a:lnTo>
                    <a:pt x="15141" y="322046"/>
                  </a:lnTo>
                  <a:lnTo>
                    <a:pt x="3053" y="276931"/>
                  </a:lnTo>
                  <a:lnTo>
                    <a:pt x="0" y="245923"/>
                  </a:lnTo>
                  <a:lnTo>
                    <a:pt x="0" y="230326"/>
                  </a:lnTo>
                  <a:lnTo>
                    <a:pt x="6096" y="184019"/>
                  </a:lnTo>
                  <a:lnTo>
                    <a:pt x="21110" y="139793"/>
                  </a:lnTo>
                  <a:lnTo>
                    <a:pt x="44463" y="99345"/>
                  </a:lnTo>
                  <a:lnTo>
                    <a:pt x="75259" y="64230"/>
                  </a:lnTo>
                  <a:lnTo>
                    <a:pt x="112313" y="35798"/>
                  </a:lnTo>
                  <a:lnTo>
                    <a:pt x="154203" y="15141"/>
                  </a:lnTo>
                  <a:lnTo>
                    <a:pt x="199317" y="3054"/>
                  </a:lnTo>
                  <a:lnTo>
                    <a:pt x="230326" y="0"/>
                  </a:lnTo>
                  <a:lnTo>
                    <a:pt x="245923" y="0"/>
                  </a:lnTo>
                  <a:lnTo>
                    <a:pt x="292229" y="6096"/>
                  </a:lnTo>
                  <a:lnTo>
                    <a:pt x="336456" y="21110"/>
                  </a:lnTo>
                  <a:lnTo>
                    <a:pt x="376904" y="44463"/>
                  </a:lnTo>
                  <a:lnTo>
                    <a:pt x="412019" y="75259"/>
                  </a:lnTo>
                  <a:lnTo>
                    <a:pt x="440451" y="112314"/>
                  </a:lnTo>
                  <a:lnTo>
                    <a:pt x="461108" y="154203"/>
                  </a:lnTo>
                  <a:lnTo>
                    <a:pt x="473196" y="199317"/>
                  </a:lnTo>
                  <a:lnTo>
                    <a:pt x="476250" y="230326"/>
                  </a:lnTo>
                  <a:lnTo>
                    <a:pt x="476249" y="238124"/>
                  </a:lnTo>
                  <a:lnTo>
                    <a:pt x="476250" y="245923"/>
                  </a:lnTo>
                  <a:lnTo>
                    <a:pt x="470152" y="292229"/>
                  </a:lnTo>
                  <a:lnTo>
                    <a:pt x="455139" y="336456"/>
                  </a:lnTo>
                  <a:lnTo>
                    <a:pt x="431785" y="376904"/>
                  </a:lnTo>
                  <a:lnTo>
                    <a:pt x="400989" y="412019"/>
                  </a:lnTo>
                  <a:lnTo>
                    <a:pt x="363935" y="440451"/>
                  </a:lnTo>
                  <a:lnTo>
                    <a:pt x="322046" y="461108"/>
                  </a:lnTo>
                  <a:lnTo>
                    <a:pt x="276931" y="473195"/>
                  </a:lnTo>
                  <a:lnTo>
                    <a:pt x="253704" y="475867"/>
                  </a:lnTo>
                  <a:lnTo>
                    <a:pt x="245923" y="476249"/>
                  </a:lnTo>
                  <a:close/>
                </a:path>
              </a:pathLst>
            </a:custGeom>
            <a:solidFill>
              <a:srgbClr val="DFDFDF"/>
            </a:solidFill>
          </p:spPr>
          <p:txBody>
            <a:bodyPr wrap="square" lIns="0" tIns="0" rIns="0" bIns="0" rtlCol="0"/>
            <a:lstStyle/>
            <a:p/>
          </p:txBody>
        </p:sp>
        <p:pic>
          <p:nvPicPr>
            <p:cNvPr id="17" name="object 17" descr=""/>
            <p:cNvPicPr/>
            <p:nvPr/>
          </p:nvPicPr>
          <p:blipFill>
            <a:blip r:embed="rId4" cstate="print"/>
            <a:stretch>
              <a:fillRect/>
            </a:stretch>
          </p:blipFill>
          <p:spPr>
            <a:xfrm>
              <a:off x="4505324" y="1095374"/>
              <a:ext cx="238124" cy="266699"/>
            </a:xfrm>
            <a:prstGeom prst="rect">
              <a:avLst/>
            </a:prstGeom>
          </p:spPr>
        </p:pic>
        <p:pic>
          <p:nvPicPr>
            <p:cNvPr id="18" name="object 18" descr=""/>
            <p:cNvPicPr/>
            <p:nvPr/>
          </p:nvPicPr>
          <p:blipFill>
            <a:blip r:embed="rId3" cstate="print"/>
            <a:stretch>
              <a:fillRect/>
            </a:stretch>
          </p:blipFill>
          <p:spPr>
            <a:xfrm>
              <a:off x="4533899" y="1619249"/>
              <a:ext cx="152399" cy="152399"/>
            </a:xfrm>
            <a:prstGeom prst="rect">
              <a:avLst/>
            </a:prstGeom>
          </p:spPr>
        </p:pic>
        <p:pic>
          <p:nvPicPr>
            <p:cNvPr id="19" name="object 19" descr=""/>
            <p:cNvPicPr/>
            <p:nvPr/>
          </p:nvPicPr>
          <p:blipFill>
            <a:blip r:embed="rId3" cstate="print"/>
            <a:stretch>
              <a:fillRect/>
            </a:stretch>
          </p:blipFill>
          <p:spPr>
            <a:xfrm>
              <a:off x="4533899" y="1924049"/>
              <a:ext cx="152399" cy="152399"/>
            </a:xfrm>
            <a:prstGeom prst="rect">
              <a:avLst/>
            </a:prstGeom>
          </p:spPr>
        </p:pic>
        <p:pic>
          <p:nvPicPr>
            <p:cNvPr id="20" name="object 20" descr=""/>
            <p:cNvPicPr/>
            <p:nvPr/>
          </p:nvPicPr>
          <p:blipFill>
            <a:blip r:embed="rId3" cstate="print"/>
            <a:stretch>
              <a:fillRect/>
            </a:stretch>
          </p:blipFill>
          <p:spPr>
            <a:xfrm>
              <a:off x="4533899" y="2228849"/>
              <a:ext cx="152399" cy="152399"/>
            </a:xfrm>
            <a:prstGeom prst="rect">
              <a:avLst/>
            </a:prstGeom>
          </p:spPr>
        </p:pic>
      </p:grpSp>
      <p:sp>
        <p:nvSpPr>
          <p:cNvPr id="21" name="object 21" descr=""/>
          <p:cNvSpPr txBox="1"/>
          <p:nvPr/>
        </p:nvSpPr>
        <p:spPr>
          <a:xfrm>
            <a:off x="4229099" y="1081633"/>
            <a:ext cx="3771900" cy="1314450"/>
          </a:xfrm>
          <a:prstGeom prst="rect">
            <a:avLst/>
          </a:prstGeom>
        </p:spPr>
        <p:txBody>
          <a:bodyPr wrap="square" lIns="0" tIns="13335" rIns="0" bIns="0" rtlCol="0" vert="horz">
            <a:spAutoFit/>
          </a:bodyPr>
          <a:lstStyle/>
          <a:p>
            <a:pPr marL="742950">
              <a:lnSpc>
                <a:spcPct val="100000"/>
              </a:lnSpc>
              <a:spcBef>
                <a:spcPts val="105"/>
              </a:spcBef>
            </a:pPr>
            <a:r>
              <a:rPr dirty="0" sz="1500" spc="-225">
                <a:solidFill>
                  <a:srgbClr val="414141"/>
                </a:solidFill>
                <a:latin typeface="SimSun"/>
                <a:cs typeface="SimSun"/>
              </a:rPr>
              <a:t>中期 </a:t>
            </a:r>
            <a:r>
              <a:rPr dirty="0" sz="1350" b="1">
                <a:solidFill>
                  <a:srgbClr val="414141"/>
                </a:solidFill>
                <a:latin typeface="Arial"/>
                <a:cs typeface="Arial"/>
              </a:rPr>
              <a:t>(4-6</a:t>
            </a:r>
            <a:r>
              <a:rPr dirty="0" sz="1450" spc="-110">
                <a:solidFill>
                  <a:srgbClr val="414141"/>
                </a:solidFill>
                <a:latin typeface="PMingLiU"/>
                <a:cs typeface="PMingLiU"/>
              </a:rPr>
              <a:t>個</a:t>
            </a:r>
            <a:r>
              <a:rPr dirty="0" sz="1500" spc="-150">
                <a:solidFill>
                  <a:srgbClr val="414141"/>
                </a:solidFill>
                <a:latin typeface="SimSun"/>
                <a:cs typeface="SimSun"/>
              </a:rPr>
              <a:t>月</a:t>
            </a:r>
            <a:r>
              <a:rPr dirty="0" sz="1350" spc="-50" b="1">
                <a:solidFill>
                  <a:srgbClr val="414141"/>
                </a:solidFill>
                <a:latin typeface="Arial"/>
                <a:cs typeface="Arial"/>
              </a:rPr>
              <a:t>)</a:t>
            </a:r>
            <a:endParaRPr sz="1350">
              <a:latin typeface="Arial"/>
              <a:cs typeface="Arial"/>
            </a:endParaRPr>
          </a:p>
          <a:p>
            <a:pPr marL="533400" marR="1555115">
              <a:lnSpc>
                <a:spcPct val="166700"/>
              </a:lnSpc>
              <a:spcBef>
                <a:spcPts val="1140"/>
              </a:spcBef>
            </a:pPr>
            <a:r>
              <a:rPr dirty="0" sz="1200" spc="-5">
                <a:solidFill>
                  <a:srgbClr val="414141"/>
                </a:solidFill>
                <a:latin typeface="PMingLiU"/>
                <a:cs typeface="PMingLiU"/>
              </a:rPr>
              <a:t>堆高機充電區熱顯像點檢自動充電站監控與報警</a:t>
            </a:r>
            <a:r>
              <a:rPr dirty="0" sz="1200" spc="-50">
                <a:solidFill>
                  <a:srgbClr val="414141"/>
                </a:solidFill>
                <a:latin typeface="PMingLiU"/>
                <a:cs typeface="PMingLiU"/>
              </a:rPr>
              <a:t> </a:t>
            </a:r>
            <a:r>
              <a:rPr dirty="0" sz="1200" spc="-5">
                <a:solidFill>
                  <a:srgbClr val="414141"/>
                </a:solidFill>
                <a:latin typeface="PMingLiU"/>
                <a:cs typeface="PMingLiU"/>
              </a:rPr>
              <a:t>與現有系統整合與優化</a:t>
            </a:r>
            <a:endParaRPr sz="1200">
              <a:latin typeface="PMingLiU"/>
              <a:cs typeface="PMingLiU"/>
            </a:endParaRPr>
          </a:p>
        </p:txBody>
      </p:sp>
      <p:grpSp>
        <p:nvGrpSpPr>
          <p:cNvPr id="22" name="object 22" descr=""/>
          <p:cNvGrpSpPr/>
          <p:nvPr/>
        </p:nvGrpSpPr>
        <p:grpSpPr>
          <a:xfrm>
            <a:off x="8153399" y="838199"/>
            <a:ext cx="3810000" cy="1733550"/>
            <a:chOff x="8153399" y="838199"/>
            <a:chExt cx="3810000" cy="1733550"/>
          </a:xfrm>
        </p:grpSpPr>
        <p:sp>
          <p:nvSpPr>
            <p:cNvPr id="23" name="object 23" descr=""/>
            <p:cNvSpPr/>
            <p:nvPr/>
          </p:nvSpPr>
          <p:spPr>
            <a:xfrm>
              <a:off x="8153399" y="838199"/>
              <a:ext cx="3810000" cy="1733550"/>
            </a:xfrm>
            <a:custGeom>
              <a:avLst/>
              <a:gdLst/>
              <a:ahLst/>
              <a:cxnLst/>
              <a:rect l="l" t="t" r="r" b="b"/>
              <a:pathLst>
                <a:path w="3810000" h="1733550">
                  <a:moveTo>
                    <a:pt x="3809999" y="1733549"/>
                  </a:moveTo>
                  <a:lnTo>
                    <a:pt x="0" y="1733549"/>
                  </a:lnTo>
                  <a:lnTo>
                    <a:pt x="0" y="0"/>
                  </a:lnTo>
                  <a:lnTo>
                    <a:pt x="3809999" y="0"/>
                  </a:lnTo>
                  <a:lnTo>
                    <a:pt x="3809999" y="1733549"/>
                  </a:lnTo>
                  <a:close/>
                </a:path>
              </a:pathLst>
            </a:custGeom>
            <a:solidFill>
              <a:srgbClr val="FFFFFF"/>
            </a:solidFill>
          </p:spPr>
          <p:txBody>
            <a:bodyPr wrap="square" lIns="0" tIns="0" rIns="0" bIns="0" rtlCol="0"/>
            <a:lstStyle/>
            <a:p/>
          </p:txBody>
        </p:sp>
        <p:sp>
          <p:nvSpPr>
            <p:cNvPr id="24" name="object 24" descr=""/>
            <p:cNvSpPr/>
            <p:nvPr/>
          </p:nvSpPr>
          <p:spPr>
            <a:xfrm>
              <a:off x="8153399" y="838199"/>
              <a:ext cx="38100" cy="1733550"/>
            </a:xfrm>
            <a:custGeom>
              <a:avLst/>
              <a:gdLst/>
              <a:ahLst/>
              <a:cxnLst/>
              <a:rect l="l" t="t" r="r" b="b"/>
              <a:pathLst>
                <a:path w="38100" h="1733550">
                  <a:moveTo>
                    <a:pt x="38099" y="1733549"/>
                  </a:moveTo>
                  <a:lnTo>
                    <a:pt x="0" y="1733549"/>
                  </a:lnTo>
                  <a:lnTo>
                    <a:pt x="0" y="0"/>
                  </a:lnTo>
                  <a:lnTo>
                    <a:pt x="38099" y="0"/>
                  </a:lnTo>
                  <a:lnTo>
                    <a:pt x="38099" y="1733549"/>
                  </a:lnTo>
                  <a:close/>
                </a:path>
              </a:pathLst>
            </a:custGeom>
            <a:solidFill>
              <a:srgbClr val="FF9800"/>
            </a:solidFill>
          </p:spPr>
          <p:txBody>
            <a:bodyPr wrap="square" lIns="0" tIns="0" rIns="0" bIns="0" rtlCol="0"/>
            <a:lstStyle/>
            <a:p/>
          </p:txBody>
        </p:sp>
        <p:sp>
          <p:nvSpPr>
            <p:cNvPr id="25" name="object 25" descr=""/>
            <p:cNvSpPr/>
            <p:nvPr/>
          </p:nvSpPr>
          <p:spPr>
            <a:xfrm>
              <a:off x="8343899" y="990599"/>
              <a:ext cx="476250" cy="476250"/>
            </a:xfrm>
            <a:custGeom>
              <a:avLst/>
              <a:gdLst/>
              <a:ahLst/>
              <a:cxnLst/>
              <a:rect l="l" t="t" r="r" b="b"/>
              <a:pathLst>
                <a:path w="476250" h="476250">
                  <a:moveTo>
                    <a:pt x="245923" y="476249"/>
                  </a:moveTo>
                  <a:lnTo>
                    <a:pt x="230326" y="476249"/>
                  </a:lnTo>
                  <a:lnTo>
                    <a:pt x="222546" y="475867"/>
                  </a:lnTo>
                  <a:lnTo>
                    <a:pt x="184020" y="470152"/>
                  </a:lnTo>
                  <a:lnTo>
                    <a:pt x="139792" y="455138"/>
                  </a:lnTo>
                  <a:lnTo>
                    <a:pt x="99344" y="431785"/>
                  </a:lnTo>
                  <a:lnTo>
                    <a:pt x="64230" y="400989"/>
                  </a:lnTo>
                  <a:lnTo>
                    <a:pt x="35797" y="363935"/>
                  </a:lnTo>
                  <a:lnTo>
                    <a:pt x="15140" y="322046"/>
                  </a:lnTo>
                  <a:lnTo>
                    <a:pt x="3053" y="276931"/>
                  </a:lnTo>
                  <a:lnTo>
                    <a:pt x="0" y="245923"/>
                  </a:lnTo>
                  <a:lnTo>
                    <a:pt x="0" y="230326"/>
                  </a:lnTo>
                  <a:lnTo>
                    <a:pt x="6095" y="184019"/>
                  </a:lnTo>
                  <a:lnTo>
                    <a:pt x="21109" y="139793"/>
                  </a:lnTo>
                  <a:lnTo>
                    <a:pt x="44462" y="99345"/>
                  </a:lnTo>
                  <a:lnTo>
                    <a:pt x="75259" y="64230"/>
                  </a:lnTo>
                  <a:lnTo>
                    <a:pt x="112314" y="35798"/>
                  </a:lnTo>
                  <a:lnTo>
                    <a:pt x="154203" y="15141"/>
                  </a:lnTo>
                  <a:lnTo>
                    <a:pt x="199318" y="3054"/>
                  </a:lnTo>
                  <a:lnTo>
                    <a:pt x="230326" y="0"/>
                  </a:lnTo>
                  <a:lnTo>
                    <a:pt x="245923" y="0"/>
                  </a:lnTo>
                  <a:lnTo>
                    <a:pt x="292229" y="6096"/>
                  </a:lnTo>
                  <a:lnTo>
                    <a:pt x="336456" y="21110"/>
                  </a:lnTo>
                  <a:lnTo>
                    <a:pt x="376904" y="44463"/>
                  </a:lnTo>
                  <a:lnTo>
                    <a:pt x="412018" y="75259"/>
                  </a:lnTo>
                  <a:lnTo>
                    <a:pt x="440450" y="112314"/>
                  </a:lnTo>
                  <a:lnTo>
                    <a:pt x="461107" y="154203"/>
                  </a:lnTo>
                  <a:lnTo>
                    <a:pt x="473196" y="199317"/>
                  </a:lnTo>
                  <a:lnTo>
                    <a:pt x="476250" y="230326"/>
                  </a:lnTo>
                  <a:lnTo>
                    <a:pt x="476249" y="238124"/>
                  </a:lnTo>
                  <a:lnTo>
                    <a:pt x="476250" y="245923"/>
                  </a:lnTo>
                  <a:lnTo>
                    <a:pt x="470152" y="292229"/>
                  </a:lnTo>
                  <a:lnTo>
                    <a:pt x="455139" y="336456"/>
                  </a:lnTo>
                  <a:lnTo>
                    <a:pt x="431785" y="376904"/>
                  </a:lnTo>
                  <a:lnTo>
                    <a:pt x="400989" y="412019"/>
                  </a:lnTo>
                  <a:lnTo>
                    <a:pt x="363935" y="440451"/>
                  </a:lnTo>
                  <a:lnTo>
                    <a:pt x="322045" y="461108"/>
                  </a:lnTo>
                  <a:lnTo>
                    <a:pt x="276931" y="473195"/>
                  </a:lnTo>
                  <a:lnTo>
                    <a:pt x="253704" y="475867"/>
                  </a:lnTo>
                  <a:lnTo>
                    <a:pt x="245923" y="476249"/>
                  </a:lnTo>
                  <a:close/>
                </a:path>
              </a:pathLst>
            </a:custGeom>
            <a:solidFill>
              <a:srgbClr val="DFDFDF"/>
            </a:solidFill>
          </p:spPr>
          <p:txBody>
            <a:bodyPr wrap="square" lIns="0" tIns="0" rIns="0" bIns="0" rtlCol="0"/>
            <a:lstStyle/>
            <a:p/>
          </p:txBody>
        </p:sp>
        <p:pic>
          <p:nvPicPr>
            <p:cNvPr id="26" name="object 26" descr=""/>
            <p:cNvPicPr/>
            <p:nvPr/>
          </p:nvPicPr>
          <p:blipFill>
            <a:blip r:embed="rId5" cstate="print"/>
            <a:stretch>
              <a:fillRect/>
            </a:stretch>
          </p:blipFill>
          <p:spPr>
            <a:xfrm>
              <a:off x="8496299" y="1095374"/>
              <a:ext cx="171449" cy="266699"/>
            </a:xfrm>
            <a:prstGeom prst="rect">
              <a:avLst/>
            </a:prstGeom>
          </p:spPr>
        </p:pic>
        <p:pic>
          <p:nvPicPr>
            <p:cNvPr id="27" name="object 27" descr=""/>
            <p:cNvPicPr/>
            <p:nvPr/>
          </p:nvPicPr>
          <p:blipFill>
            <a:blip r:embed="rId6" cstate="print"/>
            <a:stretch>
              <a:fillRect/>
            </a:stretch>
          </p:blipFill>
          <p:spPr>
            <a:xfrm>
              <a:off x="8496299" y="1619249"/>
              <a:ext cx="152399" cy="152399"/>
            </a:xfrm>
            <a:prstGeom prst="rect">
              <a:avLst/>
            </a:prstGeom>
          </p:spPr>
        </p:pic>
        <p:pic>
          <p:nvPicPr>
            <p:cNvPr id="28" name="object 28" descr=""/>
            <p:cNvPicPr/>
            <p:nvPr/>
          </p:nvPicPr>
          <p:blipFill>
            <a:blip r:embed="rId6" cstate="print"/>
            <a:stretch>
              <a:fillRect/>
            </a:stretch>
          </p:blipFill>
          <p:spPr>
            <a:xfrm>
              <a:off x="8496299" y="1924049"/>
              <a:ext cx="152399" cy="152399"/>
            </a:xfrm>
            <a:prstGeom prst="rect">
              <a:avLst/>
            </a:prstGeom>
          </p:spPr>
        </p:pic>
        <p:pic>
          <p:nvPicPr>
            <p:cNvPr id="29" name="object 29" descr=""/>
            <p:cNvPicPr/>
            <p:nvPr/>
          </p:nvPicPr>
          <p:blipFill>
            <a:blip r:embed="rId6" cstate="print"/>
            <a:stretch>
              <a:fillRect/>
            </a:stretch>
          </p:blipFill>
          <p:spPr>
            <a:xfrm>
              <a:off x="8496299" y="2228849"/>
              <a:ext cx="152399" cy="152399"/>
            </a:xfrm>
            <a:prstGeom prst="rect">
              <a:avLst/>
            </a:prstGeom>
          </p:spPr>
        </p:pic>
      </p:grpSp>
      <p:sp>
        <p:nvSpPr>
          <p:cNvPr id="30" name="object 30" descr=""/>
          <p:cNvSpPr txBox="1"/>
          <p:nvPr/>
        </p:nvSpPr>
        <p:spPr>
          <a:xfrm>
            <a:off x="8191499" y="1081633"/>
            <a:ext cx="3771900" cy="1314450"/>
          </a:xfrm>
          <a:prstGeom prst="rect">
            <a:avLst/>
          </a:prstGeom>
        </p:spPr>
        <p:txBody>
          <a:bodyPr wrap="square" lIns="0" tIns="13335" rIns="0" bIns="0" rtlCol="0" vert="horz">
            <a:spAutoFit/>
          </a:bodyPr>
          <a:lstStyle/>
          <a:p>
            <a:pPr marL="742950">
              <a:lnSpc>
                <a:spcPct val="100000"/>
              </a:lnSpc>
              <a:spcBef>
                <a:spcPts val="105"/>
              </a:spcBef>
            </a:pPr>
            <a:r>
              <a:rPr dirty="0" sz="1450" spc="-110">
                <a:solidFill>
                  <a:srgbClr val="414141"/>
                </a:solidFill>
                <a:latin typeface="PMingLiU"/>
                <a:cs typeface="PMingLiU"/>
              </a:rPr>
              <a:t>長</a:t>
            </a:r>
            <a:r>
              <a:rPr dirty="0" sz="1500" spc="-254">
                <a:solidFill>
                  <a:srgbClr val="414141"/>
                </a:solidFill>
                <a:latin typeface="SimSun"/>
                <a:cs typeface="SimSun"/>
              </a:rPr>
              <a:t>期 </a:t>
            </a:r>
            <a:r>
              <a:rPr dirty="0" sz="1350" b="1">
                <a:solidFill>
                  <a:srgbClr val="414141"/>
                </a:solidFill>
                <a:latin typeface="Arial"/>
                <a:cs typeface="Arial"/>
              </a:rPr>
              <a:t>(6</a:t>
            </a:r>
            <a:r>
              <a:rPr dirty="0" sz="1450" spc="-110">
                <a:solidFill>
                  <a:srgbClr val="414141"/>
                </a:solidFill>
                <a:latin typeface="PMingLiU"/>
                <a:cs typeface="PMingLiU"/>
              </a:rPr>
              <a:t>個</a:t>
            </a:r>
            <a:r>
              <a:rPr dirty="0" sz="1500" spc="-150">
                <a:solidFill>
                  <a:srgbClr val="414141"/>
                </a:solidFill>
                <a:latin typeface="SimSun"/>
                <a:cs typeface="SimSun"/>
              </a:rPr>
              <a:t>月以</a:t>
            </a:r>
            <a:r>
              <a:rPr dirty="0" sz="1500" spc="-150">
                <a:solidFill>
                  <a:srgbClr val="414141"/>
                </a:solidFill>
                <a:latin typeface="PMingLiU"/>
                <a:cs typeface="PMingLiU"/>
              </a:rPr>
              <a:t>上</a:t>
            </a:r>
            <a:r>
              <a:rPr dirty="0" sz="1350" spc="-50" b="1">
                <a:solidFill>
                  <a:srgbClr val="414141"/>
                </a:solidFill>
                <a:latin typeface="Arial"/>
                <a:cs typeface="Arial"/>
              </a:rPr>
              <a:t>)</a:t>
            </a:r>
            <a:endParaRPr sz="1350">
              <a:latin typeface="Arial"/>
              <a:cs typeface="Arial"/>
            </a:endParaRPr>
          </a:p>
          <a:p>
            <a:pPr marL="533400" marR="1486535">
              <a:lnSpc>
                <a:spcPct val="166700"/>
              </a:lnSpc>
              <a:spcBef>
                <a:spcPts val="1140"/>
              </a:spcBef>
            </a:pPr>
            <a:r>
              <a:rPr dirty="0" sz="1200" spc="-10">
                <a:solidFill>
                  <a:srgbClr val="414141"/>
                </a:solidFill>
                <a:latin typeface="Arial"/>
                <a:cs typeface="Arial"/>
              </a:rPr>
              <a:t>PPBOX</a:t>
            </a:r>
            <a:r>
              <a:rPr dirty="0" sz="1200" spc="-10">
                <a:solidFill>
                  <a:srgbClr val="414141"/>
                </a:solidFill>
                <a:latin typeface="PMingLiU"/>
                <a:cs typeface="PMingLiU"/>
              </a:rPr>
              <a:t>存放區熱顯像點檢自主巡檢充電功能</a:t>
            </a:r>
            <a:endParaRPr sz="1200">
              <a:latin typeface="PMingLiU"/>
              <a:cs typeface="PMingLiU"/>
            </a:endParaRPr>
          </a:p>
          <a:p>
            <a:pPr marL="533400">
              <a:lnSpc>
                <a:spcPct val="100000"/>
              </a:lnSpc>
              <a:spcBef>
                <a:spcPts val="960"/>
              </a:spcBef>
            </a:pPr>
            <a:r>
              <a:rPr dirty="0" sz="1200" spc="-5">
                <a:solidFill>
                  <a:srgbClr val="414141"/>
                </a:solidFill>
                <a:latin typeface="PMingLiU"/>
                <a:cs typeface="PMingLiU"/>
              </a:rPr>
              <a:t>大數據分析與預警系統</a:t>
            </a:r>
            <a:endParaRPr sz="1200">
              <a:latin typeface="PMingLiU"/>
              <a:cs typeface="PMingLiU"/>
            </a:endParaRPr>
          </a:p>
        </p:txBody>
      </p:sp>
      <p:sp>
        <p:nvSpPr>
          <p:cNvPr id="31" name="object 31" descr=""/>
          <p:cNvSpPr/>
          <p:nvPr/>
        </p:nvSpPr>
        <p:spPr>
          <a:xfrm>
            <a:off x="228599" y="2800349"/>
            <a:ext cx="11734800" cy="1447800"/>
          </a:xfrm>
          <a:custGeom>
            <a:avLst/>
            <a:gdLst/>
            <a:ahLst/>
            <a:cxnLst/>
            <a:rect l="l" t="t" r="r" b="b"/>
            <a:pathLst>
              <a:path w="11734800" h="1447800">
                <a:moveTo>
                  <a:pt x="11734799" y="1447799"/>
                </a:moveTo>
                <a:lnTo>
                  <a:pt x="0" y="1447799"/>
                </a:lnTo>
                <a:lnTo>
                  <a:pt x="0" y="0"/>
                </a:lnTo>
                <a:lnTo>
                  <a:pt x="11734799" y="0"/>
                </a:lnTo>
                <a:lnTo>
                  <a:pt x="11734799" y="1447799"/>
                </a:lnTo>
                <a:close/>
              </a:path>
            </a:pathLst>
          </a:custGeom>
          <a:solidFill>
            <a:srgbClr val="FFFFFF"/>
          </a:solidFill>
        </p:spPr>
        <p:txBody>
          <a:bodyPr wrap="square" lIns="0" tIns="0" rIns="0" bIns="0" rtlCol="0"/>
          <a:lstStyle/>
          <a:p/>
        </p:txBody>
      </p:sp>
      <p:sp>
        <p:nvSpPr>
          <p:cNvPr id="32" name="object 32" descr=""/>
          <p:cNvSpPr txBox="1"/>
          <p:nvPr/>
        </p:nvSpPr>
        <p:spPr>
          <a:xfrm>
            <a:off x="228599" y="2800349"/>
            <a:ext cx="11734800" cy="1447800"/>
          </a:xfrm>
          <a:prstGeom prst="rect">
            <a:avLst/>
          </a:prstGeom>
        </p:spPr>
        <p:txBody>
          <a:bodyPr wrap="square" lIns="0" tIns="152400" rIns="0" bIns="0" rtlCol="0" vert="horz">
            <a:spAutoFit/>
          </a:bodyPr>
          <a:lstStyle/>
          <a:p>
            <a:pPr marL="152400">
              <a:lnSpc>
                <a:spcPct val="100000"/>
              </a:lnSpc>
              <a:spcBef>
                <a:spcPts val="1200"/>
              </a:spcBef>
            </a:pPr>
            <a:r>
              <a:rPr dirty="0" sz="1500" spc="-150">
                <a:solidFill>
                  <a:srgbClr val="414141"/>
                </a:solidFill>
                <a:latin typeface="SimSun"/>
                <a:cs typeface="SimSun"/>
              </a:rPr>
              <a:t>實施時</a:t>
            </a:r>
            <a:r>
              <a:rPr dirty="0" sz="1450" spc="-120">
                <a:solidFill>
                  <a:srgbClr val="414141"/>
                </a:solidFill>
                <a:latin typeface="PMingLiU"/>
                <a:cs typeface="PMingLiU"/>
              </a:rPr>
              <a:t>間</a:t>
            </a:r>
            <a:r>
              <a:rPr dirty="0" sz="1500" spc="-50">
                <a:solidFill>
                  <a:srgbClr val="414141"/>
                </a:solidFill>
                <a:latin typeface="SimSun"/>
                <a:cs typeface="SimSun"/>
              </a:rPr>
              <a:t>軸</a:t>
            </a:r>
            <a:endParaRPr sz="1500">
              <a:latin typeface="SimSun"/>
              <a:cs typeface="SimSun"/>
            </a:endParaRPr>
          </a:p>
        </p:txBody>
      </p:sp>
      <p:grpSp>
        <p:nvGrpSpPr>
          <p:cNvPr id="33" name="object 33" descr=""/>
          <p:cNvGrpSpPr/>
          <p:nvPr/>
        </p:nvGrpSpPr>
        <p:grpSpPr>
          <a:xfrm>
            <a:off x="228599" y="4476749"/>
            <a:ext cx="11734800" cy="1143000"/>
            <a:chOff x="228599" y="4476749"/>
            <a:chExt cx="11734800" cy="1143000"/>
          </a:xfrm>
        </p:grpSpPr>
        <p:sp>
          <p:nvSpPr>
            <p:cNvPr id="34" name="object 34" descr=""/>
            <p:cNvSpPr/>
            <p:nvPr/>
          </p:nvSpPr>
          <p:spPr>
            <a:xfrm>
              <a:off x="228599" y="4476749"/>
              <a:ext cx="11734800" cy="1143000"/>
            </a:xfrm>
            <a:custGeom>
              <a:avLst/>
              <a:gdLst/>
              <a:ahLst/>
              <a:cxnLst/>
              <a:rect l="l" t="t" r="r" b="b"/>
              <a:pathLst>
                <a:path w="11734800" h="1143000">
                  <a:moveTo>
                    <a:pt x="11734799" y="1142999"/>
                  </a:moveTo>
                  <a:lnTo>
                    <a:pt x="0" y="1142999"/>
                  </a:lnTo>
                  <a:lnTo>
                    <a:pt x="0" y="0"/>
                  </a:lnTo>
                  <a:lnTo>
                    <a:pt x="11734799" y="0"/>
                  </a:lnTo>
                  <a:lnTo>
                    <a:pt x="11734799" y="1142999"/>
                  </a:lnTo>
                  <a:close/>
                </a:path>
              </a:pathLst>
            </a:custGeom>
            <a:solidFill>
              <a:srgbClr val="FFFFFF"/>
            </a:solidFill>
          </p:spPr>
          <p:txBody>
            <a:bodyPr wrap="square" lIns="0" tIns="0" rIns="0" bIns="0" rtlCol="0"/>
            <a:lstStyle/>
            <a:p/>
          </p:txBody>
        </p:sp>
        <p:pic>
          <p:nvPicPr>
            <p:cNvPr id="35" name="object 35" descr=""/>
            <p:cNvPicPr/>
            <p:nvPr/>
          </p:nvPicPr>
          <p:blipFill>
            <a:blip r:embed="rId7" cstate="print"/>
            <a:stretch>
              <a:fillRect/>
            </a:stretch>
          </p:blipFill>
          <p:spPr>
            <a:xfrm>
              <a:off x="380999" y="4676774"/>
              <a:ext cx="219074" cy="171449"/>
            </a:xfrm>
            <a:prstGeom prst="rect">
              <a:avLst/>
            </a:prstGeom>
          </p:spPr>
        </p:pic>
        <p:pic>
          <p:nvPicPr>
            <p:cNvPr id="36" name="object 36" descr=""/>
            <p:cNvPicPr/>
            <p:nvPr/>
          </p:nvPicPr>
          <p:blipFill>
            <a:blip r:embed="rId8" cstate="print"/>
            <a:stretch>
              <a:fillRect/>
            </a:stretch>
          </p:blipFill>
          <p:spPr>
            <a:xfrm>
              <a:off x="380999" y="5038724"/>
              <a:ext cx="152399" cy="152399"/>
            </a:xfrm>
            <a:prstGeom prst="rect">
              <a:avLst/>
            </a:prstGeom>
          </p:spPr>
        </p:pic>
      </p:grpSp>
      <p:sp>
        <p:nvSpPr>
          <p:cNvPr id="37" name="object 37" descr=""/>
          <p:cNvSpPr txBox="1"/>
          <p:nvPr/>
        </p:nvSpPr>
        <p:spPr>
          <a:xfrm>
            <a:off x="647699" y="4613064"/>
            <a:ext cx="4946650" cy="846455"/>
          </a:xfrm>
          <a:prstGeom prst="rect">
            <a:avLst/>
          </a:prstGeom>
        </p:spPr>
        <p:txBody>
          <a:bodyPr wrap="square" lIns="0" tIns="15875" rIns="0" bIns="0" rtlCol="0" vert="horz">
            <a:spAutoFit/>
          </a:bodyPr>
          <a:lstStyle/>
          <a:p>
            <a:pPr marL="27940">
              <a:lnSpc>
                <a:spcPct val="100000"/>
              </a:lnSpc>
              <a:spcBef>
                <a:spcPts val="125"/>
              </a:spcBef>
            </a:pPr>
            <a:r>
              <a:rPr dirty="0" sz="1500" spc="-155">
                <a:solidFill>
                  <a:srgbClr val="414141"/>
                </a:solidFill>
                <a:latin typeface="SimSun"/>
                <a:cs typeface="SimSun"/>
              </a:rPr>
              <a:t>成本效</a:t>
            </a:r>
            <a:r>
              <a:rPr dirty="0" sz="1500" spc="-150">
                <a:solidFill>
                  <a:srgbClr val="414141"/>
                </a:solidFill>
                <a:latin typeface="PMingLiU"/>
                <a:cs typeface="PMingLiU"/>
              </a:rPr>
              <a:t>益</a:t>
            </a:r>
            <a:r>
              <a:rPr dirty="0" sz="1500" spc="-150">
                <a:solidFill>
                  <a:srgbClr val="414141"/>
                </a:solidFill>
                <a:latin typeface="SimSun"/>
                <a:cs typeface="SimSun"/>
              </a:rPr>
              <a:t>評</a:t>
            </a:r>
            <a:r>
              <a:rPr dirty="0" sz="1450" spc="-50">
                <a:solidFill>
                  <a:srgbClr val="414141"/>
                </a:solidFill>
                <a:latin typeface="PMingLiU"/>
                <a:cs typeface="PMingLiU"/>
              </a:rPr>
              <a:t>估</a:t>
            </a:r>
            <a:endParaRPr sz="1450">
              <a:latin typeface="PMingLiU"/>
              <a:cs typeface="PMingLiU"/>
            </a:endParaRPr>
          </a:p>
          <a:p>
            <a:pPr>
              <a:lnSpc>
                <a:spcPct val="100000"/>
              </a:lnSpc>
              <a:spcBef>
                <a:spcPts val="1125"/>
              </a:spcBef>
            </a:pPr>
            <a:r>
              <a:rPr dirty="0" sz="1300" spc="-120">
                <a:solidFill>
                  <a:srgbClr val="414141"/>
                </a:solidFill>
                <a:latin typeface="SimSun"/>
                <a:cs typeface="SimSun"/>
              </a:rPr>
              <a:t>成</a:t>
            </a:r>
            <a:r>
              <a:rPr dirty="0" sz="1350" spc="-170">
                <a:solidFill>
                  <a:srgbClr val="414141"/>
                </a:solidFill>
                <a:latin typeface="SimSun"/>
                <a:cs typeface="SimSun"/>
              </a:rPr>
              <a:t>本</a:t>
            </a:r>
            <a:r>
              <a:rPr dirty="0" sz="1300" spc="-114">
                <a:solidFill>
                  <a:srgbClr val="414141"/>
                </a:solidFill>
                <a:latin typeface="SimSun"/>
                <a:cs typeface="SimSun"/>
              </a:rPr>
              <a:t>考</a:t>
            </a:r>
            <a:r>
              <a:rPr dirty="0" sz="1300" spc="-50">
                <a:solidFill>
                  <a:srgbClr val="414141"/>
                </a:solidFill>
                <a:latin typeface="PMingLiU"/>
                <a:cs typeface="PMingLiU"/>
              </a:rPr>
              <a:t>量</a:t>
            </a:r>
            <a:endParaRPr sz="1300">
              <a:latin typeface="PMingLiU"/>
              <a:cs typeface="PMingLiU"/>
            </a:endParaRPr>
          </a:p>
          <a:p>
            <a:pPr>
              <a:lnSpc>
                <a:spcPct val="100000"/>
              </a:lnSpc>
              <a:spcBef>
                <a:spcPts val="630"/>
              </a:spcBef>
            </a:pPr>
            <a:r>
              <a:rPr dirty="0" sz="1050" spc="-5">
                <a:solidFill>
                  <a:srgbClr val="414141"/>
                </a:solidFill>
                <a:latin typeface="PMingLiU"/>
                <a:cs typeface="PMingLiU"/>
              </a:rPr>
              <a:t>初期投入研發與集成成本較高，但長期運營成本效益顯著，尤其在人力成本節約方面</a:t>
            </a:r>
            <a:endParaRPr sz="1050">
              <a:latin typeface="PMingLiU"/>
              <a:cs typeface="PMingLiU"/>
            </a:endParaRPr>
          </a:p>
        </p:txBody>
      </p:sp>
      <p:pic>
        <p:nvPicPr>
          <p:cNvPr id="38" name="object 38" descr=""/>
          <p:cNvPicPr/>
          <p:nvPr/>
        </p:nvPicPr>
        <p:blipFill>
          <a:blip r:embed="rId9" cstate="print"/>
          <a:stretch>
            <a:fillRect/>
          </a:stretch>
        </p:blipFill>
        <p:spPr>
          <a:xfrm>
            <a:off x="6172199" y="5038724"/>
            <a:ext cx="152399" cy="152399"/>
          </a:xfrm>
          <a:prstGeom prst="rect">
            <a:avLst/>
          </a:prstGeom>
        </p:spPr>
      </p:pic>
      <p:sp>
        <p:nvSpPr>
          <p:cNvPr id="39" name="object 39" descr=""/>
          <p:cNvSpPr txBox="1"/>
          <p:nvPr/>
        </p:nvSpPr>
        <p:spPr>
          <a:xfrm>
            <a:off x="6438899" y="4886655"/>
            <a:ext cx="4813300" cy="572770"/>
          </a:xfrm>
          <a:prstGeom prst="rect">
            <a:avLst/>
          </a:prstGeom>
        </p:spPr>
        <p:txBody>
          <a:bodyPr wrap="square" lIns="0" tIns="113664" rIns="0" bIns="0" rtlCol="0" vert="horz">
            <a:spAutoFit/>
          </a:bodyPr>
          <a:lstStyle/>
          <a:p>
            <a:pPr>
              <a:lnSpc>
                <a:spcPct val="100000"/>
              </a:lnSpc>
              <a:spcBef>
                <a:spcPts val="894"/>
              </a:spcBef>
            </a:pPr>
            <a:r>
              <a:rPr dirty="0" sz="1300" spc="-110">
                <a:solidFill>
                  <a:srgbClr val="414141"/>
                </a:solidFill>
                <a:latin typeface="SimSun"/>
                <a:cs typeface="SimSun"/>
              </a:rPr>
              <a:t>效</a:t>
            </a:r>
            <a:r>
              <a:rPr dirty="0" sz="1350" spc="-170">
                <a:solidFill>
                  <a:srgbClr val="414141"/>
                </a:solidFill>
                <a:latin typeface="PMingLiU"/>
                <a:cs typeface="PMingLiU"/>
              </a:rPr>
              <a:t>益</a:t>
            </a:r>
            <a:r>
              <a:rPr dirty="0" sz="1300" spc="-110">
                <a:solidFill>
                  <a:srgbClr val="414141"/>
                </a:solidFill>
                <a:latin typeface="SimSun"/>
                <a:cs typeface="SimSun"/>
              </a:rPr>
              <a:t>分</a:t>
            </a:r>
            <a:r>
              <a:rPr dirty="0" sz="1350" spc="-50">
                <a:solidFill>
                  <a:srgbClr val="414141"/>
                </a:solidFill>
                <a:latin typeface="SimSun"/>
                <a:cs typeface="SimSun"/>
              </a:rPr>
              <a:t>析</a:t>
            </a:r>
            <a:endParaRPr sz="1350">
              <a:latin typeface="SimSun"/>
              <a:cs typeface="SimSun"/>
            </a:endParaRPr>
          </a:p>
          <a:p>
            <a:pPr>
              <a:lnSpc>
                <a:spcPct val="100000"/>
              </a:lnSpc>
              <a:spcBef>
                <a:spcPts val="630"/>
              </a:spcBef>
            </a:pPr>
            <a:r>
              <a:rPr dirty="0" sz="1050" spc="-5">
                <a:solidFill>
                  <a:srgbClr val="414141"/>
                </a:solidFill>
                <a:latin typeface="PMingLiU"/>
                <a:cs typeface="PMingLiU"/>
              </a:rPr>
              <a:t>提升工作效率、降低安全風險、優化資源配置，長期運行可大幅降低庫房管理成本</a:t>
            </a:r>
            <a:endParaRPr sz="1050">
              <a:latin typeface="PMingLiU"/>
              <a:cs typeface="PMingLiU"/>
            </a:endParaRPr>
          </a:p>
        </p:txBody>
      </p:sp>
      <p:pic>
        <p:nvPicPr>
          <p:cNvPr id="40" name="object 40" descr=""/>
          <p:cNvPicPr/>
          <p:nvPr/>
        </p:nvPicPr>
        <p:blipFill>
          <a:blip r:embed="rId10" cstate="print"/>
          <a:stretch>
            <a:fillRect/>
          </a:stretch>
        </p:blipFill>
        <p:spPr>
          <a:xfrm>
            <a:off x="380999" y="3333750"/>
            <a:ext cx="11429999" cy="761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11125"/>
            <a:ext cx="2768600" cy="334010"/>
          </a:xfrm>
          <a:prstGeom prst="rect"/>
        </p:spPr>
        <p:txBody>
          <a:bodyPr wrap="square" lIns="0" tIns="15875" rIns="0" bIns="0" rtlCol="0" vert="horz">
            <a:spAutoFit/>
          </a:bodyPr>
          <a:lstStyle/>
          <a:p>
            <a:pPr marL="12700">
              <a:lnSpc>
                <a:spcPct val="100000"/>
              </a:lnSpc>
              <a:spcBef>
                <a:spcPts val="125"/>
              </a:spcBef>
            </a:pPr>
            <a:r>
              <a:rPr dirty="0" spc="-210"/>
              <a:t>機</a:t>
            </a:r>
            <a:r>
              <a:rPr dirty="0" sz="1950" spc="-165">
                <a:latin typeface="PMingLiU"/>
                <a:cs typeface="PMingLiU"/>
              </a:rPr>
              <a:t>器</a:t>
            </a:r>
            <a:r>
              <a:rPr dirty="0" spc="-200"/>
              <a:t>狗</a:t>
            </a:r>
            <a:r>
              <a:rPr dirty="0" sz="1950" spc="-165"/>
              <a:t>推</a:t>
            </a:r>
            <a:r>
              <a:rPr dirty="0" spc="-200"/>
              <a:t>薦與</a:t>
            </a:r>
            <a:r>
              <a:rPr dirty="0" spc="-200">
                <a:latin typeface="PMingLiU"/>
                <a:cs typeface="PMingLiU"/>
              </a:rPr>
              <a:t>邊</a:t>
            </a:r>
            <a:r>
              <a:rPr dirty="0" spc="-200"/>
              <a:t>緣</a:t>
            </a:r>
            <a:r>
              <a:rPr dirty="0" spc="-200">
                <a:latin typeface="PMingLiU"/>
                <a:cs typeface="PMingLiU"/>
              </a:rPr>
              <a:t>運</a:t>
            </a:r>
            <a:r>
              <a:rPr dirty="0" spc="-200"/>
              <a:t>算</a:t>
            </a:r>
            <a:r>
              <a:rPr dirty="0" sz="1950" spc="-125"/>
              <a:t>分析</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152399" y="761999"/>
            <a:ext cx="5867400" cy="5057775"/>
            <a:chOff x="152399" y="761999"/>
            <a:chExt cx="5867400" cy="5057775"/>
          </a:xfrm>
        </p:grpSpPr>
        <p:sp>
          <p:nvSpPr>
            <p:cNvPr id="5" name="object 5" descr=""/>
            <p:cNvSpPr/>
            <p:nvPr/>
          </p:nvSpPr>
          <p:spPr>
            <a:xfrm>
              <a:off x="152399" y="761999"/>
              <a:ext cx="5867400" cy="5057775"/>
            </a:xfrm>
            <a:custGeom>
              <a:avLst/>
              <a:gdLst/>
              <a:ahLst/>
              <a:cxnLst/>
              <a:rect l="l" t="t" r="r" b="b"/>
              <a:pathLst>
                <a:path w="5867400" h="5057775">
                  <a:moveTo>
                    <a:pt x="5867399" y="5057774"/>
                  </a:moveTo>
                  <a:lnTo>
                    <a:pt x="0" y="5057774"/>
                  </a:lnTo>
                  <a:lnTo>
                    <a:pt x="0" y="0"/>
                  </a:lnTo>
                  <a:lnTo>
                    <a:pt x="5867399" y="0"/>
                  </a:lnTo>
                  <a:lnTo>
                    <a:pt x="5867399" y="5057774"/>
                  </a:lnTo>
                  <a:close/>
                </a:path>
              </a:pathLst>
            </a:custGeom>
            <a:solidFill>
              <a:srgbClr val="FFFFFF"/>
            </a:solidFill>
          </p:spPr>
          <p:txBody>
            <a:bodyPr wrap="square" lIns="0" tIns="0" rIns="0" bIns="0" rtlCol="0"/>
            <a:lstStyle/>
            <a:p/>
          </p:txBody>
        </p:sp>
        <p:sp>
          <p:nvSpPr>
            <p:cNvPr id="6" name="object 6" descr=""/>
            <p:cNvSpPr/>
            <p:nvPr/>
          </p:nvSpPr>
          <p:spPr>
            <a:xfrm>
              <a:off x="152399" y="761999"/>
              <a:ext cx="38100" cy="5057775"/>
            </a:xfrm>
            <a:custGeom>
              <a:avLst/>
              <a:gdLst/>
              <a:ahLst/>
              <a:cxnLst/>
              <a:rect l="l" t="t" r="r" b="b"/>
              <a:pathLst>
                <a:path w="38100" h="5057775">
                  <a:moveTo>
                    <a:pt x="38099" y="5057774"/>
                  </a:moveTo>
                  <a:lnTo>
                    <a:pt x="0" y="5057774"/>
                  </a:lnTo>
                  <a:lnTo>
                    <a:pt x="0" y="0"/>
                  </a:lnTo>
                  <a:lnTo>
                    <a:pt x="38099" y="0"/>
                  </a:lnTo>
                  <a:lnTo>
                    <a:pt x="38099" y="5057774"/>
                  </a:lnTo>
                  <a:close/>
                </a:path>
              </a:pathLst>
            </a:custGeom>
            <a:solidFill>
              <a:srgbClr val="FF9800"/>
            </a:solidFill>
          </p:spPr>
          <p:txBody>
            <a:bodyPr wrap="square" lIns="0" tIns="0" rIns="0" bIns="0" rtlCol="0"/>
            <a:lstStyle/>
            <a:p/>
          </p:txBody>
        </p:sp>
        <p:sp>
          <p:nvSpPr>
            <p:cNvPr id="7" name="object 7" descr=""/>
            <p:cNvSpPr/>
            <p:nvPr/>
          </p:nvSpPr>
          <p:spPr>
            <a:xfrm>
              <a:off x="342887" y="1295399"/>
              <a:ext cx="5524500" cy="4371975"/>
            </a:xfrm>
            <a:custGeom>
              <a:avLst/>
              <a:gdLst/>
              <a:ahLst/>
              <a:cxnLst/>
              <a:rect l="l" t="t" r="r" b="b"/>
              <a:pathLst>
                <a:path w="5524500" h="4371975">
                  <a:moveTo>
                    <a:pt x="5524500" y="3044253"/>
                  </a:moveTo>
                  <a:lnTo>
                    <a:pt x="5505107" y="3004947"/>
                  </a:lnTo>
                  <a:lnTo>
                    <a:pt x="5471109" y="2990850"/>
                  </a:lnTo>
                  <a:lnTo>
                    <a:pt x="53403" y="2990850"/>
                  </a:lnTo>
                  <a:lnTo>
                    <a:pt x="14097" y="3010243"/>
                  </a:lnTo>
                  <a:lnTo>
                    <a:pt x="0" y="3044253"/>
                  </a:lnTo>
                  <a:lnTo>
                    <a:pt x="0" y="4314825"/>
                  </a:lnTo>
                  <a:lnTo>
                    <a:pt x="0" y="4318584"/>
                  </a:lnTo>
                  <a:lnTo>
                    <a:pt x="19392" y="4357890"/>
                  </a:lnTo>
                  <a:lnTo>
                    <a:pt x="53403" y="4371975"/>
                  </a:lnTo>
                  <a:lnTo>
                    <a:pt x="5471109" y="4371975"/>
                  </a:lnTo>
                  <a:lnTo>
                    <a:pt x="5510415" y="4352595"/>
                  </a:lnTo>
                  <a:lnTo>
                    <a:pt x="5524500" y="4318584"/>
                  </a:lnTo>
                  <a:lnTo>
                    <a:pt x="5524500" y="3044253"/>
                  </a:lnTo>
                  <a:close/>
                </a:path>
                <a:path w="5524500" h="4371975">
                  <a:moveTo>
                    <a:pt x="5524500" y="1548828"/>
                  </a:moveTo>
                  <a:lnTo>
                    <a:pt x="5505107" y="1509522"/>
                  </a:lnTo>
                  <a:lnTo>
                    <a:pt x="5471109" y="1495425"/>
                  </a:lnTo>
                  <a:lnTo>
                    <a:pt x="53403" y="1495425"/>
                  </a:lnTo>
                  <a:lnTo>
                    <a:pt x="14097" y="1514817"/>
                  </a:lnTo>
                  <a:lnTo>
                    <a:pt x="0" y="1548828"/>
                  </a:lnTo>
                  <a:lnTo>
                    <a:pt x="0" y="2819400"/>
                  </a:lnTo>
                  <a:lnTo>
                    <a:pt x="0" y="2823159"/>
                  </a:lnTo>
                  <a:lnTo>
                    <a:pt x="19392" y="2862465"/>
                  </a:lnTo>
                  <a:lnTo>
                    <a:pt x="53403" y="2876550"/>
                  </a:lnTo>
                  <a:lnTo>
                    <a:pt x="5471109" y="2876550"/>
                  </a:lnTo>
                  <a:lnTo>
                    <a:pt x="5510415" y="2857157"/>
                  </a:lnTo>
                  <a:lnTo>
                    <a:pt x="5524500" y="2823159"/>
                  </a:lnTo>
                  <a:lnTo>
                    <a:pt x="5524500" y="1548828"/>
                  </a:lnTo>
                  <a:close/>
                </a:path>
                <a:path w="5524500" h="4371975">
                  <a:moveTo>
                    <a:pt x="5524500" y="53403"/>
                  </a:moveTo>
                  <a:lnTo>
                    <a:pt x="5505107" y="14097"/>
                  </a:lnTo>
                  <a:lnTo>
                    <a:pt x="5471109" y="0"/>
                  </a:lnTo>
                  <a:lnTo>
                    <a:pt x="53403" y="0"/>
                  </a:lnTo>
                  <a:lnTo>
                    <a:pt x="14097" y="19392"/>
                  </a:lnTo>
                  <a:lnTo>
                    <a:pt x="0" y="53403"/>
                  </a:lnTo>
                  <a:lnTo>
                    <a:pt x="0" y="1323975"/>
                  </a:lnTo>
                  <a:lnTo>
                    <a:pt x="0" y="1327734"/>
                  </a:lnTo>
                  <a:lnTo>
                    <a:pt x="19392" y="1367040"/>
                  </a:lnTo>
                  <a:lnTo>
                    <a:pt x="53403" y="1381125"/>
                  </a:lnTo>
                  <a:lnTo>
                    <a:pt x="5471109" y="1381125"/>
                  </a:lnTo>
                  <a:lnTo>
                    <a:pt x="5510415" y="1361744"/>
                  </a:lnTo>
                  <a:lnTo>
                    <a:pt x="5524500" y="1327734"/>
                  </a:lnTo>
                  <a:lnTo>
                    <a:pt x="5524500" y="53403"/>
                  </a:lnTo>
                  <a:close/>
                </a:path>
              </a:pathLst>
            </a:custGeom>
            <a:solidFill>
              <a:srgbClr val="F9FAFA"/>
            </a:solidFill>
          </p:spPr>
          <p:txBody>
            <a:bodyPr wrap="square" lIns="0" tIns="0" rIns="0" bIns="0" rtlCol="0"/>
            <a:lstStyle/>
            <a:p/>
          </p:txBody>
        </p:sp>
        <p:pic>
          <p:nvPicPr>
            <p:cNvPr id="8" name="object 8" descr=""/>
            <p:cNvPicPr/>
            <p:nvPr/>
          </p:nvPicPr>
          <p:blipFill>
            <a:blip r:embed="rId2" cstate="print"/>
            <a:stretch>
              <a:fillRect/>
            </a:stretch>
          </p:blipFill>
          <p:spPr>
            <a:xfrm>
              <a:off x="342899" y="962024"/>
              <a:ext cx="219074" cy="171449"/>
            </a:xfrm>
            <a:prstGeom prst="rect">
              <a:avLst/>
            </a:prstGeom>
          </p:spPr>
        </p:pic>
      </p:grpSp>
      <p:sp>
        <p:nvSpPr>
          <p:cNvPr id="9" name="object 9" descr=""/>
          <p:cNvSpPr txBox="1"/>
          <p:nvPr/>
        </p:nvSpPr>
        <p:spPr>
          <a:xfrm>
            <a:off x="638174" y="899318"/>
            <a:ext cx="2070100" cy="257175"/>
          </a:xfrm>
          <a:prstGeom prst="rect">
            <a:avLst/>
          </a:prstGeom>
        </p:spPr>
        <p:txBody>
          <a:bodyPr wrap="square" lIns="0" tIns="14604" rIns="0" bIns="0" rtlCol="0" vert="horz">
            <a:spAutoFit/>
          </a:bodyPr>
          <a:lstStyle/>
          <a:p>
            <a:pPr>
              <a:lnSpc>
                <a:spcPct val="100000"/>
              </a:lnSpc>
              <a:spcBef>
                <a:spcPts val="114"/>
              </a:spcBef>
            </a:pPr>
            <a:r>
              <a:rPr dirty="0" sz="1500" spc="-150">
                <a:solidFill>
                  <a:srgbClr val="414141"/>
                </a:solidFill>
                <a:latin typeface="SimSun"/>
                <a:cs typeface="SimSun"/>
              </a:rPr>
              <a:t>符合</a:t>
            </a:r>
            <a:r>
              <a:rPr dirty="0" sz="1450" spc="-110">
                <a:solidFill>
                  <a:srgbClr val="414141"/>
                </a:solidFill>
                <a:latin typeface="PMingLiU"/>
                <a:cs typeface="PMingLiU"/>
              </a:rPr>
              <a:t>需</a:t>
            </a:r>
            <a:r>
              <a:rPr dirty="0" sz="1500" spc="-150">
                <a:solidFill>
                  <a:srgbClr val="414141"/>
                </a:solidFill>
                <a:latin typeface="SimSun"/>
                <a:cs typeface="SimSun"/>
              </a:rPr>
              <a:t>求</a:t>
            </a:r>
            <a:r>
              <a:rPr dirty="0" sz="1450" spc="-110">
                <a:solidFill>
                  <a:srgbClr val="414141"/>
                </a:solidFill>
                <a:latin typeface="PMingLiU"/>
                <a:cs typeface="PMingLiU"/>
              </a:rPr>
              <a:t>的</a:t>
            </a:r>
            <a:r>
              <a:rPr dirty="0" sz="1500" spc="-160">
                <a:solidFill>
                  <a:srgbClr val="414141"/>
                </a:solidFill>
                <a:latin typeface="SimSun"/>
                <a:cs typeface="SimSun"/>
              </a:rPr>
              <a:t>機</a:t>
            </a:r>
            <a:r>
              <a:rPr dirty="0" sz="1450" spc="-110">
                <a:solidFill>
                  <a:srgbClr val="414141"/>
                </a:solidFill>
                <a:latin typeface="PMingLiU"/>
                <a:cs typeface="PMingLiU"/>
              </a:rPr>
              <a:t>器</a:t>
            </a:r>
            <a:r>
              <a:rPr dirty="0" sz="1500" spc="-150">
                <a:solidFill>
                  <a:srgbClr val="414141"/>
                </a:solidFill>
                <a:latin typeface="SimSun"/>
                <a:cs typeface="SimSun"/>
              </a:rPr>
              <a:t>狗</a:t>
            </a:r>
            <a:r>
              <a:rPr dirty="0" sz="1450" spc="-110">
                <a:solidFill>
                  <a:srgbClr val="414141"/>
                </a:solidFill>
                <a:latin typeface="PMingLiU"/>
                <a:cs typeface="PMingLiU"/>
              </a:rPr>
              <a:t>型</a:t>
            </a:r>
            <a:r>
              <a:rPr dirty="0" sz="1500" spc="-135">
                <a:solidFill>
                  <a:srgbClr val="414141"/>
                </a:solidFill>
                <a:latin typeface="SimSun"/>
                <a:cs typeface="SimSun"/>
              </a:rPr>
              <a:t>號推薦</a:t>
            </a:r>
            <a:endParaRPr sz="1500">
              <a:latin typeface="SimSun"/>
              <a:cs typeface="SimSun"/>
            </a:endParaRPr>
          </a:p>
        </p:txBody>
      </p:sp>
      <p:sp>
        <p:nvSpPr>
          <p:cNvPr id="10" name="object 10" descr=""/>
          <p:cNvSpPr/>
          <p:nvPr/>
        </p:nvSpPr>
        <p:spPr>
          <a:xfrm>
            <a:off x="5114923" y="1409699"/>
            <a:ext cx="638175" cy="238125"/>
          </a:xfrm>
          <a:custGeom>
            <a:avLst/>
            <a:gdLst/>
            <a:ahLst/>
            <a:cxnLst/>
            <a:rect l="l" t="t" r="r" b="b"/>
            <a:pathLst>
              <a:path w="638175" h="238125">
                <a:moveTo>
                  <a:pt x="531380" y="238124"/>
                </a:moveTo>
                <a:lnTo>
                  <a:pt x="106795" y="238124"/>
                </a:lnTo>
                <a:lnTo>
                  <a:pt x="99362" y="237392"/>
                </a:lnTo>
                <a:lnTo>
                  <a:pt x="57038" y="223031"/>
                </a:lnTo>
                <a:lnTo>
                  <a:pt x="23432" y="193566"/>
                </a:lnTo>
                <a:lnTo>
                  <a:pt x="3660" y="153484"/>
                </a:lnTo>
                <a:lnTo>
                  <a:pt x="0" y="131329"/>
                </a:lnTo>
                <a:lnTo>
                  <a:pt x="0" y="123824"/>
                </a:lnTo>
                <a:lnTo>
                  <a:pt x="0" y="106794"/>
                </a:lnTo>
                <a:lnTo>
                  <a:pt x="11571" y="63625"/>
                </a:lnTo>
                <a:lnTo>
                  <a:pt x="38784" y="28170"/>
                </a:lnTo>
                <a:lnTo>
                  <a:pt x="77492" y="5828"/>
                </a:lnTo>
                <a:lnTo>
                  <a:pt x="106795" y="0"/>
                </a:lnTo>
                <a:lnTo>
                  <a:pt x="531380" y="0"/>
                </a:lnTo>
                <a:lnTo>
                  <a:pt x="574549" y="11572"/>
                </a:lnTo>
                <a:lnTo>
                  <a:pt x="610005" y="38784"/>
                </a:lnTo>
                <a:lnTo>
                  <a:pt x="632346" y="77492"/>
                </a:lnTo>
                <a:lnTo>
                  <a:pt x="638175" y="106794"/>
                </a:lnTo>
                <a:lnTo>
                  <a:pt x="638175" y="131329"/>
                </a:lnTo>
                <a:lnTo>
                  <a:pt x="626602" y="174499"/>
                </a:lnTo>
                <a:lnTo>
                  <a:pt x="599391" y="209954"/>
                </a:lnTo>
                <a:lnTo>
                  <a:pt x="560681" y="232296"/>
                </a:lnTo>
                <a:lnTo>
                  <a:pt x="538813" y="237392"/>
                </a:lnTo>
                <a:lnTo>
                  <a:pt x="531380" y="238124"/>
                </a:lnTo>
                <a:close/>
              </a:path>
            </a:pathLst>
          </a:custGeom>
          <a:solidFill>
            <a:srgbClr val="FF9800"/>
          </a:solidFill>
        </p:spPr>
        <p:txBody>
          <a:bodyPr wrap="square" lIns="0" tIns="0" rIns="0" bIns="0" rtlCol="0"/>
          <a:lstStyle/>
          <a:p/>
        </p:txBody>
      </p:sp>
      <p:sp>
        <p:nvSpPr>
          <p:cNvPr id="11" name="object 11" descr=""/>
          <p:cNvSpPr txBox="1"/>
          <p:nvPr/>
        </p:nvSpPr>
        <p:spPr>
          <a:xfrm>
            <a:off x="5194845" y="1425575"/>
            <a:ext cx="495300" cy="185420"/>
          </a:xfrm>
          <a:prstGeom prst="rect">
            <a:avLst/>
          </a:prstGeom>
        </p:spPr>
        <p:txBody>
          <a:bodyPr wrap="square" lIns="0" tIns="12700" rIns="0" bIns="0" rtlCol="0" vert="horz">
            <a:spAutoFit/>
          </a:bodyPr>
          <a:lstStyle/>
          <a:p>
            <a:pPr>
              <a:lnSpc>
                <a:spcPct val="100000"/>
              </a:lnSpc>
              <a:spcBef>
                <a:spcPts val="100"/>
              </a:spcBef>
            </a:pPr>
            <a:r>
              <a:rPr dirty="0" sz="1050" spc="-10" b="1">
                <a:solidFill>
                  <a:srgbClr val="FFFFFF"/>
                </a:solidFill>
                <a:latin typeface="Arial"/>
                <a:cs typeface="Arial"/>
              </a:rPr>
              <a:t>$74,500</a:t>
            </a:r>
            <a:endParaRPr sz="1050">
              <a:latin typeface="Arial"/>
              <a:cs typeface="Arial"/>
            </a:endParaRPr>
          </a:p>
        </p:txBody>
      </p:sp>
      <p:pic>
        <p:nvPicPr>
          <p:cNvPr id="12" name="object 12" descr=""/>
          <p:cNvPicPr/>
          <p:nvPr/>
        </p:nvPicPr>
        <p:blipFill>
          <a:blip r:embed="rId3" cstate="print"/>
          <a:stretch>
            <a:fillRect/>
          </a:stretch>
        </p:blipFill>
        <p:spPr>
          <a:xfrm>
            <a:off x="457200" y="1743075"/>
            <a:ext cx="171449" cy="152399"/>
          </a:xfrm>
          <a:prstGeom prst="rect">
            <a:avLst/>
          </a:prstGeom>
        </p:spPr>
      </p:pic>
      <p:sp>
        <p:nvSpPr>
          <p:cNvPr id="13" name="object 13" descr=""/>
          <p:cNvSpPr txBox="1"/>
          <p:nvPr/>
        </p:nvSpPr>
        <p:spPr>
          <a:xfrm>
            <a:off x="457200" y="1416050"/>
            <a:ext cx="1680845" cy="490220"/>
          </a:xfrm>
          <a:prstGeom prst="rect">
            <a:avLst/>
          </a:prstGeom>
        </p:spPr>
        <p:txBody>
          <a:bodyPr wrap="square" lIns="0" tIns="12700" rIns="0" bIns="0" rtlCol="0" vert="horz">
            <a:spAutoFit/>
          </a:bodyPr>
          <a:lstStyle/>
          <a:p>
            <a:pPr>
              <a:lnSpc>
                <a:spcPct val="100000"/>
              </a:lnSpc>
              <a:spcBef>
                <a:spcPts val="100"/>
              </a:spcBef>
            </a:pPr>
            <a:r>
              <a:rPr dirty="0" sz="1200" b="1">
                <a:solidFill>
                  <a:srgbClr val="414141"/>
                </a:solidFill>
                <a:latin typeface="Arial"/>
                <a:cs typeface="Arial"/>
              </a:rPr>
              <a:t>Boston</a:t>
            </a:r>
            <a:r>
              <a:rPr dirty="0" sz="1200" spc="-25" b="1">
                <a:solidFill>
                  <a:srgbClr val="414141"/>
                </a:solidFill>
                <a:latin typeface="Arial"/>
                <a:cs typeface="Arial"/>
              </a:rPr>
              <a:t> </a:t>
            </a:r>
            <a:r>
              <a:rPr dirty="0" sz="1200" b="1">
                <a:solidFill>
                  <a:srgbClr val="414141"/>
                </a:solidFill>
                <a:latin typeface="Arial"/>
                <a:cs typeface="Arial"/>
              </a:rPr>
              <a:t>Dynamics</a:t>
            </a:r>
            <a:r>
              <a:rPr dirty="0" sz="1200" spc="-20" b="1">
                <a:solidFill>
                  <a:srgbClr val="414141"/>
                </a:solidFill>
                <a:latin typeface="Arial"/>
                <a:cs typeface="Arial"/>
              </a:rPr>
              <a:t> Spot</a:t>
            </a:r>
            <a:endParaRPr sz="1200">
              <a:latin typeface="Arial"/>
              <a:cs typeface="Arial"/>
            </a:endParaRPr>
          </a:p>
          <a:p>
            <a:pPr marL="247015">
              <a:lnSpc>
                <a:spcPct val="100000"/>
              </a:lnSpc>
              <a:spcBef>
                <a:spcPts val="960"/>
              </a:spcBef>
            </a:pPr>
            <a:r>
              <a:rPr dirty="0" sz="1050">
                <a:solidFill>
                  <a:srgbClr val="414141"/>
                </a:solidFill>
                <a:latin typeface="PMingLiU"/>
                <a:cs typeface="PMingLiU"/>
              </a:rPr>
              <a:t>電池續航</a:t>
            </a:r>
            <a:r>
              <a:rPr dirty="0" sz="1050" spc="5">
                <a:solidFill>
                  <a:srgbClr val="414141"/>
                </a:solidFill>
                <a:latin typeface="Arial"/>
                <a:cs typeface="Arial"/>
              </a:rPr>
              <a:t>: </a:t>
            </a:r>
            <a:r>
              <a:rPr dirty="0" sz="1050" spc="-10">
                <a:solidFill>
                  <a:srgbClr val="414141"/>
                </a:solidFill>
                <a:latin typeface="Arial"/>
                <a:cs typeface="Arial"/>
              </a:rPr>
              <a:t>90</a:t>
            </a:r>
            <a:r>
              <a:rPr dirty="0" sz="1050" spc="-25">
                <a:solidFill>
                  <a:srgbClr val="414141"/>
                </a:solidFill>
                <a:latin typeface="PMingLiU"/>
                <a:cs typeface="PMingLiU"/>
              </a:rPr>
              <a:t>分鐘</a:t>
            </a:r>
            <a:endParaRPr sz="1050">
              <a:latin typeface="PMingLiU"/>
              <a:cs typeface="PMingLiU"/>
            </a:endParaRPr>
          </a:p>
        </p:txBody>
      </p:sp>
      <p:grpSp>
        <p:nvGrpSpPr>
          <p:cNvPr id="14" name="object 14" descr=""/>
          <p:cNvGrpSpPr/>
          <p:nvPr/>
        </p:nvGrpSpPr>
        <p:grpSpPr>
          <a:xfrm>
            <a:off x="457200" y="1743075"/>
            <a:ext cx="5295900" cy="1400175"/>
            <a:chOff x="457200" y="1743075"/>
            <a:chExt cx="5295900" cy="1400175"/>
          </a:xfrm>
        </p:grpSpPr>
        <p:pic>
          <p:nvPicPr>
            <p:cNvPr id="15" name="object 15" descr=""/>
            <p:cNvPicPr/>
            <p:nvPr/>
          </p:nvPicPr>
          <p:blipFill>
            <a:blip r:embed="rId4" cstate="print"/>
            <a:stretch>
              <a:fillRect/>
            </a:stretch>
          </p:blipFill>
          <p:spPr>
            <a:xfrm>
              <a:off x="3143249" y="1743075"/>
              <a:ext cx="152399" cy="152399"/>
            </a:xfrm>
            <a:prstGeom prst="rect">
              <a:avLst/>
            </a:prstGeom>
          </p:spPr>
        </p:pic>
        <p:pic>
          <p:nvPicPr>
            <p:cNvPr id="16" name="object 16" descr=""/>
            <p:cNvPicPr/>
            <p:nvPr/>
          </p:nvPicPr>
          <p:blipFill>
            <a:blip r:embed="rId5" cstate="print"/>
            <a:stretch>
              <a:fillRect/>
            </a:stretch>
          </p:blipFill>
          <p:spPr>
            <a:xfrm>
              <a:off x="457200" y="2085974"/>
              <a:ext cx="171449" cy="152399"/>
            </a:xfrm>
            <a:prstGeom prst="rect">
              <a:avLst/>
            </a:prstGeom>
          </p:spPr>
        </p:pic>
        <p:pic>
          <p:nvPicPr>
            <p:cNvPr id="17" name="object 17" descr=""/>
            <p:cNvPicPr/>
            <p:nvPr/>
          </p:nvPicPr>
          <p:blipFill>
            <a:blip r:embed="rId6" cstate="print"/>
            <a:stretch>
              <a:fillRect/>
            </a:stretch>
          </p:blipFill>
          <p:spPr>
            <a:xfrm>
              <a:off x="3143249" y="2085974"/>
              <a:ext cx="190499" cy="152399"/>
            </a:xfrm>
            <a:prstGeom prst="rect">
              <a:avLst/>
            </a:prstGeom>
          </p:spPr>
        </p:pic>
        <p:sp>
          <p:nvSpPr>
            <p:cNvPr id="18" name="object 18" descr=""/>
            <p:cNvSpPr/>
            <p:nvPr/>
          </p:nvSpPr>
          <p:spPr>
            <a:xfrm>
              <a:off x="5191124" y="2905124"/>
              <a:ext cx="561975" cy="238125"/>
            </a:xfrm>
            <a:custGeom>
              <a:avLst/>
              <a:gdLst/>
              <a:ahLst/>
              <a:cxnLst/>
              <a:rect l="l" t="t" r="r" b="b"/>
              <a:pathLst>
                <a:path w="561975" h="238125">
                  <a:moveTo>
                    <a:pt x="455179" y="238124"/>
                  </a:moveTo>
                  <a:lnTo>
                    <a:pt x="106794" y="238124"/>
                  </a:lnTo>
                  <a:lnTo>
                    <a:pt x="99361" y="237392"/>
                  </a:lnTo>
                  <a:lnTo>
                    <a:pt x="57037" y="223031"/>
                  </a:lnTo>
                  <a:lnTo>
                    <a:pt x="23431" y="193566"/>
                  </a:lnTo>
                  <a:lnTo>
                    <a:pt x="3659" y="153484"/>
                  </a:lnTo>
                  <a:lnTo>
                    <a:pt x="0" y="131330"/>
                  </a:lnTo>
                  <a:lnTo>
                    <a:pt x="0" y="123824"/>
                  </a:lnTo>
                  <a:lnTo>
                    <a:pt x="0" y="106794"/>
                  </a:lnTo>
                  <a:lnTo>
                    <a:pt x="11571" y="63625"/>
                  </a:lnTo>
                  <a:lnTo>
                    <a:pt x="38783" y="28170"/>
                  </a:lnTo>
                  <a:lnTo>
                    <a:pt x="77492" y="5828"/>
                  </a:lnTo>
                  <a:lnTo>
                    <a:pt x="106794" y="0"/>
                  </a:lnTo>
                  <a:lnTo>
                    <a:pt x="455179" y="0"/>
                  </a:lnTo>
                  <a:lnTo>
                    <a:pt x="498348" y="11572"/>
                  </a:lnTo>
                  <a:lnTo>
                    <a:pt x="533804" y="38784"/>
                  </a:lnTo>
                  <a:lnTo>
                    <a:pt x="556145" y="77492"/>
                  </a:lnTo>
                  <a:lnTo>
                    <a:pt x="561974" y="106794"/>
                  </a:lnTo>
                  <a:lnTo>
                    <a:pt x="561974" y="131330"/>
                  </a:lnTo>
                  <a:lnTo>
                    <a:pt x="550401" y="174498"/>
                  </a:lnTo>
                  <a:lnTo>
                    <a:pt x="523190" y="209953"/>
                  </a:lnTo>
                  <a:lnTo>
                    <a:pt x="484480" y="232295"/>
                  </a:lnTo>
                  <a:lnTo>
                    <a:pt x="462612" y="237392"/>
                  </a:lnTo>
                  <a:lnTo>
                    <a:pt x="455179" y="238124"/>
                  </a:lnTo>
                  <a:close/>
                </a:path>
              </a:pathLst>
            </a:custGeom>
            <a:solidFill>
              <a:srgbClr val="FF9800"/>
            </a:solidFill>
          </p:spPr>
          <p:txBody>
            <a:bodyPr wrap="square" lIns="0" tIns="0" rIns="0" bIns="0" rtlCol="0"/>
            <a:lstStyle/>
            <a:p/>
          </p:txBody>
        </p:sp>
      </p:grpSp>
      <p:sp>
        <p:nvSpPr>
          <p:cNvPr id="19" name="object 19" descr=""/>
          <p:cNvSpPr txBox="1"/>
          <p:nvPr/>
        </p:nvSpPr>
        <p:spPr>
          <a:xfrm>
            <a:off x="3371850" y="1720850"/>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熱顯像</a:t>
            </a:r>
            <a:r>
              <a:rPr dirty="0" sz="1050">
                <a:solidFill>
                  <a:srgbClr val="414141"/>
                </a:solidFill>
                <a:latin typeface="Arial"/>
                <a:cs typeface="Arial"/>
              </a:rPr>
              <a:t>: </a:t>
            </a:r>
            <a:r>
              <a:rPr dirty="0" sz="1050" spc="-20">
                <a:solidFill>
                  <a:srgbClr val="414141"/>
                </a:solidFill>
                <a:latin typeface="PMingLiU"/>
                <a:cs typeface="PMingLiU"/>
              </a:rPr>
              <a:t>高精度</a:t>
            </a:r>
            <a:endParaRPr sz="1050">
              <a:latin typeface="PMingLiU"/>
              <a:cs typeface="PMingLiU"/>
            </a:endParaRPr>
          </a:p>
        </p:txBody>
      </p:sp>
      <p:sp>
        <p:nvSpPr>
          <p:cNvPr id="20" name="object 20" descr=""/>
          <p:cNvSpPr txBox="1"/>
          <p:nvPr/>
        </p:nvSpPr>
        <p:spPr>
          <a:xfrm>
            <a:off x="704849" y="2063750"/>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物體識別</a:t>
            </a:r>
            <a:r>
              <a:rPr dirty="0" sz="1050">
                <a:solidFill>
                  <a:srgbClr val="414141"/>
                </a:solidFill>
                <a:latin typeface="Arial"/>
                <a:cs typeface="Arial"/>
              </a:rPr>
              <a:t>: </a:t>
            </a:r>
            <a:r>
              <a:rPr dirty="0" sz="1050" spc="-25">
                <a:solidFill>
                  <a:srgbClr val="414141"/>
                </a:solidFill>
                <a:latin typeface="PMingLiU"/>
                <a:cs typeface="PMingLiU"/>
              </a:rPr>
              <a:t>先進</a:t>
            </a:r>
            <a:endParaRPr sz="1050">
              <a:latin typeface="PMingLiU"/>
              <a:cs typeface="PMingLiU"/>
            </a:endParaRPr>
          </a:p>
        </p:txBody>
      </p:sp>
      <p:sp>
        <p:nvSpPr>
          <p:cNvPr id="21" name="object 21" descr=""/>
          <p:cNvSpPr txBox="1"/>
          <p:nvPr/>
        </p:nvSpPr>
        <p:spPr>
          <a:xfrm>
            <a:off x="3409950" y="2063750"/>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人員識別</a:t>
            </a:r>
            <a:r>
              <a:rPr dirty="0" sz="1050">
                <a:solidFill>
                  <a:srgbClr val="414141"/>
                </a:solidFill>
                <a:latin typeface="Arial"/>
                <a:cs typeface="Arial"/>
              </a:rPr>
              <a:t>: </a:t>
            </a:r>
            <a:r>
              <a:rPr dirty="0" sz="1050" spc="-25">
                <a:solidFill>
                  <a:srgbClr val="414141"/>
                </a:solidFill>
                <a:latin typeface="PMingLiU"/>
                <a:cs typeface="PMingLiU"/>
              </a:rPr>
              <a:t>支援</a:t>
            </a:r>
            <a:endParaRPr sz="1050">
              <a:latin typeface="PMingLiU"/>
              <a:cs typeface="PMingLiU"/>
            </a:endParaRPr>
          </a:p>
        </p:txBody>
      </p:sp>
      <p:sp>
        <p:nvSpPr>
          <p:cNvPr id="22" name="object 22" descr=""/>
          <p:cNvSpPr txBox="1"/>
          <p:nvPr/>
        </p:nvSpPr>
        <p:spPr>
          <a:xfrm>
            <a:off x="457200" y="2397125"/>
            <a:ext cx="2204085" cy="162560"/>
          </a:xfrm>
          <a:prstGeom prst="rect">
            <a:avLst/>
          </a:prstGeom>
        </p:spPr>
        <p:txBody>
          <a:bodyPr wrap="square" lIns="0" tIns="12700" rIns="0" bIns="0" rtlCol="0" vert="horz">
            <a:spAutoFit/>
          </a:bodyPr>
          <a:lstStyle/>
          <a:p>
            <a:pPr>
              <a:lnSpc>
                <a:spcPct val="100000"/>
              </a:lnSpc>
              <a:spcBef>
                <a:spcPts val="100"/>
              </a:spcBef>
            </a:pPr>
            <a:r>
              <a:rPr dirty="0" sz="900">
                <a:solidFill>
                  <a:srgbClr val="4A5462"/>
                </a:solidFill>
                <a:latin typeface="PMingLiU"/>
                <a:cs typeface="PMingLiU"/>
              </a:rPr>
              <a:t>優點</a:t>
            </a:r>
            <a:r>
              <a:rPr dirty="0" sz="900">
                <a:solidFill>
                  <a:srgbClr val="4A5462"/>
                </a:solidFill>
                <a:latin typeface="Arial"/>
                <a:cs typeface="Arial"/>
              </a:rPr>
              <a:t>: </a:t>
            </a:r>
            <a:r>
              <a:rPr dirty="0" sz="900">
                <a:solidFill>
                  <a:srgbClr val="4A5462"/>
                </a:solidFill>
                <a:latin typeface="PMingLiU"/>
                <a:cs typeface="PMingLiU"/>
              </a:rPr>
              <a:t>工業級穩定性，可擴展性強，</a:t>
            </a:r>
            <a:r>
              <a:rPr dirty="0" sz="900">
                <a:solidFill>
                  <a:srgbClr val="4A5462"/>
                </a:solidFill>
                <a:latin typeface="Arial"/>
                <a:cs typeface="Arial"/>
              </a:rPr>
              <a:t>API</a:t>
            </a:r>
            <a:r>
              <a:rPr dirty="0" sz="900" spc="-25">
                <a:solidFill>
                  <a:srgbClr val="4A5462"/>
                </a:solidFill>
                <a:latin typeface="PMingLiU"/>
                <a:cs typeface="PMingLiU"/>
              </a:rPr>
              <a:t>完整</a:t>
            </a:r>
            <a:endParaRPr sz="900">
              <a:latin typeface="PMingLiU"/>
              <a:cs typeface="PMingLiU"/>
            </a:endParaRPr>
          </a:p>
        </p:txBody>
      </p:sp>
      <p:sp>
        <p:nvSpPr>
          <p:cNvPr id="23" name="object 23" descr=""/>
          <p:cNvSpPr txBox="1"/>
          <p:nvPr/>
        </p:nvSpPr>
        <p:spPr>
          <a:xfrm>
            <a:off x="5268962" y="2921000"/>
            <a:ext cx="421005" cy="185420"/>
          </a:xfrm>
          <a:prstGeom prst="rect">
            <a:avLst/>
          </a:prstGeom>
        </p:spPr>
        <p:txBody>
          <a:bodyPr wrap="square" lIns="0" tIns="12700" rIns="0" bIns="0" rtlCol="0" vert="horz">
            <a:spAutoFit/>
          </a:bodyPr>
          <a:lstStyle/>
          <a:p>
            <a:pPr>
              <a:lnSpc>
                <a:spcPct val="100000"/>
              </a:lnSpc>
              <a:spcBef>
                <a:spcPts val="100"/>
              </a:spcBef>
            </a:pPr>
            <a:r>
              <a:rPr dirty="0" sz="1050" spc="-10" b="1">
                <a:solidFill>
                  <a:srgbClr val="FFFFFF"/>
                </a:solidFill>
                <a:latin typeface="Arial"/>
                <a:cs typeface="Arial"/>
              </a:rPr>
              <a:t>$1,800</a:t>
            </a:r>
            <a:endParaRPr sz="1050">
              <a:latin typeface="Arial"/>
              <a:cs typeface="Arial"/>
            </a:endParaRPr>
          </a:p>
        </p:txBody>
      </p:sp>
      <p:pic>
        <p:nvPicPr>
          <p:cNvPr id="24" name="object 24" descr=""/>
          <p:cNvPicPr/>
          <p:nvPr/>
        </p:nvPicPr>
        <p:blipFill>
          <a:blip r:embed="rId3" cstate="print"/>
          <a:stretch>
            <a:fillRect/>
          </a:stretch>
        </p:blipFill>
        <p:spPr>
          <a:xfrm>
            <a:off x="457200" y="3238499"/>
            <a:ext cx="171449" cy="152399"/>
          </a:xfrm>
          <a:prstGeom prst="rect">
            <a:avLst/>
          </a:prstGeom>
        </p:spPr>
      </p:pic>
      <p:sp>
        <p:nvSpPr>
          <p:cNvPr id="25" name="object 25" descr=""/>
          <p:cNvSpPr txBox="1"/>
          <p:nvPr/>
        </p:nvSpPr>
        <p:spPr>
          <a:xfrm>
            <a:off x="457200" y="2911475"/>
            <a:ext cx="1410335" cy="490220"/>
          </a:xfrm>
          <a:prstGeom prst="rect">
            <a:avLst/>
          </a:prstGeom>
        </p:spPr>
        <p:txBody>
          <a:bodyPr wrap="square" lIns="0" tIns="12700" rIns="0" bIns="0" rtlCol="0" vert="horz">
            <a:spAutoFit/>
          </a:bodyPr>
          <a:lstStyle/>
          <a:p>
            <a:pPr>
              <a:lnSpc>
                <a:spcPct val="100000"/>
              </a:lnSpc>
              <a:spcBef>
                <a:spcPts val="100"/>
              </a:spcBef>
            </a:pPr>
            <a:r>
              <a:rPr dirty="0" sz="1200" b="1">
                <a:solidFill>
                  <a:srgbClr val="414141"/>
                </a:solidFill>
                <a:latin typeface="Arial"/>
                <a:cs typeface="Arial"/>
              </a:rPr>
              <a:t>Xiaomi</a:t>
            </a:r>
            <a:r>
              <a:rPr dirty="0" sz="1200" spc="-20" b="1">
                <a:solidFill>
                  <a:srgbClr val="414141"/>
                </a:solidFill>
                <a:latin typeface="Arial"/>
                <a:cs typeface="Arial"/>
              </a:rPr>
              <a:t> </a:t>
            </a:r>
            <a:r>
              <a:rPr dirty="0" sz="1200" b="1">
                <a:solidFill>
                  <a:srgbClr val="414141"/>
                </a:solidFill>
                <a:latin typeface="Arial"/>
                <a:cs typeface="Arial"/>
              </a:rPr>
              <a:t>CyberDog</a:t>
            </a:r>
            <a:r>
              <a:rPr dirty="0" sz="1200" spc="-20" b="1">
                <a:solidFill>
                  <a:srgbClr val="414141"/>
                </a:solidFill>
                <a:latin typeface="Arial"/>
                <a:cs typeface="Arial"/>
              </a:rPr>
              <a:t> </a:t>
            </a:r>
            <a:r>
              <a:rPr dirty="0" sz="1200" spc="-50" b="1">
                <a:solidFill>
                  <a:srgbClr val="414141"/>
                </a:solidFill>
                <a:latin typeface="Arial"/>
                <a:cs typeface="Arial"/>
              </a:rPr>
              <a:t>2</a:t>
            </a:r>
            <a:endParaRPr sz="1200">
              <a:latin typeface="Arial"/>
              <a:cs typeface="Arial"/>
            </a:endParaRPr>
          </a:p>
          <a:p>
            <a:pPr marL="247015">
              <a:lnSpc>
                <a:spcPct val="100000"/>
              </a:lnSpc>
              <a:spcBef>
                <a:spcPts val="960"/>
              </a:spcBef>
            </a:pPr>
            <a:r>
              <a:rPr dirty="0" sz="1050">
                <a:solidFill>
                  <a:srgbClr val="414141"/>
                </a:solidFill>
                <a:latin typeface="PMingLiU"/>
                <a:cs typeface="PMingLiU"/>
              </a:rPr>
              <a:t>電池續航</a:t>
            </a:r>
            <a:r>
              <a:rPr dirty="0" sz="1050" spc="5">
                <a:solidFill>
                  <a:srgbClr val="414141"/>
                </a:solidFill>
                <a:latin typeface="Arial"/>
                <a:cs typeface="Arial"/>
              </a:rPr>
              <a:t>: </a:t>
            </a:r>
            <a:r>
              <a:rPr dirty="0" sz="1050" spc="-10">
                <a:solidFill>
                  <a:srgbClr val="414141"/>
                </a:solidFill>
                <a:latin typeface="Arial"/>
                <a:cs typeface="Arial"/>
              </a:rPr>
              <a:t>120</a:t>
            </a:r>
            <a:r>
              <a:rPr dirty="0" sz="1050" spc="-25">
                <a:solidFill>
                  <a:srgbClr val="414141"/>
                </a:solidFill>
                <a:latin typeface="PMingLiU"/>
                <a:cs typeface="PMingLiU"/>
              </a:rPr>
              <a:t>分鐘</a:t>
            </a:r>
            <a:endParaRPr sz="1050">
              <a:latin typeface="PMingLiU"/>
              <a:cs typeface="PMingLiU"/>
            </a:endParaRPr>
          </a:p>
        </p:txBody>
      </p:sp>
      <p:grpSp>
        <p:nvGrpSpPr>
          <p:cNvPr id="26" name="object 26" descr=""/>
          <p:cNvGrpSpPr/>
          <p:nvPr/>
        </p:nvGrpSpPr>
        <p:grpSpPr>
          <a:xfrm>
            <a:off x="457200" y="3238499"/>
            <a:ext cx="5295900" cy="1400175"/>
            <a:chOff x="457200" y="3238499"/>
            <a:chExt cx="5295900" cy="1400175"/>
          </a:xfrm>
        </p:grpSpPr>
        <p:pic>
          <p:nvPicPr>
            <p:cNvPr id="27" name="object 27" descr=""/>
            <p:cNvPicPr/>
            <p:nvPr/>
          </p:nvPicPr>
          <p:blipFill>
            <a:blip r:embed="rId4" cstate="print"/>
            <a:stretch>
              <a:fillRect/>
            </a:stretch>
          </p:blipFill>
          <p:spPr>
            <a:xfrm>
              <a:off x="3143249" y="3238499"/>
              <a:ext cx="152399" cy="152399"/>
            </a:xfrm>
            <a:prstGeom prst="rect">
              <a:avLst/>
            </a:prstGeom>
          </p:spPr>
        </p:pic>
        <p:pic>
          <p:nvPicPr>
            <p:cNvPr id="28" name="object 28" descr=""/>
            <p:cNvPicPr/>
            <p:nvPr/>
          </p:nvPicPr>
          <p:blipFill>
            <a:blip r:embed="rId5" cstate="print"/>
            <a:stretch>
              <a:fillRect/>
            </a:stretch>
          </p:blipFill>
          <p:spPr>
            <a:xfrm>
              <a:off x="457200" y="3581399"/>
              <a:ext cx="171449" cy="152399"/>
            </a:xfrm>
            <a:prstGeom prst="rect">
              <a:avLst/>
            </a:prstGeom>
          </p:spPr>
        </p:pic>
        <p:pic>
          <p:nvPicPr>
            <p:cNvPr id="29" name="object 29" descr=""/>
            <p:cNvPicPr/>
            <p:nvPr/>
          </p:nvPicPr>
          <p:blipFill>
            <a:blip r:embed="rId6" cstate="print"/>
            <a:stretch>
              <a:fillRect/>
            </a:stretch>
          </p:blipFill>
          <p:spPr>
            <a:xfrm>
              <a:off x="3143249" y="3581399"/>
              <a:ext cx="190499" cy="152399"/>
            </a:xfrm>
            <a:prstGeom prst="rect">
              <a:avLst/>
            </a:prstGeom>
          </p:spPr>
        </p:pic>
        <p:sp>
          <p:nvSpPr>
            <p:cNvPr id="30" name="object 30" descr=""/>
            <p:cNvSpPr/>
            <p:nvPr/>
          </p:nvSpPr>
          <p:spPr>
            <a:xfrm>
              <a:off x="5191124" y="4400549"/>
              <a:ext cx="561975" cy="238125"/>
            </a:xfrm>
            <a:custGeom>
              <a:avLst/>
              <a:gdLst/>
              <a:ahLst/>
              <a:cxnLst/>
              <a:rect l="l" t="t" r="r" b="b"/>
              <a:pathLst>
                <a:path w="561975" h="238125">
                  <a:moveTo>
                    <a:pt x="455179" y="238124"/>
                  </a:moveTo>
                  <a:lnTo>
                    <a:pt x="106794" y="238124"/>
                  </a:lnTo>
                  <a:lnTo>
                    <a:pt x="99361" y="237392"/>
                  </a:lnTo>
                  <a:lnTo>
                    <a:pt x="57037" y="223030"/>
                  </a:lnTo>
                  <a:lnTo>
                    <a:pt x="23431" y="193566"/>
                  </a:lnTo>
                  <a:lnTo>
                    <a:pt x="3659" y="153483"/>
                  </a:lnTo>
                  <a:lnTo>
                    <a:pt x="0" y="131329"/>
                  </a:lnTo>
                  <a:lnTo>
                    <a:pt x="0" y="123824"/>
                  </a:lnTo>
                  <a:lnTo>
                    <a:pt x="0" y="106794"/>
                  </a:lnTo>
                  <a:lnTo>
                    <a:pt x="11571" y="63624"/>
                  </a:lnTo>
                  <a:lnTo>
                    <a:pt x="38783" y="28170"/>
                  </a:lnTo>
                  <a:lnTo>
                    <a:pt x="77492" y="5828"/>
                  </a:lnTo>
                  <a:lnTo>
                    <a:pt x="106794" y="0"/>
                  </a:lnTo>
                  <a:lnTo>
                    <a:pt x="455179" y="0"/>
                  </a:lnTo>
                  <a:lnTo>
                    <a:pt x="498348" y="11572"/>
                  </a:lnTo>
                  <a:lnTo>
                    <a:pt x="533804" y="38784"/>
                  </a:lnTo>
                  <a:lnTo>
                    <a:pt x="556145" y="77492"/>
                  </a:lnTo>
                  <a:lnTo>
                    <a:pt x="561974" y="106794"/>
                  </a:lnTo>
                  <a:lnTo>
                    <a:pt x="561974" y="131329"/>
                  </a:lnTo>
                  <a:lnTo>
                    <a:pt x="550401" y="174498"/>
                  </a:lnTo>
                  <a:lnTo>
                    <a:pt x="523190" y="209953"/>
                  </a:lnTo>
                  <a:lnTo>
                    <a:pt x="484480" y="232295"/>
                  </a:lnTo>
                  <a:lnTo>
                    <a:pt x="462612" y="237392"/>
                  </a:lnTo>
                  <a:lnTo>
                    <a:pt x="455179" y="238124"/>
                  </a:lnTo>
                  <a:close/>
                </a:path>
              </a:pathLst>
            </a:custGeom>
            <a:solidFill>
              <a:srgbClr val="FF9800"/>
            </a:solidFill>
          </p:spPr>
          <p:txBody>
            <a:bodyPr wrap="square" lIns="0" tIns="0" rIns="0" bIns="0" rtlCol="0"/>
            <a:lstStyle/>
            <a:p/>
          </p:txBody>
        </p:sp>
      </p:grpSp>
      <p:sp>
        <p:nvSpPr>
          <p:cNvPr id="31" name="object 31" descr=""/>
          <p:cNvSpPr txBox="1"/>
          <p:nvPr/>
        </p:nvSpPr>
        <p:spPr>
          <a:xfrm>
            <a:off x="3371850" y="3216275"/>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熱顯像</a:t>
            </a:r>
            <a:r>
              <a:rPr dirty="0" sz="1050">
                <a:solidFill>
                  <a:srgbClr val="414141"/>
                </a:solidFill>
                <a:latin typeface="Arial"/>
                <a:cs typeface="Arial"/>
              </a:rPr>
              <a:t>: </a:t>
            </a:r>
            <a:r>
              <a:rPr dirty="0" sz="1050" spc="-20">
                <a:solidFill>
                  <a:srgbClr val="414141"/>
                </a:solidFill>
                <a:latin typeface="PMingLiU"/>
                <a:cs typeface="PMingLiU"/>
              </a:rPr>
              <a:t>需升級</a:t>
            </a:r>
            <a:endParaRPr sz="1050">
              <a:latin typeface="PMingLiU"/>
              <a:cs typeface="PMingLiU"/>
            </a:endParaRPr>
          </a:p>
        </p:txBody>
      </p:sp>
      <p:sp>
        <p:nvSpPr>
          <p:cNvPr id="32" name="object 32" descr=""/>
          <p:cNvSpPr txBox="1"/>
          <p:nvPr/>
        </p:nvSpPr>
        <p:spPr>
          <a:xfrm>
            <a:off x="704849" y="3559175"/>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物體識別</a:t>
            </a:r>
            <a:r>
              <a:rPr dirty="0" sz="1050">
                <a:solidFill>
                  <a:srgbClr val="414141"/>
                </a:solidFill>
                <a:latin typeface="Arial"/>
                <a:cs typeface="Arial"/>
              </a:rPr>
              <a:t>: </a:t>
            </a:r>
            <a:r>
              <a:rPr dirty="0" sz="1050" spc="-25">
                <a:solidFill>
                  <a:srgbClr val="414141"/>
                </a:solidFill>
                <a:latin typeface="PMingLiU"/>
                <a:cs typeface="PMingLiU"/>
              </a:rPr>
              <a:t>基礎</a:t>
            </a:r>
            <a:endParaRPr sz="1050">
              <a:latin typeface="PMingLiU"/>
              <a:cs typeface="PMingLiU"/>
            </a:endParaRPr>
          </a:p>
        </p:txBody>
      </p:sp>
      <p:sp>
        <p:nvSpPr>
          <p:cNvPr id="33" name="object 33" descr=""/>
          <p:cNvSpPr txBox="1"/>
          <p:nvPr/>
        </p:nvSpPr>
        <p:spPr>
          <a:xfrm>
            <a:off x="3409950" y="3559175"/>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人員識別</a:t>
            </a:r>
            <a:r>
              <a:rPr dirty="0" sz="1050">
                <a:solidFill>
                  <a:srgbClr val="414141"/>
                </a:solidFill>
                <a:latin typeface="Arial"/>
                <a:cs typeface="Arial"/>
              </a:rPr>
              <a:t>: </a:t>
            </a:r>
            <a:r>
              <a:rPr dirty="0" sz="1050" spc="-25">
                <a:solidFill>
                  <a:srgbClr val="414141"/>
                </a:solidFill>
                <a:latin typeface="PMingLiU"/>
                <a:cs typeface="PMingLiU"/>
              </a:rPr>
              <a:t>基礎</a:t>
            </a:r>
            <a:endParaRPr sz="1050">
              <a:latin typeface="PMingLiU"/>
              <a:cs typeface="PMingLiU"/>
            </a:endParaRPr>
          </a:p>
        </p:txBody>
      </p:sp>
      <p:sp>
        <p:nvSpPr>
          <p:cNvPr id="34" name="object 34" descr=""/>
          <p:cNvSpPr txBox="1"/>
          <p:nvPr/>
        </p:nvSpPr>
        <p:spPr>
          <a:xfrm>
            <a:off x="457200" y="3892550"/>
            <a:ext cx="2019935" cy="162560"/>
          </a:xfrm>
          <a:prstGeom prst="rect">
            <a:avLst/>
          </a:prstGeom>
        </p:spPr>
        <p:txBody>
          <a:bodyPr wrap="square" lIns="0" tIns="12700" rIns="0" bIns="0" rtlCol="0" vert="horz">
            <a:spAutoFit/>
          </a:bodyPr>
          <a:lstStyle/>
          <a:p>
            <a:pPr>
              <a:lnSpc>
                <a:spcPct val="100000"/>
              </a:lnSpc>
              <a:spcBef>
                <a:spcPts val="100"/>
              </a:spcBef>
            </a:pPr>
            <a:r>
              <a:rPr dirty="0" sz="900">
                <a:solidFill>
                  <a:srgbClr val="4A5462"/>
                </a:solidFill>
                <a:latin typeface="PMingLiU"/>
                <a:cs typeface="PMingLiU"/>
              </a:rPr>
              <a:t>優點</a:t>
            </a:r>
            <a:r>
              <a:rPr dirty="0" sz="900">
                <a:solidFill>
                  <a:srgbClr val="4A5462"/>
                </a:solidFill>
                <a:latin typeface="Arial"/>
                <a:cs typeface="Arial"/>
              </a:rPr>
              <a:t>: </a:t>
            </a:r>
            <a:r>
              <a:rPr dirty="0" sz="900" spc="-5">
                <a:solidFill>
                  <a:srgbClr val="4A5462"/>
                </a:solidFill>
                <a:latin typeface="PMingLiU"/>
                <a:cs typeface="PMingLiU"/>
              </a:rPr>
              <a:t>價格實惠，開放平台，可擴展性好</a:t>
            </a:r>
            <a:endParaRPr sz="900">
              <a:latin typeface="PMingLiU"/>
              <a:cs typeface="PMingLiU"/>
            </a:endParaRPr>
          </a:p>
        </p:txBody>
      </p:sp>
      <p:sp>
        <p:nvSpPr>
          <p:cNvPr id="35" name="object 35" descr=""/>
          <p:cNvSpPr txBox="1"/>
          <p:nvPr/>
        </p:nvSpPr>
        <p:spPr>
          <a:xfrm>
            <a:off x="5268962" y="4416425"/>
            <a:ext cx="421005" cy="185420"/>
          </a:xfrm>
          <a:prstGeom prst="rect">
            <a:avLst/>
          </a:prstGeom>
        </p:spPr>
        <p:txBody>
          <a:bodyPr wrap="square" lIns="0" tIns="12700" rIns="0" bIns="0" rtlCol="0" vert="horz">
            <a:spAutoFit/>
          </a:bodyPr>
          <a:lstStyle/>
          <a:p>
            <a:pPr>
              <a:lnSpc>
                <a:spcPct val="100000"/>
              </a:lnSpc>
              <a:spcBef>
                <a:spcPts val="100"/>
              </a:spcBef>
            </a:pPr>
            <a:r>
              <a:rPr dirty="0" sz="1050" spc="-10" b="1">
                <a:solidFill>
                  <a:srgbClr val="FFFFFF"/>
                </a:solidFill>
                <a:latin typeface="Arial"/>
                <a:cs typeface="Arial"/>
              </a:rPr>
              <a:t>$9,000</a:t>
            </a:r>
            <a:endParaRPr sz="1050">
              <a:latin typeface="Arial"/>
              <a:cs typeface="Arial"/>
            </a:endParaRPr>
          </a:p>
        </p:txBody>
      </p:sp>
      <p:pic>
        <p:nvPicPr>
          <p:cNvPr id="36" name="object 36" descr=""/>
          <p:cNvPicPr/>
          <p:nvPr/>
        </p:nvPicPr>
        <p:blipFill>
          <a:blip r:embed="rId3" cstate="print"/>
          <a:stretch>
            <a:fillRect/>
          </a:stretch>
        </p:blipFill>
        <p:spPr>
          <a:xfrm>
            <a:off x="457200" y="4733924"/>
            <a:ext cx="171449" cy="152399"/>
          </a:xfrm>
          <a:prstGeom prst="rect">
            <a:avLst/>
          </a:prstGeom>
        </p:spPr>
      </p:pic>
      <p:sp>
        <p:nvSpPr>
          <p:cNvPr id="37" name="object 37" descr=""/>
          <p:cNvSpPr txBox="1"/>
          <p:nvPr/>
        </p:nvSpPr>
        <p:spPr>
          <a:xfrm>
            <a:off x="457200" y="4406900"/>
            <a:ext cx="1357630" cy="490220"/>
          </a:xfrm>
          <a:prstGeom prst="rect">
            <a:avLst/>
          </a:prstGeom>
        </p:spPr>
        <p:txBody>
          <a:bodyPr wrap="square" lIns="0" tIns="12700" rIns="0" bIns="0" rtlCol="0" vert="horz">
            <a:spAutoFit/>
          </a:bodyPr>
          <a:lstStyle/>
          <a:p>
            <a:pPr>
              <a:lnSpc>
                <a:spcPct val="100000"/>
              </a:lnSpc>
              <a:spcBef>
                <a:spcPts val="100"/>
              </a:spcBef>
            </a:pPr>
            <a:r>
              <a:rPr dirty="0" sz="1200" b="1">
                <a:solidFill>
                  <a:srgbClr val="414141"/>
                </a:solidFill>
                <a:latin typeface="Arial"/>
                <a:cs typeface="Arial"/>
              </a:rPr>
              <a:t>Unitree </a:t>
            </a:r>
            <a:r>
              <a:rPr dirty="0" sz="1200" spc="-25" b="1">
                <a:solidFill>
                  <a:srgbClr val="414141"/>
                </a:solidFill>
                <a:latin typeface="Arial"/>
                <a:cs typeface="Arial"/>
              </a:rPr>
              <a:t>Go2</a:t>
            </a:r>
            <a:endParaRPr sz="1200">
              <a:latin typeface="Arial"/>
              <a:cs typeface="Arial"/>
            </a:endParaRPr>
          </a:p>
          <a:p>
            <a:pPr marL="247015">
              <a:lnSpc>
                <a:spcPct val="100000"/>
              </a:lnSpc>
              <a:spcBef>
                <a:spcPts val="960"/>
              </a:spcBef>
            </a:pPr>
            <a:r>
              <a:rPr dirty="0" sz="1050">
                <a:solidFill>
                  <a:srgbClr val="414141"/>
                </a:solidFill>
                <a:latin typeface="PMingLiU"/>
                <a:cs typeface="PMingLiU"/>
              </a:rPr>
              <a:t>電池續航</a:t>
            </a:r>
            <a:r>
              <a:rPr dirty="0" sz="1050" spc="5">
                <a:solidFill>
                  <a:srgbClr val="414141"/>
                </a:solidFill>
                <a:latin typeface="Arial"/>
                <a:cs typeface="Arial"/>
              </a:rPr>
              <a:t>: </a:t>
            </a:r>
            <a:r>
              <a:rPr dirty="0" sz="1050" spc="-10">
                <a:solidFill>
                  <a:srgbClr val="414141"/>
                </a:solidFill>
                <a:latin typeface="Arial"/>
                <a:cs typeface="Arial"/>
              </a:rPr>
              <a:t>150</a:t>
            </a:r>
            <a:r>
              <a:rPr dirty="0" sz="1050" spc="-25">
                <a:solidFill>
                  <a:srgbClr val="414141"/>
                </a:solidFill>
                <a:latin typeface="PMingLiU"/>
                <a:cs typeface="PMingLiU"/>
              </a:rPr>
              <a:t>分鐘</a:t>
            </a:r>
            <a:endParaRPr sz="1050">
              <a:latin typeface="PMingLiU"/>
              <a:cs typeface="PMingLiU"/>
            </a:endParaRPr>
          </a:p>
        </p:txBody>
      </p:sp>
      <p:grpSp>
        <p:nvGrpSpPr>
          <p:cNvPr id="38" name="object 38" descr=""/>
          <p:cNvGrpSpPr/>
          <p:nvPr/>
        </p:nvGrpSpPr>
        <p:grpSpPr>
          <a:xfrm>
            <a:off x="457200" y="4733924"/>
            <a:ext cx="2876550" cy="495300"/>
            <a:chOff x="457200" y="4733924"/>
            <a:chExt cx="2876550" cy="495300"/>
          </a:xfrm>
        </p:grpSpPr>
        <p:pic>
          <p:nvPicPr>
            <p:cNvPr id="39" name="object 39" descr=""/>
            <p:cNvPicPr/>
            <p:nvPr/>
          </p:nvPicPr>
          <p:blipFill>
            <a:blip r:embed="rId4" cstate="print"/>
            <a:stretch>
              <a:fillRect/>
            </a:stretch>
          </p:blipFill>
          <p:spPr>
            <a:xfrm>
              <a:off x="3143249" y="4733924"/>
              <a:ext cx="152399" cy="152399"/>
            </a:xfrm>
            <a:prstGeom prst="rect">
              <a:avLst/>
            </a:prstGeom>
          </p:spPr>
        </p:pic>
        <p:pic>
          <p:nvPicPr>
            <p:cNvPr id="40" name="object 40" descr=""/>
            <p:cNvPicPr/>
            <p:nvPr/>
          </p:nvPicPr>
          <p:blipFill>
            <a:blip r:embed="rId5" cstate="print"/>
            <a:stretch>
              <a:fillRect/>
            </a:stretch>
          </p:blipFill>
          <p:spPr>
            <a:xfrm>
              <a:off x="457200" y="5076824"/>
              <a:ext cx="171449" cy="152399"/>
            </a:xfrm>
            <a:prstGeom prst="rect">
              <a:avLst/>
            </a:prstGeom>
          </p:spPr>
        </p:pic>
        <p:pic>
          <p:nvPicPr>
            <p:cNvPr id="41" name="object 41" descr=""/>
            <p:cNvPicPr/>
            <p:nvPr/>
          </p:nvPicPr>
          <p:blipFill>
            <a:blip r:embed="rId6" cstate="print"/>
            <a:stretch>
              <a:fillRect/>
            </a:stretch>
          </p:blipFill>
          <p:spPr>
            <a:xfrm>
              <a:off x="3143249" y="5076824"/>
              <a:ext cx="190499" cy="152399"/>
            </a:xfrm>
            <a:prstGeom prst="rect">
              <a:avLst/>
            </a:prstGeom>
          </p:spPr>
        </p:pic>
      </p:grpSp>
      <p:sp>
        <p:nvSpPr>
          <p:cNvPr id="42" name="object 42" descr=""/>
          <p:cNvSpPr txBox="1"/>
          <p:nvPr/>
        </p:nvSpPr>
        <p:spPr>
          <a:xfrm>
            <a:off x="3371850" y="4711700"/>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熱顯像</a:t>
            </a:r>
            <a:r>
              <a:rPr dirty="0" sz="1050">
                <a:solidFill>
                  <a:srgbClr val="414141"/>
                </a:solidFill>
                <a:latin typeface="Arial"/>
                <a:cs typeface="Arial"/>
              </a:rPr>
              <a:t>: </a:t>
            </a:r>
            <a:r>
              <a:rPr dirty="0" sz="1050" spc="-20">
                <a:solidFill>
                  <a:srgbClr val="414141"/>
                </a:solidFill>
                <a:latin typeface="PMingLiU"/>
                <a:cs typeface="PMingLiU"/>
              </a:rPr>
              <a:t>可選配</a:t>
            </a:r>
            <a:endParaRPr sz="1050">
              <a:latin typeface="PMingLiU"/>
              <a:cs typeface="PMingLiU"/>
            </a:endParaRPr>
          </a:p>
        </p:txBody>
      </p:sp>
      <p:sp>
        <p:nvSpPr>
          <p:cNvPr id="43" name="object 43" descr=""/>
          <p:cNvSpPr txBox="1"/>
          <p:nvPr/>
        </p:nvSpPr>
        <p:spPr>
          <a:xfrm>
            <a:off x="704849" y="5054600"/>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物體識別</a:t>
            </a:r>
            <a:r>
              <a:rPr dirty="0" sz="1050">
                <a:solidFill>
                  <a:srgbClr val="414141"/>
                </a:solidFill>
                <a:latin typeface="Arial"/>
                <a:cs typeface="Arial"/>
              </a:rPr>
              <a:t>: </a:t>
            </a:r>
            <a:r>
              <a:rPr dirty="0" sz="1050" spc="-25">
                <a:solidFill>
                  <a:srgbClr val="414141"/>
                </a:solidFill>
                <a:latin typeface="PMingLiU"/>
                <a:cs typeface="PMingLiU"/>
              </a:rPr>
              <a:t>中等</a:t>
            </a:r>
            <a:endParaRPr sz="1050">
              <a:latin typeface="PMingLiU"/>
              <a:cs typeface="PMingLiU"/>
            </a:endParaRPr>
          </a:p>
        </p:txBody>
      </p:sp>
      <p:sp>
        <p:nvSpPr>
          <p:cNvPr id="44" name="object 44" descr=""/>
          <p:cNvSpPr txBox="1"/>
          <p:nvPr/>
        </p:nvSpPr>
        <p:spPr>
          <a:xfrm>
            <a:off x="3409950" y="5054600"/>
            <a:ext cx="887094" cy="185420"/>
          </a:xfrm>
          <a:prstGeom prst="rect">
            <a:avLst/>
          </a:prstGeom>
        </p:spPr>
        <p:txBody>
          <a:bodyPr wrap="square" lIns="0" tIns="12700" rIns="0" bIns="0" rtlCol="0" vert="horz">
            <a:spAutoFit/>
          </a:bodyPr>
          <a:lstStyle/>
          <a:p>
            <a:pPr>
              <a:lnSpc>
                <a:spcPct val="100000"/>
              </a:lnSpc>
              <a:spcBef>
                <a:spcPts val="100"/>
              </a:spcBef>
            </a:pPr>
            <a:r>
              <a:rPr dirty="0" sz="1050">
                <a:solidFill>
                  <a:srgbClr val="414141"/>
                </a:solidFill>
                <a:latin typeface="PMingLiU"/>
                <a:cs typeface="PMingLiU"/>
              </a:rPr>
              <a:t>人員識別</a:t>
            </a:r>
            <a:r>
              <a:rPr dirty="0" sz="1050">
                <a:solidFill>
                  <a:srgbClr val="414141"/>
                </a:solidFill>
                <a:latin typeface="Arial"/>
                <a:cs typeface="Arial"/>
              </a:rPr>
              <a:t>: </a:t>
            </a:r>
            <a:r>
              <a:rPr dirty="0" sz="1050" spc="-25">
                <a:solidFill>
                  <a:srgbClr val="414141"/>
                </a:solidFill>
                <a:latin typeface="PMingLiU"/>
                <a:cs typeface="PMingLiU"/>
              </a:rPr>
              <a:t>中等</a:t>
            </a:r>
            <a:endParaRPr sz="1050">
              <a:latin typeface="PMingLiU"/>
              <a:cs typeface="PMingLiU"/>
            </a:endParaRPr>
          </a:p>
        </p:txBody>
      </p:sp>
      <p:sp>
        <p:nvSpPr>
          <p:cNvPr id="45" name="object 45" descr=""/>
          <p:cNvSpPr txBox="1"/>
          <p:nvPr/>
        </p:nvSpPr>
        <p:spPr>
          <a:xfrm>
            <a:off x="457200" y="5387975"/>
            <a:ext cx="1911985" cy="162560"/>
          </a:xfrm>
          <a:prstGeom prst="rect">
            <a:avLst/>
          </a:prstGeom>
        </p:spPr>
        <p:txBody>
          <a:bodyPr wrap="square" lIns="0" tIns="12700" rIns="0" bIns="0" rtlCol="0" vert="horz">
            <a:spAutoFit/>
          </a:bodyPr>
          <a:lstStyle/>
          <a:p>
            <a:pPr>
              <a:lnSpc>
                <a:spcPct val="100000"/>
              </a:lnSpc>
              <a:spcBef>
                <a:spcPts val="100"/>
              </a:spcBef>
            </a:pPr>
            <a:r>
              <a:rPr dirty="0" sz="900">
                <a:solidFill>
                  <a:srgbClr val="4A5462"/>
                </a:solidFill>
                <a:latin typeface="PMingLiU"/>
                <a:cs typeface="PMingLiU"/>
              </a:rPr>
              <a:t>優點</a:t>
            </a:r>
            <a:r>
              <a:rPr dirty="0" sz="900">
                <a:solidFill>
                  <a:srgbClr val="4A5462"/>
                </a:solidFill>
                <a:latin typeface="Arial"/>
                <a:cs typeface="Arial"/>
              </a:rPr>
              <a:t>: </a:t>
            </a:r>
            <a:r>
              <a:rPr dirty="0" sz="900">
                <a:solidFill>
                  <a:srgbClr val="4A5462"/>
                </a:solidFill>
                <a:latin typeface="PMingLiU"/>
                <a:cs typeface="PMingLiU"/>
              </a:rPr>
              <a:t>性價比高，穩定性好，</a:t>
            </a:r>
            <a:r>
              <a:rPr dirty="0" sz="900">
                <a:solidFill>
                  <a:srgbClr val="4A5462"/>
                </a:solidFill>
                <a:latin typeface="Arial"/>
                <a:cs typeface="Arial"/>
              </a:rPr>
              <a:t>SDK</a:t>
            </a:r>
            <a:r>
              <a:rPr dirty="0" sz="900" spc="-25">
                <a:solidFill>
                  <a:srgbClr val="4A5462"/>
                </a:solidFill>
                <a:latin typeface="PMingLiU"/>
                <a:cs typeface="PMingLiU"/>
              </a:rPr>
              <a:t>完整</a:t>
            </a:r>
            <a:endParaRPr sz="900">
              <a:latin typeface="PMingLiU"/>
              <a:cs typeface="PMingLiU"/>
            </a:endParaRPr>
          </a:p>
        </p:txBody>
      </p:sp>
      <p:grpSp>
        <p:nvGrpSpPr>
          <p:cNvPr id="46" name="object 46" descr=""/>
          <p:cNvGrpSpPr/>
          <p:nvPr/>
        </p:nvGrpSpPr>
        <p:grpSpPr>
          <a:xfrm>
            <a:off x="152399" y="5972174"/>
            <a:ext cx="5867400" cy="419100"/>
            <a:chOff x="152399" y="5972174"/>
            <a:chExt cx="5867400" cy="419100"/>
          </a:xfrm>
        </p:grpSpPr>
        <p:sp>
          <p:nvSpPr>
            <p:cNvPr id="47" name="object 47" descr=""/>
            <p:cNvSpPr/>
            <p:nvPr/>
          </p:nvSpPr>
          <p:spPr>
            <a:xfrm>
              <a:off x="152399" y="5972174"/>
              <a:ext cx="5867400" cy="419100"/>
            </a:xfrm>
            <a:custGeom>
              <a:avLst/>
              <a:gdLst/>
              <a:ahLst/>
              <a:cxnLst/>
              <a:rect l="l" t="t" r="r" b="b"/>
              <a:pathLst>
                <a:path w="5867400" h="419100">
                  <a:moveTo>
                    <a:pt x="5814002" y="419099"/>
                  </a:moveTo>
                  <a:lnTo>
                    <a:pt x="53397" y="419099"/>
                  </a:lnTo>
                  <a:lnTo>
                    <a:pt x="49681" y="418733"/>
                  </a:lnTo>
                  <a:lnTo>
                    <a:pt x="14085" y="399706"/>
                  </a:lnTo>
                  <a:lnTo>
                    <a:pt x="0" y="365702"/>
                  </a:lnTo>
                  <a:lnTo>
                    <a:pt x="0" y="361949"/>
                  </a:lnTo>
                  <a:lnTo>
                    <a:pt x="0" y="53397"/>
                  </a:lnTo>
                  <a:lnTo>
                    <a:pt x="19392" y="14084"/>
                  </a:lnTo>
                  <a:lnTo>
                    <a:pt x="53397" y="0"/>
                  </a:lnTo>
                  <a:lnTo>
                    <a:pt x="5814002" y="0"/>
                  </a:lnTo>
                  <a:lnTo>
                    <a:pt x="5853313" y="19391"/>
                  </a:lnTo>
                  <a:lnTo>
                    <a:pt x="5867398" y="53397"/>
                  </a:lnTo>
                  <a:lnTo>
                    <a:pt x="5867398" y="365702"/>
                  </a:lnTo>
                  <a:lnTo>
                    <a:pt x="5848007" y="405014"/>
                  </a:lnTo>
                  <a:lnTo>
                    <a:pt x="5817718" y="418733"/>
                  </a:lnTo>
                  <a:lnTo>
                    <a:pt x="5814002" y="419099"/>
                  </a:lnTo>
                  <a:close/>
                </a:path>
              </a:pathLst>
            </a:custGeom>
            <a:solidFill>
              <a:srgbClr val="FFFFFF"/>
            </a:solidFill>
          </p:spPr>
          <p:txBody>
            <a:bodyPr wrap="square" lIns="0" tIns="0" rIns="0" bIns="0" rtlCol="0"/>
            <a:lstStyle/>
            <a:p/>
          </p:txBody>
        </p:sp>
        <p:pic>
          <p:nvPicPr>
            <p:cNvPr id="48" name="object 48" descr=""/>
            <p:cNvPicPr/>
            <p:nvPr/>
          </p:nvPicPr>
          <p:blipFill>
            <a:blip r:embed="rId7" cstate="print"/>
            <a:stretch>
              <a:fillRect/>
            </a:stretch>
          </p:blipFill>
          <p:spPr>
            <a:xfrm>
              <a:off x="266699" y="6115049"/>
              <a:ext cx="133349" cy="133349"/>
            </a:xfrm>
            <a:prstGeom prst="rect">
              <a:avLst/>
            </a:prstGeom>
          </p:spPr>
        </p:pic>
      </p:grpSp>
      <p:sp>
        <p:nvSpPr>
          <p:cNvPr id="49" name="object 49" descr=""/>
          <p:cNvSpPr txBox="1"/>
          <p:nvPr/>
        </p:nvSpPr>
        <p:spPr>
          <a:xfrm>
            <a:off x="463550" y="6083299"/>
            <a:ext cx="3915410"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所有推薦型號均可透過硬體升級或軟體開發滿足</a:t>
            </a:r>
            <a:r>
              <a:rPr dirty="0" sz="1050">
                <a:solidFill>
                  <a:srgbClr val="414141"/>
                </a:solidFill>
                <a:latin typeface="Arial"/>
                <a:cs typeface="Arial"/>
              </a:rPr>
              <a:t>AUO</a:t>
            </a:r>
            <a:r>
              <a:rPr dirty="0" sz="1050" spc="-10">
                <a:solidFill>
                  <a:srgbClr val="414141"/>
                </a:solidFill>
                <a:latin typeface="PMingLiU"/>
                <a:cs typeface="PMingLiU"/>
              </a:rPr>
              <a:t>庫房特定需求</a:t>
            </a:r>
            <a:endParaRPr sz="1050">
              <a:latin typeface="PMingLiU"/>
              <a:cs typeface="PMingLiU"/>
            </a:endParaRPr>
          </a:p>
        </p:txBody>
      </p:sp>
      <p:grpSp>
        <p:nvGrpSpPr>
          <p:cNvPr id="50" name="object 50" descr=""/>
          <p:cNvGrpSpPr/>
          <p:nvPr/>
        </p:nvGrpSpPr>
        <p:grpSpPr>
          <a:xfrm>
            <a:off x="6172199" y="761999"/>
            <a:ext cx="5867400" cy="3467100"/>
            <a:chOff x="6172199" y="761999"/>
            <a:chExt cx="5867400" cy="3467100"/>
          </a:xfrm>
        </p:grpSpPr>
        <p:sp>
          <p:nvSpPr>
            <p:cNvPr id="51" name="object 51" descr=""/>
            <p:cNvSpPr/>
            <p:nvPr/>
          </p:nvSpPr>
          <p:spPr>
            <a:xfrm>
              <a:off x="6172199" y="761999"/>
              <a:ext cx="5867400" cy="3467100"/>
            </a:xfrm>
            <a:custGeom>
              <a:avLst/>
              <a:gdLst/>
              <a:ahLst/>
              <a:cxnLst/>
              <a:rect l="l" t="t" r="r" b="b"/>
              <a:pathLst>
                <a:path w="5867400" h="3467100">
                  <a:moveTo>
                    <a:pt x="5867399" y="3467099"/>
                  </a:moveTo>
                  <a:lnTo>
                    <a:pt x="0" y="3467099"/>
                  </a:lnTo>
                  <a:lnTo>
                    <a:pt x="0" y="0"/>
                  </a:lnTo>
                  <a:lnTo>
                    <a:pt x="5867399" y="0"/>
                  </a:lnTo>
                  <a:lnTo>
                    <a:pt x="5867399" y="3467099"/>
                  </a:lnTo>
                  <a:close/>
                </a:path>
              </a:pathLst>
            </a:custGeom>
            <a:solidFill>
              <a:srgbClr val="FFFFFF"/>
            </a:solidFill>
          </p:spPr>
          <p:txBody>
            <a:bodyPr wrap="square" lIns="0" tIns="0" rIns="0" bIns="0" rtlCol="0"/>
            <a:lstStyle/>
            <a:p/>
          </p:txBody>
        </p:sp>
        <p:sp>
          <p:nvSpPr>
            <p:cNvPr id="52" name="object 52" descr=""/>
            <p:cNvSpPr/>
            <p:nvPr/>
          </p:nvSpPr>
          <p:spPr>
            <a:xfrm>
              <a:off x="6172199" y="761999"/>
              <a:ext cx="38100" cy="3467100"/>
            </a:xfrm>
            <a:custGeom>
              <a:avLst/>
              <a:gdLst/>
              <a:ahLst/>
              <a:cxnLst/>
              <a:rect l="l" t="t" r="r" b="b"/>
              <a:pathLst>
                <a:path w="38100" h="3467100">
                  <a:moveTo>
                    <a:pt x="38099" y="3467099"/>
                  </a:moveTo>
                  <a:lnTo>
                    <a:pt x="0" y="3467099"/>
                  </a:lnTo>
                  <a:lnTo>
                    <a:pt x="0" y="0"/>
                  </a:lnTo>
                  <a:lnTo>
                    <a:pt x="38099" y="0"/>
                  </a:lnTo>
                  <a:lnTo>
                    <a:pt x="38099" y="3467099"/>
                  </a:lnTo>
                  <a:close/>
                </a:path>
              </a:pathLst>
            </a:custGeom>
            <a:solidFill>
              <a:srgbClr val="FF9800"/>
            </a:solidFill>
          </p:spPr>
          <p:txBody>
            <a:bodyPr wrap="square" lIns="0" tIns="0" rIns="0" bIns="0" rtlCol="0"/>
            <a:lstStyle/>
            <a:p/>
          </p:txBody>
        </p:sp>
        <p:sp>
          <p:nvSpPr>
            <p:cNvPr id="53" name="object 53" descr=""/>
            <p:cNvSpPr/>
            <p:nvPr/>
          </p:nvSpPr>
          <p:spPr>
            <a:xfrm>
              <a:off x="6362699" y="1295399"/>
              <a:ext cx="5524500" cy="1257300"/>
            </a:xfrm>
            <a:custGeom>
              <a:avLst/>
              <a:gdLst/>
              <a:ahLst/>
              <a:cxnLst/>
              <a:rect l="l" t="t" r="r" b="b"/>
              <a:pathLst>
                <a:path w="5524500" h="1257300">
                  <a:moveTo>
                    <a:pt x="5471101" y="1257299"/>
                  </a:moveTo>
                  <a:lnTo>
                    <a:pt x="53397" y="1257299"/>
                  </a:lnTo>
                  <a:lnTo>
                    <a:pt x="49680" y="1256933"/>
                  </a:lnTo>
                  <a:lnTo>
                    <a:pt x="14084" y="1237907"/>
                  </a:lnTo>
                  <a:lnTo>
                    <a:pt x="0" y="1203902"/>
                  </a:lnTo>
                  <a:lnTo>
                    <a:pt x="0" y="1200149"/>
                  </a:lnTo>
                  <a:lnTo>
                    <a:pt x="0" y="53397"/>
                  </a:lnTo>
                  <a:lnTo>
                    <a:pt x="19391" y="14085"/>
                  </a:lnTo>
                  <a:lnTo>
                    <a:pt x="53397" y="0"/>
                  </a:lnTo>
                  <a:lnTo>
                    <a:pt x="5471101" y="0"/>
                  </a:lnTo>
                  <a:lnTo>
                    <a:pt x="5510413" y="19392"/>
                  </a:lnTo>
                  <a:lnTo>
                    <a:pt x="5524498" y="53397"/>
                  </a:lnTo>
                  <a:lnTo>
                    <a:pt x="5524498" y="1203902"/>
                  </a:lnTo>
                  <a:lnTo>
                    <a:pt x="5505106" y="1243214"/>
                  </a:lnTo>
                  <a:lnTo>
                    <a:pt x="5474817" y="1256933"/>
                  </a:lnTo>
                  <a:lnTo>
                    <a:pt x="5471101" y="1257299"/>
                  </a:lnTo>
                  <a:close/>
                </a:path>
              </a:pathLst>
            </a:custGeom>
            <a:solidFill>
              <a:srgbClr val="FEF1F1"/>
            </a:solidFill>
          </p:spPr>
          <p:txBody>
            <a:bodyPr wrap="square" lIns="0" tIns="0" rIns="0" bIns="0" rtlCol="0"/>
            <a:lstStyle/>
            <a:p/>
          </p:txBody>
        </p:sp>
        <p:sp>
          <p:nvSpPr>
            <p:cNvPr id="54" name="object 54" descr=""/>
            <p:cNvSpPr/>
            <p:nvPr/>
          </p:nvSpPr>
          <p:spPr>
            <a:xfrm>
              <a:off x="6362699" y="2666999"/>
              <a:ext cx="5524500" cy="1409700"/>
            </a:xfrm>
            <a:custGeom>
              <a:avLst/>
              <a:gdLst/>
              <a:ahLst/>
              <a:cxnLst/>
              <a:rect l="l" t="t" r="r" b="b"/>
              <a:pathLst>
                <a:path w="5524500" h="1409700">
                  <a:moveTo>
                    <a:pt x="5471101" y="1409699"/>
                  </a:moveTo>
                  <a:lnTo>
                    <a:pt x="53397" y="1409699"/>
                  </a:lnTo>
                  <a:lnTo>
                    <a:pt x="49680" y="1409333"/>
                  </a:lnTo>
                  <a:lnTo>
                    <a:pt x="14084" y="1390307"/>
                  </a:lnTo>
                  <a:lnTo>
                    <a:pt x="0" y="1356302"/>
                  </a:lnTo>
                  <a:lnTo>
                    <a:pt x="0" y="1352549"/>
                  </a:lnTo>
                  <a:lnTo>
                    <a:pt x="0" y="53397"/>
                  </a:lnTo>
                  <a:lnTo>
                    <a:pt x="19391" y="14085"/>
                  </a:lnTo>
                  <a:lnTo>
                    <a:pt x="53397" y="0"/>
                  </a:lnTo>
                  <a:lnTo>
                    <a:pt x="5471101" y="0"/>
                  </a:lnTo>
                  <a:lnTo>
                    <a:pt x="5510413" y="19392"/>
                  </a:lnTo>
                  <a:lnTo>
                    <a:pt x="5524498" y="53397"/>
                  </a:lnTo>
                  <a:lnTo>
                    <a:pt x="5524498" y="1356302"/>
                  </a:lnTo>
                  <a:lnTo>
                    <a:pt x="5505106" y="1395614"/>
                  </a:lnTo>
                  <a:lnTo>
                    <a:pt x="5474817" y="1409333"/>
                  </a:lnTo>
                  <a:lnTo>
                    <a:pt x="5471101" y="1409699"/>
                  </a:lnTo>
                  <a:close/>
                </a:path>
              </a:pathLst>
            </a:custGeom>
            <a:solidFill>
              <a:srgbClr val="FFF6EC"/>
            </a:solidFill>
          </p:spPr>
          <p:txBody>
            <a:bodyPr wrap="square" lIns="0" tIns="0" rIns="0" bIns="0" rtlCol="0"/>
            <a:lstStyle/>
            <a:p/>
          </p:txBody>
        </p:sp>
        <p:pic>
          <p:nvPicPr>
            <p:cNvPr id="55" name="object 55" descr=""/>
            <p:cNvPicPr/>
            <p:nvPr/>
          </p:nvPicPr>
          <p:blipFill>
            <a:blip r:embed="rId8" cstate="print"/>
            <a:stretch>
              <a:fillRect/>
            </a:stretch>
          </p:blipFill>
          <p:spPr>
            <a:xfrm>
              <a:off x="6362699" y="962024"/>
              <a:ext cx="171449" cy="171449"/>
            </a:xfrm>
            <a:prstGeom prst="rect">
              <a:avLst/>
            </a:prstGeom>
          </p:spPr>
        </p:pic>
        <p:pic>
          <p:nvPicPr>
            <p:cNvPr id="56" name="object 56" descr=""/>
            <p:cNvPicPr/>
            <p:nvPr/>
          </p:nvPicPr>
          <p:blipFill>
            <a:blip r:embed="rId9" cstate="print"/>
            <a:stretch>
              <a:fillRect/>
            </a:stretch>
          </p:blipFill>
          <p:spPr>
            <a:xfrm>
              <a:off x="6476999" y="1752599"/>
              <a:ext cx="152399" cy="152399"/>
            </a:xfrm>
            <a:prstGeom prst="rect">
              <a:avLst/>
            </a:prstGeom>
          </p:spPr>
        </p:pic>
        <p:pic>
          <p:nvPicPr>
            <p:cNvPr id="57" name="object 57" descr=""/>
            <p:cNvPicPr/>
            <p:nvPr/>
          </p:nvPicPr>
          <p:blipFill>
            <a:blip r:embed="rId9" cstate="print"/>
            <a:stretch>
              <a:fillRect/>
            </a:stretch>
          </p:blipFill>
          <p:spPr>
            <a:xfrm>
              <a:off x="6476999" y="2019299"/>
              <a:ext cx="152399" cy="152399"/>
            </a:xfrm>
            <a:prstGeom prst="rect">
              <a:avLst/>
            </a:prstGeom>
          </p:spPr>
        </p:pic>
        <p:pic>
          <p:nvPicPr>
            <p:cNvPr id="58" name="object 58" descr=""/>
            <p:cNvPicPr/>
            <p:nvPr/>
          </p:nvPicPr>
          <p:blipFill>
            <a:blip r:embed="rId9" cstate="print"/>
            <a:stretch>
              <a:fillRect/>
            </a:stretch>
          </p:blipFill>
          <p:spPr>
            <a:xfrm>
              <a:off x="6476999" y="2285999"/>
              <a:ext cx="152399" cy="152399"/>
            </a:xfrm>
            <a:prstGeom prst="rect">
              <a:avLst/>
            </a:prstGeom>
          </p:spPr>
        </p:pic>
      </p:grpSp>
      <p:sp>
        <p:nvSpPr>
          <p:cNvPr id="59" name="object 59" descr=""/>
          <p:cNvSpPr txBox="1"/>
          <p:nvPr/>
        </p:nvSpPr>
        <p:spPr>
          <a:xfrm>
            <a:off x="6210299" y="898649"/>
            <a:ext cx="5829300" cy="3055620"/>
          </a:xfrm>
          <a:prstGeom prst="rect">
            <a:avLst/>
          </a:prstGeom>
        </p:spPr>
        <p:txBody>
          <a:bodyPr wrap="square" lIns="0" tIns="15875" rIns="0" bIns="0" rtlCol="0" vert="horz">
            <a:spAutoFit/>
          </a:bodyPr>
          <a:lstStyle/>
          <a:p>
            <a:pPr marL="400050">
              <a:lnSpc>
                <a:spcPct val="100000"/>
              </a:lnSpc>
              <a:spcBef>
                <a:spcPts val="125"/>
              </a:spcBef>
            </a:pPr>
            <a:r>
              <a:rPr dirty="0" sz="1450" spc="-110">
                <a:solidFill>
                  <a:srgbClr val="414141"/>
                </a:solidFill>
                <a:latin typeface="PMingLiU"/>
                <a:cs typeface="PMingLiU"/>
              </a:rPr>
              <a:t>現</a:t>
            </a:r>
            <a:r>
              <a:rPr dirty="0" sz="1500" spc="-150">
                <a:solidFill>
                  <a:srgbClr val="414141"/>
                </a:solidFill>
                <a:latin typeface="SimSun"/>
                <a:cs typeface="SimSun"/>
              </a:rPr>
              <a:t>有</a:t>
            </a:r>
            <a:r>
              <a:rPr dirty="0" sz="1500" spc="-150">
                <a:solidFill>
                  <a:srgbClr val="414141"/>
                </a:solidFill>
                <a:latin typeface="PMingLiU"/>
                <a:cs typeface="PMingLiU"/>
              </a:rPr>
              <a:t>邊</a:t>
            </a:r>
            <a:r>
              <a:rPr dirty="0" sz="1500" spc="-150">
                <a:solidFill>
                  <a:srgbClr val="414141"/>
                </a:solidFill>
                <a:latin typeface="SimSun"/>
                <a:cs typeface="SimSun"/>
              </a:rPr>
              <a:t>緣</a:t>
            </a:r>
            <a:r>
              <a:rPr dirty="0" sz="1350" b="1">
                <a:solidFill>
                  <a:srgbClr val="414141"/>
                </a:solidFill>
                <a:latin typeface="Arial"/>
                <a:cs typeface="Arial"/>
              </a:rPr>
              <a:t>AI</a:t>
            </a:r>
            <a:r>
              <a:rPr dirty="0" sz="1500" spc="-150">
                <a:solidFill>
                  <a:srgbClr val="414141"/>
                </a:solidFill>
                <a:latin typeface="SimSun"/>
                <a:cs typeface="SimSun"/>
              </a:rPr>
              <a:t>計算</a:t>
            </a:r>
            <a:r>
              <a:rPr dirty="0" sz="1500" spc="-150">
                <a:solidFill>
                  <a:srgbClr val="414141"/>
                </a:solidFill>
                <a:latin typeface="PMingLiU"/>
                <a:cs typeface="PMingLiU"/>
              </a:rPr>
              <a:t>能</a:t>
            </a:r>
            <a:r>
              <a:rPr dirty="0" sz="1500" spc="-150">
                <a:solidFill>
                  <a:srgbClr val="414141"/>
                </a:solidFill>
                <a:latin typeface="SimSun"/>
                <a:cs typeface="SimSun"/>
              </a:rPr>
              <a:t>力</a:t>
            </a:r>
            <a:r>
              <a:rPr dirty="0" sz="1400" spc="-65">
                <a:solidFill>
                  <a:srgbClr val="414141"/>
                </a:solidFill>
                <a:latin typeface="PMingLiU"/>
                <a:cs typeface="PMingLiU"/>
              </a:rPr>
              <a:t>不</a:t>
            </a:r>
            <a:r>
              <a:rPr dirty="0" sz="1450" spc="-50">
                <a:solidFill>
                  <a:srgbClr val="414141"/>
                </a:solidFill>
                <a:latin typeface="PMingLiU"/>
                <a:cs typeface="PMingLiU"/>
              </a:rPr>
              <a:t>足</a:t>
            </a:r>
            <a:endParaRPr sz="1450">
              <a:latin typeface="PMingLiU"/>
              <a:cs typeface="PMingLiU"/>
            </a:endParaRPr>
          </a:p>
          <a:p>
            <a:pPr>
              <a:lnSpc>
                <a:spcPct val="100000"/>
              </a:lnSpc>
              <a:spcBef>
                <a:spcPts val="185"/>
              </a:spcBef>
            </a:pPr>
            <a:endParaRPr sz="1350">
              <a:latin typeface="PMingLiU"/>
              <a:cs typeface="PMingLiU"/>
            </a:endParaRPr>
          </a:p>
          <a:p>
            <a:pPr marL="266700">
              <a:lnSpc>
                <a:spcPct val="100000"/>
              </a:lnSpc>
            </a:pPr>
            <a:r>
              <a:rPr dirty="0" sz="1200" b="1">
                <a:solidFill>
                  <a:srgbClr val="414141"/>
                </a:solidFill>
                <a:latin typeface="Arial"/>
                <a:cs typeface="Arial"/>
              </a:rPr>
              <a:t>Jetson Nano </a:t>
            </a:r>
            <a:r>
              <a:rPr dirty="0" sz="1250" spc="-50">
                <a:solidFill>
                  <a:srgbClr val="414141"/>
                </a:solidFill>
                <a:latin typeface="PMingLiU"/>
                <a:cs typeface="PMingLiU"/>
              </a:rPr>
              <a:t>限</a:t>
            </a:r>
            <a:r>
              <a:rPr dirty="0" sz="1300" spc="-50">
                <a:solidFill>
                  <a:srgbClr val="414141"/>
                </a:solidFill>
                <a:latin typeface="SimSun"/>
                <a:cs typeface="SimSun"/>
              </a:rPr>
              <a:t>制</a:t>
            </a:r>
            <a:endParaRPr sz="1300">
              <a:latin typeface="SimSun"/>
              <a:cs typeface="SimSun"/>
            </a:endParaRPr>
          </a:p>
          <a:p>
            <a:pPr marL="495300" marR="1755139">
              <a:lnSpc>
                <a:spcPct val="166700"/>
              </a:lnSpc>
              <a:spcBef>
                <a:spcPts val="100"/>
              </a:spcBef>
            </a:pPr>
            <a:r>
              <a:rPr dirty="0" sz="1050">
                <a:solidFill>
                  <a:srgbClr val="414141"/>
                </a:solidFill>
                <a:latin typeface="PMingLiU"/>
                <a:cs typeface="PMingLiU"/>
              </a:rPr>
              <a:t>運算能力僅</a:t>
            </a:r>
            <a:r>
              <a:rPr dirty="0" sz="1050">
                <a:solidFill>
                  <a:srgbClr val="414141"/>
                </a:solidFill>
                <a:latin typeface="Arial"/>
                <a:cs typeface="Arial"/>
              </a:rPr>
              <a:t>128</a:t>
            </a:r>
            <a:r>
              <a:rPr dirty="0" sz="1050" spc="-10">
                <a:solidFill>
                  <a:srgbClr val="414141"/>
                </a:solidFill>
                <a:latin typeface="Arial"/>
                <a:cs typeface="Arial"/>
              </a:rPr>
              <a:t> CUDA</a:t>
            </a:r>
            <a:r>
              <a:rPr dirty="0" sz="1050" spc="-5">
                <a:solidFill>
                  <a:srgbClr val="414141"/>
                </a:solidFill>
                <a:latin typeface="PMingLiU"/>
                <a:cs typeface="PMingLiU"/>
              </a:rPr>
              <a:t>核心，無法同時處理多路高解析度影像</a:t>
            </a:r>
            <a:r>
              <a:rPr dirty="0" sz="1050" spc="-50">
                <a:solidFill>
                  <a:srgbClr val="414141"/>
                </a:solidFill>
                <a:latin typeface="PMingLiU"/>
                <a:cs typeface="PMingLiU"/>
              </a:rPr>
              <a:t> </a:t>
            </a:r>
            <a:r>
              <a:rPr dirty="0" sz="1050">
                <a:solidFill>
                  <a:srgbClr val="414141"/>
                </a:solidFill>
                <a:latin typeface="Arial"/>
                <a:cs typeface="Arial"/>
              </a:rPr>
              <a:t>4GB</a:t>
            </a:r>
            <a:r>
              <a:rPr dirty="0" sz="1050" spc="5">
                <a:solidFill>
                  <a:srgbClr val="414141"/>
                </a:solidFill>
                <a:latin typeface="Arial"/>
                <a:cs typeface="Arial"/>
              </a:rPr>
              <a:t> </a:t>
            </a:r>
            <a:r>
              <a:rPr dirty="0" sz="1050" spc="-10">
                <a:solidFill>
                  <a:srgbClr val="414141"/>
                </a:solidFill>
                <a:latin typeface="Arial"/>
                <a:cs typeface="Arial"/>
              </a:rPr>
              <a:t>RAM</a:t>
            </a:r>
            <a:r>
              <a:rPr dirty="0" sz="1050">
                <a:solidFill>
                  <a:srgbClr val="414141"/>
                </a:solidFill>
                <a:latin typeface="PMingLiU"/>
                <a:cs typeface="PMingLiU"/>
              </a:rPr>
              <a:t>限制複雜</a:t>
            </a:r>
            <a:r>
              <a:rPr dirty="0" sz="1050">
                <a:solidFill>
                  <a:srgbClr val="414141"/>
                </a:solidFill>
                <a:latin typeface="Arial"/>
                <a:cs typeface="Arial"/>
              </a:rPr>
              <a:t>AI</a:t>
            </a:r>
            <a:r>
              <a:rPr dirty="0" sz="1050" spc="-5">
                <a:solidFill>
                  <a:srgbClr val="414141"/>
                </a:solidFill>
                <a:latin typeface="PMingLiU"/>
                <a:cs typeface="PMingLiU"/>
              </a:rPr>
              <a:t>模型載入，導致熱顯像分析延遲</a:t>
            </a:r>
            <a:endParaRPr sz="1050">
              <a:latin typeface="PMingLiU"/>
              <a:cs typeface="PMingLiU"/>
            </a:endParaRPr>
          </a:p>
          <a:p>
            <a:pPr marL="495300">
              <a:lnSpc>
                <a:spcPct val="100000"/>
              </a:lnSpc>
              <a:spcBef>
                <a:spcPts val="840"/>
              </a:spcBef>
            </a:pPr>
            <a:r>
              <a:rPr dirty="0" sz="1050">
                <a:solidFill>
                  <a:srgbClr val="414141"/>
                </a:solidFill>
                <a:latin typeface="PMingLiU"/>
                <a:cs typeface="PMingLiU"/>
              </a:rPr>
              <a:t>功耗限制</a:t>
            </a:r>
            <a:r>
              <a:rPr dirty="0" sz="1050" spc="-10">
                <a:solidFill>
                  <a:srgbClr val="414141"/>
                </a:solidFill>
                <a:latin typeface="Arial"/>
                <a:cs typeface="Arial"/>
              </a:rPr>
              <a:t>(5-10W)</a:t>
            </a:r>
            <a:r>
              <a:rPr dirty="0" sz="1050" spc="-5">
                <a:solidFill>
                  <a:srgbClr val="414141"/>
                </a:solidFill>
                <a:latin typeface="PMingLiU"/>
                <a:cs typeface="PMingLiU"/>
              </a:rPr>
              <a:t>導致散熱問題，長時間運行性能下降</a:t>
            </a:r>
            <a:endParaRPr sz="1050">
              <a:latin typeface="PMingLiU"/>
              <a:cs typeface="PMingLiU"/>
            </a:endParaRPr>
          </a:p>
          <a:p>
            <a:pPr>
              <a:lnSpc>
                <a:spcPct val="100000"/>
              </a:lnSpc>
              <a:spcBef>
                <a:spcPts val="1320"/>
              </a:spcBef>
            </a:pPr>
            <a:endParaRPr sz="1050">
              <a:latin typeface="PMingLiU"/>
              <a:cs typeface="PMingLiU"/>
            </a:endParaRPr>
          </a:p>
          <a:p>
            <a:pPr marL="266700">
              <a:lnSpc>
                <a:spcPct val="100000"/>
              </a:lnSpc>
            </a:pPr>
            <a:r>
              <a:rPr dirty="0" sz="1350" spc="-170">
                <a:solidFill>
                  <a:srgbClr val="414141"/>
                </a:solidFill>
                <a:latin typeface="SimSun"/>
                <a:cs typeface="SimSun"/>
              </a:rPr>
              <a:t>庫房應</a:t>
            </a:r>
            <a:r>
              <a:rPr dirty="0" sz="1250" spc="-50">
                <a:solidFill>
                  <a:srgbClr val="414141"/>
                </a:solidFill>
                <a:latin typeface="PMingLiU"/>
                <a:cs typeface="PMingLiU"/>
              </a:rPr>
              <a:t>用</a:t>
            </a:r>
            <a:r>
              <a:rPr dirty="0" sz="1350" spc="-170">
                <a:solidFill>
                  <a:srgbClr val="414141"/>
                </a:solidFill>
                <a:latin typeface="SimSun"/>
                <a:cs typeface="SimSun"/>
              </a:rPr>
              <a:t>計</a:t>
            </a:r>
            <a:r>
              <a:rPr dirty="0" sz="1300" spc="-110">
                <a:solidFill>
                  <a:srgbClr val="414141"/>
                </a:solidFill>
                <a:latin typeface="SimSun"/>
                <a:cs typeface="SimSun"/>
              </a:rPr>
              <a:t>算</a:t>
            </a:r>
            <a:r>
              <a:rPr dirty="0" sz="1300" spc="-110">
                <a:solidFill>
                  <a:srgbClr val="414141"/>
                </a:solidFill>
                <a:latin typeface="PMingLiU"/>
                <a:cs typeface="PMingLiU"/>
              </a:rPr>
              <a:t>需</a:t>
            </a:r>
            <a:r>
              <a:rPr dirty="0" sz="1350" spc="-50">
                <a:solidFill>
                  <a:srgbClr val="414141"/>
                </a:solidFill>
                <a:latin typeface="SimSun"/>
                <a:cs typeface="SimSun"/>
              </a:rPr>
              <a:t>求</a:t>
            </a:r>
            <a:endParaRPr sz="1350">
              <a:latin typeface="SimSun"/>
              <a:cs typeface="SimSun"/>
            </a:endParaRPr>
          </a:p>
          <a:p>
            <a:pPr marL="349885" indent="-83185">
              <a:lnSpc>
                <a:spcPct val="100000"/>
              </a:lnSpc>
              <a:spcBef>
                <a:spcPts val="930"/>
              </a:spcBef>
              <a:buFont typeface="Arial"/>
              <a:buChar char="•"/>
              <a:tabLst>
                <a:tab pos="349885" algn="l"/>
              </a:tabLst>
            </a:pPr>
            <a:r>
              <a:rPr dirty="0" sz="1050">
                <a:solidFill>
                  <a:srgbClr val="414141"/>
                </a:solidFill>
                <a:latin typeface="PMingLiU"/>
                <a:cs typeface="PMingLiU"/>
              </a:rPr>
              <a:t>即時熱顯像異常檢測 </a:t>
            </a:r>
            <a:r>
              <a:rPr dirty="0" sz="1050" spc="-10">
                <a:solidFill>
                  <a:srgbClr val="414141"/>
                </a:solidFill>
                <a:latin typeface="Arial"/>
                <a:cs typeface="Arial"/>
              </a:rPr>
              <a:t>(</a:t>
            </a:r>
            <a:r>
              <a:rPr dirty="0" sz="1050">
                <a:solidFill>
                  <a:srgbClr val="414141"/>
                </a:solidFill>
                <a:latin typeface="PMingLiU"/>
                <a:cs typeface="PMingLiU"/>
              </a:rPr>
              <a:t>需高精度影像處理</a:t>
            </a:r>
            <a:r>
              <a:rPr dirty="0" sz="1050" spc="-50">
                <a:solidFill>
                  <a:srgbClr val="414141"/>
                </a:solidFill>
                <a:latin typeface="Arial"/>
                <a:cs typeface="Arial"/>
              </a:rPr>
              <a:t>)</a:t>
            </a:r>
            <a:endParaRPr sz="1050">
              <a:latin typeface="Arial"/>
              <a:cs typeface="Arial"/>
            </a:endParaRPr>
          </a:p>
          <a:p>
            <a:pPr marL="349885" indent="-83185">
              <a:lnSpc>
                <a:spcPct val="100000"/>
              </a:lnSpc>
              <a:spcBef>
                <a:spcPts val="540"/>
              </a:spcBef>
              <a:buFont typeface="Arial"/>
              <a:buChar char="•"/>
              <a:tabLst>
                <a:tab pos="349885" algn="l"/>
              </a:tabLst>
            </a:pPr>
            <a:r>
              <a:rPr dirty="0" sz="1050">
                <a:solidFill>
                  <a:srgbClr val="414141"/>
                </a:solidFill>
                <a:latin typeface="PMingLiU"/>
                <a:cs typeface="PMingLiU"/>
              </a:rPr>
              <a:t>多目標物體識別與追蹤 </a:t>
            </a:r>
            <a:r>
              <a:rPr dirty="0" sz="1050" spc="-10">
                <a:solidFill>
                  <a:srgbClr val="414141"/>
                </a:solidFill>
                <a:latin typeface="Arial"/>
                <a:cs typeface="Arial"/>
              </a:rPr>
              <a:t>(</a:t>
            </a:r>
            <a:r>
              <a:rPr dirty="0" sz="1050">
                <a:solidFill>
                  <a:srgbClr val="414141"/>
                </a:solidFill>
                <a:latin typeface="PMingLiU"/>
                <a:cs typeface="PMingLiU"/>
              </a:rPr>
              <a:t>需大型神經網絡</a:t>
            </a:r>
            <a:r>
              <a:rPr dirty="0" sz="1050" spc="-50">
                <a:solidFill>
                  <a:srgbClr val="414141"/>
                </a:solidFill>
                <a:latin typeface="Arial"/>
                <a:cs typeface="Arial"/>
              </a:rPr>
              <a:t>)</a:t>
            </a:r>
            <a:endParaRPr sz="1050">
              <a:latin typeface="Arial"/>
              <a:cs typeface="Arial"/>
            </a:endParaRPr>
          </a:p>
          <a:p>
            <a:pPr marL="349885" indent="-83185">
              <a:lnSpc>
                <a:spcPct val="100000"/>
              </a:lnSpc>
              <a:spcBef>
                <a:spcPts val="540"/>
              </a:spcBef>
              <a:buFont typeface="Arial"/>
              <a:buChar char="•"/>
              <a:tabLst>
                <a:tab pos="349885" algn="l"/>
              </a:tabLst>
            </a:pPr>
            <a:r>
              <a:rPr dirty="0" sz="1050">
                <a:solidFill>
                  <a:srgbClr val="414141"/>
                </a:solidFill>
                <a:latin typeface="PMingLiU"/>
                <a:cs typeface="PMingLiU"/>
              </a:rPr>
              <a:t>人員行為分析與異常檢測 </a:t>
            </a:r>
            <a:r>
              <a:rPr dirty="0" sz="1050" spc="-10">
                <a:solidFill>
                  <a:srgbClr val="414141"/>
                </a:solidFill>
                <a:latin typeface="Arial"/>
                <a:cs typeface="Arial"/>
              </a:rPr>
              <a:t>(</a:t>
            </a:r>
            <a:r>
              <a:rPr dirty="0" sz="1050">
                <a:solidFill>
                  <a:srgbClr val="414141"/>
                </a:solidFill>
                <a:latin typeface="PMingLiU"/>
                <a:cs typeface="PMingLiU"/>
              </a:rPr>
              <a:t>需複雜</a:t>
            </a:r>
            <a:r>
              <a:rPr dirty="0" sz="1050">
                <a:solidFill>
                  <a:srgbClr val="414141"/>
                </a:solidFill>
                <a:latin typeface="Arial"/>
                <a:cs typeface="Arial"/>
              </a:rPr>
              <a:t>AI</a:t>
            </a:r>
            <a:r>
              <a:rPr dirty="0" sz="1050">
                <a:solidFill>
                  <a:srgbClr val="414141"/>
                </a:solidFill>
                <a:latin typeface="PMingLiU"/>
                <a:cs typeface="PMingLiU"/>
              </a:rPr>
              <a:t>模型</a:t>
            </a:r>
            <a:r>
              <a:rPr dirty="0" sz="1050" spc="-50">
                <a:solidFill>
                  <a:srgbClr val="414141"/>
                </a:solidFill>
                <a:latin typeface="Arial"/>
                <a:cs typeface="Arial"/>
              </a:rPr>
              <a:t>)</a:t>
            </a:r>
            <a:endParaRPr sz="1050">
              <a:latin typeface="Arial"/>
              <a:cs typeface="Arial"/>
            </a:endParaRPr>
          </a:p>
          <a:p>
            <a:pPr marL="349885" indent="-83185">
              <a:lnSpc>
                <a:spcPct val="100000"/>
              </a:lnSpc>
              <a:spcBef>
                <a:spcPts val="540"/>
              </a:spcBef>
              <a:buFont typeface="Arial"/>
              <a:buChar char="•"/>
              <a:tabLst>
                <a:tab pos="349885" algn="l"/>
              </a:tabLst>
            </a:pPr>
            <a:r>
              <a:rPr dirty="0" sz="1050">
                <a:solidFill>
                  <a:srgbClr val="414141"/>
                </a:solidFill>
                <a:latin typeface="PMingLiU"/>
                <a:cs typeface="PMingLiU"/>
              </a:rPr>
              <a:t>多傳感器數據融合處理 </a:t>
            </a:r>
            <a:r>
              <a:rPr dirty="0" sz="1050" spc="-10">
                <a:solidFill>
                  <a:srgbClr val="414141"/>
                </a:solidFill>
                <a:latin typeface="Arial"/>
                <a:cs typeface="Arial"/>
              </a:rPr>
              <a:t>(</a:t>
            </a:r>
            <a:r>
              <a:rPr dirty="0" sz="1050">
                <a:solidFill>
                  <a:srgbClr val="414141"/>
                </a:solidFill>
                <a:latin typeface="PMingLiU"/>
                <a:cs typeface="PMingLiU"/>
              </a:rPr>
              <a:t>需高並行計算</a:t>
            </a:r>
            <a:r>
              <a:rPr dirty="0" sz="1050" spc="-50">
                <a:solidFill>
                  <a:srgbClr val="414141"/>
                </a:solidFill>
                <a:latin typeface="Arial"/>
                <a:cs typeface="Arial"/>
              </a:rPr>
              <a:t>)</a:t>
            </a:r>
            <a:endParaRPr sz="1050">
              <a:latin typeface="Arial"/>
              <a:cs typeface="Arial"/>
            </a:endParaRPr>
          </a:p>
        </p:txBody>
      </p:sp>
      <p:grpSp>
        <p:nvGrpSpPr>
          <p:cNvPr id="60" name="object 60" descr=""/>
          <p:cNvGrpSpPr/>
          <p:nvPr/>
        </p:nvGrpSpPr>
        <p:grpSpPr>
          <a:xfrm>
            <a:off x="6172199" y="4381499"/>
            <a:ext cx="5867400" cy="2476500"/>
            <a:chOff x="6172199" y="4381499"/>
            <a:chExt cx="5867400" cy="2476500"/>
          </a:xfrm>
        </p:grpSpPr>
        <p:sp>
          <p:nvSpPr>
            <p:cNvPr id="61" name="object 61" descr=""/>
            <p:cNvSpPr/>
            <p:nvPr/>
          </p:nvSpPr>
          <p:spPr>
            <a:xfrm>
              <a:off x="6172199" y="4381499"/>
              <a:ext cx="5867400" cy="2476500"/>
            </a:xfrm>
            <a:custGeom>
              <a:avLst/>
              <a:gdLst/>
              <a:ahLst/>
              <a:cxnLst/>
              <a:rect l="l" t="t" r="r" b="b"/>
              <a:pathLst>
                <a:path w="5867400" h="2476500">
                  <a:moveTo>
                    <a:pt x="5867399" y="2476500"/>
                  </a:moveTo>
                  <a:lnTo>
                    <a:pt x="0" y="2476500"/>
                  </a:lnTo>
                  <a:lnTo>
                    <a:pt x="0" y="0"/>
                  </a:lnTo>
                  <a:lnTo>
                    <a:pt x="5867399" y="0"/>
                  </a:lnTo>
                  <a:lnTo>
                    <a:pt x="5867399" y="2476500"/>
                  </a:lnTo>
                  <a:close/>
                </a:path>
              </a:pathLst>
            </a:custGeom>
            <a:solidFill>
              <a:srgbClr val="FFFFFF"/>
            </a:solidFill>
          </p:spPr>
          <p:txBody>
            <a:bodyPr wrap="square" lIns="0" tIns="0" rIns="0" bIns="0" rtlCol="0"/>
            <a:lstStyle/>
            <a:p/>
          </p:txBody>
        </p:sp>
        <p:sp>
          <p:nvSpPr>
            <p:cNvPr id="62" name="object 62" descr=""/>
            <p:cNvSpPr/>
            <p:nvPr/>
          </p:nvSpPr>
          <p:spPr>
            <a:xfrm>
              <a:off x="6172199" y="4381499"/>
              <a:ext cx="38100" cy="2476500"/>
            </a:xfrm>
            <a:custGeom>
              <a:avLst/>
              <a:gdLst/>
              <a:ahLst/>
              <a:cxnLst/>
              <a:rect l="l" t="t" r="r" b="b"/>
              <a:pathLst>
                <a:path w="38100" h="2476500">
                  <a:moveTo>
                    <a:pt x="38099" y="2476500"/>
                  </a:moveTo>
                  <a:lnTo>
                    <a:pt x="0" y="2476500"/>
                  </a:lnTo>
                  <a:lnTo>
                    <a:pt x="0" y="0"/>
                  </a:lnTo>
                  <a:lnTo>
                    <a:pt x="38099" y="0"/>
                  </a:lnTo>
                  <a:lnTo>
                    <a:pt x="38099" y="2476500"/>
                  </a:lnTo>
                  <a:close/>
                </a:path>
              </a:pathLst>
            </a:custGeom>
            <a:solidFill>
              <a:srgbClr val="FF9800"/>
            </a:solidFill>
          </p:spPr>
          <p:txBody>
            <a:bodyPr wrap="square" lIns="0" tIns="0" rIns="0" bIns="0" rtlCol="0"/>
            <a:lstStyle/>
            <a:p/>
          </p:txBody>
        </p:sp>
        <p:sp>
          <p:nvSpPr>
            <p:cNvPr id="63" name="object 63" descr=""/>
            <p:cNvSpPr/>
            <p:nvPr/>
          </p:nvSpPr>
          <p:spPr>
            <a:xfrm>
              <a:off x="6362687" y="4914900"/>
              <a:ext cx="5524500" cy="1943100"/>
            </a:xfrm>
            <a:custGeom>
              <a:avLst/>
              <a:gdLst/>
              <a:ahLst/>
              <a:cxnLst/>
              <a:rect l="l" t="t" r="r" b="b"/>
              <a:pathLst>
                <a:path w="5524500" h="1943100">
                  <a:moveTo>
                    <a:pt x="5524500" y="1101153"/>
                  </a:moveTo>
                  <a:lnTo>
                    <a:pt x="5505107" y="1061834"/>
                  </a:lnTo>
                  <a:lnTo>
                    <a:pt x="5471109" y="1047750"/>
                  </a:lnTo>
                  <a:lnTo>
                    <a:pt x="53403" y="1047750"/>
                  </a:lnTo>
                  <a:lnTo>
                    <a:pt x="14084" y="1067142"/>
                  </a:lnTo>
                  <a:lnTo>
                    <a:pt x="0" y="1101153"/>
                  </a:lnTo>
                  <a:lnTo>
                    <a:pt x="0" y="1927809"/>
                  </a:lnTo>
                  <a:lnTo>
                    <a:pt x="368" y="1931517"/>
                  </a:lnTo>
                  <a:lnTo>
                    <a:pt x="1828" y="1938883"/>
                  </a:lnTo>
                  <a:lnTo>
                    <a:pt x="3187" y="1943100"/>
                  </a:lnTo>
                  <a:lnTo>
                    <a:pt x="5521325" y="1943100"/>
                  </a:lnTo>
                  <a:lnTo>
                    <a:pt x="5522671" y="1938883"/>
                  </a:lnTo>
                  <a:lnTo>
                    <a:pt x="5524131" y="1931517"/>
                  </a:lnTo>
                  <a:lnTo>
                    <a:pt x="5524500" y="1927809"/>
                  </a:lnTo>
                  <a:lnTo>
                    <a:pt x="5524500" y="1101153"/>
                  </a:lnTo>
                  <a:close/>
                </a:path>
                <a:path w="5524500" h="1943100">
                  <a:moveTo>
                    <a:pt x="5524500" y="53403"/>
                  </a:moveTo>
                  <a:lnTo>
                    <a:pt x="5505107" y="14097"/>
                  </a:lnTo>
                  <a:lnTo>
                    <a:pt x="5471109" y="0"/>
                  </a:lnTo>
                  <a:lnTo>
                    <a:pt x="53403" y="0"/>
                  </a:lnTo>
                  <a:lnTo>
                    <a:pt x="14084" y="19392"/>
                  </a:lnTo>
                  <a:lnTo>
                    <a:pt x="0" y="53403"/>
                  </a:lnTo>
                  <a:lnTo>
                    <a:pt x="0" y="876300"/>
                  </a:lnTo>
                  <a:lnTo>
                    <a:pt x="0" y="880059"/>
                  </a:lnTo>
                  <a:lnTo>
                    <a:pt x="19392" y="919365"/>
                  </a:lnTo>
                  <a:lnTo>
                    <a:pt x="53403" y="933450"/>
                  </a:lnTo>
                  <a:lnTo>
                    <a:pt x="5471109" y="933450"/>
                  </a:lnTo>
                  <a:lnTo>
                    <a:pt x="5510415" y="914057"/>
                  </a:lnTo>
                  <a:lnTo>
                    <a:pt x="5524500" y="880059"/>
                  </a:lnTo>
                  <a:lnTo>
                    <a:pt x="5524500" y="53403"/>
                  </a:lnTo>
                  <a:close/>
                </a:path>
              </a:pathLst>
            </a:custGeom>
            <a:solidFill>
              <a:srgbClr val="EFF5FF"/>
            </a:solidFill>
          </p:spPr>
          <p:txBody>
            <a:bodyPr wrap="square" lIns="0" tIns="0" rIns="0" bIns="0" rtlCol="0"/>
            <a:lstStyle/>
            <a:p/>
          </p:txBody>
        </p:sp>
        <p:pic>
          <p:nvPicPr>
            <p:cNvPr id="64" name="object 64" descr=""/>
            <p:cNvPicPr/>
            <p:nvPr/>
          </p:nvPicPr>
          <p:blipFill>
            <a:blip r:embed="rId10" cstate="print"/>
            <a:stretch>
              <a:fillRect/>
            </a:stretch>
          </p:blipFill>
          <p:spPr>
            <a:xfrm>
              <a:off x="6362699" y="4581524"/>
              <a:ext cx="171449" cy="171449"/>
            </a:xfrm>
            <a:prstGeom prst="rect">
              <a:avLst/>
            </a:prstGeom>
          </p:spPr>
        </p:pic>
      </p:grpSp>
      <p:sp>
        <p:nvSpPr>
          <p:cNvPr id="65" name="object 65" descr=""/>
          <p:cNvSpPr txBox="1"/>
          <p:nvPr/>
        </p:nvSpPr>
        <p:spPr>
          <a:xfrm>
            <a:off x="6597650" y="4512958"/>
            <a:ext cx="1739900" cy="264160"/>
          </a:xfrm>
          <a:prstGeom prst="rect">
            <a:avLst/>
          </a:prstGeom>
        </p:spPr>
        <p:txBody>
          <a:bodyPr wrap="square" lIns="0" tIns="14605" rIns="0" bIns="0" rtlCol="0" vert="horz">
            <a:spAutoFit/>
          </a:bodyPr>
          <a:lstStyle/>
          <a:p>
            <a:pPr marL="12700">
              <a:lnSpc>
                <a:spcPct val="100000"/>
              </a:lnSpc>
              <a:spcBef>
                <a:spcPts val="115"/>
              </a:spcBef>
            </a:pPr>
            <a:r>
              <a:rPr dirty="0" sz="1550" spc="-210">
                <a:solidFill>
                  <a:srgbClr val="414141"/>
                </a:solidFill>
                <a:latin typeface="SimSun"/>
                <a:cs typeface="SimSun"/>
              </a:rPr>
              <a:t>高效</a:t>
            </a:r>
            <a:r>
              <a:rPr dirty="0" sz="1500" spc="-150">
                <a:solidFill>
                  <a:srgbClr val="414141"/>
                </a:solidFill>
                <a:latin typeface="PMingLiU"/>
                <a:cs typeface="PMingLiU"/>
              </a:rPr>
              <a:t>能邊</a:t>
            </a:r>
            <a:r>
              <a:rPr dirty="0" sz="1500" spc="-150">
                <a:solidFill>
                  <a:srgbClr val="414141"/>
                </a:solidFill>
                <a:latin typeface="SimSun"/>
                <a:cs typeface="SimSun"/>
              </a:rPr>
              <a:t>緣</a:t>
            </a:r>
            <a:r>
              <a:rPr dirty="0" sz="1350" b="1">
                <a:solidFill>
                  <a:srgbClr val="414141"/>
                </a:solidFill>
                <a:latin typeface="Arial"/>
                <a:cs typeface="Arial"/>
              </a:rPr>
              <a:t>AI</a:t>
            </a:r>
            <a:r>
              <a:rPr dirty="0" sz="1500" spc="-150">
                <a:solidFill>
                  <a:srgbClr val="414141"/>
                </a:solidFill>
                <a:latin typeface="SimSun"/>
                <a:cs typeface="SimSun"/>
              </a:rPr>
              <a:t>替</a:t>
            </a:r>
            <a:r>
              <a:rPr dirty="0" sz="1450" spc="-125">
                <a:solidFill>
                  <a:srgbClr val="414141"/>
                </a:solidFill>
                <a:latin typeface="PMingLiU"/>
                <a:cs typeface="PMingLiU"/>
              </a:rPr>
              <a:t>代</a:t>
            </a:r>
            <a:r>
              <a:rPr dirty="0" sz="1550" spc="-175">
                <a:solidFill>
                  <a:srgbClr val="414141"/>
                </a:solidFill>
                <a:latin typeface="SimSun"/>
                <a:cs typeface="SimSun"/>
              </a:rPr>
              <a:t>方案</a:t>
            </a:r>
            <a:endParaRPr sz="1550">
              <a:latin typeface="SimSun"/>
              <a:cs typeface="SimSun"/>
            </a:endParaRPr>
          </a:p>
        </p:txBody>
      </p:sp>
      <p:sp>
        <p:nvSpPr>
          <p:cNvPr id="66" name="object 66" descr=""/>
          <p:cNvSpPr/>
          <p:nvPr/>
        </p:nvSpPr>
        <p:spPr>
          <a:xfrm>
            <a:off x="11391897" y="5048249"/>
            <a:ext cx="381000" cy="190500"/>
          </a:xfrm>
          <a:custGeom>
            <a:avLst/>
            <a:gdLst/>
            <a:ahLst/>
            <a:cxnLst/>
            <a:rect l="l" t="t" r="r" b="b"/>
            <a:pathLst>
              <a:path w="381000" h="190500">
                <a:moveTo>
                  <a:pt x="347953" y="190499"/>
                </a:moveTo>
                <a:lnTo>
                  <a:pt x="33046" y="190499"/>
                </a:lnTo>
                <a:lnTo>
                  <a:pt x="28186" y="189532"/>
                </a:lnTo>
                <a:lnTo>
                  <a:pt x="966" y="162311"/>
                </a:lnTo>
                <a:lnTo>
                  <a:pt x="0" y="157452"/>
                </a:lnTo>
                <a:lnTo>
                  <a:pt x="1" y="152399"/>
                </a:lnTo>
                <a:lnTo>
                  <a:pt x="0" y="33047"/>
                </a:lnTo>
                <a:lnTo>
                  <a:pt x="28186" y="966"/>
                </a:lnTo>
                <a:lnTo>
                  <a:pt x="33046" y="0"/>
                </a:lnTo>
                <a:lnTo>
                  <a:pt x="347953" y="0"/>
                </a:lnTo>
                <a:lnTo>
                  <a:pt x="380032" y="28187"/>
                </a:lnTo>
                <a:lnTo>
                  <a:pt x="380999" y="33047"/>
                </a:lnTo>
                <a:lnTo>
                  <a:pt x="380999" y="157452"/>
                </a:lnTo>
                <a:lnTo>
                  <a:pt x="352812" y="189532"/>
                </a:lnTo>
                <a:lnTo>
                  <a:pt x="347953" y="190499"/>
                </a:lnTo>
                <a:close/>
              </a:path>
            </a:pathLst>
          </a:custGeom>
          <a:solidFill>
            <a:srgbClr val="DBFBE7"/>
          </a:solidFill>
        </p:spPr>
        <p:txBody>
          <a:bodyPr wrap="square" lIns="0" tIns="0" rIns="0" bIns="0" rtlCol="0"/>
          <a:lstStyle/>
          <a:p/>
        </p:txBody>
      </p:sp>
      <p:sp>
        <p:nvSpPr>
          <p:cNvPr id="67" name="object 67" descr=""/>
          <p:cNvSpPr txBox="1"/>
          <p:nvPr/>
        </p:nvSpPr>
        <p:spPr>
          <a:xfrm>
            <a:off x="11455399" y="5054600"/>
            <a:ext cx="254000" cy="162560"/>
          </a:xfrm>
          <a:prstGeom prst="rect">
            <a:avLst/>
          </a:prstGeom>
        </p:spPr>
        <p:txBody>
          <a:bodyPr wrap="square" lIns="0" tIns="12700" rIns="0" bIns="0" rtlCol="0" vert="horz">
            <a:spAutoFit/>
          </a:bodyPr>
          <a:lstStyle/>
          <a:p>
            <a:pPr marL="12700">
              <a:lnSpc>
                <a:spcPct val="100000"/>
              </a:lnSpc>
              <a:spcBef>
                <a:spcPts val="100"/>
              </a:spcBef>
            </a:pPr>
            <a:r>
              <a:rPr dirty="0" sz="900" spc="-25">
                <a:solidFill>
                  <a:srgbClr val="166533"/>
                </a:solidFill>
                <a:latin typeface="PMingLiU"/>
                <a:cs typeface="PMingLiU"/>
              </a:rPr>
              <a:t>推薦</a:t>
            </a:r>
            <a:endParaRPr sz="900">
              <a:latin typeface="PMingLiU"/>
              <a:cs typeface="PMingLiU"/>
            </a:endParaRPr>
          </a:p>
        </p:txBody>
      </p:sp>
      <p:sp>
        <p:nvSpPr>
          <p:cNvPr id="68" name="object 68" descr=""/>
          <p:cNvSpPr/>
          <p:nvPr/>
        </p:nvSpPr>
        <p:spPr>
          <a:xfrm>
            <a:off x="6476987" y="5295900"/>
            <a:ext cx="3009900" cy="209550"/>
          </a:xfrm>
          <a:custGeom>
            <a:avLst/>
            <a:gdLst/>
            <a:ahLst/>
            <a:cxnLst/>
            <a:rect l="l" t="t" r="r" b="b"/>
            <a:pathLst>
              <a:path w="3009900" h="209550">
                <a:moveTo>
                  <a:pt x="647700" y="33058"/>
                </a:moveTo>
                <a:lnTo>
                  <a:pt x="619518" y="977"/>
                </a:lnTo>
                <a:lnTo>
                  <a:pt x="614654" y="0"/>
                </a:lnTo>
                <a:lnTo>
                  <a:pt x="33058" y="0"/>
                </a:lnTo>
                <a:lnTo>
                  <a:pt x="977" y="28194"/>
                </a:lnTo>
                <a:lnTo>
                  <a:pt x="0" y="33058"/>
                </a:lnTo>
                <a:lnTo>
                  <a:pt x="0" y="171450"/>
                </a:lnTo>
                <a:lnTo>
                  <a:pt x="0" y="176504"/>
                </a:lnTo>
                <a:lnTo>
                  <a:pt x="28194" y="208584"/>
                </a:lnTo>
                <a:lnTo>
                  <a:pt x="33058" y="209550"/>
                </a:lnTo>
                <a:lnTo>
                  <a:pt x="614654" y="209550"/>
                </a:lnTo>
                <a:lnTo>
                  <a:pt x="646734" y="181368"/>
                </a:lnTo>
                <a:lnTo>
                  <a:pt x="647700" y="176504"/>
                </a:lnTo>
                <a:lnTo>
                  <a:pt x="647700" y="33058"/>
                </a:lnTo>
                <a:close/>
              </a:path>
              <a:path w="3009900" h="209550">
                <a:moveTo>
                  <a:pt x="1638300" y="33058"/>
                </a:moveTo>
                <a:lnTo>
                  <a:pt x="1610118" y="977"/>
                </a:lnTo>
                <a:lnTo>
                  <a:pt x="1605254" y="0"/>
                </a:lnTo>
                <a:lnTo>
                  <a:pt x="718858" y="0"/>
                </a:lnTo>
                <a:lnTo>
                  <a:pt x="686765" y="28194"/>
                </a:lnTo>
                <a:lnTo>
                  <a:pt x="685800" y="33058"/>
                </a:lnTo>
                <a:lnTo>
                  <a:pt x="685800" y="171450"/>
                </a:lnTo>
                <a:lnTo>
                  <a:pt x="685800" y="176504"/>
                </a:lnTo>
                <a:lnTo>
                  <a:pt x="713994" y="208584"/>
                </a:lnTo>
                <a:lnTo>
                  <a:pt x="718858" y="209550"/>
                </a:lnTo>
                <a:lnTo>
                  <a:pt x="1605254" y="209550"/>
                </a:lnTo>
                <a:lnTo>
                  <a:pt x="1637334" y="181368"/>
                </a:lnTo>
                <a:lnTo>
                  <a:pt x="1638300" y="176504"/>
                </a:lnTo>
                <a:lnTo>
                  <a:pt x="1638300" y="33058"/>
                </a:lnTo>
                <a:close/>
              </a:path>
              <a:path w="3009900" h="209550">
                <a:moveTo>
                  <a:pt x="2362200" y="33058"/>
                </a:moveTo>
                <a:lnTo>
                  <a:pt x="2334018" y="977"/>
                </a:lnTo>
                <a:lnTo>
                  <a:pt x="2329154" y="0"/>
                </a:lnTo>
                <a:lnTo>
                  <a:pt x="1709458" y="0"/>
                </a:lnTo>
                <a:lnTo>
                  <a:pt x="1677365" y="28194"/>
                </a:lnTo>
                <a:lnTo>
                  <a:pt x="1676400" y="33058"/>
                </a:lnTo>
                <a:lnTo>
                  <a:pt x="1676400" y="171450"/>
                </a:lnTo>
                <a:lnTo>
                  <a:pt x="1676400" y="176504"/>
                </a:lnTo>
                <a:lnTo>
                  <a:pt x="1704594" y="208584"/>
                </a:lnTo>
                <a:lnTo>
                  <a:pt x="1709458" y="209550"/>
                </a:lnTo>
                <a:lnTo>
                  <a:pt x="2329154" y="209550"/>
                </a:lnTo>
                <a:lnTo>
                  <a:pt x="2361234" y="181368"/>
                </a:lnTo>
                <a:lnTo>
                  <a:pt x="2362200" y="176504"/>
                </a:lnTo>
                <a:lnTo>
                  <a:pt x="2362200" y="33058"/>
                </a:lnTo>
                <a:close/>
              </a:path>
              <a:path w="3009900" h="209550">
                <a:moveTo>
                  <a:pt x="3009900" y="33058"/>
                </a:moveTo>
                <a:lnTo>
                  <a:pt x="2981718" y="977"/>
                </a:lnTo>
                <a:lnTo>
                  <a:pt x="2976854" y="0"/>
                </a:lnTo>
                <a:lnTo>
                  <a:pt x="2433358" y="0"/>
                </a:lnTo>
                <a:lnTo>
                  <a:pt x="2401265" y="28194"/>
                </a:lnTo>
                <a:lnTo>
                  <a:pt x="2400300" y="33058"/>
                </a:lnTo>
                <a:lnTo>
                  <a:pt x="2400300" y="171450"/>
                </a:lnTo>
                <a:lnTo>
                  <a:pt x="2400300" y="176504"/>
                </a:lnTo>
                <a:lnTo>
                  <a:pt x="2428494" y="208584"/>
                </a:lnTo>
                <a:lnTo>
                  <a:pt x="2433358" y="209550"/>
                </a:lnTo>
                <a:lnTo>
                  <a:pt x="2976854" y="209550"/>
                </a:lnTo>
                <a:lnTo>
                  <a:pt x="3008934" y="181368"/>
                </a:lnTo>
                <a:lnTo>
                  <a:pt x="3009900" y="176504"/>
                </a:lnTo>
                <a:lnTo>
                  <a:pt x="3009900" y="33058"/>
                </a:lnTo>
                <a:close/>
              </a:path>
            </a:pathLst>
          </a:custGeom>
          <a:solidFill>
            <a:srgbClr val="DFDFDF"/>
          </a:solidFill>
        </p:spPr>
        <p:txBody>
          <a:bodyPr wrap="square" lIns="0" tIns="0" rIns="0" bIns="0" rtlCol="0"/>
          <a:lstStyle/>
          <a:p/>
        </p:txBody>
      </p:sp>
      <p:sp>
        <p:nvSpPr>
          <p:cNvPr id="69" name="object 69" descr=""/>
          <p:cNvSpPr txBox="1"/>
          <p:nvPr/>
        </p:nvSpPr>
        <p:spPr>
          <a:xfrm>
            <a:off x="6464299" y="5026025"/>
            <a:ext cx="4814570" cy="705485"/>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414141"/>
                </a:solidFill>
                <a:latin typeface="Arial"/>
                <a:cs typeface="Arial"/>
              </a:rPr>
              <a:t>NVIDIA</a:t>
            </a:r>
            <a:r>
              <a:rPr dirty="0" sz="1200" spc="-45" b="1">
                <a:solidFill>
                  <a:srgbClr val="414141"/>
                </a:solidFill>
                <a:latin typeface="Arial"/>
                <a:cs typeface="Arial"/>
              </a:rPr>
              <a:t> </a:t>
            </a:r>
            <a:r>
              <a:rPr dirty="0" sz="1200" b="1">
                <a:solidFill>
                  <a:srgbClr val="414141"/>
                </a:solidFill>
                <a:latin typeface="Arial"/>
                <a:cs typeface="Arial"/>
              </a:rPr>
              <a:t>Jetson</a:t>
            </a:r>
            <a:r>
              <a:rPr dirty="0" sz="1200" spc="-45" b="1">
                <a:solidFill>
                  <a:srgbClr val="414141"/>
                </a:solidFill>
                <a:latin typeface="Arial"/>
                <a:cs typeface="Arial"/>
              </a:rPr>
              <a:t> </a:t>
            </a:r>
            <a:r>
              <a:rPr dirty="0" sz="1200" b="1">
                <a:solidFill>
                  <a:srgbClr val="414141"/>
                </a:solidFill>
                <a:latin typeface="Arial"/>
                <a:cs typeface="Arial"/>
              </a:rPr>
              <a:t>AGX </a:t>
            </a:r>
            <a:r>
              <a:rPr dirty="0" sz="1200" spc="-20" b="1">
                <a:solidFill>
                  <a:srgbClr val="414141"/>
                </a:solidFill>
                <a:latin typeface="Arial"/>
                <a:cs typeface="Arial"/>
              </a:rPr>
              <a:t>Orin</a:t>
            </a:r>
            <a:endParaRPr sz="1200">
              <a:latin typeface="Arial"/>
              <a:cs typeface="Arial"/>
            </a:endParaRPr>
          </a:p>
          <a:p>
            <a:pPr marL="69215">
              <a:lnSpc>
                <a:spcPct val="100000"/>
              </a:lnSpc>
              <a:spcBef>
                <a:spcPts val="810"/>
              </a:spcBef>
              <a:tabLst>
                <a:tab pos="751205" algn="l"/>
                <a:tab pos="1742439" algn="l"/>
                <a:tab pos="2472690" algn="l"/>
              </a:tabLst>
            </a:pPr>
            <a:r>
              <a:rPr dirty="0" sz="900">
                <a:solidFill>
                  <a:srgbClr val="414141"/>
                </a:solidFill>
                <a:latin typeface="Arial"/>
                <a:cs typeface="Arial"/>
              </a:rPr>
              <a:t>275</a:t>
            </a:r>
            <a:r>
              <a:rPr dirty="0" sz="900" spc="-20">
                <a:solidFill>
                  <a:srgbClr val="414141"/>
                </a:solidFill>
                <a:latin typeface="Arial"/>
                <a:cs typeface="Arial"/>
              </a:rPr>
              <a:t> TOPS</a:t>
            </a:r>
            <a:r>
              <a:rPr dirty="0" sz="900">
                <a:solidFill>
                  <a:srgbClr val="414141"/>
                </a:solidFill>
                <a:latin typeface="Arial"/>
                <a:cs typeface="Arial"/>
              </a:rPr>
              <a:t>	2048 CUDA</a:t>
            </a:r>
            <a:r>
              <a:rPr dirty="0" sz="900">
                <a:solidFill>
                  <a:srgbClr val="414141"/>
                </a:solidFill>
                <a:latin typeface="PMingLiU"/>
                <a:cs typeface="PMingLiU"/>
              </a:rPr>
              <a:t>核</a:t>
            </a:r>
            <a:r>
              <a:rPr dirty="0" sz="900" spc="-50">
                <a:solidFill>
                  <a:srgbClr val="414141"/>
                </a:solidFill>
                <a:latin typeface="PMingLiU"/>
                <a:cs typeface="PMingLiU"/>
              </a:rPr>
              <a:t>心</a:t>
            </a:r>
            <a:r>
              <a:rPr dirty="0" sz="900">
                <a:solidFill>
                  <a:srgbClr val="414141"/>
                </a:solidFill>
                <a:latin typeface="PMingLiU"/>
                <a:cs typeface="PMingLiU"/>
              </a:rPr>
              <a:t>	</a:t>
            </a:r>
            <a:r>
              <a:rPr dirty="0" sz="900">
                <a:solidFill>
                  <a:srgbClr val="414141"/>
                </a:solidFill>
                <a:latin typeface="Arial"/>
                <a:cs typeface="Arial"/>
              </a:rPr>
              <a:t>64GB </a:t>
            </a:r>
            <a:r>
              <a:rPr dirty="0" sz="900" spc="-25">
                <a:solidFill>
                  <a:srgbClr val="414141"/>
                </a:solidFill>
                <a:latin typeface="Arial"/>
                <a:cs typeface="Arial"/>
              </a:rPr>
              <a:t>RAM</a:t>
            </a:r>
            <a:r>
              <a:rPr dirty="0" sz="900">
                <a:solidFill>
                  <a:srgbClr val="414141"/>
                </a:solidFill>
                <a:latin typeface="Arial"/>
                <a:cs typeface="Arial"/>
              </a:rPr>
              <a:t>	60W</a:t>
            </a:r>
            <a:r>
              <a:rPr dirty="0" sz="900" spc="-20">
                <a:solidFill>
                  <a:srgbClr val="414141"/>
                </a:solidFill>
                <a:latin typeface="Arial"/>
                <a:cs typeface="Arial"/>
              </a:rPr>
              <a:t> </a:t>
            </a:r>
            <a:r>
              <a:rPr dirty="0" sz="900" spc="-25">
                <a:solidFill>
                  <a:srgbClr val="414141"/>
                </a:solidFill>
                <a:latin typeface="Arial"/>
                <a:cs typeface="Arial"/>
              </a:rPr>
              <a:t>TDP</a:t>
            </a:r>
            <a:endParaRPr sz="900">
              <a:latin typeface="Arial"/>
              <a:cs typeface="Arial"/>
            </a:endParaRPr>
          </a:p>
          <a:p>
            <a:pPr marL="12700">
              <a:lnSpc>
                <a:spcPct val="100000"/>
              </a:lnSpc>
              <a:spcBef>
                <a:spcPts val="945"/>
              </a:spcBef>
            </a:pPr>
            <a:r>
              <a:rPr dirty="0" sz="900">
                <a:solidFill>
                  <a:srgbClr val="414141"/>
                </a:solidFill>
                <a:latin typeface="PMingLiU"/>
                <a:cs typeface="PMingLiU"/>
              </a:rPr>
              <a:t>優勢</a:t>
            </a:r>
            <a:r>
              <a:rPr dirty="0" sz="900">
                <a:solidFill>
                  <a:srgbClr val="414141"/>
                </a:solidFill>
                <a:latin typeface="Arial"/>
                <a:cs typeface="Arial"/>
              </a:rPr>
              <a:t>: 8</a:t>
            </a:r>
            <a:r>
              <a:rPr dirty="0" sz="900">
                <a:solidFill>
                  <a:srgbClr val="414141"/>
                </a:solidFill>
                <a:latin typeface="PMingLiU"/>
                <a:cs typeface="PMingLiU"/>
              </a:rPr>
              <a:t>倍於</a:t>
            </a:r>
            <a:r>
              <a:rPr dirty="0" sz="900">
                <a:solidFill>
                  <a:srgbClr val="414141"/>
                </a:solidFill>
                <a:latin typeface="Arial"/>
                <a:cs typeface="Arial"/>
              </a:rPr>
              <a:t>Jetson Nano</a:t>
            </a:r>
            <a:r>
              <a:rPr dirty="0" sz="900">
                <a:solidFill>
                  <a:srgbClr val="414141"/>
                </a:solidFill>
                <a:latin typeface="PMingLiU"/>
                <a:cs typeface="PMingLiU"/>
              </a:rPr>
              <a:t>的</a:t>
            </a:r>
            <a:r>
              <a:rPr dirty="0" sz="900">
                <a:solidFill>
                  <a:srgbClr val="414141"/>
                </a:solidFill>
                <a:latin typeface="Arial"/>
                <a:cs typeface="Arial"/>
              </a:rPr>
              <a:t>AI</a:t>
            </a:r>
            <a:r>
              <a:rPr dirty="0" sz="900">
                <a:solidFill>
                  <a:srgbClr val="414141"/>
                </a:solidFill>
                <a:latin typeface="PMingLiU"/>
                <a:cs typeface="PMingLiU"/>
              </a:rPr>
              <a:t>性能，支援多路</a:t>
            </a:r>
            <a:r>
              <a:rPr dirty="0" sz="900">
                <a:solidFill>
                  <a:srgbClr val="414141"/>
                </a:solidFill>
                <a:latin typeface="Arial"/>
                <a:cs typeface="Arial"/>
              </a:rPr>
              <a:t>4K</a:t>
            </a:r>
            <a:r>
              <a:rPr dirty="0" sz="900" spc="-5">
                <a:solidFill>
                  <a:srgbClr val="414141"/>
                </a:solidFill>
                <a:latin typeface="PMingLiU"/>
                <a:cs typeface="PMingLiU"/>
              </a:rPr>
              <a:t>影像同時處理，適合複雜熱顯像分析與人員識別</a:t>
            </a:r>
            <a:endParaRPr sz="900">
              <a:latin typeface="PMingLiU"/>
              <a:cs typeface="PMingLiU"/>
            </a:endParaRPr>
          </a:p>
        </p:txBody>
      </p:sp>
      <p:sp>
        <p:nvSpPr>
          <p:cNvPr id="70" name="object 70" descr=""/>
          <p:cNvSpPr/>
          <p:nvPr/>
        </p:nvSpPr>
        <p:spPr>
          <a:xfrm>
            <a:off x="6476987" y="6343650"/>
            <a:ext cx="2847975" cy="209550"/>
          </a:xfrm>
          <a:custGeom>
            <a:avLst/>
            <a:gdLst/>
            <a:ahLst/>
            <a:cxnLst/>
            <a:rect l="l" t="t" r="r" b="b"/>
            <a:pathLst>
              <a:path w="2847975" h="209550">
                <a:moveTo>
                  <a:pt x="571500" y="33058"/>
                </a:moveTo>
                <a:lnTo>
                  <a:pt x="543318" y="977"/>
                </a:lnTo>
                <a:lnTo>
                  <a:pt x="538454" y="0"/>
                </a:lnTo>
                <a:lnTo>
                  <a:pt x="33058" y="0"/>
                </a:lnTo>
                <a:lnTo>
                  <a:pt x="977" y="28194"/>
                </a:lnTo>
                <a:lnTo>
                  <a:pt x="0" y="33058"/>
                </a:lnTo>
                <a:lnTo>
                  <a:pt x="0" y="171450"/>
                </a:lnTo>
                <a:lnTo>
                  <a:pt x="0" y="176504"/>
                </a:lnTo>
                <a:lnTo>
                  <a:pt x="28194" y="208584"/>
                </a:lnTo>
                <a:lnTo>
                  <a:pt x="33058" y="209550"/>
                </a:lnTo>
                <a:lnTo>
                  <a:pt x="538454" y="209550"/>
                </a:lnTo>
                <a:lnTo>
                  <a:pt x="570534" y="181368"/>
                </a:lnTo>
                <a:lnTo>
                  <a:pt x="571500" y="176504"/>
                </a:lnTo>
                <a:lnTo>
                  <a:pt x="571500" y="33058"/>
                </a:lnTo>
                <a:close/>
              </a:path>
              <a:path w="2847975" h="209550">
                <a:moveTo>
                  <a:pt x="1466850" y="33058"/>
                </a:moveTo>
                <a:lnTo>
                  <a:pt x="1438668" y="977"/>
                </a:lnTo>
                <a:lnTo>
                  <a:pt x="1433804" y="0"/>
                </a:lnTo>
                <a:lnTo>
                  <a:pt x="642658" y="0"/>
                </a:lnTo>
                <a:lnTo>
                  <a:pt x="610577" y="28194"/>
                </a:lnTo>
                <a:lnTo>
                  <a:pt x="609600" y="33058"/>
                </a:lnTo>
                <a:lnTo>
                  <a:pt x="609600" y="171450"/>
                </a:lnTo>
                <a:lnTo>
                  <a:pt x="609600" y="176504"/>
                </a:lnTo>
                <a:lnTo>
                  <a:pt x="637794" y="208584"/>
                </a:lnTo>
                <a:lnTo>
                  <a:pt x="642658" y="209550"/>
                </a:lnTo>
                <a:lnTo>
                  <a:pt x="1433804" y="209550"/>
                </a:lnTo>
                <a:lnTo>
                  <a:pt x="1465884" y="181368"/>
                </a:lnTo>
                <a:lnTo>
                  <a:pt x="1466850" y="176504"/>
                </a:lnTo>
                <a:lnTo>
                  <a:pt x="1466850" y="33058"/>
                </a:lnTo>
                <a:close/>
              </a:path>
              <a:path w="2847975" h="209550">
                <a:moveTo>
                  <a:pt x="2200275" y="33058"/>
                </a:moveTo>
                <a:lnTo>
                  <a:pt x="2172093" y="977"/>
                </a:lnTo>
                <a:lnTo>
                  <a:pt x="2167229" y="0"/>
                </a:lnTo>
                <a:lnTo>
                  <a:pt x="1538008" y="0"/>
                </a:lnTo>
                <a:lnTo>
                  <a:pt x="1505915" y="28194"/>
                </a:lnTo>
                <a:lnTo>
                  <a:pt x="1504950" y="33058"/>
                </a:lnTo>
                <a:lnTo>
                  <a:pt x="1504950" y="171450"/>
                </a:lnTo>
                <a:lnTo>
                  <a:pt x="1504950" y="176504"/>
                </a:lnTo>
                <a:lnTo>
                  <a:pt x="1533144" y="208584"/>
                </a:lnTo>
                <a:lnTo>
                  <a:pt x="1538008" y="209550"/>
                </a:lnTo>
                <a:lnTo>
                  <a:pt x="2167229" y="209550"/>
                </a:lnTo>
                <a:lnTo>
                  <a:pt x="2199309" y="181368"/>
                </a:lnTo>
                <a:lnTo>
                  <a:pt x="2200275" y="176504"/>
                </a:lnTo>
                <a:lnTo>
                  <a:pt x="2200275" y="33058"/>
                </a:lnTo>
                <a:close/>
              </a:path>
              <a:path w="2847975" h="209550">
                <a:moveTo>
                  <a:pt x="2847975" y="33058"/>
                </a:moveTo>
                <a:lnTo>
                  <a:pt x="2819793" y="977"/>
                </a:lnTo>
                <a:lnTo>
                  <a:pt x="2814929" y="0"/>
                </a:lnTo>
                <a:lnTo>
                  <a:pt x="2271433" y="0"/>
                </a:lnTo>
                <a:lnTo>
                  <a:pt x="2239340" y="28194"/>
                </a:lnTo>
                <a:lnTo>
                  <a:pt x="2238375" y="33058"/>
                </a:lnTo>
                <a:lnTo>
                  <a:pt x="2238375" y="171450"/>
                </a:lnTo>
                <a:lnTo>
                  <a:pt x="2238375" y="176504"/>
                </a:lnTo>
                <a:lnTo>
                  <a:pt x="2266569" y="208584"/>
                </a:lnTo>
                <a:lnTo>
                  <a:pt x="2271433" y="209550"/>
                </a:lnTo>
                <a:lnTo>
                  <a:pt x="2814929" y="209550"/>
                </a:lnTo>
                <a:lnTo>
                  <a:pt x="2847009" y="181368"/>
                </a:lnTo>
                <a:lnTo>
                  <a:pt x="2847975" y="176504"/>
                </a:lnTo>
                <a:lnTo>
                  <a:pt x="2847975" y="33058"/>
                </a:lnTo>
                <a:close/>
              </a:path>
            </a:pathLst>
          </a:custGeom>
          <a:solidFill>
            <a:srgbClr val="DFDFDF"/>
          </a:solidFill>
        </p:spPr>
        <p:txBody>
          <a:bodyPr wrap="square" lIns="0" tIns="0" rIns="0" bIns="0" rtlCol="0"/>
          <a:lstStyle/>
          <a:p/>
        </p:txBody>
      </p:sp>
      <p:sp>
        <p:nvSpPr>
          <p:cNvPr id="71" name="object 71" descr=""/>
          <p:cNvSpPr txBox="1"/>
          <p:nvPr/>
        </p:nvSpPr>
        <p:spPr>
          <a:xfrm>
            <a:off x="6464299" y="6073774"/>
            <a:ext cx="2814320" cy="44830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414141"/>
                </a:solidFill>
                <a:latin typeface="Arial"/>
                <a:cs typeface="Arial"/>
              </a:rPr>
              <a:t>Intel</a:t>
            </a:r>
            <a:r>
              <a:rPr dirty="0" sz="1200" spc="-5" b="1">
                <a:solidFill>
                  <a:srgbClr val="414141"/>
                </a:solidFill>
                <a:latin typeface="Arial"/>
                <a:cs typeface="Arial"/>
              </a:rPr>
              <a:t> </a:t>
            </a:r>
            <a:r>
              <a:rPr dirty="0" sz="1200" b="1">
                <a:solidFill>
                  <a:srgbClr val="414141"/>
                </a:solidFill>
                <a:latin typeface="Arial"/>
                <a:cs typeface="Arial"/>
              </a:rPr>
              <a:t>NUC</a:t>
            </a:r>
            <a:r>
              <a:rPr dirty="0" sz="1200" spc="-5" b="1">
                <a:solidFill>
                  <a:srgbClr val="414141"/>
                </a:solidFill>
                <a:latin typeface="Arial"/>
                <a:cs typeface="Arial"/>
              </a:rPr>
              <a:t> </a:t>
            </a:r>
            <a:r>
              <a:rPr dirty="0" sz="1200" b="1">
                <a:solidFill>
                  <a:srgbClr val="414141"/>
                </a:solidFill>
                <a:latin typeface="Arial"/>
                <a:cs typeface="Arial"/>
              </a:rPr>
              <a:t>12</a:t>
            </a:r>
            <a:r>
              <a:rPr dirty="0" sz="1200" spc="-5" b="1">
                <a:solidFill>
                  <a:srgbClr val="414141"/>
                </a:solidFill>
                <a:latin typeface="Arial"/>
                <a:cs typeface="Arial"/>
              </a:rPr>
              <a:t> </a:t>
            </a:r>
            <a:r>
              <a:rPr dirty="0" sz="1200" b="1">
                <a:solidFill>
                  <a:srgbClr val="414141"/>
                </a:solidFill>
                <a:latin typeface="Arial"/>
                <a:cs typeface="Arial"/>
              </a:rPr>
              <a:t>Pro +</a:t>
            </a:r>
            <a:r>
              <a:rPr dirty="0" sz="1200" spc="-5" b="1">
                <a:solidFill>
                  <a:srgbClr val="414141"/>
                </a:solidFill>
                <a:latin typeface="Arial"/>
                <a:cs typeface="Arial"/>
              </a:rPr>
              <a:t> </a:t>
            </a:r>
            <a:r>
              <a:rPr dirty="0" sz="1200" b="1">
                <a:solidFill>
                  <a:srgbClr val="414141"/>
                </a:solidFill>
                <a:latin typeface="Arial"/>
                <a:cs typeface="Arial"/>
              </a:rPr>
              <a:t>Myriad</a:t>
            </a:r>
            <a:r>
              <a:rPr dirty="0" sz="1200" spc="-5" b="1">
                <a:solidFill>
                  <a:srgbClr val="414141"/>
                </a:solidFill>
                <a:latin typeface="Arial"/>
                <a:cs typeface="Arial"/>
              </a:rPr>
              <a:t> </a:t>
            </a:r>
            <a:r>
              <a:rPr dirty="0" sz="1200" b="1">
                <a:solidFill>
                  <a:srgbClr val="414141"/>
                </a:solidFill>
                <a:latin typeface="Arial"/>
                <a:cs typeface="Arial"/>
              </a:rPr>
              <a:t>X </a:t>
            </a:r>
            <a:r>
              <a:rPr dirty="0" sz="1200" spc="-25" b="1">
                <a:solidFill>
                  <a:srgbClr val="414141"/>
                </a:solidFill>
                <a:latin typeface="Arial"/>
                <a:cs typeface="Arial"/>
              </a:rPr>
              <a:t>VPU</a:t>
            </a:r>
            <a:endParaRPr sz="1200">
              <a:latin typeface="Arial"/>
              <a:cs typeface="Arial"/>
            </a:endParaRPr>
          </a:p>
          <a:p>
            <a:pPr marL="69215">
              <a:lnSpc>
                <a:spcPct val="100000"/>
              </a:lnSpc>
              <a:spcBef>
                <a:spcPts val="810"/>
              </a:spcBef>
              <a:tabLst>
                <a:tab pos="679450" algn="l"/>
                <a:tab pos="1577340" algn="l"/>
                <a:tab pos="2307590" algn="l"/>
              </a:tabLst>
            </a:pPr>
            <a:r>
              <a:rPr dirty="0" sz="900">
                <a:solidFill>
                  <a:srgbClr val="414141"/>
                </a:solidFill>
                <a:latin typeface="Arial"/>
                <a:cs typeface="Arial"/>
              </a:rPr>
              <a:t>i7-</a:t>
            </a:r>
            <a:r>
              <a:rPr dirty="0" sz="900" spc="-10">
                <a:solidFill>
                  <a:srgbClr val="414141"/>
                </a:solidFill>
                <a:latin typeface="Arial"/>
                <a:cs typeface="Arial"/>
              </a:rPr>
              <a:t>1260P</a:t>
            </a:r>
            <a:r>
              <a:rPr dirty="0" sz="900">
                <a:solidFill>
                  <a:srgbClr val="414141"/>
                </a:solidFill>
                <a:latin typeface="Arial"/>
                <a:cs typeface="Arial"/>
              </a:rPr>
              <a:t>	4</a:t>
            </a:r>
            <a:r>
              <a:rPr dirty="0" sz="900" spc="-35">
                <a:solidFill>
                  <a:srgbClr val="414141"/>
                </a:solidFill>
                <a:latin typeface="Arial"/>
                <a:cs typeface="Arial"/>
              </a:rPr>
              <a:t> </a:t>
            </a:r>
            <a:r>
              <a:rPr dirty="0" sz="900">
                <a:solidFill>
                  <a:srgbClr val="414141"/>
                </a:solidFill>
                <a:latin typeface="Arial"/>
                <a:cs typeface="Arial"/>
              </a:rPr>
              <a:t>TOPS</a:t>
            </a:r>
            <a:r>
              <a:rPr dirty="0" sz="900" spc="-15">
                <a:solidFill>
                  <a:srgbClr val="414141"/>
                </a:solidFill>
                <a:latin typeface="Arial"/>
                <a:cs typeface="Arial"/>
              </a:rPr>
              <a:t> </a:t>
            </a:r>
            <a:r>
              <a:rPr dirty="0" sz="900" spc="-10">
                <a:solidFill>
                  <a:srgbClr val="414141"/>
                </a:solidFill>
                <a:latin typeface="Arial"/>
                <a:cs typeface="Arial"/>
              </a:rPr>
              <a:t>(VPU)</a:t>
            </a:r>
            <a:r>
              <a:rPr dirty="0" sz="900">
                <a:solidFill>
                  <a:srgbClr val="414141"/>
                </a:solidFill>
                <a:latin typeface="Arial"/>
                <a:cs typeface="Arial"/>
              </a:rPr>
              <a:t>	32GB </a:t>
            </a:r>
            <a:r>
              <a:rPr dirty="0" sz="900" spc="-25">
                <a:solidFill>
                  <a:srgbClr val="414141"/>
                </a:solidFill>
                <a:latin typeface="Arial"/>
                <a:cs typeface="Arial"/>
              </a:rPr>
              <a:t>RAM</a:t>
            </a:r>
            <a:r>
              <a:rPr dirty="0" sz="900">
                <a:solidFill>
                  <a:srgbClr val="414141"/>
                </a:solidFill>
                <a:latin typeface="Arial"/>
                <a:cs typeface="Arial"/>
              </a:rPr>
              <a:t>	28W</a:t>
            </a:r>
            <a:r>
              <a:rPr dirty="0" sz="900" spc="-20">
                <a:solidFill>
                  <a:srgbClr val="414141"/>
                </a:solidFill>
                <a:latin typeface="Arial"/>
                <a:cs typeface="Arial"/>
              </a:rPr>
              <a:t> </a:t>
            </a:r>
            <a:r>
              <a:rPr dirty="0" sz="900" spc="-25">
                <a:solidFill>
                  <a:srgbClr val="414141"/>
                </a:solidFill>
                <a:latin typeface="Arial"/>
                <a:cs typeface="Arial"/>
              </a:rPr>
              <a:t>TDP</a:t>
            </a:r>
            <a:endParaRPr sz="900">
              <a:latin typeface="Arial"/>
              <a:cs typeface="Arial"/>
            </a:endParaRPr>
          </a:p>
        </p:txBody>
      </p:sp>
      <p:sp>
        <p:nvSpPr>
          <p:cNvPr id="72" name="object 72" descr=""/>
          <p:cNvSpPr txBox="1"/>
          <p:nvPr/>
        </p:nvSpPr>
        <p:spPr>
          <a:xfrm>
            <a:off x="6464299" y="6616700"/>
            <a:ext cx="4166235" cy="162560"/>
          </a:xfrm>
          <a:prstGeom prst="rect">
            <a:avLst/>
          </a:prstGeom>
        </p:spPr>
        <p:txBody>
          <a:bodyPr wrap="square" lIns="0" tIns="12700" rIns="0" bIns="0" rtlCol="0" vert="horz">
            <a:spAutoFit/>
          </a:bodyPr>
          <a:lstStyle/>
          <a:p>
            <a:pPr marL="12700">
              <a:lnSpc>
                <a:spcPct val="100000"/>
              </a:lnSpc>
              <a:spcBef>
                <a:spcPts val="100"/>
              </a:spcBef>
            </a:pPr>
            <a:r>
              <a:rPr dirty="0" sz="900">
                <a:solidFill>
                  <a:srgbClr val="414141"/>
                </a:solidFill>
                <a:latin typeface="PMingLiU"/>
                <a:cs typeface="PMingLiU"/>
              </a:rPr>
              <a:t>優勢</a:t>
            </a:r>
            <a:r>
              <a:rPr dirty="0" sz="900">
                <a:solidFill>
                  <a:srgbClr val="414141"/>
                </a:solidFill>
                <a:latin typeface="Arial"/>
                <a:cs typeface="Arial"/>
              </a:rPr>
              <a:t>: x86</a:t>
            </a:r>
            <a:r>
              <a:rPr dirty="0" sz="900">
                <a:solidFill>
                  <a:srgbClr val="414141"/>
                </a:solidFill>
                <a:latin typeface="PMingLiU"/>
                <a:cs typeface="PMingLiU"/>
              </a:rPr>
              <a:t>架構便於開發，</a:t>
            </a:r>
            <a:r>
              <a:rPr dirty="0" sz="900">
                <a:solidFill>
                  <a:srgbClr val="414141"/>
                </a:solidFill>
                <a:latin typeface="Arial"/>
                <a:cs typeface="Arial"/>
              </a:rPr>
              <a:t>VPU</a:t>
            </a:r>
            <a:r>
              <a:rPr dirty="0" sz="900" spc="-5">
                <a:solidFill>
                  <a:srgbClr val="414141"/>
                </a:solidFill>
                <a:latin typeface="PMingLiU"/>
                <a:cs typeface="PMingLiU"/>
              </a:rPr>
              <a:t>加速視覺處理，適合走道異物檢測與基礎熱顯像分析</a:t>
            </a:r>
            <a:endParaRPr sz="900">
              <a:latin typeface="PMingLiU"/>
              <a:cs typeface="PMingLiU"/>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2025-09-01T01:59:02Z</dcterms:created>
  <dcterms:modified xsi:type="dcterms:W3CDTF">2025-09-01T01:59:02Z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2025-09-01T00:00:00Z</vt:filetime>
  </property>
  <property fmtid="{D5CDD505-2E9C-101B-9397-08002B2CF9AE}" pid="3" name="LastSaved">
    <vt:filetime>2025-09-01T00:00:00Z</vt:filetime>
  </property>
</Properties>
</file>